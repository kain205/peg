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Nhóm mình có hai người, và hôm nay bọn mình trình bày về cùng một bài toán: theo dõi công nhân trong hầm mỏ khi đèn trên mũ làm chói camera. Bài báo gốc tên là “Burnt, Not Gone”, và có một tracker tên PEG. Mình là người thứ nhất, mình nói về PEG-F, năm cải tiến của mình cho PEG, và cách bọn mình kiểm chứng xem chúng có thật sự tốt không. Bạn mình là người thứ hai, sẽ nói về PEG+, một cải tiến khác, rồi nói về chuyện ghép hai bên lại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hầm mỏ, công nhân đội đèn trên mũ. Khi họ quay về phía camera, đèn làm cháy sáng cả vùng ảnh, như các tấm ảnh bên phải: người gần như biến mất. Lúc đó detector, tức là mô hình tìm người trong ảnh, không thấy ai, nên tracker mất cái box và có thể mất luôn số ID của người đó. Tracker là phần nối các box qua từng frame để mỗi người giữ một ID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xử lý đúng lúc detector mất người. Nó đo vùng box dự đoán xem bao nhiêu phần trăm điểm ảnh bị cháy trắng, gọi là φ. Nếu φ từ 0.4 trở lên thì người vẫn ở đó, chỉ bị chói, nên giữ box. Việc tự đoán vị trí khi không có detector gọi là coast. Nếu φ thấp thì người đã đi, bỏ box. Ý hay của PEG là dùng chính ánh sáng gây lỗi làm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cải tiến gì, bọn mình phải chắc là chạy lại được số của paper. Bọn mình dùng đúng weights mà tác giả gửi, không train lại, và chạy ba bảng kết quả. Table I là video thật, Table II là video có thêm chói giả, và Table III chỉ đo những người đang bị chói. Có mấy điểm số chính. HOTA, IDF1 và MOTA là các điểm tổng quát đo chất lượng tracking, càng cao càng tốt. Rcv@.5 là phần trăm số frame của người bị chói mà box của mình vẫn chồng lên người, với độ trùng IoU trên 0.5. Kết quả của bọn mình lệch paper không quá 0.1 điểm, nghĩa là tái hiện khớp.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PEG-F là năm cải tiến của mình cho tracker. M1 là chuyển động thích nghi, gồm hai nửa mà sau này bọn mình tách ra: M1-damp hãm vận tốc của hai người đứng gần nhau, còn M1-swap thêm các phép thử để sửa lại những lần đổi nhầm ID. M2 nhận lại người bằng màu áo. M3 đổi ngưỡng chói và thời gian giữ box tùy tình huống. M4 cất track bị mất vào một pool để track mới nhận lại ID cũ. M5 kéo box về phía đèn trên mũ. Tất cả chỉ sửa tracker, không đụng vào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báo PEG-F đạt HOTA 68.82 và IDF1 84.42, cao hơn paper là 68.20 và 82.30. Nhưng bọn mình không tin ngay mà kiểm tra ba cách. Một, chấm lại file kết quả mình nộp bằng evaluator của nhóm: ra đúng. Hai, chạy lại nguyên code gốc trên GPU của nhóm, chạy thật cả detector, khoảng 4.3 frame mỗi giây: vẫn đúng số đó. Ba, đưa các method vào repo chung và chạy bằng cache, tức là kết quả detector lưu sẵn: giống từng chữ số. Vậy claim là thật. Nhưng còn một câu hỏi: so với cái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một chỗ không công bằng. Số 68.20 của paper chạy với guard tắt. Guard là lớp bảo vệ không cho tracker tạo ID mới từ vầng sáng chói. Code PEG-F của mình chạy với guard bật, nên phải so với PEG cũng guard bật: PEG đó được 68.33 HOTA và 82.68 IDF1. So như vậy PEG-F hơn +0.49 HOTA và +1.74 IDF1. Và IDSW, tức là số lần tracker đổi ID của một người sang ID khác, tăng từ 15 lên 27; IDSW càng ít càng tốt. Mức tăng có thật, nhưng nhỏ hơn con số ban đầu và có cái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Mức tăng đó đến từ đâu? Hình là độ chênh HOTA của từng video, PEG-F trừ PEG, cùng guard bật. Chỉ hai video lệch đáng kể: video 129 tăng +23.5, video 176 giảm −19.9. Mình soi từng video thì mỗi video chỉ là một lần tracker đổi ID giữa hai công nhân đứng sát nhau: ở 129 PEG-F sửa được một lần, ở 176 PEG-F gây ra một lần mới. Các video còn lại chênh tối đa 4.0 điểm. Nên Table I một mình rất dễ bị lệch bởi một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video 129, hai công nhân A và B đi sát nhau. Hàng trên là PEG, hàng dưới là PEG-F; màu vàng là ID một, xanh lơ là ID hai, khung trắng là người thật. Ở frame 330 cả hai đều đúng. Khi hai người đi chéo qua nhau, cả hai tracker đổi nhầm, nhưng PEG giữ nhầm đến hết video, còn PEG-F đổi lại ở frame 339. Bí quyết là phép thử chiều cao nhất quán của M1-swap: A thấp, B cao, tracker so chiều cao box với chiều cao quen thuộc của từng track, và nếu đổi lại ID làm chiều cao khớp hơn thì đổi lại. Nên ở frame 420 và 560, PEG-F vẫn đúng, còn PEG thì ngược.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thêm từng method vào PEG, mỗi lần một cái. Số to là độ thay đổi so với PEG; xanh là tốt hơn, đỏ là xấu hơn; với IDSW thì ít hơn mới tốt. M1-swap tăng HOTA +0.50 và IDF1 +2.05 ở Table I, nhưng IDSW tăng từ 17 lên 36. M1-damp làm hỏng: MOTA của Table II giảm −2.98, Rcv@.5 của Table III giảm từ 76.6 xuống 66.4. M3 tốt nhẹ, MOTA của Table II +0.82. M2, M4, M5 gần như không đổi. Tức là chỉ hai trong năm method có tác dụng thật: M1-swap và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M2 và M4 không làm gì? Bọn mình đếm bên trong tracker. M2 chỉ đổi ID khi màu áo của người kia giống hơn một khoảng đủ lớn, phải trên 0.25, nhưng thực tế lớn nhất chỉ 0.052; ở phép thử đổi chéo cần 0.15 mà chỉ đạt 0.096. Lý do: công nhân mặc đồ bảo hộ giống hệt nhau nên màu HSV không phân biệt được. Vì vậy M2 chưa bao giờ đổi một quyết định nào. M4 còn tệ hơn: trong 81 lần sinh track mới, chỉ 1 lần pool có người để nhận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cùng là chi phí, trên cùng GPU GTX 1650, chạy thật cả pipeline: detector, h_psi và tracker. FPS là số frame xử lý mỗi giây. PEG đạt 4.4 FPS, code PEG-F đạt 4.3 FPS, gần như bằng nhau vì detector chiếm gần hết thời gian. Paper ghi 26.4 FPS vì dùng GPU RTX 5070 Ti mạnh hơn. Vậy PEG-F không tốn thêm gì đáng kể, nhưng chỉ hai method đáng giữ. Mình chuyển sang bạn mình, người nói về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là người thứ hai, mình nói về PEG+. Sau khi tái hiện PEG, mình xem từng ca PEG thất bại và thấy một lỗi lạ: PEG biết người đang bị chói và vẫn giữ box, nhưng cái box nhỏ dần qua từng frame, như hàng trên của hình, cho đến khi không còn trùng người. Khung vàng là người thật, khung xanh dương là box của PEG. Mình đếm lại: trong các ca thất bại ở Table III, 9/12 là do box trôi chứ không phải do gate bật sai, và 33% số frame coast có box nhỏ hơn 30% kích thước ban đầu. Nguyên nhân là Kalman filter, bộ lọc đoán vị trí, nhớ cả vận tốc đổi kích thước. Khi coast, PEG hãm vận tốc di chuyển nhưng quên hãm vận tốc diện tích. Mình đặt vận tốc diện tích bằng không, khoảng hai dòng code, và đó là PEG+, hàng dưới màu xanh lá. Kết quả: Rcv@.5, phần trăm frame mà box vẫn trùng người bị chói, tăng từ 76.6 lên 82.2, +5.6 điểm. Mình không train lại detector, chỉ sửa tracker, nên so PEG với PEG+ là công bằng: hai bên chỉ khác đúng hai dòng code này. Hình là cùng một người, cùng một đoạn video, cùng lúc bị chói, nên bạn nhìn thấy trực tiếp sự khác nhau giữa hai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thử ghép PEG-F với PEG+. Hình có bốn bảng nhỏ, mỗi bảng một thang riêng, trục không bắt đầu từ không để nhìn rõ chênh lệch. Xanh dương là PEG, xanh lá là PEG+, tím là PEG-F, cam là ghép cả hai; cột gạch chéo là một cách ghép có chọn lọc, mình nói ở slide sau. Ở Table I, video thật, ghép cả hai cho kết quả tốt nhất: HOTA 70.03 và IDF1 86.94. Nhưng ở Table II, video có chói giả, MOTA chỉ 71.54, thấp hơn cả PEG là 73.26. Và ở Table III, Rcv@.5 chỉ còn 68.4, trong khi PEG+ một mình đạt 82.2. Tức là cái lợi của PEG+ đã bị mất đi khi ghép với PEG-F. Câu hỏi là vì sao. Bài học đầu tiên ở đây: mỗi bảng đo một thứ khác nhau, nên một cách ghép chỉ tốt ở một bảng thì chưa thể gọi là tốt. Table I chủ yếu hỏi tracker có giữ đúng ID giữa nhiều người không, còn Table III hỏi tracker có giữ được người đang bị chói hay không, và đó chính là chỗ PEG+ sinh ra để làm. Còn một điều phải nói thật: ghép cả hai cao hơn PEG-F 1.20 HOTA ở Table I, nhưng gần như toàn bộ phần đó đến từ một video, video 176: có PEG+ thì lần đổi ID mà PEG-F gây ra ở đó không xảy ra nữa, HOTA của video này từ 45.68 lên 65.53. Đó là một tương tác tình cờ giữa hai thay đổi, PEG+ không được thiết kế để sửa lỗi ID, nên con số 70.03 không nên coi là chắc chắn.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tách M1 làm hai nửa và tìm ra thủ phạm: M1-damp, nửa hãm vận tốc. Luật của nó là: mỗi frame, nếu hai người đứng gần nhau thì nhân vận tốc của họ với 0.88. Vấn đề là người đang bị chói cũng đang coast, tức là box chỉ chạy theo vận tốc đoán. Vận tốc bị hãm thì box đứng lại, trong khi người vẫn đi tiếp. Hình là video 183, người số 240, từ frame 448 đến 482. Khung xanh lá là người thật. Hàng trên là PEG, box đi theo người. Hàng dưới là PEG cộng M1-damp, box đỏ đứng lại, và độ trùng IoU tụt từ 0.84 xuống 0.22. Đếm lại: trong 35 frame bị chói của người này, số frame box còn trùng người giảm từ 35 xuống 15. Trên cả ba mươi lần chói, số frame được phủ giảm từ 651 xuống 564 trên tổng 850. Vậy cái làm hỏng Table III chính là M1-damp, không phải M1-swap. Nửa còn lại, M1-swap, không làm Table III đổi một chút nào: Rcv@.5 vẫn giữ nguyên. Và M1-damp cũng là thứ gây ra lần đổi ID mới ở video 176 mà bạn mình đã nói ở phần trước, nên nó có hại ở cả hai nơi. Mình đoán hãm vận tốc có thể hợp lý khi hai người đi sát nhau và cả hai đều đang được nhìn thấy; còn khi một người bị chói và đang coast thì việc hãm làm box đứng lại, và đó là hướng sửa mình đề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các thí nghiệm, mình thử ghép có chọn lọc: lấy PEG+, thêm M1-swap, thêm M3 và bỏ M1-damp. Kết quả là không bảng nào kém PEG+. Table I: HOTA 68.81, IDF1 84.56. Table II: MOTA 73.90. Table III: Rcv@.5 vẫn 82.2. Nhưng có hai điều phải nói thẳng. Một là IDSW tăng từ 17 lên 36. Mình giải thích hai chỉ số này: IDF1 đo việc giữ đúng ID trong thời gian dài; IDSW đếm số lần đổi ID, mỗi lần có thể rất ngắn. Nên IDF1 tăng mà IDSW cũng tăng là có thể: tracker đổi ID thêm vài lần ngắn, nhưng phần lớn thời gian vẫn đúng người. Hai là bọn mình chọn tổ hợp này sau khi đã nhìn kết quả trên tập test, nên số đẹp hơn thực tế. Vì vậy phải kiểm tra lại trên tập val, là phần dữ liệu chưa dùng để chọn. Ở slide sau mình làm đúng việc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sửa chỗ rò rỉ, bọn mình chọn lại trên tập val, là phần dữ liệu chưa dùng để chọn gì. Val có mười bảy video thật, chín video chói giả và 18 lần chói. Luật được viết ra và đưa lên git trước khi chạy val, để không ai có thể chỉnh luật sau khi đã thấy số. Luật như sau: bắt đầu từ PEG, mỗi vòng thử thêm từng thành phần. Một thành phần được nhận nếu không bảng nào tụt quá 0.5 điểm và tổng mức tăng của ba bảng lớn hơn 0.5. Bảng bên phải là vòng một. Điều đầu tiên đáng chú ý: PEG+ trên val gần như không làm gì, Table III còn tụt −0.3. M1-swap và M3 gần như bằng không. Thành phần duy nhất vượt ngưỡng là M1-damp, tổng +0.96, chính là thứ mà ở slide trước mình đã thấy làm hỏng Table III trên test. Vòng hai không thêm được gì nữa. Vậy theo đúng luật, config được chọn là PEG cộng M1-damp.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khi chạy test đúng một lần. Mỗi chỉ số có hai cột, test và val; số nhỏ bên dưới là chênh lệch so với PEG trên cùng tập. Hàng thứ hai là config chọn trên val, PEG cộng M1-damp. Trên test nó thua PEG ở cả ba bảng: Table I HOTA 67.38 so với 68.19, Table II 57.84 so với 61.70, Table III Rcv 66.4 so với 76.6. Hàng cuối là tổ hợp bọn mình chọn trên test lúc trước. Trên test nó đẹp, nhưng trên val nó gần như bằng PEG: Table III 67.3 so với 67.6. PEG+ cũng vậy: trên test tăng +5.6 Rcv, trên val −0.4. Nói cách khác, cái gì tốt trên tập này thì không tốt trên tập kia. Bạn mình nghi ngờ đúng: phần tăng trên test của tổ hợp chọn lọc là do chọn trên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val và test lại ngược nhau? Mình đếm lại theo từng lần chói. M1-damp được chọn trên val nhờ đúng một lần chói, ở video 332: số frame box còn trùng người tăng từ 3 lên 13. Trên val, một frame chỉ đáng 0.18 điểm, nên chỉ một lần chói đó cũng đủ vượt ngưỡng 0.5. Trên test, M1-damp làm 9 lần chói tệ hơn và mất 87 frame. PEG+ thì ngược lại: trên test tăng +5.6, trên val −0.4. Lý do là val có ít trường hợp box co lại khi coast; lỗi của PEG trên val chủ yếu là người chưa bao giờ được track, có 3 lần chói gần như không phủ được frame nào, và khóa kích thước box không cứu được những ca đó. M1-swap trên val không cải thiện Table I mà IDSW còn tăng từ 15 lên 22. Nếu gộp cả bốn mươi tám lần chói của val và test, PEG+ tăng +3.2 với khoảng tin cậy chín mươi lăm phần trăm từ +0.1 đến +7.3, tức là chỉ vừa đủ khác không; còn M1-damp giảm 5.6 điểm và chắc chắn có hại. Bài học là luật của bọn mình đặt ngưỡng quá thấp so với độ nhiễu của một tập nhỏ như vậy. Bọn mình không sửa luật sau khi đã thấy test, vì như thế lại là chọn trên test lần nữa; lần sau mình sẽ chỉ nhận một thành phần khi khoảng tin cậy không chứa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bốn điều. Một, claim của PEG-F tái hiện được, nhưng chỉ khi so cùng cấu hình: guard bật, mức tăng thật là +0.49 HOTA. Hai, nhìn một mình Table I rất dễ bị đánh lừa, vì hai lần đổi ID ở hai video quyết định gần hết mức tăng; nên phải đo cả ba bảng. Ba, M1-swap và M3 giúp trên test nhưng không lặp lại trên val; M1-damp làm hại; M2, M4, M5 gần như bằng không. Bốn, PEG+ nâng Rcv@.5 trên test từ 76.6 lên 82.2, nhưng trên val thì không; gộp cả hai tập nó tăng +3.2, vừa đủ khác không. Nó chỉ giúp khi box co lại lúc coast, và val có ít trường hợp như vậy. Năm, khi chọn lại trên val với luật chốt trước, config được chọn là PEG cộng M1-damp, và nó thua PEG trên test; nghĩa là val quá nhỏ để chọn bằng một ngưỡng cứng. Hướng tiếp theo: chọn bằng khoảng tin cậy hoặc cross-validation thay vì ngưỡng cứng; thay màu HSV bằng một Re-ID học được, vì màu không phân biệt được hai công nhân; và sửa M1-damp để chỉ hãm vận tốc của track đang được thấy, không hãm track đang coast. Bài học lớn nhất với mình không phải một con số, mà là cách làm: tái hiện trước, so cùng cấu hình, đo cả ba bảng, tách từng phần ra để xem phần nào thật sự có tác dụng, và nói rõ chỗ nào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xin cảm ơn thầy cô và các bạn đã lắng nghe. Giờ bọn mình xin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778240" y="822960"/>
            <a:ext cx="2926080" cy="2926080"/>
          </a:xfrm>
          <a:prstGeom prst="ellipse">
            <a:avLst/>
          </a:prstGeom>
          <a:solidFill>
            <a:srgbClr val="9B6EE8">
              <a:alpha val="18000"/>
            </a:srgbClr>
          </a:solidFill>
          <a:ln w="12700">
            <a:solidFill>
              <a:srgbClr val="15171B"/>
            </a:solidFill>
            <a:prstDash val="solid"/>
          </a:ln>
        </p:spPr>
      </p:sp>
      <p:sp>
        <p:nvSpPr>
          <p:cNvPr id="3" name="Shape 1"/>
          <p:cNvSpPr/>
          <p:nvPr/>
        </p:nvSpPr>
        <p:spPr>
          <a:xfrm>
            <a:off x="9418320" y="1463040"/>
            <a:ext cx="1645920" cy="1645920"/>
          </a:xfrm>
          <a:prstGeom prst="ellipse">
            <a:avLst/>
          </a:prstGeom>
          <a:solidFill>
            <a:srgbClr val="19A35F">
              <a:alpha val="38000"/>
            </a:srgbClr>
          </a:solidFill>
          <a:ln w="12700">
            <a:solidFill>
              <a:srgbClr val="15171B"/>
            </a:solidFill>
            <a:prstDash val="solid"/>
          </a:ln>
        </p:spPr>
      </p:sp>
      <p:sp>
        <p:nvSpPr>
          <p:cNvPr id="4" name="Shape 2"/>
          <p:cNvSpPr/>
          <p:nvPr/>
        </p:nvSpPr>
        <p:spPr>
          <a:xfrm>
            <a:off x="9921240" y="1965960"/>
            <a:ext cx="640080" cy="640080"/>
          </a:xfrm>
          <a:prstGeom prst="ellipse">
            <a:avLst/>
          </a:prstGeom>
          <a:solidFill>
            <a:srgbClr val="F4F0FF"/>
          </a:solidFill>
          <a:ln w="12700">
            <a:solidFill>
              <a:srgbClr val="15171B"/>
            </a:solidFill>
            <a:prstDash val="solid"/>
          </a:ln>
        </p:spPr>
      </p:sp>
      <p:sp>
        <p:nvSpPr>
          <p:cNvPr id="5" name="Text 3"/>
          <p:cNvSpPr txBox="1"/>
          <p:nvPr/>
        </p:nvSpPr>
        <p:spPr>
          <a:xfrm>
            <a:off x="731520" y="1188720"/>
            <a:ext cx="7315200" cy="365760"/>
          </a:xfrm>
          <a:prstGeom prst="rect">
            <a:avLst/>
          </a:prstGeom>
          <a:noFill/>
          <a:ln/>
        </p:spPr>
        <p:txBody>
          <a:bodyPr wrap="square" lIns="0" tIns="0" rIns="0" bIns="0" rtlCol="0" anchor="t"/>
          <a:lstStyle/>
          <a:p>
            <a:pPr indent="0" marL="0">
              <a:buNone/>
            </a:pPr>
            <a:r>
              <a:rPr lang="en-US" sz="1400" b="1" spc="300" kern="0" dirty="0">
                <a:solidFill>
                  <a:srgbClr val="F2A900"/>
                </a:solidFill>
                <a:latin typeface="Arial" pitchFamily="34" charset="0"/>
                <a:ea typeface="Arial" pitchFamily="34" charset="-122"/>
                <a:cs typeface="Arial" pitchFamily="34" charset="-120"/>
              </a:rPr>
              <a:t>PROJECT SINH VIÊN · GLAREMOT</a:t>
            </a:r>
            <a:endParaRPr lang="en-US" sz="1400" dirty="0"/>
          </a:p>
        </p:txBody>
      </p:sp>
      <p:sp>
        <p:nvSpPr>
          <p:cNvPr id="6" name="Text 4"/>
          <p:cNvSpPr txBox="1"/>
          <p:nvPr/>
        </p:nvSpPr>
        <p:spPr>
          <a:xfrm>
            <a:off x="731520" y="1691640"/>
            <a:ext cx="7863840" cy="1828800"/>
          </a:xfrm>
          <a:prstGeom prst="rect">
            <a:avLst/>
          </a:prstGeom>
          <a:noFill/>
          <a:ln/>
        </p:spPr>
        <p:txBody>
          <a:bodyPr wrap="square" lIns="0" tIns="0" rIns="0" bIns="0" rtlCol="0" anchor="t"/>
          <a:lstStyle/>
          <a:p>
            <a:pPr indent="0" marL="0">
              <a:buNone/>
            </a:pPr>
            <a:r>
              <a:rPr lang="en-US" sz="3800" b="1" dirty="0">
                <a:solidFill>
                  <a:srgbClr val="9B6EE8"/>
                </a:solidFill>
                <a:latin typeface="Arial" pitchFamily="34" charset="0"/>
                <a:ea typeface="Arial" pitchFamily="34" charset="-122"/>
                <a:cs typeface="Arial" pitchFamily="34" charset="-120"/>
              </a:rPr>
              <a:t>PEG-F</a:t>
            </a:r>
            <a:pPr indent="0" marL="0">
              <a:buNone/>
            </a:pPr>
            <a:r>
              <a:rPr lang="en-US" sz="3800" b="1" dirty="0">
                <a:solidFill>
                  <a:srgbClr val="F2F2F2"/>
                </a:solidFill>
                <a:latin typeface="Arial" pitchFamily="34" charset="0"/>
                <a:ea typeface="Arial" pitchFamily="34" charset="-122"/>
                <a:cs typeface="Arial" pitchFamily="34" charset="-120"/>
              </a:rPr>
              <a:t> và </a:t>
            </a:r>
            <a:pPr indent="0" marL="0">
              <a:buNone/>
            </a:pPr>
            <a:r>
              <a:rPr lang="en-US" sz="3800" b="1" dirty="0">
                <a:solidFill>
                  <a:srgbClr val="19A35F"/>
                </a:solidFill>
                <a:latin typeface="Arial" pitchFamily="34" charset="0"/>
                <a:ea typeface="Arial" pitchFamily="34" charset="-122"/>
                <a:cs typeface="Arial" pitchFamily="34" charset="-120"/>
              </a:rPr>
              <a:t>PEG+</a:t>
            </a:r>
            <a:pPr indent="0" marL="0">
              <a:buNone/>
            </a:pPr>
            <a:r>
              <a:rPr lang="en-US" sz="3800" b="1" dirty="0">
                <a:solidFill>
                  <a:srgbClr val="F2F2F2"/>
                </a:solidFill>
                <a:latin typeface="Arial" pitchFamily="34" charset="0"/>
                <a:ea typeface="Arial" pitchFamily="34" charset="-122"/>
                <a:cs typeface="Arial" pitchFamily="34" charset="-120"/>
              </a:rPr>
              <a:t> — giữ ID đúng người khi đèn mũ làm chói camera</a:t>
            </a:r>
            <a:endParaRPr lang="en-US" sz="3800" dirty="0"/>
          </a:p>
        </p:txBody>
      </p:sp>
      <p:sp>
        <p:nvSpPr>
          <p:cNvPr id="7" name="Text 5"/>
          <p:cNvSpPr txBox="1"/>
          <p:nvPr/>
        </p:nvSpPr>
        <p:spPr>
          <a:xfrm>
            <a:off x="731520" y="3657600"/>
            <a:ext cx="7863840" cy="457200"/>
          </a:xfrm>
          <a:prstGeom prst="rect">
            <a:avLst/>
          </a:prstGeom>
          <a:noFill/>
          <a:ln/>
        </p:spPr>
        <p:txBody>
          <a:bodyPr wrap="square" lIns="0" tIns="0" rIns="0" bIns="0" rtlCol="0" anchor="t"/>
          <a:lstStyle/>
          <a:p>
            <a:pPr indent="0" marL="0">
              <a:buNone/>
            </a:pPr>
            <a:r>
              <a:rPr lang="en-US" sz="2000" dirty="0">
                <a:solidFill>
                  <a:srgbClr val="A3A8B0"/>
                </a:solidFill>
                <a:latin typeface="Arial" pitchFamily="34" charset="0"/>
                <a:ea typeface="Arial" pitchFamily="34" charset="-122"/>
                <a:cs typeface="Arial" pitchFamily="34" charset="-120"/>
              </a:rPr>
              <a:t>Kiểm chứng và cải tiến bài báo PEG (“Burnt, Not Gone”)</a:t>
            </a:r>
            <a:endParaRPr lang="en-US" sz="2000" dirty="0"/>
          </a:p>
        </p:txBody>
      </p:sp>
      <p:sp>
        <p:nvSpPr>
          <p:cNvPr id="8" name="Shape 6"/>
          <p:cNvSpPr/>
          <p:nvPr/>
        </p:nvSpPr>
        <p:spPr>
          <a:xfrm>
            <a:off x="731520" y="4572000"/>
            <a:ext cx="4937760" cy="1234440"/>
          </a:xfrm>
          <a:prstGeom prst="roundRect">
            <a:avLst>
              <a:gd name="adj" fmla="val 8889"/>
            </a:avLst>
          </a:prstGeom>
          <a:solidFill>
            <a:srgbClr val="22252B"/>
          </a:solidFill>
          <a:ln w="12700">
            <a:solidFill>
              <a:srgbClr val="22252B"/>
            </a:solidFill>
            <a:prstDash val="solid"/>
          </a:ln>
        </p:spPr>
      </p:sp>
      <p:sp>
        <p:nvSpPr>
          <p:cNvPr id="9" name="Shape 7"/>
          <p:cNvSpPr/>
          <p:nvPr/>
        </p:nvSpPr>
        <p:spPr>
          <a:xfrm>
            <a:off x="731520" y="4572000"/>
            <a:ext cx="91440" cy="1234440"/>
          </a:xfrm>
          <a:prstGeom prst="rect">
            <a:avLst/>
          </a:prstGeom>
          <a:solidFill>
            <a:srgbClr val="9B6EE8"/>
          </a:solidFill>
          <a:ln w="12700">
            <a:solidFill>
              <a:srgbClr val="9B6EE8"/>
            </a:solidFill>
            <a:prstDash val="solid"/>
          </a:ln>
        </p:spPr>
      </p:sp>
      <p:sp>
        <p:nvSpPr>
          <p:cNvPr id="10" name="Text 8"/>
          <p:cNvSpPr txBox="1"/>
          <p:nvPr/>
        </p:nvSpPr>
        <p:spPr>
          <a:xfrm>
            <a:off x="1005840" y="4572000"/>
            <a:ext cx="4572000" cy="1234440"/>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Người 1</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PEG-F: 5 method + kiểm chứng</a:t>
            </a:r>
            <a:endParaRPr lang="en-US" sz="1600" dirty="0"/>
          </a:p>
        </p:txBody>
      </p:sp>
      <p:sp>
        <p:nvSpPr>
          <p:cNvPr id="11" name="Shape 9"/>
          <p:cNvSpPr/>
          <p:nvPr/>
        </p:nvSpPr>
        <p:spPr>
          <a:xfrm>
            <a:off x="5943600" y="4572000"/>
            <a:ext cx="4937760" cy="1234440"/>
          </a:xfrm>
          <a:prstGeom prst="roundRect">
            <a:avLst>
              <a:gd name="adj" fmla="val 8889"/>
            </a:avLst>
          </a:prstGeom>
          <a:solidFill>
            <a:srgbClr val="22252B"/>
          </a:solidFill>
          <a:ln w="12700">
            <a:solidFill>
              <a:srgbClr val="22252B"/>
            </a:solidFill>
            <a:prstDash val="solid"/>
          </a:ln>
        </p:spPr>
      </p:sp>
      <p:sp>
        <p:nvSpPr>
          <p:cNvPr id="12" name="Shape 10"/>
          <p:cNvSpPr/>
          <p:nvPr/>
        </p:nvSpPr>
        <p:spPr>
          <a:xfrm>
            <a:off x="5943600" y="4572000"/>
            <a:ext cx="91440" cy="1234440"/>
          </a:xfrm>
          <a:prstGeom prst="rect">
            <a:avLst/>
          </a:prstGeom>
          <a:solidFill>
            <a:srgbClr val="19A35F"/>
          </a:solidFill>
          <a:ln w="12700">
            <a:solidFill>
              <a:srgbClr val="19A35F"/>
            </a:solidFill>
            <a:prstDash val="solid"/>
          </a:ln>
        </p:spPr>
      </p:sp>
      <p:sp>
        <p:nvSpPr>
          <p:cNvPr id="13" name="Text 11"/>
          <p:cNvSpPr txBox="1"/>
          <p:nvPr/>
        </p:nvSpPr>
        <p:spPr>
          <a:xfrm>
            <a:off x="6217920" y="4572000"/>
            <a:ext cx="4572000" cy="1234440"/>
          </a:xfrm>
          <a:prstGeom prst="rect">
            <a:avLst/>
          </a:prstGeom>
          <a:noFill/>
          <a:ln/>
        </p:spPr>
        <p:txBody>
          <a:bodyPr wrap="square" lIns="0" tIns="0" rIns="0" bIns="0" rtlCol="0" anchor="ctr"/>
          <a:lstStyle/>
          <a:p>
            <a:pPr indent="0" marL="0">
              <a:buNone/>
            </a:pPr>
            <a:r>
              <a:rPr lang="en-US" sz="2200" b="1" dirty="0">
                <a:solidFill>
                  <a:srgbClr val="19A35F"/>
                </a:solidFill>
                <a:latin typeface="Arial" pitchFamily="34" charset="0"/>
                <a:ea typeface="Arial" pitchFamily="34" charset="-122"/>
                <a:cs typeface="Arial" pitchFamily="34" charset="-120"/>
              </a:rPr>
              <a:t>Người 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 và phần kết hợp</a:t>
            </a:r>
            <a:endParaRPr lang="en-US" sz="1600" dirty="0"/>
          </a:p>
        </p:txBody>
      </p:sp>
      <p:sp>
        <p:nvSpPr>
          <p:cNvPr id="14" name="Shape 12"/>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15" name="Text 1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16" name="Text 1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BÀI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Đèn mũ chiếu vào camera → người cháy trắng</a:t>
            </a:r>
            <a:endParaRPr lang="en-US" sz="3000" dirty="0"/>
          </a:p>
        </p:txBody>
      </p:sp>
      <p:pic>
        <p:nvPicPr>
          <p:cNvPr id="4" name="Image 0" descr="D:\PROJECT\PEG\results\failure_analysis\figures\01_gate_ok_box_drifts.png">    </p:cNvPr>
          <p:cNvPicPr>
            <a:picLocks noChangeAspect="1"/>
          </p:cNvPicPr>
          <p:nvPr/>
        </p:nvPicPr>
        <p:blipFill>
          <a:blip r:embed="rId1"/>
          <a:stretch>
            <a:fillRect/>
          </a:stretch>
        </p:blipFill>
        <p:spPr>
          <a:xfrm>
            <a:off x="548640" y="1600200"/>
            <a:ext cx="11091672" cy="2940770"/>
          </a:xfrm>
          <a:prstGeom prst="rect">
            <a:avLst/>
          </a:prstGeom>
        </p:spPr>
      </p:pic>
      <p:sp>
        <p:nvSpPr>
          <p:cNvPr id="5" name="Text 2"/>
          <p:cNvSpPr txBox="1"/>
          <p:nvPr/>
        </p:nvSpPr>
        <p:spPr>
          <a:xfrm>
            <a:off x="548640" y="4632410"/>
            <a:ext cx="219456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Trước khi chói</a:t>
            </a:r>
            <a:endParaRPr lang="en-US" sz="1200" dirty="0"/>
          </a:p>
        </p:txBody>
      </p:sp>
      <p:sp>
        <p:nvSpPr>
          <p:cNvPr id="6" name="Text 3"/>
          <p:cNvSpPr txBox="1"/>
          <p:nvPr/>
        </p:nvSpPr>
        <p:spPr>
          <a:xfrm>
            <a:off x="2880360" y="4632410"/>
            <a:ext cx="27432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Bị chói trắng →</a:t>
            </a:r>
            <a:endParaRPr lang="en-US" sz="1200" dirty="0"/>
          </a:p>
        </p:txBody>
      </p:sp>
      <p:sp>
        <p:nvSpPr>
          <p:cNvPr id="7" name="Text 4"/>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Detector không thấy người → mất box, mất ID.</a:t>
            </a:r>
            <a:endParaRPr lang="en-US" sz="2600" dirty="0"/>
          </a:p>
        </p:txBody>
      </p:sp>
      <p:sp>
        <p:nvSpPr>
          <p:cNvPr id="8" name="Shape 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0"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Ý TƯỞNG CỦA PAPER</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 làm gì?</a:t>
            </a:r>
            <a:endParaRPr lang="en-US" sz="3000" dirty="0"/>
          </a:p>
        </p:txBody>
      </p:sp>
      <p:sp>
        <p:nvSpPr>
          <p:cNvPr id="4" name="Shape 2"/>
          <p:cNvSpPr/>
          <p:nvPr/>
        </p:nvSpPr>
        <p:spPr>
          <a:xfrm>
            <a:off x="548640" y="2606040"/>
            <a:ext cx="2103120" cy="1280160"/>
          </a:xfrm>
          <a:prstGeom prst="roundRect">
            <a:avLst>
              <a:gd name="adj" fmla="val 8571"/>
            </a:avLst>
          </a:prstGeom>
          <a:solidFill>
            <a:srgbClr val="22252B"/>
          </a:solidFill>
          <a:ln w="12700">
            <a:solidFill>
              <a:srgbClr val="22252B"/>
            </a:solidFill>
            <a:prstDash val="solid"/>
          </a:ln>
        </p:spPr>
      </p:sp>
      <p:sp>
        <p:nvSpPr>
          <p:cNvPr id="5" name="Text 3"/>
          <p:cNvSpPr txBox="1"/>
          <p:nvPr/>
        </p:nvSpPr>
        <p:spPr>
          <a:xfrm>
            <a:off x="548640" y="2606040"/>
            <a:ext cx="2103120" cy="1280160"/>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Người bị mất</a:t>
            </a:r>
            <a:endParaRPr lang="en-US" sz="2000" dirty="0"/>
          </a:p>
        </p:txBody>
      </p:sp>
      <p:sp>
        <p:nvSpPr>
          <p:cNvPr id="6" name="Shape 4"/>
          <p:cNvSpPr/>
          <p:nvPr/>
        </p:nvSpPr>
        <p:spPr>
          <a:xfrm>
            <a:off x="2697480" y="3246120"/>
            <a:ext cx="411480" cy="0"/>
          </a:xfrm>
          <a:prstGeom prst="line">
            <a:avLst/>
          </a:prstGeom>
          <a:noFill/>
          <a:ln w="31750">
            <a:solidFill>
              <a:srgbClr val="F2A900"/>
            </a:solidFill>
            <a:prstDash val="solid"/>
            <a:tailEnd type="triangle"/>
          </a:ln>
        </p:spPr>
      </p:sp>
      <p:sp>
        <p:nvSpPr>
          <p:cNvPr id="7" name="Shape 5"/>
          <p:cNvSpPr/>
          <p:nvPr/>
        </p:nvSpPr>
        <p:spPr>
          <a:xfrm>
            <a:off x="3154680" y="2606040"/>
            <a:ext cx="2834640" cy="1280160"/>
          </a:xfrm>
          <a:prstGeom prst="roundRect">
            <a:avLst>
              <a:gd name="adj" fmla="val 8571"/>
            </a:avLst>
          </a:prstGeom>
          <a:solidFill>
            <a:srgbClr val="2B2F36"/>
          </a:solidFill>
          <a:ln w="12700">
            <a:solidFill>
              <a:srgbClr val="2B2F36"/>
            </a:solidFill>
            <a:prstDash val="solid"/>
          </a:ln>
        </p:spPr>
      </p:sp>
      <p:sp>
        <p:nvSpPr>
          <p:cNvPr id="8" name="Text 6"/>
          <p:cNvSpPr txBox="1"/>
          <p:nvPr/>
        </p:nvSpPr>
        <p:spPr>
          <a:xfrm>
            <a:off x="3154680" y="2606040"/>
            <a:ext cx="2834640" cy="1280160"/>
          </a:xfrm>
          <a:prstGeom prst="rect">
            <a:avLst/>
          </a:prstGeom>
          <a:noFill/>
          <a:ln/>
        </p:spPr>
        <p:txBody>
          <a:bodyPr wrap="square" lIns="0" tIns="0" rIns="0" bIns="0" rtlCol="0" anchor="ctr"/>
          <a:lstStyle/>
          <a:p>
            <a:pPr algn="ctr" indent="0" marL="0">
              <a:buNone/>
            </a:pPr>
            <a:r>
              <a:rPr lang="en-US" sz="2200" b="1" dirty="0">
                <a:solidFill>
                  <a:srgbClr val="F2A900"/>
                </a:solidFill>
                <a:latin typeface="Arial" pitchFamily="34" charset="0"/>
                <a:ea typeface="Arial" pitchFamily="34" charset="-122"/>
                <a:cs typeface="Arial" pitchFamily="34" charset="-120"/>
              </a:rPr>
              <a:t>Đo φ</a:t>
            </a:r>
            <a:endParaRPr lang="en-US" sz="1600" dirty="0"/>
          </a:p>
          <a:p>
            <a:pPr algn="ctr" indent="0" marL="0">
              <a:buNone/>
            </a:pPr>
            <a:r>
              <a:rPr lang="en-US" sz="1500" dirty="0">
                <a:solidFill>
                  <a:srgbClr val="A3A8B0"/>
                </a:solidFill>
                <a:latin typeface="Arial" pitchFamily="34" charset="0"/>
                <a:ea typeface="Arial" pitchFamily="34" charset="-122"/>
                <a:cs typeface="Arial" pitchFamily="34" charset="-120"/>
              </a:rPr>
              <a:t>% box đoán bị trắng</a:t>
            </a:r>
            <a:endParaRPr lang="en-US" sz="1600" dirty="0"/>
          </a:p>
        </p:txBody>
      </p:sp>
      <p:sp>
        <p:nvSpPr>
          <p:cNvPr id="9" name="Shape 7"/>
          <p:cNvSpPr/>
          <p:nvPr/>
        </p:nvSpPr>
        <p:spPr>
          <a:xfrm>
            <a:off x="6035040" y="3246120"/>
            <a:ext cx="411480" cy="0"/>
          </a:xfrm>
          <a:prstGeom prst="line">
            <a:avLst/>
          </a:prstGeom>
          <a:noFill/>
          <a:ln w="31750">
            <a:solidFill>
              <a:srgbClr val="F2A900"/>
            </a:solidFill>
            <a:prstDash val="solid"/>
            <a:tailEnd type="triangle"/>
          </a:ln>
        </p:spPr>
      </p:sp>
      <p:sp>
        <p:nvSpPr>
          <p:cNvPr id="10" name="Shape 8"/>
          <p:cNvSpPr/>
          <p:nvPr/>
        </p:nvSpPr>
        <p:spPr>
          <a:xfrm>
            <a:off x="6492240" y="2468880"/>
            <a:ext cx="1828800" cy="1554480"/>
          </a:xfrm>
          <a:prstGeom prst="diamond">
            <a:avLst/>
          </a:prstGeom>
          <a:solidFill>
            <a:srgbClr val="22252B"/>
          </a:solidFill>
          <a:ln w="25400">
            <a:solidFill>
              <a:srgbClr val="F2A900"/>
            </a:solidFill>
            <a:prstDash val="solid"/>
          </a:ln>
        </p:spPr>
      </p:sp>
      <p:sp>
        <p:nvSpPr>
          <p:cNvPr id="11" name="Text 9"/>
          <p:cNvSpPr txBox="1"/>
          <p:nvPr/>
        </p:nvSpPr>
        <p:spPr>
          <a:xfrm>
            <a:off x="6492240" y="2468880"/>
            <a:ext cx="1828800" cy="1554480"/>
          </a:xfrm>
          <a:prstGeom prst="rect">
            <a:avLst/>
          </a:prstGeom>
          <a:noFill/>
          <a:ln/>
        </p:spPr>
        <p:txBody>
          <a:bodyPr wrap="square" lIns="0" tIns="0" rIns="0" bIns="0" rtlCol="0" anchor="ctr"/>
          <a:lstStyle/>
          <a:p>
            <a:pPr algn="ctr" indent="0" marL="0">
              <a:buNone/>
            </a:pPr>
            <a:r>
              <a:rPr lang="en-US" sz="1800" b="1" dirty="0">
                <a:solidFill>
                  <a:srgbClr val="F2F2F2"/>
                </a:solidFill>
                <a:latin typeface="Arial" pitchFamily="34" charset="0"/>
                <a:ea typeface="Arial" pitchFamily="34" charset="-122"/>
                <a:cs typeface="Arial" pitchFamily="34" charset="-120"/>
              </a:rPr>
              <a:t>φ ≥ h</a:t>
            </a:r>
            <a:endParaRPr lang="en-US" sz="1800" dirty="0"/>
          </a:p>
          <a:p>
            <a:pPr algn="ctr" indent="0" marL="0">
              <a:buNone/>
            </a:pPr>
            <a:r>
              <a:rPr lang="en-US" sz="1800" b="1" dirty="0">
                <a:solidFill>
                  <a:srgbClr val="F2F2F2"/>
                </a:solidFill>
                <a:latin typeface="Arial" pitchFamily="34" charset="0"/>
                <a:ea typeface="Arial" pitchFamily="34" charset="-122"/>
                <a:cs typeface="Arial" pitchFamily="34" charset="-120"/>
              </a:rPr>
              <a:t>(0.4)?</a:t>
            </a:r>
            <a:endParaRPr lang="en-US" sz="1800" dirty="0"/>
          </a:p>
        </p:txBody>
      </p:sp>
      <p:sp>
        <p:nvSpPr>
          <p:cNvPr id="12" name="Shape 10"/>
          <p:cNvSpPr/>
          <p:nvPr/>
        </p:nvSpPr>
        <p:spPr>
          <a:xfrm flipV="1">
            <a:off x="8366760" y="2331720"/>
            <a:ext cx="457200" cy="914400"/>
          </a:xfrm>
          <a:prstGeom prst="line">
            <a:avLst/>
          </a:prstGeom>
          <a:noFill/>
          <a:ln w="31750">
            <a:solidFill>
              <a:srgbClr val="19A35F"/>
            </a:solidFill>
            <a:prstDash val="solid"/>
            <a:tailEnd type="triangle"/>
          </a:ln>
        </p:spPr>
      </p:sp>
      <p:sp>
        <p:nvSpPr>
          <p:cNvPr id="13" name="Shape 11"/>
          <p:cNvSpPr/>
          <p:nvPr/>
        </p:nvSpPr>
        <p:spPr>
          <a:xfrm>
            <a:off x="8366760" y="3246120"/>
            <a:ext cx="457200" cy="914400"/>
          </a:xfrm>
          <a:prstGeom prst="line">
            <a:avLst/>
          </a:prstGeom>
          <a:noFill/>
          <a:ln w="31750">
            <a:solidFill>
              <a:srgbClr val="A3A8B0"/>
            </a:solidFill>
            <a:prstDash val="solid"/>
            <a:tailEnd type="triangle"/>
          </a:ln>
        </p:spPr>
      </p:sp>
      <p:sp>
        <p:nvSpPr>
          <p:cNvPr id="14" name="Text 12"/>
          <p:cNvSpPr txBox="1"/>
          <p:nvPr/>
        </p:nvSpPr>
        <p:spPr>
          <a:xfrm>
            <a:off x="8229600" y="2377440"/>
            <a:ext cx="457200" cy="274320"/>
          </a:xfrm>
          <a:prstGeom prst="rect">
            <a:avLst/>
          </a:prstGeom>
          <a:noFill/>
          <a:ln/>
        </p:spPr>
        <p:txBody>
          <a:bodyPr wrap="square" lIns="0" tIns="0" rIns="0" bIns="0" rtlCol="0" anchor="t"/>
          <a:lstStyle/>
          <a:p>
            <a:pPr indent="0" marL="0">
              <a:buNone/>
            </a:pPr>
            <a:r>
              <a:rPr lang="en-US" sz="1400" b="1" dirty="0">
                <a:solidFill>
                  <a:srgbClr val="19A35F"/>
                </a:solidFill>
                <a:latin typeface="Arial" pitchFamily="34" charset="0"/>
                <a:ea typeface="Arial" pitchFamily="34" charset="-122"/>
                <a:cs typeface="Arial" pitchFamily="34" charset="-120"/>
              </a:rPr>
              <a:t>Có</a:t>
            </a:r>
            <a:endParaRPr lang="en-US" sz="1400" dirty="0"/>
          </a:p>
        </p:txBody>
      </p:sp>
      <p:sp>
        <p:nvSpPr>
          <p:cNvPr id="15" name="Text 13"/>
          <p:cNvSpPr txBox="1"/>
          <p:nvPr/>
        </p:nvSpPr>
        <p:spPr>
          <a:xfrm>
            <a:off x="8092440" y="4251960"/>
            <a:ext cx="731520" cy="274320"/>
          </a:xfrm>
          <a:prstGeom prst="rect">
            <a:avLst/>
          </a:prstGeom>
          <a:noFill/>
          <a:ln/>
        </p:spPr>
        <p:txBody>
          <a:bodyPr wrap="square" lIns="0" tIns="0" rIns="0" bIns="0" rtlCol="0" anchor="t"/>
          <a:lstStyle/>
          <a:p>
            <a:pPr indent="0" marL="0">
              <a:buNone/>
            </a:pPr>
            <a:r>
              <a:rPr lang="en-US" sz="1400" b="1" dirty="0">
                <a:solidFill>
                  <a:srgbClr val="A3A8B0"/>
                </a:solidFill>
                <a:latin typeface="Arial" pitchFamily="34" charset="0"/>
                <a:ea typeface="Arial" pitchFamily="34" charset="-122"/>
                <a:cs typeface="Arial" pitchFamily="34" charset="-120"/>
              </a:rPr>
              <a:t>Không</a:t>
            </a:r>
            <a:endParaRPr lang="en-US" sz="1400" dirty="0"/>
          </a:p>
        </p:txBody>
      </p:sp>
      <p:sp>
        <p:nvSpPr>
          <p:cNvPr id="16" name="Shape 14"/>
          <p:cNvSpPr/>
          <p:nvPr/>
        </p:nvSpPr>
        <p:spPr>
          <a:xfrm>
            <a:off x="8869680" y="1645920"/>
            <a:ext cx="2770632" cy="1371600"/>
          </a:xfrm>
          <a:prstGeom prst="roundRect">
            <a:avLst>
              <a:gd name="adj" fmla="val 8000"/>
            </a:avLst>
          </a:prstGeom>
          <a:solidFill>
            <a:srgbClr val="2B2F36"/>
          </a:solidFill>
          <a:ln w="12700">
            <a:solidFill>
              <a:srgbClr val="2B2F36"/>
            </a:solidFill>
            <a:prstDash val="solid"/>
          </a:ln>
        </p:spPr>
      </p:sp>
      <p:sp>
        <p:nvSpPr>
          <p:cNvPr id="17" name="Shape 15"/>
          <p:cNvSpPr/>
          <p:nvPr/>
        </p:nvSpPr>
        <p:spPr>
          <a:xfrm>
            <a:off x="8869680" y="1645920"/>
            <a:ext cx="91440" cy="1371600"/>
          </a:xfrm>
          <a:prstGeom prst="rect">
            <a:avLst/>
          </a:prstGeom>
          <a:solidFill>
            <a:srgbClr val="19A35F"/>
          </a:solidFill>
          <a:ln w="12700">
            <a:solidFill>
              <a:srgbClr val="19A35F"/>
            </a:solidFill>
            <a:prstDash val="solid"/>
          </a:ln>
        </p:spPr>
      </p:sp>
      <p:sp>
        <p:nvSpPr>
          <p:cNvPr id="18" name="Text 16"/>
          <p:cNvSpPr txBox="1"/>
          <p:nvPr/>
        </p:nvSpPr>
        <p:spPr>
          <a:xfrm>
            <a:off x="9098280" y="1645920"/>
            <a:ext cx="2468880" cy="1371600"/>
          </a:xfrm>
          <a:prstGeom prst="rect">
            <a:avLst/>
          </a:prstGeom>
          <a:noFill/>
          <a:ln/>
        </p:spPr>
        <p:txBody>
          <a:bodyPr wrap="square" lIns="0" tIns="0" rIns="0" bIns="0" rtlCol="0" anchor="ctr"/>
          <a:lstStyle/>
          <a:p>
            <a:pPr indent="0" marL="0">
              <a:buNone/>
            </a:pPr>
            <a:r>
              <a:rPr lang="en-US" sz="2000" b="1" dirty="0">
                <a:solidFill>
                  <a:srgbClr val="19A35F"/>
                </a:solidFill>
                <a:latin typeface="Arial" pitchFamily="34" charset="0"/>
                <a:ea typeface="Arial" pitchFamily="34" charset="-122"/>
                <a:cs typeface="Arial" pitchFamily="34" charset="-120"/>
              </a:rPr>
              <a:t>Giữ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vẫn ở đó, chỉ bị chói</a:t>
            </a:r>
            <a:endParaRPr lang="en-US" sz="1600" dirty="0"/>
          </a:p>
        </p:txBody>
      </p:sp>
      <p:sp>
        <p:nvSpPr>
          <p:cNvPr id="19" name="Shape 17"/>
          <p:cNvSpPr/>
          <p:nvPr/>
        </p:nvSpPr>
        <p:spPr>
          <a:xfrm>
            <a:off x="8869680" y="3474720"/>
            <a:ext cx="2770632" cy="1371600"/>
          </a:xfrm>
          <a:prstGeom prst="roundRect">
            <a:avLst>
              <a:gd name="adj" fmla="val 8000"/>
            </a:avLst>
          </a:prstGeom>
          <a:solidFill>
            <a:srgbClr val="2B2F36"/>
          </a:solidFill>
          <a:ln w="12700">
            <a:solidFill>
              <a:srgbClr val="2B2F36"/>
            </a:solidFill>
            <a:prstDash val="solid"/>
          </a:ln>
        </p:spPr>
      </p:sp>
      <p:sp>
        <p:nvSpPr>
          <p:cNvPr id="20" name="Shape 18"/>
          <p:cNvSpPr/>
          <p:nvPr/>
        </p:nvSpPr>
        <p:spPr>
          <a:xfrm>
            <a:off x="8869680" y="3474720"/>
            <a:ext cx="91440" cy="1371600"/>
          </a:xfrm>
          <a:prstGeom prst="rect">
            <a:avLst/>
          </a:prstGeom>
          <a:solidFill>
            <a:srgbClr val="A3A8B0"/>
          </a:solidFill>
          <a:ln w="12700">
            <a:solidFill>
              <a:srgbClr val="A3A8B0"/>
            </a:solidFill>
            <a:prstDash val="solid"/>
          </a:ln>
        </p:spPr>
      </p:sp>
      <p:sp>
        <p:nvSpPr>
          <p:cNvPr id="21" name="Text 19"/>
          <p:cNvSpPr txBox="1"/>
          <p:nvPr/>
        </p:nvSpPr>
        <p:spPr>
          <a:xfrm>
            <a:off x="9098280" y="3474720"/>
            <a:ext cx="2468880" cy="1371600"/>
          </a:xfrm>
          <a:prstGeom prst="rect">
            <a:avLst/>
          </a:prstGeom>
          <a:noFill/>
          <a:ln/>
        </p:spPr>
        <p:txBody>
          <a:bodyPr wrap="square" lIns="0" tIns="0" rIns="0" bIns="0" rtlCol="0" anchor="ctr"/>
          <a:lstStyle/>
          <a:p>
            <a:pPr indent="0" marL="0">
              <a:buNone/>
            </a:pPr>
            <a:r>
              <a:rPr lang="en-US" sz="2000" b="1" dirty="0">
                <a:solidFill>
                  <a:srgbClr val="A3A8B0"/>
                </a:solidFill>
                <a:latin typeface="Arial" pitchFamily="34" charset="0"/>
                <a:ea typeface="Arial" pitchFamily="34" charset="-122"/>
                <a:cs typeface="Arial" pitchFamily="34" charset="-120"/>
              </a:rPr>
              <a:t>Bỏ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đã đi</a:t>
            </a:r>
            <a:endParaRPr lang="en-US" sz="1600" dirty="0"/>
          </a:p>
        </p:txBody>
      </p:sp>
      <p:sp>
        <p:nvSpPr>
          <p:cNvPr id="22" name="Text 20"/>
          <p:cNvSpPr txBox="1"/>
          <p:nvPr/>
        </p:nvSpPr>
        <p:spPr>
          <a:xfrm>
            <a:off x="548640" y="539496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Đo chính ánh sáng làm hỏng ảnh để quyết định giữ box.</a:t>
            </a:r>
            <a:endParaRPr lang="en-US" sz="2400" dirty="0"/>
          </a:p>
        </p:txBody>
      </p:sp>
      <p:sp>
        <p:nvSpPr>
          <p:cNvPr id="23"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4"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5"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TÁI HIỆN BÀI BÁO</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Mình chạy lại có ra số của paper?</a:t>
            </a:r>
            <a:endParaRPr lang="en-US" sz="3000" dirty="0"/>
          </a:p>
        </p:txBody>
      </p:sp>
      <p:sp>
        <p:nvSpPr>
          <p:cNvPr id="4" name="Text 2"/>
          <p:cNvSpPr txBox="1"/>
          <p:nvPr/>
        </p:nvSpPr>
        <p:spPr>
          <a:xfrm>
            <a:off x="5943600" y="1600200"/>
            <a:ext cx="137160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Paper</a:t>
            </a:r>
            <a:endParaRPr lang="en-US" sz="1400" dirty="0"/>
          </a:p>
        </p:txBody>
      </p:sp>
      <p:sp>
        <p:nvSpPr>
          <p:cNvPr id="5" name="Text 3"/>
          <p:cNvSpPr txBox="1"/>
          <p:nvPr/>
        </p:nvSpPr>
        <p:spPr>
          <a:xfrm>
            <a:off x="7498080" y="1600200"/>
            <a:ext cx="164592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Mình chạy</a:t>
            </a:r>
            <a:endParaRPr lang="en-US" sz="1400" dirty="0"/>
          </a:p>
        </p:txBody>
      </p:sp>
      <p:sp>
        <p:nvSpPr>
          <p:cNvPr id="6" name="Text 4"/>
          <p:cNvSpPr txBox="1"/>
          <p:nvPr/>
        </p:nvSpPr>
        <p:spPr>
          <a:xfrm>
            <a:off x="9326880" y="1600200"/>
            <a:ext cx="109728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Lệch</a:t>
            </a:r>
            <a:endParaRPr lang="en-US" sz="1400" dirty="0"/>
          </a:p>
        </p:txBody>
      </p:sp>
      <p:sp>
        <p:nvSpPr>
          <p:cNvPr id="7" name="Shape 5"/>
          <p:cNvSpPr/>
          <p:nvPr/>
        </p:nvSpPr>
        <p:spPr>
          <a:xfrm>
            <a:off x="548640" y="2011680"/>
            <a:ext cx="11091672" cy="566928"/>
          </a:xfrm>
          <a:prstGeom prst="roundRect">
            <a:avLst>
              <a:gd name="adj" fmla="val 19355"/>
            </a:avLst>
          </a:prstGeom>
          <a:solidFill>
            <a:srgbClr val="22252B"/>
          </a:solidFill>
          <a:ln w="12700">
            <a:solidFill>
              <a:srgbClr val="22252B"/>
            </a:solidFill>
            <a:prstDash val="solid"/>
          </a:ln>
        </p:spPr>
      </p:sp>
      <p:sp>
        <p:nvSpPr>
          <p:cNvPr id="8" name="Text 6"/>
          <p:cNvSpPr txBox="1"/>
          <p:nvPr/>
        </p:nvSpPr>
        <p:spPr>
          <a:xfrm>
            <a:off x="777240" y="201168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9" name="Text 7"/>
          <p:cNvSpPr txBox="1"/>
          <p:nvPr/>
        </p:nvSpPr>
        <p:spPr>
          <a:xfrm>
            <a:off x="2651760" y="201168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HOTA</a:t>
            </a:r>
            <a:endParaRPr lang="en-US" sz="2200" dirty="0"/>
          </a:p>
        </p:txBody>
      </p:sp>
      <p:sp>
        <p:nvSpPr>
          <p:cNvPr id="10" name="Text 8"/>
          <p:cNvSpPr txBox="1"/>
          <p:nvPr/>
        </p:nvSpPr>
        <p:spPr>
          <a:xfrm>
            <a:off x="5943600" y="201168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68.20</a:t>
            </a:r>
            <a:endParaRPr lang="en-US" sz="2400" dirty="0"/>
          </a:p>
        </p:txBody>
      </p:sp>
      <p:sp>
        <p:nvSpPr>
          <p:cNvPr id="11" name="Text 9"/>
          <p:cNvSpPr txBox="1"/>
          <p:nvPr/>
        </p:nvSpPr>
        <p:spPr>
          <a:xfrm>
            <a:off x="7498080" y="201168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2" name="Text 10"/>
          <p:cNvSpPr txBox="1"/>
          <p:nvPr/>
        </p:nvSpPr>
        <p:spPr>
          <a:xfrm>
            <a:off x="9326880" y="201168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13" name="Text 11"/>
          <p:cNvSpPr txBox="1"/>
          <p:nvPr/>
        </p:nvSpPr>
        <p:spPr>
          <a:xfrm>
            <a:off x="10698480" y="201168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14" name="Shape 12"/>
          <p:cNvSpPr/>
          <p:nvPr/>
        </p:nvSpPr>
        <p:spPr>
          <a:xfrm>
            <a:off x="548640" y="2670048"/>
            <a:ext cx="11091672" cy="566928"/>
          </a:xfrm>
          <a:prstGeom prst="roundRect">
            <a:avLst>
              <a:gd name="adj" fmla="val 19355"/>
            </a:avLst>
          </a:prstGeom>
          <a:solidFill>
            <a:srgbClr val="22252B"/>
          </a:solidFill>
          <a:ln w="12700">
            <a:solidFill>
              <a:srgbClr val="22252B"/>
            </a:solidFill>
            <a:prstDash val="solid"/>
          </a:ln>
        </p:spPr>
      </p:sp>
      <p:sp>
        <p:nvSpPr>
          <p:cNvPr id="15" name="Text 13"/>
          <p:cNvSpPr txBox="1"/>
          <p:nvPr/>
        </p:nvSpPr>
        <p:spPr>
          <a:xfrm>
            <a:off x="777240" y="2670048"/>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16" name="Text 14"/>
          <p:cNvSpPr txBox="1"/>
          <p:nvPr/>
        </p:nvSpPr>
        <p:spPr>
          <a:xfrm>
            <a:off x="2651760" y="2670048"/>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17" name="Text 15"/>
          <p:cNvSpPr txBox="1"/>
          <p:nvPr/>
        </p:nvSpPr>
        <p:spPr>
          <a:xfrm>
            <a:off x="5943600" y="2670048"/>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82.30</a:t>
            </a:r>
            <a:endParaRPr lang="en-US" sz="2400" dirty="0"/>
          </a:p>
        </p:txBody>
      </p:sp>
      <p:sp>
        <p:nvSpPr>
          <p:cNvPr id="18" name="Text 16"/>
          <p:cNvSpPr txBox="1"/>
          <p:nvPr/>
        </p:nvSpPr>
        <p:spPr>
          <a:xfrm>
            <a:off x="7498080" y="2670048"/>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9" name="Text 17"/>
          <p:cNvSpPr txBox="1"/>
          <p:nvPr/>
        </p:nvSpPr>
        <p:spPr>
          <a:xfrm>
            <a:off x="9326880" y="2670048"/>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0" name="Text 18"/>
          <p:cNvSpPr txBox="1"/>
          <p:nvPr/>
        </p:nvSpPr>
        <p:spPr>
          <a:xfrm>
            <a:off x="10698480" y="2670048"/>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1" name="Shape 19"/>
          <p:cNvSpPr/>
          <p:nvPr/>
        </p:nvSpPr>
        <p:spPr>
          <a:xfrm>
            <a:off x="548640" y="3328416"/>
            <a:ext cx="11091672" cy="566928"/>
          </a:xfrm>
          <a:prstGeom prst="roundRect">
            <a:avLst>
              <a:gd name="adj" fmla="val 19355"/>
            </a:avLst>
          </a:prstGeom>
          <a:solidFill>
            <a:srgbClr val="22252B"/>
          </a:solidFill>
          <a:ln w="12700">
            <a:solidFill>
              <a:srgbClr val="22252B"/>
            </a:solidFill>
            <a:prstDash val="solid"/>
          </a:ln>
        </p:spPr>
      </p:sp>
      <p:sp>
        <p:nvSpPr>
          <p:cNvPr id="22" name="Text 20"/>
          <p:cNvSpPr txBox="1"/>
          <p:nvPr/>
        </p:nvSpPr>
        <p:spPr>
          <a:xfrm>
            <a:off x="777240" y="3328416"/>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23" name="Text 21"/>
          <p:cNvSpPr txBox="1"/>
          <p:nvPr/>
        </p:nvSpPr>
        <p:spPr>
          <a:xfrm>
            <a:off x="2651760" y="3328416"/>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24" name="Text 22"/>
          <p:cNvSpPr txBox="1"/>
          <p:nvPr/>
        </p:nvSpPr>
        <p:spPr>
          <a:xfrm>
            <a:off x="5943600" y="3328416"/>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80.62</a:t>
            </a:r>
            <a:endParaRPr lang="en-US" sz="2400" dirty="0"/>
          </a:p>
        </p:txBody>
      </p:sp>
      <p:sp>
        <p:nvSpPr>
          <p:cNvPr id="25" name="Text 23"/>
          <p:cNvSpPr txBox="1"/>
          <p:nvPr/>
        </p:nvSpPr>
        <p:spPr>
          <a:xfrm>
            <a:off x="7498080" y="3328416"/>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80.62</a:t>
            </a:r>
            <a:endParaRPr lang="en-US" sz="2400" dirty="0"/>
          </a:p>
        </p:txBody>
      </p:sp>
      <p:sp>
        <p:nvSpPr>
          <p:cNvPr id="26" name="Text 24"/>
          <p:cNvSpPr txBox="1"/>
          <p:nvPr/>
        </p:nvSpPr>
        <p:spPr>
          <a:xfrm>
            <a:off x="9326880" y="3328416"/>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7" name="Text 25"/>
          <p:cNvSpPr txBox="1"/>
          <p:nvPr/>
        </p:nvSpPr>
        <p:spPr>
          <a:xfrm>
            <a:off x="10698480" y="3328416"/>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8" name="Shape 26"/>
          <p:cNvSpPr/>
          <p:nvPr/>
        </p:nvSpPr>
        <p:spPr>
          <a:xfrm>
            <a:off x="548640" y="3986784"/>
            <a:ext cx="11091672" cy="566928"/>
          </a:xfrm>
          <a:prstGeom prst="roundRect">
            <a:avLst>
              <a:gd name="adj" fmla="val 19355"/>
            </a:avLst>
          </a:prstGeom>
          <a:solidFill>
            <a:srgbClr val="22252B"/>
          </a:solidFill>
          <a:ln w="12700">
            <a:solidFill>
              <a:srgbClr val="22252B"/>
            </a:solidFill>
            <a:prstDash val="solid"/>
          </a:ln>
        </p:spPr>
      </p:sp>
      <p:sp>
        <p:nvSpPr>
          <p:cNvPr id="29" name="Text 27"/>
          <p:cNvSpPr txBox="1"/>
          <p:nvPr/>
        </p:nvSpPr>
        <p:spPr>
          <a:xfrm>
            <a:off x="777240" y="3986784"/>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0" name="Text 28"/>
          <p:cNvSpPr txBox="1"/>
          <p:nvPr/>
        </p:nvSpPr>
        <p:spPr>
          <a:xfrm>
            <a:off x="2651760" y="3986784"/>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31" name="Text 29"/>
          <p:cNvSpPr txBox="1"/>
          <p:nvPr/>
        </p:nvSpPr>
        <p:spPr>
          <a:xfrm>
            <a:off x="5943600" y="3986784"/>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73.24</a:t>
            </a:r>
            <a:endParaRPr lang="en-US" sz="2400" dirty="0"/>
          </a:p>
        </p:txBody>
      </p:sp>
      <p:sp>
        <p:nvSpPr>
          <p:cNvPr id="32" name="Text 30"/>
          <p:cNvSpPr txBox="1"/>
          <p:nvPr/>
        </p:nvSpPr>
        <p:spPr>
          <a:xfrm>
            <a:off x="7498080" y="3986784"/>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33" name="Text 31"/>
          <p:cNvSpPr txBox="1"/>
          <p:nvPr/>
        </p:nvSpPr>
        <p:spPr>
          <a:xfrm>
            <a:off x="9326880" y="3986784"/>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0.02</a:t>
            </a:r>
            <a:endParaRPr lang="en-US" sz="1800" dirty="0"/>
          </a:p>
        </p:txBody>
      </p:sp>
      <p:sp>
        <p:nvSpPr>
          <p:cNvPr id="34" name="Text 32"/>
          <p:cNvSpPr txBox="1"/>
          <p:nvPr/>
        </p:nvSpPr>
        <p:spPr>
          <a:xfrm>
            <a:off x="10698480" y="3986784"/>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35" name="Shape 33"/>
          <p:cNvSpPr/>
          <p:nvPr/>
        </p:nvSpPr>
        <p:spPr>
          <a:xfrm>
            <a:off x="548640" y="4645152"/>
            <a:ext cx="11091672" cy="566928"/>
          </a:xfrm>
          <a:prstGeom prst="roundRect">
            <a:avLst>
              <a:gd name="adj" fmla="val 19355"/>
            </a:avLst>
          </a:prstGeom>
          <a:solidFill>
            <a:srgbClr val="22252B"/>
          </a:solidFill>
          <a:ln w="12700">
            <a:solidFill>
              <a:srgbClr val="22252B"/>
            </a:solidFill>
            <a:prstDash val="solid"/>
          </a:ln>
        </p:spPr>
      </p:sp>
      <p:sp>
        <p:nvSpPr>
          <p:cNvPr id="36" name="Text 34"/>
          <p:cNvSpPr txBox="1"/>
          <p:nvPr/>
        </p:nvSpPr>
        <p:spPr>
          <a:xfrm>
            <a:off x="777240" y="4645152"/>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7" name="Text 35"/>
          <p:cNvSpPr txBox="1"/>
          <p:nvPr/>
        </p:nvSpPr>
        <p:spPr>
          <a:xfrm>
            <a:off x="2651760" y="4645152"/>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38" name="Text 36"/>
          <p:cNvSpPr txBox="1"/>
          <p:nvPr/>
        </p:nvSpPr>
        <p:spPr>
          <a:xfrm>
            <a:off x="5943600" y="4645152"/>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75.29</a:t>
            </a:r>
            <a:endParaRPr lang="en-US" sz="2400" dirty="0"/>
          </a:p>
        </p:txBody>
      </p:sp>
      <p:sp>
        <p:nvSpPr>
          <p:cNvPr id="39" name="Text 37"/>
          <p:cNvSpPr txBox="1"/>
          <p:nvPr/>
        </p:nvSpPr>
        <p:spPr>
          <a:xfrm>
            <a:off x="7498080" y="4645152"/>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75.30</a:t>
            </a:r>
            <a:endParaRPr lang="en-US" sz="2400" dirty="0"/>
          </a:p>
        </p:txBody>
      </p:sp>
      <p:sp>
        <p:nvSpPr>
          <p:cNvPr id="40" name="Text 38"/>
          <p:cNvSpPr txBox="1"/>
          <p:nvPr/>
        </p:nvSpPr>
        <p:spPr>
          <a:xfrm>
            <a:off x="9326880" y="4645152"/>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41" name="Text 39"/>
          <p:cNvSpPr txBox="1"/>
          <p:nvPr/>
        </p:nvSpPr>
        <p:spPr>
          <a:xfrm>
            <a:off x="10698480" y="4645152"/>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2" name="Shape 40"/>
          <p:cNvSpPr/>
          <p:nvPr/>
        </p:nvSpPr>
        <p:spPr>
          <a:xfrm>
            <a:off x="548640" y="5303520"/>
            <a:ext cx="11091672" cy="566928"/>
          </a:xfrm>
          <a:prstGeom prst="roundRect">
            <a:avLst>
              <a:gd name="adj" fmla="val 19355"/>
            </a:avLst>
          </a:prstGeom>
          <a:solidFill>
            <a:srgbClr val="22252B"/>
          </a:solidFill>
          <a:ln w="12700">
            <a:solidFill>
              <a:srgbClr val="22252B"/>
            </a:solidFill>
            <a:prstDash val="solid"/>
          </a:ln>
        </p:spPr>
      </p:sp>
      <p:sp>
        <p:nvSpPr>
          <p:cNvPr id="43" name="Text 41"/>
          <p:cNvSpPr txBox="1"/>
          <p:nvPr/>
        </p:nvSpPr>
        <p:spPr>
          <a:xfrm>
            <a:off x="777240" y="530352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III</a:t>
            </a:r>
            <a:endParaRPr lang="en-US" sz="1600" dirty="0"/>
          </a:p>
        </p:txBody>
      </p:sp>
      <p:sp>
        <p:nvSpPr>
          <p:cNvPr id="44" name="Text 42"/>
          <p:cNvSpPr txBox="1"/>
          <p:nvPr/>
        </p:nvSpPr>
        <p:spPr>
          <a:xfrm>
            <a:off x="2651760" y="530352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Rcv@.5</a:t>
            </a:r>
            <a:endParaRPr lang="en-US" sz="2200" dirty="0"/>
          </a:p>
        </p:txBody>
      </p:sp>
      <p:sp>
        <p:nvSpPr>
          <p:cNvPr id="45" name="Text 43"/>
          <p:cNvSpPr txBox="1"/>
          <p:nvPr/>
        </p:nvSpPr>
        <p:spPr>
          <a:xfrm>
            <a:off x="5943600" y="530352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76.5</a:t>
            </a:r>
            <a:endParaRPr lang="en-US" sz="2400" dirty="0"/>
          </a:p>
        </p:txBody>
      </p:sp>
      <p:sp>
        <p:nvSpPr>
          <p:cNvPr id="46" name="Text 44"/>
          <p:cNvSpPr txBox="1"/>
          <p:nvPr/>
        </p:nvSpPr>
        <p:spPr>
          <a:xfrm>
            <a:off x="7498080" y="530352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47" name="Text 45"/>
          <p:cNvSpPr txBox="1"/>
          <p:nvPr/>
        </p:nvSpPr>
        <p:spPr>
          <a:xfrm>
            <a:off x="9326880" y="530352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0.1</a:t>
            </a:r>
            <a:endParaRPr lang="en-US" sz="1800" dirty="0"/>
          </a:p>
        </p:txBody>
      </p:sp>
      <p:sp>
        <p:nvSpPr>
          <p:cNvPr id="48" name="Text 46"/>
          <p:cNvSpPr txBox="1"/>
          <p:nvPr/>
        </p:nvSpPr>
        <p:spPr>
          <a:xfrm>
            <a:off x="10698480" y="530352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9" name="Text 47"/>
          <p:cNvSpPr txBox="1"/>
          <p:nvPr/>
        </p:nvSpPr>
        <p:spPr>
          <a:xfrm>
            <a:off x="548640" y="6035040"/>
            <a:ext cx="1097280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 = lệch ≤ 0.2 điểm so với paper.   Cùng weights của paper, không train lại.</a:t>
            </a:r>
            <a:endParaRPr lang="en-US" sz="1300" dirty="0"/>
          </a:p>
        </p:txBody>
      </p:sp>
      <p:sp>
        <p:nvSpPr>
          <p:cNvPr id="50" name="Shape 4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ĐỐI TƯỢNG KIỂM CHỨNG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5 method</a:t>
            </a:r>
            <a:endParaRPr lang="en-US" sz="3000" dirty="0"/>
          </a:p>
        </p:txBody>
      </p:sp>
      <p:sp>
        <p:nvSpPr>
          <p:cNvPr id="4" name="Shape 2"/>
          <p:cNvSpPr/>
          <p:nvPr/>
        </p:nvSpPr>
        <p:spPr>
          <a:xfrm>
            <a:off x="548640" y="1508760"/>
            <a:ext cx="11091672" cy="786384"/>
          </a:xfrm>
          <a:prstGeom prst="roundRect">
            <a:avLst>
              <a:gd name="adj" fmla="val 13953"/>
            </a:avLst>
          </a:prstGeom>
          <a:solidFill>
            <a:srgbClr val="22252B"/>
          </a:solidFill>
          <a:ln w="12700">
            <a:solidFill>
              <a:srgbClr val="22252B"/>
            </a:solidFill>
            <a:prstDash val="solid"/>
          </a:ln>
        </p:spPr>
      </p:sp>
      <p:sp>
        <p:nvSpPr>
          <p:cNvPr id="5" name="Shape 3"/>
          <p:cNvSpPr/>
          <p:nvPr/>
        </p:nvSpPr>
        <p:spPr>
          <a:xfrm>
            <a:off x="548640" y="1508760"/>
            <a:ext cx="91440" cy="786384"/>
          </a:xfrm>
          <a:prstGeom prst="rect">
            <a:avLst/>
          </a:prstGeom>
          <a:solidFill>
            <a:srgbClr val="9B6EE8"/>
          </a:solidFill>
          <a:ln w="12700">
            <a:solidFill>
              <a:srgbClr val="9B6EE8"/>
            </a:solidFill>
            <a:prstDash val="solid"/>
          </a:ln>
        </p:spPr>
      </p:sp>
      <p:sp>
        <p:nvSpPr>
          <p:cNvPr id="6" name="Text 4"/>
          <p:cNvSpPr txBox="1"/>
          <p:nvPr/>
        </p:nvSpPr>
        <p:spPr>
          <a:xfrm>
            <a:off x="868680" y="1508760"/>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M1</a:t>
            </a:r>
            <a:endParaRPr lang="en-US" sz="2800" dirty="0"/>
          </a:p>
        </p:txBody>
      </p:sp>
      <p:sp>
        <p:nvSpPr>
          <p:cNvPr id="7" name="Text 5"/>
          <p:cNvSpPr txBox="1"/>
          <p:nvPr/>
        </p:nvSpPr>
        <p:spPr>
          <a:xfrm>
            <a:off x="1737360" y="1508760"/>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Chuyển động thích nghi</a:t>
            </a:r>
            <a:endParaRPr lang="en-US" sz="1800" dirty="0"/>
          </a:p>
        </p:txBody>
      </p:sp>
      <p:sp>
        <p:nvSpPr>
          <p:cNvPr id="8" name="Text 6"/>
          <p:cNvSpPr txBox="1"/>
          <p:nvPr/>
        </p:nvSpPr>
        <p:spPr>
          <a:xfrm>
            <a:off x="5212080" y="1508760"/>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M1-damp: hãm vận tốc khi hai người đứng gần nhau.  M1-swap: thêm các phép thử để đổi lại ID bị hoán đổi.</a:t>
            </a:r>
            <a:endParaRPr lang="en-US" sz="1500" dirty="0"/>
          </a:p>
        </p:txBody>
      </p:sp>
      <p:sp>
        <p:nvSpPr>
          <p:cNvPr id="9" name="Shape 7"/>
          <p:cNvSpPr/>
          <p:nvPr/>
        </p:nvSpPr>
        <p:spPr>
          <a:xfrm>
            <a:off x="548640" y="2404872"/>
            <a:ext cx="11091672" cy="786384"/>
          </a:xfrm>
          <a:prstGeom prst="roundRect">
            <a:avLst>
              <a:gd name="adj" fmla="val 13953"/>
            </a:avLst>
          </a:prstGeom>
          <a:solidFill>
            <a:srgbClr val="22252B"/>
          </a:solidFill>
          <a:ln w="12700">
            <a:solidFill>
              <a:srgbClr val="22252B"/>
            </a:solidFill>
            <a:prstDash val="solid"/>
          </a:ln>
        </p:spPr>
      </p:sp>
      <p:sp>
        <p:nvSpPr>
          <p:cNvPr id="10" name="Shape 8"/>
          <p:cNvSpPr/>
          <p:nvPr/>
        </p:nvSpPr>
        <p:spPr>
          <a:xfrm>
            <a:off x="548640" y="2404872"/>
            <a:ext cx="91440" cy="786384"/>
          </a:xfrm>
          <a:prstGeom prst="rect">
            <a:avLst/>
          </a:prstGeom>
          <a:solidFill>
            <a:srgbClr val="9B6EE8"/>
          </a:solidFill>
          <a:ln w="12700">
            <a:solidFill>
              <a:srgbClr val="9B6EE8"/>
            </a:solidFill>
            <a:prstDash val="solid"/>
          </a:ln>
        </p:spPr>
      </p:sp>
      <p:sp>
        <p:nvSpPr>
          <p:cNvPr id="11" name="Text 9"/>
          <p:cNvSpPr txBox="1"/>
          <p:nvPr/>
        </p:nvSpPr>
        <p:spPr>
          <a:xfrm>
            <a:off x="868680" y="2404872"/>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M2</a:t>
            </a:r>
            <a:endParaRPr lang="en-US" sz="2800" dirty="0"/>
          </a:p>
        </p:txBody>
      </p:sp>
      <p:sp>
        <p:nvSpPr>
          <p:cNvPr id="12" name="Text 10"/>
          <p:cNvSpPr txBox="1"/>
          <p:nvPr/>
        </p:nvSpPr>
        <p:spPr>
          <a:xfrm>
            <a:off x="1737360" y="2404872"/>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Re-ID bằng màu HSV</a:t>
            </a:r>
            <a:endParaRPr lang="en-US" sz="1800" dirty="0"/>
          </a:p>
        </p:txBody>
      </p:sp>
      <p:sp>
        <p:nvSpPr>
          <p:cNvPr id="13" name="Text 11"/>
          <p:cNvSpPr txBox="1"/>
          <p:nvPr/>
        </p:nvSpPr>
        <p:spPr>
          <a:xfrm>
            <a:off x="5212080" y="2404872"/>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So màu áo (histogram HSV) để quyết định box này là ai.</a:t>
            </a:r>
            <a:endParaRPr lang="en-US" sz="1500" dirty="0"/>
          </a:p>
        </p:txBody>
      </p:sp>
      <p:sp>
        <p:nvSpPr>
          <p:cNvPr id="14" name="Shape 12"/>
          <p:cNvSpPr/>
          <p:nvPr/>
        </p:nvSpPr>
        <p:spPr>
          <a:xfrm>
            <a:off x="548640" y="3300984"/>
            <a:ext cx="11091672" cy="786384"/>
          </a:xfrm>
          <a:prstGeom prst="roundRect">
            <a:avLst>
              <a:gd name="adj" fmla="val 13953"/>
            </a:avLst>
          </a:prstGeom>
          <a:solidFill>
            <a:srgbClr val="22252B"/>
          </a:solidFill>
          <a:ln w="12700">
            <a:solidFill>
              <a:srgbClr val="22252B"/>
            </a:solidFill>
            <a:prstDash val="solid"/>
          </a:ln>
        </p:spPr>
      </p:sp>
      <p:sp>
        <p:nvSpPr>
          <p:cNvPr id="15" name="Shape 13"/>
          <p:cNvSpPr/>
          <p:nvPr/>
        </p:nvSpPr>
        <p:spPr>
          <a:xfrm>
            <a:off x="548640" y="3300984"/>
            <a:ext cx="91440" cy="786384"/>
          </a:xfrm>
          <a:prstGeom prst="rect">
            <a:avLst/>
          </a:prstGeom>
          <a:solidFill>
            <a:srgbClr val="9B6EE8"/>
          </a:solidFill>
          <a:ln w="12700">
            <a:solidFill>
              <a:srgbClr val="9B6EE8"/>
            </a:solidFill>
            <a:prstDash val="solid"/>
          </a:ln>
        </p:spPr>
      </p:sp>
      <p:sp>
        <p:nvSpPr>
          <p:cNvPr id="16" name="Text 14"/>
          <p:cNvSpPr txBox="1"/>
          <p:nvPr/>
        </p:nvSpPr>
        <p:spPr>
          <a:xfrm>
            <a:off x="868680" y="3300984"/>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M3</a:t>
            </a:r>
            <a:endParaRPr lang="en-US" sz="2800" dirty="0"/>
          </a:p>
        </p:txBody>
      </p:sp>
      <p:sp>
        <p:nvSpPr>
          <p:cNvPr id="17" name="Text 15"/>
          <p:cNvSpPr txBox="1"/>
          <p:nvPr/>
        </p:nvSpPr>
        <p:spPr>
          <a:xfrm>
            <a:off x="1737360" y="3300984"/>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Ngưỡng h động + TTL thích nghi</a:t>
            </a:r>
            <a:endParaRPr lang="en-US" sz="1800" dirty="0"/>
          </a:p>
        </p:txBody>
      </p:sp>
      <p:sp>
        <p:nvSpPr>
          <p:cNvPr id="18" name="Text 16"/>
          <p:cNvSpPr txBox="1"/>
          <p:nvPr/>
        </p:nvSpPr>
        <p:spPr>
          <a:xfrm>
            <a:off x="5212080" y="3300984"/>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Tùy tình huống mà đổi ngưỡng chói h và thời gian được giữ box.</a:t>
            </a:r>
            <a:endParaRPr lang="en-US" sz="1500" dirty="0"/>
          </a:p>
        </p:txBody>
      </p:sp>
      <p:sp>
        <p:nvSpPr>
          <p:cNvPr id="19" name="Shape 17"/>
          <p:cNvSpPr/>
          <p:nvPr/>
        </p:nvSpPr>
        <p:spPr>
          <a:xfrm>
            <a:off x="548640" y="4197096"/>
            <a:ext cx="11091672" cy="786384"/>
          </a:xfrm>
          <a:prstGeom prst="roundRect">
            <a:avLst>
              <a:gd name="adj" fmla="val 13953"/>
            </a:avLst>
          </a:prstGeom>
          <a:solidFill>
            <a:srgbClr val="22252B"/>
          </a:solidFill>
          <a:ln w="12700">
            <a:solidFill>
              <a:srgbClr val="22252B"/>
            </a:solidFill>
            <a:prstDash val="solid"/>
          </a:ln>
        </p:spPr>
      </p:sp>
      <p:sp>
        <p:nvSpPr>
          <p:cNvPr id="20" name="Shape 18"/>
          <p:cNvSpPr/>
          <p:nvPr/>
        </p:nvSpPr>
        <p:spPr>
          <a:xfrm>
            <a:off x="548640" y="4197096"/>
            <a:ext cx="91440" cy="786384"/>
          </a:xfrm>
          <a:prstGeom prst="rect">
            <a:avLst/>
          </a:prstGeom>
          <a:solidFill>
            <a:srgbClr val="9B6EE8"/>
          </a:solidFill>
          <a:ln w="12700">
            <a:solidFill>
              <a:srgbClr val="9B6EE8"/>
            </a:solidFill>
            <a:prstDash val="solid"/>
          </a:ln>
        </p:spPr>
      </p:sp>
      <p:sp>
        <p:nvSpPr>
          <p:cNvPr id="21" name="Text 19"/>
          <p:cNvSpPr txBox="1"/>
          <p:nvPr/>
        </p:nvSpPr>
        <p:spPr>
          <a:xfrm>
            <a:off x="868680" y="4197096"/>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M4</a:t>
            </a:r>
            <a:endParaRPr lang="en-US" sz="2800" dirty="0"/>
          </a:p>
        </p:txBody>
      </p:sp>
      <p:sp>
        <p:nvSpPr>
          <p:cNvPr id="22" name="Text 20"/>
          <p:cNvSpPr txBox="1"/>
          <p:nvPr/>
        </p:nvSpPr>
        <p:spPr>
          <a:xfrm>
            <a:off x="1737360" y="4197096"/>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Pool track “ngủ”</a:t>
            </a:r>
            <a:endParaRPr lang="en-US" sz="1800" dirty="0"/>
          </a:p>
        </p:txBody>
      </p:sp>
      <p:sp>
        <p:nvSpPr>
          <p:cNvPr id="23" name="Text 21"/>
          <p:cNvSpPr txBox="1"/>
          <p:nvPr/>
        </p:nvSpPr>
        <p:spPr>
          <a:xfrm>
            <a:off x="5212080" y="4197096"/>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Track bị mất được cất lại, track mới sinh ra có thể nhận lại ID cũ.</a:t>
            </a:r>
            <a:endParaRPr lang="en-US" sz="1500" dirty="0"/>
          </a:p>
        </p:txBody>
      </p:sp>
      <p:sp>
        <p:nvSpPr>
          <p:cNvPr id="24" name="Shape 22"/>
          <p:cNvSpPr/>
          <p:nvPr/>
        </p:nvSpPr>
        <p:spPr>
          <a:xfrm>
            <a:off x="548640" y="5093208"/>
            <a:ext cx="11091672" cy="786384"/>
          </a:xfrm>
          <a:prstGeom prst="roundRect">
            <a:avLst>
              <a:gd name="adj" fmla="val 13953"/>
            </a:avLst>
          </a:prstGeom>
          <a:solidFill>
            <a:srgbClr val="22252B"/>
          </a:solidFill>
          <a:ln w="12700">
            <a:solidFill>
              <a:srgbClr val="22252B"/>
            </a:solidFill>
            <a:prstDash val="solid"/>
          </a:ln>
        </p:spPr>
      </p:sp>
      <p:sp>
        <p:nvSpPr>
          <p:cNvPr id="25" name="Shape 23"/>
          <p:cNvSpPr/>
          <p:nvPr/>
        </p:nvSpPr>
        <p:spPr>
          <a:xfrm>
            <a:off x="548640" y="5093208"/>
            <a:ext cx="91440" cy="786384"/>
          </a:xfrm>
          <a:prstGeom prst="rect">
            <a:avLst/>
          </a:prstGeom>
          <a:solidFill>
            <a:srgbClr val="9B6EE8"/>
          </a:solidFill>
          <a:ln w="12700">
            <a:solidFill>
              <a:srgbClr val="9B6EE8"/>
            </a:solidFill>
            <a:prstDash val="solid"/>
          </a:ln>
        </p:spPr>
      </p:sp>
      <p:sp>
        <p:nvSpPr>
          <p:cNvPr id="26" name="Text 24"/>
          <p:cNvSpPr txBox="1"/>
          <p:nvPr/>
        </p:nvSpPr>
        <p:spPr>
          <a:xfrm>
            <a:off x="868680" y="5093208"/>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M5</a:t>
            </a:r>
            <a:endParaRPr lang="en-US" sz="2800" dirty="0"/>
          </a:p>
        </p:txBody>
      </p:sp>
      <p:sp>
        <p:nvSpPr>
          <p:cNvPr id="27" name="Text 25"/>
          <p:cNvSpPr txBox="1"/>
          <p:nvPr/>
        </p:nvSpPr>
        <p:spPr>
          <a:xfrm>
            <a:off x="1737360" y="5093208"/>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Neo vào đèn mũ</a:t>
            </a:r>
            <a:endParaRPr lang="en-US" sz="1800" dirty="0"/>
          </a:p>
        </p:txBody>
      </p:sp>
      <p:sp>
        <p:nvSpPr>
          <p:cNvPr id="28" name="Text 26"/>
          <p:cNvSpPr txBox="1"/>
          <p:nvPr/>
        </p:nvSpPr>
        <p:spPr>
          <a:xfrm>
            <a:off x="5212080" y="5093208"/>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Trong lúc chói, kéo box về phía vị trí đèn trên mũ.</a:t>
            </a:r>
            <a:endParaRPr lang="en-US" sz="1500" dirty="0"/>
          </a:p>
        </p:txBody>
      </p:sp>
      <p:sp>
        <p:nvSpPr>
          <p:cNvPr id="29" name="Text 27"/>
          <p:cNvSpPr txBox="1"/>
          <p:nvPr/>
        </p:nvSpPr>
        <p:spPr>
          <a:xfrm>
            <a:off x="548640" y="6172200"/>
            <a:ext cx="1005840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Tất cả chỉ sửa phần tracker. Detector và weights giữ nguyên.</a:t>
            </a:r>
            <a:endParaRPr lang="en-US" sz="1400" dirty="0"/>
          </a:p>
        </p:txBody>
      </p:sp>
      <p:sp>
        <p:nvSpPr>
          <p:cNvPr id="30" name="Shape 2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1" name="Text 2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2" name="Text 3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đạt 68.82 / 84.42. Có thật không?</a:t>
            </a:r>
            <a:endParaRPr lang="en-US" sz="3000" dirty="0"/>
          </a:p>
        </p:txBody>
      </p:sp>
      <p:sp>
        <p:nvSpPr>
          <p:cNvPr id="4" name="Text 2"/>
          <p:cNvSpPr txBox="1"/>
          <p:nvPr/>
        </p:nvSpPr>
        <p:spPr>
          <a:xfrm>
            <a:off x="548640" y="1417320"/>
            <a:ext cx="11064240" cy="365760"/>
          </a:xfrm>
          <a:prstGeom prst="rect">
            <a:avLst/>
          </a:prstGeom>
          <a:noFill/>
          <a:ln/>
        </p:spPr>
        <p:txBody>
          <a:bodyPr wrap="square" lIns="0" tIns="0" rIns="0" bIns="0" rtlCol="0" anchor="t"/>
          <a:lstStyle/>
          <a:p>
            <a:pPr indent="0" marL="0">
              <a:buNone/>
            </a:pPr>
            <a:r>
              <a:rPr lang="en-US" sz="1700" dirty="0">
                <a:solidFill>
                  <a:srgbClr val="A3A8B0"/>
                </a:solidFill>
                <a:latin typeface="Arial" pitchFamily="34" charset="0"/>
                <a:ea typeface="Arial" pitchFamily="34" charset="-122"/>
                <a:cs typeface="Arial" pitchFamily="34" charset="-120"/>
              </a:rPr>
              <a:t>Claim: HOTA </a:t>
            </a:r>
            <a:pPr indent="0" marL="0">
              <a:buNone/>
            </a:pPr>
            <a:r>
              <a:rPr lang="en-US" sz="1700" b="1" dirty="0">
                <a:solidFill>
                  <a:srgbClr val="9B6EE8"/>
                </a:solidFill>
                <a:latin typeface="Arial" pitchFamily="34" charset="0"/>
                <a:ea typeface="Arial" pitchFamily="34" charset="-122"/>
                <a:cs typeface="Arial" pitchFamily="34" charset="-120"/>
              </a:rPr>
              <a:t>68.82</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9B6EE8"/>
                </a:solidFill>
                <a:latin typeface="Arial" pitchFamily="34" charset="0"/>
                <a:ea typeface="Arial" pitchFamily="34" charset="-122"/>
                <a:cs typeface="Arial" pitchFamily="34" charset="-120"/>
              </a:rPr>
              <a:t>84.42</a:t>
            </a:r>
            <a:pPr indent="0" marL="0">
              <a:buNone/>
            </a:pPr>
            <a:r>
              <a:rPr lang="en-US" sz="1700" dirty="0">
                <a:solidFill>
                  <a:srgbClr val="A3A8B0"/>
                </a:solidFill>
                <a:latin typeface="Arial" pitchFamily="34" charset="0"/>
                <a:ea typeface="Arial" pitchFamily="34" charset="-122"/>
                <a:cs typeface="Arial" pitchFamily="34" charset="-120"/>
              </a:rPr>
              <a:t>     Paper PEG: HOTA </a:t>
            </a:r>
            <a:pPr indent="0" marL="0">
              <a:buNone/>
            </a:pPr>
            <a:r>
              <a:rPr lang="en-US" sz="1700" b="1" dirty="0">
                <a:solidFill>
                  <a:srgbClr val="F2F2F2"/>
                </a:solidFill>
                <a:latin typeface="Arial" pitchFamily="34" charset="0"/>
                <a:ea typeface="Arial" pitchFamily="34" charset="-122"/>
                <a:cs typeface="Arial" pitchFamily="34" charset="-120"/>
              </a:rPr>
              <a:t>68.20</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F2F2F2"/>
                </a:solidFill>
                <a:latin typeface="Arial" pitchFamily="34" charset="0"/>
                <a:ea typeface="Arial" pitchFamily="34" charset="-122"/>
                <a:cs typeface="Arial" pitchFamily="34" charset="-120"/>
              </a:rPr>
              <a:t>82.30</a:t>
            </a:r>
            <a:endParaRPr lang="en-US" sz="1700" dirty="0"/>
          </a:p>
        </p:txBody>
      </p:sp>
      <p:sp>
        <p:nvSpPr>
          <p:cNvPr id="5" name="Shape 3"/>
          <p:cNvSpPr/>
          <p:nvPr/>
        </p:nvSpPr>
        <p:spPr>
          <a:xfrm>
            <a:off x="548640" y="2011680"/>
            <a:ext cx="3566160" cy="3200400"/>
          </a:xfrm>
          <a:prstGeom prst="roundRect">
            <a:avLst>
              <a:gd name="adj" fmla="val 3429"/>
            </a:avLst>
          </a:prstGeom>
          <a:solidFill>
            <a:srgbClr val="22252B"/>
          </a:solidFill>
          <a:ln w="12700">
            <a:solidFill>
              <a:srgbClr val="22252B"/>
            </a:solidFill>
            <a:prstDash val="solid"/>
          </a:ln>
        </p:spPr>
      </p:sp>
      <p:sp>
        <p:nvSpPr>
          <p:cNvPr id="6" name="Text 4"/>
          <p:cNvSpPr txBox="1"/>
          <p:nvPr/>
        </p:nvSpPr>
        <p:spPr>
          <a:xfrm>
            <a:off x="777240"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①</a:t>
            </a:r>
            <a:endParaRPr lang="en-US" sz="3000" dirty="0"/>
          </a:p>
        </p:txBody>
      </p:sp>
      <p:sp>
        <p:nvSpPr>
          <p:cNvPr id="7" name="Text 5"/>
          <p:cNvSpPr txBox="1"/>
          <p:nvPr/>
        </p:nvSpPr>
        <p:spPr>
          <a:xfrm>
            <a:off x="777240"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Chấm lại output đã nộp</a:t>
            </a:r>
            <a:endParaRPr lang="en-US" sz="1900" dirty="0"/>
          </a:p>
        </p:txBody>
      </p:sp>
      <p:sp>
        <p:nvSpPr>
          <p:cNvPr id="8" name="Text 6"/>
          <p:cNvSpPr txBox="1"/>
          <p:nvPr/>
        </p:nvSpPr>
        <p:spPr>
          <a:xfrm>
            <a:off x="777240"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Dùng evaluator của nhóm chấm file kết quả PEG-F</a:t>
            </a:r>
            <a:endParaRPr lang="en-US" sz="1300" dirty="0"/>
          </a:p>
        </p:txBody>
      </p:sp>
      <p:sp>
        <p:nvSpPr>
          <p:cNvPr id="9" name="Text 7"/>
          <p:cNvSpPr txBox="1"/>
          <p:nvPr/>
        </p:nvSpPr>
        <p:spPr>
          <a:xfrm>
            <a:off x="777240"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0" name="Text 8"/>
          <p:cNvSpPr txBox="1"/>
          <p:nvPr/>
        </p:nvSpPr>
        <p:spPr>
          <a:xfrm>
            <a:off x="3246120"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1" name="Shape 9"/>
          <p:cNvSpPr/>
          <p:nvPr/>
        </p:nvSpPr>
        <p:spPr>
          <a:xfrm>
            <a:off x="4315968" y="2011680"/>
            <a:ext cx="3566160" cy="3200400"/>
          </a:xfrm>
          <a:prstGeom prst="roundRect">
            <a:avLst>
              <a:gd name="adj" fmla="val 3429"/>
            </a:avLst>
          </a:prstGeom>
          <a:solidFill>
            <a:srgbClr val="22252B"/>
          </a:solidFill>
          <a:ln w="12700">
            <a:solidFill>
              <a:srgbClr val="22252B"/>
            </a:solidFill>
            <a:prstDash val="solid"/>
          </a:ln>
        </p:spPr>
      </p:sp>
      <p:sp>
        <p:nvSpPr>
          <p:cNvPr id="12" name="Text 10"/>
          <p:cNvSpPr txBox="1"/>
          <p:nvPr/>
        </p:nvSpPr>
        <p:spPr>
          <a:xfrm>
            <a:off x="4544568"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②</a:t>
            </a:r>
            <a:endParaRPr lang="en-US" sz="3000" dirty="0"/>
          </a:p>
        </p:txBody>
      </p:sp>
      <p:sp>
        <p:nvSpPr>
          <p:cNvPr id="13" name="Text 11"/>
          <p:cNvSpPr txBox="1"/>
          <p:nvPr/>
        </p:nvSpPr>
        <p:spPr>
          <a:xfrm>
            <a:off x="4544568"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Chạy lại code gốc</a:t>
            </a:r>
            <a:endParaRPr lang="en-US" sz="1900" dirty="0"/>
          </a:p>
        </p:txBody>
      </p:sp>
      <p:sp>
        <p:nvSpPr>
          <p:cNvPr id="14" name="Text 12"/>
          <p:cNvSpPr txBox="1"/>
          <p:nvPr/>
        </p:nvSpPr>
        <p:spPr>
          <a:xfrm>
            <a:off x="4544568"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Trên GTX 1650 của nhóm, chạy thật cả detector + tracker</a:t>
            </a:r>
            <a:endParaRPr lang="en-US" sz="1300" dirty="0"/>
          </a:p>
        </p:txBody>
      </p:sp>
      <p:sp>
        <p:nvSpPr>
          <p:cNvPr id="15" name="Text 13"/>
          <p:cNvSpPr txBox="1"/>
          <p:nvPr/>
        </p:nvSpPr>
        <p:spPr>
          <a:xfrm>
            <a:off x="4544568"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6" name="Text 14"/>
          <p:cNvSpPr txBox="1"/>
          <p:nvPr/>
        </p:nvSpPr>
        <p:spPr>
          <a:xfrm>
            <a:off x="7013448"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7" name="Text 15"/>
          <p:cNvSpPr txBox="1"/>
          <p:nvPr/>
        </p:nvSpPr>
        <p:spPr>
          <a:xfrm>
            <a:off x="6419088" y="2148840"/>
            <a:ext cx="1280160" cy="365760"/>
          </a:xfrm>
          <a:prstGeom prst="rect">
            <a:avLst/>
          </a:prstGeom>
          <a:noFill/>
          <a:ln/>
        </p:spPr>
        <p:txBody>
          <a:bodyPr wrap="square" lIns="0" tIns="0" rIns="0" bIns="0" rtlCol="0" anchor="t"/>
          <a:lstStyle/>
          <a:p>
            <a:pPr algn="r" indent="0" marL="0">
              <a:buNone/>
            </a:pPr>
            <a:r>
              <a:rPr lang="en-US" sz="1300" dirty="0">
                <a:solidFill>
                  <a:srgbClr val="A3A8B0"/>
                </a:solidFill>
                <a:latin typeface="Arial" pitchFamily="34" charset="0"/>
                <a:ea typeface="Arial" pitchFamily="34" charset="-122"/>
                <a:cs typeface="Arial" pitchFamily="34" charset="-120"/>
              </a:rPr>
              <a:t>4.3 FPS</a:t>
            </a:r>
            <a:endParaRPr lang="en-US" sz="1300" dirty="0"/>
          </a:p>
        </p:txBody>
      </p:sp>
      <p:sp>
        <p:nvSpPr>
          <p:cNvPr id="18" name="Shape 16"/>
          <p:cNvSpPr/>
          <p:nvPr/>
        </p:nvSpPr>
        <p:spPr>
          <a:xfrm>
            <a:off x="8083296" y="2011680"/>
            <a:ext cx="3566160" cy="3200400"/>
          </a:xfrm>
          <a:prstGeom prst="roundRect">
            <a:avLst>
              <a:gd name="adj" fmla="val 3429"/>
            </a:avLst>
          </a:prstGeom>
          <a:solidFill>
            <a:srgbClr val="22252B"/>
          </a:solidFill>
          <a:ln w="12700">
            <a:solidFill>
              <a:srgbClr val="22252B"/>
            </a:solidFill>
            <a:prstDash val="solid"/>
          </a:ln>
        </p:spPr>
      </p:sp>
      <p:sp>
        <p:nvSpPr>
          <p:cNvPr id="19" name="Text 17"/>
          <p:cNvSpPr txBox="1"/>
          <p:nvPr/>
        </p:nvSpPr>
        <p:spPr>
          <a:xfrm>
            <a:off x="8311896"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③</a:t>
            </a:r>
            <a:endParaRPr lang="en-US" sz="3000" dirty="0"/>
          </a:p>
        </p:txBody>
      </p:sp>
      <p:sp>
        <p:nvSpPr>
          <p:cNvPr id="20" name="Text 18"/>
          <p:cNvSpPr txBox="1"/>
          <p:nvPr/>
        </p:nvSpPr>
        <p:spPr>
          <a:xfrm>
            <a:off x="8311896"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Port vào repo chung</a:t>
            </a:r>
            <a:endParaRPr lang="en-US" sz="1900" dirty="0"/>
          </a:p>
        </p:txBody>
      </p:sp>
      <p:sp>
        <p:nvSpPr>
          <p:cNvPr id="21" name="Text 19"/>
          <p:cNvSpPr txBox="1"/>
          <p:nvPr/>
        </p:nvSpPr>
        <p:spPr>
          <a:xfrm>
            <a:off x="8311896"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Chạy lại bằng cache detector (cùng cấu hình guard bật)</a:t>
            </a:r>
            <a:endParaRPr lang="en-US" sz="1300" dirty="0"/>
          </a:p>
        </p:txBody>
      </p:sp>
      <p:sp>
        <p:nvSpPr>
          <p:cNvPr id="22" name="Text 20"/>
          <p:cNvSpPr txBox="1"/>
          <p:nvPr/>
        </p:nvSpPr>
        <p:spPr>
          <a:xfrm>
            <a:off x="8311896"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23" name="Text 21"/>
          <p:cNvSpPr txBox="1"/>
          <p:nvPr/>
        </p:nvSpPr>
        <p:spPr>
          <a:xfrm>
            <a:off x="10780776"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24" name="Text 22"/>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Cả ba cách đều ra đúng số → claim là thật, không phải lỗi đo.</a:t>
            </a:r>
            <a:endParaRPr lang="en-US" sz="2400" dirty="0"/>
          </a:p>
        </p:txBody>
      </p:sp>
      <p:sp>
        <p:nvSpPr>
          <p:cNvPr id="25" name="Shape 2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6" name="Text 2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7" name="Text 2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So cùng cấu hình: mức tăng thật là +0.49 HOTA</a:t>
            </a:r>
            <a:endParaRPr lang="en-US" sz="3000" dirty="0"/>
          </a:p>
        </p:txBody>
      </p:sp>
      <p:sp>
        <p:nvSpPr>
          <p:cNvPr id="4" name="Shape 2"/>
          <p:cNvSpPr/>
          <p:nvPr/>
        </p:nvSpPr>
        <p:spPr>
          <a:xfrm>
            <a:off x="548640" y="1554480"/>
            <a:ext cx="3566160" cy="2331720"/>
          </a:xfrm>
          <a:prstGeom prst="roundRect">
            <a:avLst>
              <a:gd name="adj" fmla="val 4706"/>
            </a:avLst>
          </a:prstGeom>
          <a:solidFill>
            <a:srgbClr val="22252B"/>
          </a:solidFill>
          <a:ln w="12700">
            <a:solidFill>
              <a:srgbClr val="22252B"/>
            </a:solidFill>
            <a:prstDash val="solid"/>
          </a:ln>
        </p:spPr>
      </p:sp>
      <p:sp>
        <p:nvSpPr>
          <p:cNvPr id="5" name="Shape 3"/>
          <p:cNvSpPr/>
          <p:nvPr/>
        </p:nvSpPr>
        <p:spPr>
          <a:xfrm>
            <a:off x="548640" y="1554480"/>
            <a:ext cx="91440" cy="2331720"/>
          </a:xfrm>
          <a:prstGeom prst="rect">
            <a:avLst/>
          </a:prstGeom>
          <a:solidFill>
            <a:srgbClr val="A3A8B0"/>
          </a:solidFill>
          <a:ln w="12700">
            <a:solidFill>
              <a:srgbClr val="A3A8B0"/>
            </a:solidFill>
            <a:prstDash val="solid"/>
          </a:ln>
        </p:spPr>
      </p:sp>
      <p:sp>
        <p:nvSpPr>
          <p:cNvPr id="6" name="Text 4"/>
          <p:cNvSpPr txBox="1"/>
          <p:nvPr/>
        </p:nvSpPr>
        <p:spPr>
          <a:xfrm>
            <a:off x="822960" y="1664208"/>
            <a:ext cx="3108960" cy="365760"/>
          </a:xfrm>
          <a:prstGeom prst="rect">
            <a:avLst/>
          </a:prstGeom>
          <a:noFill/>
          <a:ln/>
        </p:spPr>
        <p:txBody>
          <a:bodyPr wrap="square" lIns="0" tIns="0" rIns="0" bIns="0" rtlCol="0" anchor="t"/>
          <a:lstStyle/>
          <a:p>
            <a:pPr indent="0" marL="0">
              <a:buNone/>
            </a:pPr>
            <a:r>
              <a:rPr lang="en-US" sz="1900" b="1" dirty="0">
                <a:solidFill>
                  <a:srgbClr val="A3A8B0"/>
                </a:solidFill>
                <a:latin typeface="Arial" pitchFamily="34" charset="0"/>
                <a:ea typeface="Arial" pitchFamily="34" charset="-122"/>
                <a:cs typeface="Arial" pitchFamily="34" charset="-120"/>
              </a:rPr>
              <a:t>Paper PEG</a:t>
            </a:r>
            <a:endParaRPr lang="en-US" sz="1900" dirty="0"/>
          </a:p>
        </p:txBody>
      </p:sp>
      <p:sp>
        <p:nvSpPr>
          <p:cNvPr id="7" name="Text 5"/>
          <p:cNvSpPr txBox="1"/>
          <p:nvPr/>
        </p:nvSpPr>
        <p:spPr>
          <a:xfrm>
            <a:off x="822960"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TẮT</a:t>
            </a:r>
            <a:endParaRPr lang="en-US" sz="1300" dirty="0"/>
          </a:p>
        </p:txBody>
      </p:sp>
      <p:sp>
        <p:nvSpPr>
          <p:cNvPr id="8" name="Text 6"/>
          <p:cNvSpPr txBox="1"/>
          <p:nvPr/>
        </p:nvSpPr>
        <p:spPr>
          <a:xfrm>
            <a:off x="822960"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68.20</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82.30</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17</a:t>
            </a:r>
            <a:endParaRPr lang="en-US" sz="2200" dirty="0"/>
          </a:p>
        </p:txBody>
      </p:sp>
      <p:sp>
        <p:nvSpPr>
          <p:cNvPr id="9" name="Shape 7"/>
          <p:cNvSpPr/>
          <p:nvPr/>
        </p:nvSpPr>
        <p:spPr>
          <a:xfrm>
            <a:off x="4315968" y="1554480"/>
            <a:ext cx="3566160" cy="2331720"/>
          </a:xfrm>
          <a:prstGeom prst="roundRect">
            <a:avLst>
              <a:gd name="adj" fmla="val 4706"/>
            </a:avLst>
          </a:prstGeom>
          <a:solidFill>
            <a:srgbClr val="22252B"/>
          </a:solidFill>
          <a:ln w="12700">
            <a:solidFill>
              <a:srgbClr val="22252B"/>
            </a:solidFill>
            <a:prstDash val="solid"/>
          </a:ln>
        </p:spPr>
      </p:sp>
      <p:sp>
        <p:nvSpPr>
          <p:cNvPr id="10" name="Shape 8"/>
          <p:cNvSpPr/>
          <p:nvPr/>
        </p:nvSpPr>
        <p:spPr>
          <a:xfrm>
            <a:off x="4315968" y="1554480"/>
            <a:ext cx="91440" cy="2331720"/>
          </a:xfrm>
          <a:prstGeom prst="rect">
            <a:avLst/>
          </a:prstGeom>
          <a:solidFill>
            <a:srgbClr val="9B6EE8"/>
          </a:solidFill>
          <a:ln w="12700">
            <a:solidFill>
              <a:srgbClr val="9B6EE8"/>
            </a:solidFill>
            <a:prstDash val="solid"/>
          </a:ln>
        </p:spPr>
      </p:sp>
      <p:sp>
        <p:nvSpPr>
          <p:cNvPr id="11" name="Text 9"/>
          <p:cNvSpPr txBox="1"/>
          <p:nvPr/>
        </p:nvSpPr>
        <p:spPr>
          <a:xfrm>
            <a:off x="4590288" y="1664208"/>
            <a:ext cx="3108960" cy="365760"/>
          </a:xfrm>
          <a:prstGeom prst="rect">
            <a:avLst/>
          </a:prstGeom>
          <a:noFill/>
          <a:ln/>
        </p:spPr>
        <p:txBody>
          <a:bodyPr wrap="square" lIns="0" tIns="0" rIns="0" bIns="0" rtlCol="0" anchor="t"/>
          <a:lstStyle/>
          <a:p>
            <a:pPr indent="0" marL="0">
              <a:buNone/>
            </a:pPr>
            <a:r>
              <a:rPr lang="en-US" sz="1900" b="1" dirty="0">
                <a:solidFill>
                  <a:srgbClr val="9B6EE8"/>
                </a:solidFill>
                <a:latin typeface="Arial" pitchFamily="34" charset="0"/>
                <a:ea typeface="Arial" pitchFamily="34" charset="-122"/>
                <a:cs typeface="Arial" pitchFamily="34" charset="-120"/>
              </a:rPr>
              <a:t>PEG-F (claim)</a:t>
            </a:r>
            <a:endParaRPr lang="en-US" sz="1900" dirty="0"/>
          </a:p>
        </p:txBody>
      </p:sp>
      <p:sp>
        <p:nvSpPr>
          <p:cNvPr id="12" name="Text 10"/>
          <p:cNvSpPr txBox="1"/>
          <p:nvPr/>
        </p:nvSpPr>
        <p:spPr>
          <a:xfrm>
            <a:off x="4590288"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BẬT</a:t>
            </a:r>
            <a:endParaRPr lang="en-US" sz="1300" dirty="0"/>
          </a:p>
        </p:txBody>
      </p:sp>
      <p:sp>
        <p:nvSpPr>
          <p:cNvPr id="13" name="Text 11"/>
          <p:cNvSpPr txBox="1"/>
          <p:nvPr/>
        </p:nvSpPr>
        <p:spPr>
          <a:xfrm>
            <a:off x="4590288"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68.82</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84.42</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27</a:t>
            </a:r>
            <a:endParaRPr lang="en-US" sz="2200" dirty="0"/>
          </a:p>
        </p:txBody>
      </p:sp>
      <p:sp>
        <p:nvSpPr>
          <p:cNvPr id="14" name="Shape 12"/>
          <p:cNvSpPr/>
          <p:nvPr/>
        </p:nvSpPr>
        <p:spPr>
          <a:xfrm>
            <a:off x="8083296" y="1554480"/>
            <a:ext cx="3566160" cy="2331720"/>
          </a:xfrm>
          <a:prstGeom prst="roundRect">
            <a:avLst>
              <a:gd name="adj" fmla="val 4706"/>
            </a:avLst>
          </a:prstGeom>
          <a:solidFill>
            <a:srgbClr val="2B2F36"/>
          </a:solidFill>
          <a:ln w="12700">
            <a:solidFill>
              <a:srgbClr val="2B2F36"/>
            </a:solidFill>
            <a:prstDash val="solid"/>
          </a:ln>
        </p:spPr>
      </p:sp>
      <p:sp>
        <p:nvSpPr>
          <p:cNvPr id="15" name="Shape 13"/>
          <p:cNvSpPr/>
          <p:nvPr/>
        </p:nvSpPr>
        <p:spPr>
          <a:xfrm>
            <a:off x="8083296" y="1554480"/>
            <a:ext cx="91440" cy="2331720"/>
          </a:xfrm>
          <a:prstGeom prst="rect">
            <a:avLst/>
          </a:prstGeom>
          <a:solidFill>
            <a:srgbClr val="3987E5"/>
          </a:solidFill>
          <a:ln w="12700">
            <a:solidFill>
              <a:srgbClr val="3987E5"/>
            </a:solidFill>
            <a:prstDash val="solid"/>
          </a:ln>
        </p:spPr>
      </p:sp>
      <p:sp>
        <p:nvSpPr>
          <p:cNvPr id="16" name="Text 14"/>
          <p:cNvSpPr txBox="1"/>
          <p:nvPr/>
        </p:nvSpPr>
        <p:spPr>
          <a:xfrm>
            <a:off x="8357616" y="1664208"/>
            <a:ext cx="3108960" cy="365760"/>
          </a:xfrm>
          <a:prstGeom prst="rect">
            <a:avLst/>
          </a:prstGeom>
          <a:noFill/>
          <a:ln/>
        </p:spPr>
        <p:txBody>
          <a:bodyPr wrap="square" lIns="0" tIns="0" rIns="0" bIns="0" rtlCol="0" anchor="t"/>
          <a:lstStyle/>
          <a:p>
            <a:pPr indent="0" marL="0">
              <a:buNone/>
            </a:pPr>
            <a:r>
              <a:rPr lang="en-US" sz="1900" b="1" dirty="0">
                <a:solidFill>
                  <a:srgbClr val="3987E5"/>
                </a:solidFill>
                <a:latin typeface="Arial" pitchFamily="34" charset="0"/>
                <a:ea typeface="Arial" pitchFamily="34" charset="-122"/>
                <a:cs typeface="Arial" pitchFamily="34" charset="-120"/>
              </a:rPr>
              <a:t>PEG, guard bật</a:t>
            </a:r>
            <a:endParaRPr lang="en-US" sz="1900" dirty="0"/>
          </a:p>
        </p:txBody>
      </p:sp>
      <p:sp>
        <p:nvSpPr>
          <p:cNvPr id="17" name="Text 15"/>
          <p:cNvSpPr txBox="1"/>
          <p:nvPr/>
        </p:nvSpPr>
        <p:spPr>
          <a:xfrm>
            <a:off x="8357616"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so sánh công bằng</a:t>
            </a:r>
            <a:endParaRPr lang="en-US" sz="1300" dirty="0"/>
          </a:p>
        </p:txBody>
      </p:sp>
      <p:sp>
        <p:nvSpPr>
          <p:cNvPr id="18" name="Text 16"/>
          <p:cNvSpPr txBox="1"/>
          <p:nvPr/>
        </p:nvSpPr>
        <p:spPr>
          <a:xfrm>
            <a:off x="8357616"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68.33</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82.68</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15</a:t>
            </a:r>
            <a:endParaRPr lang="en-US" sz="2200" dirty="0"/>
          </a:p>
        </p:txBody>
      </p:sp>
      <p:sp>
        <p:nvSpPr>
          <p:cNvPr id="19" name="Shape 17"/>
          <p:cNvSpPr/>
          <p:nvPr/>
        </p:nvSpPr>
        <p:spPr>
          <a:xfrm>
            <a:off x="548640" y="4114800"/>
            <a:ext cx="3566160" cy="1783080"/>
          </a:xfrm>
          <a:prstGeom prst="roundRect">
            <a:avLst>
              <a:gd name="adj" fmla="val 6154"/>
            </a:avLst>
          </a:prstGeom>
          <a:solidFill>
            <a:srgbClr val="22252B"/>
          </a:solidFill>
          <a:ln w="12700">
            <a:solidFill>
              <a:srgbClr val="22252B"/>
            </a:solidFill>
            <a:prstDash val="solid"/>
          </a:ln>
        </p:spPr>
      </p:sp>
      <p:sp>
        <p:nvSpPr>
          <p:cNvPr id="20" name="Text 18"/>
          <p:cNvSpPr txBox="1"/>
          <p:nvPr/>
        </p:nvSpPr>
        <p:spPr>
          <a:xfrm>
            <a:off x="822960"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+0.49</a:t>
            </a:r>
            <a:endParaRPr lang="en-US" sz="5400" dirty="0"/>
          </a:p>
        </p:txBody>
      </p:sp>
      <p:sp>
        <p:nvSpPr>
          <p:cNvPr id="21" name="Text 19"/>
          <p:cNvSpPr txBox="1"/>
          <p:nvPr/>
        </p:nvSpPr>
        <p:spPr>
          <a:xfrm>
            <a:off x="822960"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so với PEG cùng guard bật</a:t>
            </a:r>
            <a:endParaRPr lang="en-US" sz="1400" dirty="0"/>
          </a:p>
        </p:txBody>
      </p:sp>
      <p:sp>
        <p:nvSpPr>
          <p:cNvPr id="22" name="Shape 20"/>
          <p:cNvSpPr/>
          <p:nvPr/>
        </p:nvSpPr>
        <p:spPr>
          <a:xfrm>
            <a:off x="4315968" y="4114800"/>
            <a:ext cx="3566160" cy="1783080"/>
          </a:xfrm>
          <a:prstGeom prst="roundRect">
            <a:avLst>
              <a:gd name="adj" fmla="val 6154"/>
            </a:avLst>
          </a:prstGeom>
          <a:solidFill>
            <a:srgbClr val="22252B"/>
          </a:solidFill>
          <a:ln w="12700">
            <a:solidFill>
              <a:srgbClr val="22252B"/>
            </a:solidFill>
            <a:prstDash val="solid"/>
          </a:ln>
        </p:spPr>
      </p:sp>
      <p:sp>
        <p:nvSpPr>
          <p:cNvPr id="23" name="Text 21"/>
          <p:cNvSpPr txBox="1"/>
          <p:nvPr/>
        </p:nvSpPr>
        <p:spPr>
          <a:xfrm>
            <a:off x="4590288"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+1.74</a:t>
            </a:r>
            <a:endParaRPr lang="en-US" sz="5400" dirty="0"/>
          </a:p>
        </p:txBody>
      </p:sp>
      <p:sp>
        <p:nvSpPr>
          <p:cNvPr id="24" name="Text 22"/>
          <p:cNvSpPr txBox="1"/>
          <p:nvPr/>
        </p:nvSpPr>
        <p:spPr>
          <a:xfrm>
            <a:off x="4590288"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IDF1, so với PEG cùng guard bật</a:t>
            </a:r>
            <a:endParaRPr lang="en-US" sz="1400" dirty="0"/>
          </a:p>
        </p:txBody>
      </p:sp>
      <p:sp>
        <p:nvSpPr>
          <p:cNvPr id="25" name="Shape 23"/>
          <p:cNvSpPr/>
          <p:nvPr/>
        </p:nvSpPr>
        <p:spPr>
          <a:xfrm>
            <a:off x="8083296" y="4114800"/>
            <a:ext cx="3566160" cy="1783080"/>
          </a:xfrm>
          <a:prstGeom prst="roundRect">
            <a:avLst>
              <a:gd name="adj" fmla="val 6154"/>
            </a:avLst>
          </a:prstGeom>
          <a:solidFill>
            <a:srgbClr val="22252B"/>
          </a:solidFill>
          <a:ln w="12700">
            <a:solidFill>
              <a:srgbClr val="22252B"/>
            </a:solidFill>
            <a:prstDash val="solid"/>
          </a:ln>
        </p:spPr>
      </p:sp>
      <p:sp>
        <p:nvSpPr>
          <p:cNvPr id="26" name="Text 24"/>
          <p:cNvSpPr txBox="1"/>
          <p:nvPr/>
        </p:nvSpPr>
        <p:spPr>
          <a:xfrm>
            <a:off x="8357616" y="4160520"/>
            <a:ext cx="3108960" cy="105156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15 → 27</a:t>
            </a:r>
            <a:endParaRPr lang="en-US" sz="5400" dirty="0"/>
          </a:p>
        </p:txBody>
      </p:sp>
      <p:sp>
        <p:nvSpPr>
          <p:cNvPr id="27" name="Text 25"/>
          <p:cNvSpPr txBox="1"/>
          <p:nvPr/>
        </p:nvSpPr>
        <p:spPr>
          <a:xfrm>
            <a:off x="8357616"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IDSW: số lần đổi ID, nhiều hơn là xấu hơn</a:t>
            </a:r>
            <a:endParaRPr lang="en-US" sz="1400" dirty="0"/>
          </a:p>
        </p:txBody>
      </p:sp>
      <p:sp>
        <p:nvSpPr>
          <p:cNvPr id="28" name="Text 26"/>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Paper tắt guard (bộ chặn track ma do vầng sáng); PEG-F chạy với guard bật → phải so với PEG guard bật.</a:t>
            </a:r>
            <a:endParaRPr lang="en-US" sz="1300" dirty="0"/>
          </a:p>
        </p:txBody>
      </p:sp>
      <p:sp>
        <p:nvSpPr>
          <p:cNvPr id="29" name="Shape 2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0" name="Text 2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1" name="Text 2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MỨC TĂNG ĐẾN TỪ ĐÂU</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Mức tăng đến từ 2 video, mỗi video là 1 lần đổi ID</a:t>
            </a:r>
            <a:endParaRPr lang="en-US" sz="3000" dirty="0"/>
          </a:p>
        </p:txBody>
      </p:sp>
      <p:pic>
        <p:nvPicPr>
          <p:cNvPr id="4" name="Image 0" descr="D:\PROJECT\PEG\results\peg_f\figures\perseq_delta.png">    </p:cNvPr>
          <p:cNvPicPr>
            <a:picLocks noChangeAspect="1"/>
          </p:cNvPicPr>
          <p:nvPr/>
        </p:nvPicPr>
        <p:blipFill>
          <a:blip r:embed="rId1"/>
          <a:stretch>
            <a:fillRect/>
          </a:stretch>
        </p:blipFill>
        <p:spPr>
          <a:xfrm>
            <a:off x="457200" y="1463040"/>
            <a:ext cx="6818318" cy="4754880"/>
          </a:xfrm>
          <a:prstGeom prst="rect">
            <a:avLst/>
          </a:prstGeom>
        </p:spPr>
      </p:pic>
      <p:sp>
        <p:nvSpPr>
          <p:cNvPr id="5" name="Shape 2"/>
          <p:cNvSpPr/>
          <p:nvPr/>
        </p:nvSpPr>
        <p:spPr>
          <a:xfrm>
            <a:off x="8321040" y="1554480"/>
            <a:ext cx="3319272" cy="1417320"/>
          </a:xfrm>
          <a:prstGeom prst="roundRect">
            <a:avLst>
              <a:gd name="adj" fmla="val 7742"/>
            </a:avLst>
          </a:prstGeom>
          <a:solidFill>
            <a:srgbClr val="22252B"/>
          </a:solidFill>
          <a:ln w="12700">
            <a:solidFill>
              <a:srgbClr val="22252B"/>
            </a:solidFill>
            <a:prstDash val="solid"/>
          </a:ln>
        </p:spPr>
      </p:sp>
      <p:sp>
        <p:nvSpPr>
          <p:cNvPr id="6" name="Text 3"/>
          <p:cNvSpPr txBox="1"/>
          <p:nvPr/>
        </p:nvSpPr>
        <p:spPr>
          <a:xfrm>
            <a:off x="8549640" y="1627632"/>
            <a:ext cx="2953512" cy="1280160"/>
          </a:xfrm>
          <a:prstGeom prst="rect">
            <a:avLst/>
          </a:prstGeom>
          <a:noFill/>
          <a:ln/>
        </p:spPr>
        <p:txBody>
          <a:bodyPr wrap="square" lIns="0" tIns="0" rIns="0" bIns="0" rtlCol="0" anchor="ctr"/>
          <a:lstStyle/>
          <a:p>
            <a:pPr indent="0" marL="0">
              <a:buNone/>
            </a:pPr>
            <a:r>
              <a:rPr lang="en-US" sz="3600" b="1" dirty="0">
                <a:solidFill>
                  <a:srgbClr val="19A35F"/>
                </a:solidFill>
                <a:latin typeface="Arial" pitchFamily="34" charset="0"/>
                <a:ea typeface="Arial" pitchFamily="34" charset="-122"/>
                <a:cs typeface="Arial" pitchFamily="34" charset="-120"/>
              </a:rPr>
              <a:t>+23.5</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129: sửa 1 lần đổi ID</a:t>
            </a:r>
            <a:endParaRPr lang="en-US" sz="1600" dirty="0"/>
          </a:p>
        </p:txBody>
      </p:sp>
      <p:sp>
        <p:nvSpPr>
          <p:cNvPr id="7" name="Shape 4"/>
          <p:cNvSpPr/>
          <p:nvPr/>
        </p:nvSpPr>
        <p:spPr>
          <a:xfrm>
            <a:off x="8321040" y="3108960"/>
            <a:ext cx="3319272" cy="1417320"/>
          </a:xfrm>
          <a:prstGeom prst="roundRect">
            <a:avLst>
              <a:gd name="adj" fmla="val 7742"/>
            </a:avLst>
          </a:prstGeom>
          <a:solidFill>
            <a:srgbClr val="22252B"/>
          </a:solidFill>
          <a:ln w="12700">
            <a:solidFill>
              <a:srgbClr val="22252B"/>
            </a:solidFill>
            <a:prstDash val="solid"/>
          </a:ln>
        </p:spPr>
      </p:sp>
      <p:sp>
        <p:nvSpPr>
          <p:cNvPr id="8" name="Text 5"/>
          <p:cNvSpPr txBox="1"/>
          <p:nvPr/>
        </p:nvSpPr>
        <p:spPr>
          <a:xfrm>
            <a:off x="8549640" y="3182112"/>
            <a:ext cx="2953512" cy="1280160"/>
          </a:xfrm>
          <a:prstGeom prst="rect">
            <a:avLst/>
          </a:prstGeom>
          <a:noFill/>
          <a:ln/>
        </p:spPr>
        <p:txBody>
          <a:bodyPr wrap="square" lIns="0" tIns="0" rIns="0" bIns="0" rtlCol="0" anchor="ctr"/>
          <a:lstStyle/>
          <a:p>
            <a:pPr indent="0" marL="0">
              <a:buNone/>
            </a:pPr>
            <a:r>
              <a:rPr lang="en-US" sz="3600" b="1" dirty="0">
                <a:solidFill>
                  <a:srgbClr val="E66767"/>
                </a:solidFill>
                <a:latin typeface="Arial" pitchFamily="34" charset="0"/>
                <a:ea typeface="Arial" pitchFamily="34" charset="-122"/>
                <a:cs typeface="Arial" pitchFamily="34" charset="-120"/>
              </a:rPr>
              <a:t>−19.9</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176: gây 1 lần đổi ID mới</a:t>
            </a:r>
            <a:endParaRPr lang="en-US" sz="1600" dirty="0"/>
          </a:p>
        </p:txBody>
      </p:sp>
      <p:sp>
        <p:nvSpPr>
          <p:cNvPr id="9" name="Shape 6"/>
          <p:cNvSpPr/>
          <p:nvPr/>
        </p:nvSpPr>
        <p:spPr>
          <a:xfrm>
            <a:off x="8321040" y="4663440"/>
            <a:ext cx="3319272" cy="1508760"/>
          </a:xfrm>
          <a:prstGeom prst="roundRect">
            <a:avLst>
              <a:gd name="adj" fmla="val 7273"/>
            </a:avLst>
          </a:prstGeom>
          <a:solidFill>
            <a:srgbClr val="2B2F36"/>
          </a:solidFill>
          <a:ln w="12700">
            <a:solidFill>
              <a:srgbClr val="2B2F36"/>
            </a:solidFill>
            <a:prstDash val="solid"/>
          </a:ln>
        </p:spPr>
      </p:sp>
      <p:sp>
        <p:nvSpPr>
          <p:cNvPr id="10" name="Text 7"/>
          <p:cNvSpPr txBox="1"/>
          <p:nvPr/>
        </p:nvSpPr>
        <p:spPr>
          <a:xfrm>
            <a:off x="8549640" y="4709160"/>
            <a:ext cx="2953512" cy="141732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18 video còn lại</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chênh tối đa 4.0 HOTA; 15 video gần như không đổi (&lt; 0.5)</a:t>
            </a:r>
            <a:endParaRPr lang="en-US" sz="1600" dirty="0"/>
          </a:p>
        </p:txBody>
      </p:sp>
      <p:sp>
        <p:nvSpPr>
          <p:cNvPr id="11" name="Shape 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2"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3"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TĂNG · VIDEO 129</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M1-swap sửa lỗi đổi ID ở video 129</a:t>
            </a:r>
            <a:endParaRPr lang="en-US" sz="3000" dirty="0"/>
          </a:p>
        </p:txBody>
      </p:sp>
      <p:pic>
        <p:nvPicPr>
          <p:cNvPr id="4" name="Image 0" descr="D:\PROJECT\PEG\results\peg_f\figures\swap_129.png">    </p:cNvPr>
          <p:cNvPicPr>
            <a:picLocks noChangeAspect="1"/>
          </p:cNvPicPr>
          <p:nvPr/>
        </p:nvPicPr>
        <p:blipFill>
          <a:blip r:embed="rId1"/>
          <a:stretch>
            <a:fillRect/>
          </a:stretch>
        </p:blipFill>
        <p:spPr>
          <a:xfrm>
            <a:off x="1115970" y="1417320"/>
            <a:ext cx="9957013" cy="4572000"/>
          </a:xfrm>
          <a:prstGeom prst="rect">
            <a:avLst/>
          </a:prstGeom>
        </p:spPr>
      </p:pic>
      <p:sp>
        <p:nvSpPr>
          <p:cNvPr id="5" name="Text 2"/>
          <p:cNvSpPr txBox="1"/>
          <p:nvPr/>
        </p:nvSpPr>
        <p:spPr>
          <a:xfrm>
            <a:off x="548640" y="6062472"/>
            <a:ext cx="11091672" cy="457200"/>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Hai công nhân A, B đi sát nhau. PEG đổi ID và giữ sai đến hết video; PEG-F đổi lại ở frame 339.</a:t>
            </a:r>
            <a:endParaRPr lang="en-US" sz="15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TỪNG METHOD</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Từng method làm được gì? (thêm từng cái vào PEG)</a:t>
            </a:r>
            <a:endParaRPr lang="en-US" sz="3000" dirty="0"/>
          </a:p>
        </p:txBody>
      </p:sp>
      <p:pic>
        <p:nvPicPr>
          <p:cNvPr id="4" name="Image 0" descr="D:\PROJECT\PEG\results\peg_f\figures\ablation_grid.png">    </p:cNvPr>
          <p:cNvPicPr>
            <a:picLocks noChangeAspect="1"/>
          </p:cNvPicPr>
          <p:nvPr/>
        </p:nvPicPr>
        <p:blipFill>
          <a:blip r:embed="rId1"/>
          <a:stretch>
            <a:fillRect/>
          </a:stretch>
        </p:blipFill>
        <p:spPr>
          <a:xfrm>
            <a:off x="761414" y="1371600"/>
            <a:ext cx="10638692" cy="4572000"/>
          </a:xfrm>
          <a:prstGeom prst="rect">
            <a:avLst/>
          </a:prstGeom>
        </p:spPr>
      </p:pic>
      <p:sp>
        <p:nvSpPr>
          <p:cNvPr id="5" name="Text 2"/>
          <p:cNvSpPr txBox="1"/>
          <p:nvPr/>
        </p:nvSpPr>
        <p:spPr>
          <a:xfrm>
            <a:off x="548640" y="6035040"/>
            <a:ext cx="11091672" cy="457200"/>
          </a:xfrm>
          <a:prstGeom prst="rect">
            <a:avLst/>
          </a:prstGeom>
          <a:noFill/>
          <a:ln/>
        </p:spPr>
        <p:txBody>
          <a:bodyPr wrap="square" lIns="0" tIns="0" rIns="0" bIns="0" rtlCol="0" anchor="t"/>
          <a:lstStyle/>
          <a:p>
            <a:pPr algn="ctr" indent="0" marL="0">
              <a:buNone/>
            </a:pPr>
            <a:r>
              <a:rPr lang="en-US" sz="1700" b="1" dirty="0">
                <a:solidFill>
                  <a:srgbClr val="F2A900"/>
                </a:solidFill>
                <a:latin typeface="Arial" pitchFamily="34" charset="0"/>
                <a:ea typeface="Arial" pitchFamily="34" charset="-122"/>
                <a:cs typeface="Arial" pitchFamily="34" charset="-120"/>
              </a:rPr>
              <a:t>M1-swap tăng Table I (nhưng IDSW tăng) · M1-damp làm hỏng Table II và III · M3 tốt nhẹ · M2, M4, M5 ≈ 0.</a:t>
            </a:r>
            <a:endParaRPr lang="en-US" sz="17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SỐ ĐẾM TỪ BÊN TRONG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M2 và M4 không chạy?</a:t>
            </a:r>
            <a:endParaRPr lang="en-US" sz="3000" dirty="0"/>
          </a:p>
        </p:txBody>
      </p:sp>
      <p:sp>
        <p:nvSpPr>
          <p:cNvPr id="4" name="Shape 2"/>
          <p:cNvSpPr/>
          <p:nvPr/>
        </p:nvSpPr>
        <p:spPr>
          <a:xfrm>
            <a:off x="548640" y="1600200"/>
            <a:ext cx="3566160" cy="2834640"/>
          </a:xfrm>
          <a:prstGeom prst="roundRect">
            <a:avLst>
              <a:gd name="adj" fmla="val 3871"/>
            </a:avLst>
          </a:prstGeom>
          <a:solidFill>
            <a:srgbClr val="22252B"/>
          </a:solidFill>
          <a:ln w="12700">
            <a:solidFill>
              <a:srgbClr val="22252B"/>
            </a:solidFill>
            <a:prstDash val="solid"/>
          </a:ln>
        </p:spPr>
      </p:sp>
      <p:sp>
        <p:nvSpPr>
          <p:cNvPr id="5" name="Text 3"/>
          <p:cNvSpPr txBox="1"/>
          <p:nvPr/>
        </p:nvSpPr>
        <p:spPr>
          <a:xfrm>
            <a:off x="822960"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giành ID</a:t>
            </a:r>
            <a:endParaRPr lang="en-US" sz="1400" dirty="0"/>
          </a:p>
        </p:txBody>
      </p:sp>
      <p:sp>
        <p:nvSpPr>
          <p:cNvPr id="6" name="Text 4"/>
          <p:cNvSpPr txBox="1"/>
          <p:nvPr/>
        </p:nvSpPr>
        <p:spPr>
          <a:xfrm>
            <a:off x="822960"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0.052</a:t>
            </a:r>
            <a:endParaRPr lang="en-US" sz="4400" dirty="0"/>
          </a:p>
        </p:txBody>
      </p:sp>
      <p:sp>
        <p:nvSpPr>
          <p:cNvPr id="7" name="Text 5"/>
          <p:cNvSpPr txBox="1"/>
          <p:nvPr/>
        </p:nvSpPr>
        <p:spPr>
          <a:xfrm>
            <a:off x="822960"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0.25</a:t>
            </a:r>
            <a:endParaRPr lang="en-US" sz="1500" dirty="0"/>
          </a:p>
        </p:txBody>
      </p:sp>
      <p:sp>
        <p:nvSpPr>
          <p:cNvPr id="8" name="Text 6"/>
          <p:cNvSpPr txBox="1"/>
          <p:nvPr/>
        </p:nvSpPr>
        <p:spPr>
          <a:xfrm>
            <a:off x="822960"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màu lớn nhất giữa người đúng và người sai, trong 11 lần xét</a:t>
            </a:r>
            <a:endParaRPr lang="en-US" sz="1300" dirty="0"/>
          </a:p>
        </p:txBody>
      </p:sp>
      <p:sp>
        <p:nvSpPr>
          <p:cNvPr id="9" name="Shape 7"/>
          <p:cNvSpPr/>
          <p:nvPr/>
        </p:nvSpPr>
        <p:spPr>
          <a:xfrm>
            <a:off x="4315968" y="1600200"/>
            <a:ext cx="3566160" cy="2834640"/>
          </a:xfrm>
          <a:prstGeom prst="roundRect">
            <a:avLst>
              <a:gd name="adj" fmla="val 3871"/>
            </a:avLst>
          </a:prstGeom>
          <a:solidFill>
            <a:srgbClr val="22252B"/>
          </a:solidFill>
          <a:ln w="12700">
            <a:solidFill>
              <a:srgbClr val="22252B"/>
            </a:solidFill>
            <a:prstDash val="solid"/>
          </a:ln>
        </p:spPr>
      </p:sp>
      <p:sp>
        <p:nvSpPr>
          <p:cNvPr id="10" name="Text 8"/>
          <p:cNvSpPr txBox="1"/>
          <p:nvPr/>
        </p:nvSpPr>
        <p:spPr>
          <a:xfrm>
            <a:off x="4590288"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đổi chéo</a:t>
            </a:r>
            <a:endParaRPr lang="en-US" sz="1400" dirty="0"/>
          </a:p>
        </p:txBody>
      </p:sp>
      <p:sp>
        <p:nvSpPr>
          <p:cNvPr id="11" name="Text 9"/>
          <p:cNvSpPr txBox="1"/>
          <p:nvPr/>
        </p:nvSpPr>
        <p:spPr>
          <a:xfrm>
            <a:off x="4590288"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0.096</a:t>
            </a:r>
            <a:endParaRPr lang="en-US" sz="4400" dirty="0"/>
          </a:p>
        </p:txBody>
      </p:sp>
      <p:sp>
        <p:nvSpPr>
          <p:cNvPr id="12" name="Text 10"/>
          <p:cNvSpPr txBox="1"/>
          <p:nvPr/>
        </p:nvSpPr>
        <p:spPr>
          <a:xfrm>
            <a:off x="4590288"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0.15</a:t>
            </a:r>
            <a:endParaRPr lang="en-US" sz="1500" dirty="0"/>
          </a:p>
        </p:txBody>
      </p:sp>
      <p:sp>
        <p:nvSpPr>
          <p:cNvPr id="13" name="Text 11"/>
          <p:cNvSpPr txBox="1"/>
          <p:nvPr/>
        </p:nvSpPr>
        <p:spPr>
          <a:xfrm>
            <a:off x="4590288"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lớn nhất trong 4338 lần xét</a:t>
            </a:r>
            <a:endParaRPr lang="en-US" sz="1300" dirty="0"/>
          </a:p>
        </p:txBody>
      </p:sp>
      <p:sp>
        <p:nvSpPr>
          <p:cNvPr id="14" name="Shape 12"/>
          <p:cNvSpPr/>
          <p:nvPr/>
        </p:nvSpPr>
        <p:spPr>
          <a:xfrm>
            <a:off x="8083296" y="1600200"/>
            <a:ext cx="3566160" cy="2834640"/>
          </a:xfrm>
          <a:prstGeom prst="roundRect">
            <a:avLst>
              <a:gd name="adj" fmla="val 3871"/>
            </a:avLst>
          </a:prstGeom>
          <a:solidFill>
            <a:srgbClr val="22252B"/>
          </a:solidFill>
          <a:ln w="12700">
            <a:solidFill>
              <a:srgbClr val="22252B"/>
            </a:solidFill>
            <a:prstDash val="solid"/>
          </a:ln>
        </p:spPr>
      </p:sp>
      <p:sp>
        <p:nvSpPr>
          <p:cNvPr id="15" name="Text 13"/>
          <p:cNvSpPr txBox="1"/>
          <p:nvPr/>
        </p:nvSpPr>
        <p:spPr>
          <a:xfrm>
            <a:off x="8357616"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M4 · hồi sinh track</a:t>
            </a:r>
            <a:endParaRPr lang="en-US" sz="1400" dirty="0"/>
          </a:p>
        </p:txBody>
      </p:sp>
      <p:sp>
        <p:nvSpPr>
          <p:cNvPr id="16" name="Text 14"/>
          <p:cNvSpPr txBox="1"/>
          <p:nvPr/>
        </p:nvSpPr>
        <p:spPr>
          <a:xfrm>
            <a:off x="8357616"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1 / 81</a:t>
            </a:r>
            <a:endParaRPr lang="en-US" sz="4400" dirty="0"/>
          </a:p>
        </p:txBody>
      </p:sp>
      <p:sp>
        <p:nvSpPr>
          <p:cNvPr id="17" name="Text 15"/>
          <p:cNvSpPr txBox="1"/>
          <p:nvPr/>
        </p:nvSpPr>
        <p:spPr>
          <a:xfrm>
            <a:off x="8357616"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lần có pool khác rỗng</a:t>
            </a:r>
            <a:endParaRPr lang="en-US" sz="1500" dirty="0"/>
          </a:p>
        </p:txBody>
      </p:sp>
      <p:sp>
        <p:nvSpPr>
          <p:cNvPr id="18" name="Text 16"/>
          <p:cNvSpPr txBox="1"/>
          <p:nvPr/>
        </p:nvSpPr>
        <p:spPr>
          <a:xfrm>
            <a:off x="8357616"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khi sinh track mới; chỉ 1 lần hồi sinh trong cả Table I</a:t>
            </a:r>
            <a:endParaRPr lang="en-US" sz="1300" dirty="0"/>
          </a:p>
        </p:txBody>
      </p:sp>
      <p:sp>
        <p:nvSpPr>
          <p:cNvPr id="19" name="Shape 17"/>
          <p:cNvSpPr/>
          <p:nvPr/>
        </p:nvSpPr>
        <p:spPr>
          <a:xfrm>
            <a:off x="548640" y="4617720"/>
            <a:ext cx="11091672" cy="1371600"/>
          </a:xfrm>
          <a:prstGeom prst="roundRect">
            <a:avLst>
              <a:gd name="adj" fmla="val 8000"/>
            </a:avLst>
          </a:prstGeom>
          <a:solidFill>
            <a:srgbClr val="2B2F36"/>
          </a:solidFill>
          <a:ln w="12700">
            <a:solidFill>
              <a:srgbClr val="2B2F36"/>
            </a:solidFill>
            <a:prstDash val="solid"/>
          </a:ln>
        </p:spPr>
      </p:sp>
      <p:sp>
        <p:nvSpPr>
          <p:cNvPr id="20" name="Text 18"/>
          <p:cNvSpPr txBox="1"/>
          <p:nvPr/>
        </p:nvSpPr>
        <p:spPr>
          <a:xfrm>
            <a:off x="822960" y="4617720"/>
            <a:ext cx="10607040" cy="1371600"/>
          </a:xfrm>
          <a:prstGeom prst="rect">
            <a:avLst/>
          </a:prstGeom>
          <a:noFill/>
          <a:ln/>
        </p:spPr>
        <p:txBody>
          <a:bodyPr wrap="square" lIns="0" tIns="0" rIns="0" bIns="0" rtlCol="0" anchor="ctr"/>
          <a:lstStyle/>
          <a:p>
            <a:pPr indent="0" marL="0">
              <a:buNone/>
            </a:pPr>
            <a:r>
              <a:rPr lang="en-US" sz="2100" b="1" dirty="0">
                <a:solidFill>
                  <a:srgbClr val="F2F2F2"/>
                </a:solidFill>
                <a:latin typeface="Arial" pitchFamily="34" charset="0"/>
                <a:ea typeface="Arial" pitchFamily="34" charset="-122"/>
                <a:cs typeface="Arial" pitchFamily="34" charset="-120"/>
              </a:rPr>
              <a:t>Công nhân mặc đồ bảo hộ giống nhau → màu HSV không phân biệt được.</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Độ giống màu: cùng người ≈ 0.99, khác người ≈ 0.90 (trung vị) → số lần M2 đổi một quyết định: 0</a:t>
            </a:r>
            <a:endParaRPr lang="en-US" sz="1600" dirty="0"/>
          </a:p>
        </p:txBody>
      </p:sp>
      <p:sp>
        <p:nvSpPr>
          <p:cNvPr id="21" name="Shape 19"/>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2" name="Text 20"/>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3" name="Text 21"/>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TỐC ĐỘ TRÊN GTX 1650</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Chi phí: gần như không tốn thêm thời gian</a:t>
            </a:r>
            <a:endParaRPr lang="en-US" sz="3000" dirty="0"/>
          </a:p>
        </p:txBody>
      </p:sp>
      <p:sp>
        <p:nvSpPr>
          <p:cNvPr id="4" name="Shape 2"/>
          <p:cNvSpPr/>
          <p:nvPr/>
        </p:nvSpPr>
        <p:spPr>
          <a:xfrm>
            <a:off x="548640" y="1645920"/>
            <a:ext cx="11091672" cy="1097280"/>
          </a:xfrm>
          <a:prstGeom prst="roundRect">
            <a:avLst>
              <a:gd name="adj" fmla="val 10000"/>
            </a:avLst>
          </a:prstGeom>
          <a:solidFill>
            <a:srgbClr val="22252B"/>
          </a:solidFill>
          <a:ln w="12700">
            <a:solidFill>
              <a:srgbClr val="22252B"/>
            </a:solidFill>
            <a:prstDash val="solid"/>
          </a:ln>
        </p:spPr>
      </p:sp>
      <p:sp>
        <p:nvSpPr>
          <p:cNvPr id="5" name="Text 3"/>
          <p:cNvSpPr txBox="1"/>
          <p:nvPr/>
        </p:nvSpPr>
        <p:spPr>
          <a:xfrm>
            <a:off x="822960" y="1645920"/>
            <a:ext cx="2377440" cy="1097280"/>
          </a:xfrm>
          <a:prstGeom prst="rect">
            <a:avLst/>
          </a:prstGeom>
          <a:noFill/>
          <a:ln/>
        </p:spPr>
        <p:txBody>
          <a:bodyPr wrap="square" lIns="0" tIns="0" rIns="0" bIns="0" rtlCol="0" anchor="ctr"/>
          <a:lstStyle/>
          <a:p>
            <a:pPr indent="0" marL="0">
              <a:buNone/>
            </a:pPr>
            <a:r>
              <a:rPr lang="en-US" sz="2400" b="1" dirty="0">
                <a:solidFill>
                  <a:srgbClr val="3987E5"/>
                </a:solidFill>
                <a:latin typeface="Arial" pitchFamily="34" charset="0"/>
                <a:ea typeface="Arial" pitchFamily="34" charset="-122"/>
                <a:cs typeface="Arial" pitchFamily="34" charset="-120"/>
              </a:rPr>
              <a:t>PEG</a:t>
            </a:r>
            <a:endParaRPr lang="en-US" sz="2400" dirty="0"/>
          </a:p>
        </p:txBody>
      </p:sp>
      <p:sp>
        <p:nvSpPr>
          <p:cNvPr id="6" name="Shape 4"/>
          <p:cNvSpPr/>
          <p:nvPr/>
        </p:nvSpPr>
        <p:spPr>
          <a:xfrm>
            <a:off x="3291840" y="1920240"/>
            <a:ext cx="4023360" cy="548640"/>
          </a:xfrm>
          <a:prstGeom prst="roundRect">
            <a:avLst>
              <a:gd name="adj" fmla="val 10000"/>
            </a:avLst>
          </a:prstGeom>
          <a:solidFill>
            <a:srgbClr val="3987E5"/>
          </a:solidFill>
          <a:ln w="12700">
            <a:solidFill>
              <a:srgbClr val="3987E5"/>
            </a:solidFill>
            <a:prstDash val="solid"/>
          </a:ln>
        </p:spPr>
      </p:sp>
      <p:sp>
        <p:nvSpPr>
          <p:cNvPr id="7" name="Text 5"/>
          <p:cNvSpPr txBox="1"/>
          <p:nvPr/>
        </p:nvSpPr>
        <p:spPr>
          <a:xfrm>
            <a:off x="7498080" y="164592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4.4 FPS</a:t>
            </a:r>
            <a:endParaRPr lang="en-US" sz="2800" dirty="0"/>
          </a:p>
        </p:txBody>
      </p:sp>
      <p:sp>
        <p:nvSpPr>
          <p:cNvPr id="8" name="Shape 6"/>
          <p:cNvSpPr/>
          <p:nvPr/>
        </p:nvSpPr>
        <p:spPr>
          <a:xfrm>
            <a:off x="548640" y="2926080"/>
            <a:ext cx="11091672" cy="1097280"/>
          </a:xfrm>
          <a:prstGeom prst="roundRect">
            <a:avLst>
              <a:gd name="adj" fmla="val 10000"/>
            </a:avLst>
          </a:prstGeom>
          <a:solidFill>
            <a:srgbClr val="22252B"/>
          </a:solidFill>
          <a:ln w="12700">
            <a:solidFill>
              <a:srgbClr val="22252B"/>
            </a:solidFill>
            <a:prstDash val="solid"/>
          </a:ln>
        </p:spPr>
      </p:sp>
      <p:sp>
        <p:nvSpPr>
          <p:cNvPr id="9" name="Text 7"/>
          <p:cNvSpPr txBox="1"/>
          <p:nvPr/>
        </p:nvSpPr>
        <p:spPr>
          <a:xfrm>
            <a:off x="822960" y="2926080"/>
            <a:ext cx="2377440" cy="1097280"/>
          </a:xfrm>
          <a:prstGeom prst="rect">
            <a:avLst/>
          </a:prstGeom>
          <a:noFill/>
          <a:ln/>
        </p:spPr>
        <p:txBody>
          <a:bodyPr wrap="square" lIns="0" tIns="0" rIns="0" bIns="0" rtlCol="0" anchor="ctr"/>
          <a:lstStyle/>
          <a:p>
            <a:pPr indent="0" marL="0">
              <a:buNone/>
            </a:pPr>
            <a:r>
              <a:rPr lang="en-US" sz="2400" b="1" dirty="0">
                <a:solidFill>
                  <a:srgbClr val="9B6EE8"/>
                </a:solidFill>
                <a:latin typeface="Arial" pitchFamily="34" charset="0"/>
                <a:ea typeface="Arial" pitchFamily="34" charset="-122"/>
                <a:cs typeface="Arial" pitchFamily="34" charset="-120"/>
              </a:rPr>
              <a:t>PEG-F</a:t>
            </a:r>
            <a:endParaRPr lang="en-US" sz="2400" dirty="0"/>
          </a:p>
        </p:txBody>
      </p:sp>
      <p:sp>
        <p:nvSpPr>
          <p:cNvPr id="10" name="Shape 8"/>
          <p:cNvSpPr/>
          <p:nvPr/>
        </p:nvSpPr>
        <p:spPr>
          <a:xfrm>
            <a:off x="3291840" y="3200400"/>
            <a:ext cx="3931920" cy="548640"/>
          </a:xfrm>
          <a:prstGeom prst="roundRect">
            <a:avLst>
              <a:gd name="adj" fmla="val 10000"/>
            </a:avLst>
          </a:prstGeom>
          <a:solidFill>
            <a:srgbClr val="9B6EE8"/>
          </a:solidFill>
          <a:ln w="12700">
            <a:solidFill>
              <a:srgbClr val="9B6EE8"/>
            </a:solidFill>
            <a:prstDash val="solid"/>
          </a:ln>
        </p:spPr>
      </p:sp>
      <p:sp>
        <p:nvSpPr>
          <p:cNvPr id="11" name="Text 9"/>
          <p:cNvSpPr txBox="1"/>
          <p:nvPr/>
        </p:nvSpPr>
        <p:spPr>
          <a:xfrm>
            <a:off x="7406640" y="292608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4.3 FPS</a:t>
            </a:r>
            <a:endParaRPr lang="en-US" sz="2800" dirty="0"/>
          </a:p>
        </p:txBody>
      </p:sp>
      <p:sp>
        <p:nvSpPr>
          <p:cNvPr id="12" name="Text 10"/>
          <p:cNvSpPr txBox="1"/>
          <p:nvPr/>
        </p:nvSpPr>
        <p:spPr>
          <a:xfrm>
            <a:off x="548640" y="4251960"/>
            <a:ext cx="11064240" cy="548640"/>
          </a:xfrm>
          <a:prstGeom prst="rect">
            <a:avLst/>
          </a:prstGeom>
          <a:noFill/>
          <a:ln/>
        </p:spPr>
        <p:txBody>
          <a:bodyPr wrap="square" lIns="0" tIns="0" rIns="0" bIns="0" rtlCol="0" anchor="t"/>
          <a:lstStyle/>
          <a:p>
            <a:pPr indent="0" marL="0">
              <a:buNone/>
            </a:pPr>
            <a:r>
              <a:rPr lang="en-US" sz="1500" dirty="0">
                <a:solidFill>
                  <a:srgbClr val="A3A8B0"/>
                </a:solidFill>
                <a:latin typeface="Arial" pitchFamily="34" charset="0"/>
                <a:ea typeface="Arial" pitchFamily="34" charset="-122"/>
                <a:cs typeface="Arial" pitchFamily="34" charset="-120"/>
              </a:rPr>
              <a:t>FPS = số frame xử lý mỗi giây khi chạy cả detector + h_psi + tracker, trên cùng một máy: 16709 frame của Table I.</a:t>
            </a:r>
            <a:endParaRPr lang="en-US" sz="1500" dirty="0"/>
          </a:p>
        </p:txBody>
      </p:sp>
      <p:sp>
        <p:nvSpPr>
          <p:cNvPr id="13" name="Shape 11"/>
          <p:cNvSpPr/>
          <p:nvPr/>
        </p:nvSpPr>
        <p:spPr>
          <a:xfrm>
            <a:off x="548640" y="4892040"/>
            <a:ext cx="11091672" cy="1097280"/>
          </a:xfrm>
          <a:prstGeom prst="roundRect">
            <a:avLst>
              <a:gd name="adj" fmla="val 10000"/>
            </a:avLst>
          </a:prstGeom>
          <a:solidFill>
            <a:srgbClr val="2B2F36"/>
          </a:solidFill>
          <a:ln w="12700">
            <a:solidFill>
              <a:srgbClr val="2B2F36"/>
            </a:solidFill>
            <a:prstDash val="solid"/>
          </a:ln>
        </p:spPr>
      </p:sp>
      <p:sp>
        <p:nvSpPr>
          <p:cNvPr id="14" name="Text 12"/>
          <p:cNvSpPr txBox="1"/>
          <p:nvPr/>
        </p:nvSpPr>
        <p:spPr>
          <a:xfrm>
            <a:off x="822960" y="4892040"/>
            <a:ext cx="10607040" cy="1097280"/>
          </a:xfrm>
          <a:prstGeom prst="rect">
            <a:avLst/>
          </a:prstGeom>
          <a:noFill/>
          <a:ln/>
        </p:spPr>
        <p:txBody>
          <a:bodyPr wrap="square" lIns="0" tIns="0" rIns="0" bIns="0" rtlCol="0" anchor="ctr"/>
          <a:lstStyle/>
          <a:p>
            <a:pPr indent="0" marL="0">
              <a:buNone/>
            </a:pPr>
            <a:r>
              <a:rPr lang="en-US" sz="2000" b="1" dirty="0">
                <a:solidFill>
                  <a:srgbClr val="F2F2F2"/>
                </a:solidFill>
                <a:latin typeface="Arial" pitchFamily="34" charset="0"/>
                <a:ea typeface="Arial" pitchFamily="34" charset="-122"/>
                <a:cs typeface="Arial" pitchFamily="34" charset="-120"/>
              </a:rPr>
              <a:t>Detector chiếm gần hết thời gian → phần tracker thêm vào không đáng kể.</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(Paper: 26.4 FPS trên RTX 5070 Ti, GPU mạnh hơn nhiều)</a:t>
            </a:r>
            <a:endParaRPr lang="en-US" sz="1600" dirty="0"/>
          </a:p>
        </p:txBody>
      </p:sp>
      <p:sp>
        <p:nvSpPr>
          <p:cNvPr id="15" name="Shape 1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6" name="Text 1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7" name="Text 1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 · CẢI TIẾN CỦA NGƯỜI 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Lỗi PEG còn lại: box co lại khi coast → PEG+ khóa kích thước</a:t>
            </a:r>
            <a:endParaRPr lang="en-US" sz="2600" dirty="0"/>
          </a:p>
        </p:txBody>
      </p:sp>
      <p:pic>
        <p:nvPicPr>
          <p:cNvPr id="4" name="Image 0" descr="D:\PROJECT\PEG\results\peg_plus\figures\cmp_box_collapse.png">    </p:cNvPr>
          <p:cNvPicPr>
            <a:picLocks noChangeAspect="1"/>
          </p:cNvPicPr>
          <p:nvPr/>
        </p:nvPicPr>
        <p:blipFill>
          <a:blip r:embed="rId1"/>
          <a:stretch>
            <a:fillRect/>
          </a:stretch>
        </p:blipFill>
        <p:spPr>
          <a:xfrm>
            <a:off x="548640" y="1417320"/>
            <a:ext cx="8229600" cy="3960243"/>
          </a:xfrm>
          <a:prstGeom prst="rect">
            <a:avLst/>
          </a:prstGeom>
        </p:spPr>
      </p:pic>
      <p:sp>
        <p:nvSpPr>
          <p:cNvPr id="5" name="Shape 2"/>
          <p:cNvSpPr/>
          <p:nvPr/>
        </p:nvSpPr>
        <p:spPr>
          <a:xfrm>
            <a:off x="548640" y="5560443"/>
            <a:ext cx="292608" cy="201168"/>
          </a:xfrm>
          <a:prstGeom prst="rect">
            <a:avLst/>
          </a:prstGeom>
          <a:solidFill>
            <a:srgbClr val="15171B"/>
          </a:solidFill>
          <a:ln w="25400">
            <a:solidFill>
              <a:srgbClr val="F2A900"/>
            </a:solidFill>
            <a:prstDash val="solid"/>
          </a:ln>
        </p:spPr>
      </p:sp>
      <p:sp>
        <p:nvSpPr>
          <p:cNvPr id="6" name="Text 3"/>
          <p:cNvSpPr txBox="1"/>
          <p:nvPr/>
        </p:nvSpPr>
        <p:spPr>
          <a:xfrm>
            <a:off x="932688" y="5514723"/>
            <a:ext cx="1348740"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thật (GT)</a:t>
            </a:r>
            <a:endParaRPr lang="en-US" sz="1200" dirty="0"/>
          </a:p>
        </p:txBody>
      </p:sp>
      <p:sp>
        <p:nvSpPr>
          <p:cNvPr id="7" name="Shape 4"/>
          <p:cNvSpPr/>
          <p:nvPr/>
        </p:nvSpPr>
        <p:spPr>
          <a:xfrm>
            <a:off x="2555748" y="5560443"/>
            <a:ext cx="292608" cy="201168"/>
          </a:xfrm>
          <a:prstGeom prst="rect">
            <a:avLst/>
          </a:prstGeom>
          <a:solidFill>
            <a:srgbClr val="15171B"/>
          </a:solidFill>
          <a:ln w="25400">
            <a:solidFill>
              <a:srgbClr val="E86BB0"/>
            </a:solidFill>
            <a:prstDash val="solid"/>
          </a:ln>
        </p:spPr>
      </p:sp>
      <p:sp>
        <p:nvSpPr>
          <p:cNvPr id="8" name="Text 5"/>
          <p:cNvSpPr txBox="1"/>
          <p:nvPr/>
        </p:nvSpPr>
        <p:spPr>
          <a:xfrm>
            <a:off x="2939796" y="5514723"/>
            <a:ext cx="1115568"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bị sót</a:t>
            </a:r>
            <a:endParaRPr lang="en-US" sz="1200" dirty="0"/>
          </a:p>
        </p:txBody>
      </p:sp>
      <p:sp>
        <p:nvSpPr>
          <p:cNvPr id="9" name="Shape 6"/>
          <p:cNvSpPr/>
          <p:nvPr/>
        </p:nvSpPr>
        <p:spPr>
          <a:xfrm>
            <a:off x="4329684" y="5560443"/>
            <a:ext cx="292608" cy="201168"/>
          </a:xfrm>
          <a:prstGeom prst="rect">
            <a:avLst/>
          </a:prstGeom>
          <a:solidFill>
            <a:srgbClr val="15171B"/>
          </a:solidFill>
          <a:ln w="25400">
            <a:solidFill>
              <a:srgbClr val="E66767"/>
            </a:solidFill>
            <a:prstDash val="solid"/>
          </a:ln>
        </p:spPr>
      </p:sp>
      <p:sp>
        <p:nvSpPr>
          <p:cNvPr id="10" name="Text 7"/>
          <p:cNvSpPr txBox="1"/>
          <p:nvPr/>
        </p:nvSpPr>
        <p:spPr>
          <a:xfrm>
            <a:off x="4713732" y="5514723"/>
            <a:ext cx="1037844"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Box sai chỗ</a:t>
            </a:r>
            <a:endParaRPr lang="en-US" sz="1200" dirty="0"/>
          </a:p>
        </p:txBody>
      </p:sp>
      <p:sp>
        <p:nvSpPr>
          <p:cNvPr id="11" name="Shape 8"/>
          <p:cNvSpPr/>
          <p:nvPr/>
        </p:nvSpPr>
        <p:spPr>
          <a:xfrm>
            <a:off x="9052560" y="1508760"/>
            <a:ext cx="2587752" cy="1920240"/>
          </a:xfrm>
          <a:prstGeom prst="roundRect">
            <a:avLst>
              <a:gd name="adj" fmla="val 5714"/>
            </a:avLst>
          </a:prstGeom>
          <a:solidFill>
            <a:srgbClr val="22252B"/>
          </a:solidFill>
          <a:ln w="12700">
            <a:solidFill>
              <a:srgbClr val="22252B"/>
            </a:solidFill>
            <a:prstDash val="solid"/>
          </a:ln>
        </p:spPr>
      </p:sp>
      <p:sp>
        <p:nvSpPr>
          <p:cNvPr id="12" name="Text 9"/>
          <p:cNvSpPr txBox="1"/>
          <p:nvPr/>
        </p:nvSpPr>
        <p:spPr>
          <a:xfrm>
            <a:off x="9235440" y="1600200"/>
            <a:ext cx="22860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Table III · Rcv@.5</a:t>
            </a:r>
            <a:endParaRPr lang="en-US" sz="1200" dirty="0"/>
          </a:p>
        </p:txBody>
      </p:sp>
      <p:sp>
        <p:nvSpPr>
          <p:cNvPr id="13" name="Text 10"/>
          <p:cNvSpPr txBox="1"/>
          <p:nvPr/>
        </p:nvSpPr>
        <p:spPr>
          <a:xfrm>
            <a:off x="9235440" y="1874520"/>
            <a:ext cx="2286000" cy="822960"/>
          </a:xfrm>
          <a:prstGeom prst="rect">
            <a:avLst/>
          </a:prstGeom>
          <a:noFill/>
          <a:ln/>
        </p:spPr>
        <p:txBody>
          <a:bodyPr wrap="square" lIns="0" tIns="0" rIns="0" bIns="0" rtlCol="0" anchor="t"/>
          <a:lstStyle/>
          <a:p>
            <a:pPr indent="0" marL="0">
              <a:buNone/>
            </a:pPr>
            <a:r>
              <a:rPr lang="en-US" sz="4800" b="1" dirty="0">
                <a:solidFill>
                  <a:srgbClr val="19A35F"/>
                </a:solidFill>
                <a:latin typeface="Arial" pitchFamily="34" charset="0"/>
                <a:ea typeface="Arial" pitchFamily="34" charset="-122"/>
                <a:cs typeface="Arial" pitchFamily="34" charset="-120"/>
              </a:rPr>
              <a:t>+5.6</a:t>
            </a:r>
            <a:endParaRPr lang="en-US" sz="4800" dirty="0"/>
          </a:p>
        </p:txBody>
      </p:sp>
      <p:sp>
        <p:nvSpPr>
          <p:cNvPr id="14" name="Text 11"/>
          <p:cNvSpPr txBox="1"/>
          <p:nvPr/>
        </p:nvSpPr>
        <p:spPr>
          <a:xfrm>
            <a:off x="9235440" y="2743200"/>
            <a:ext cx="2286000" cy="457200"/>
          </a:xfrm>
          <a:prstGeom prst="rect">
            <a:avLst/>
          </a:prstGeom>
          <a:noFill/>
          <a:ln/>
        </p:spPr>
        <p:txBody>
          <a:bodyPr wrap="square" lIns="0" tIns="0" rIns="0" bIns="0" rtlCol="0" anchor="t"/>
          <a:lstStyle/>
          <a:p>
            <a:pPr indent="0" marL="0">
              <a:buNone/>
            </a:pPr>
            <a:r>
              <a:rPr lang="en-US" sz="2000" b="1" dirty="0">
                <a:solidFill>
                  <a:srgbClr val="F2F2F2"/>
                </a:solidFill>
                <a:latin typeface="Arial" pitchFamily="34" charset="0"/>
                <a:ea typeface="Arial" pitchFamily="34" charset="-122"/>
                <a:cs typeface="Arial" pitchFamily="34" charset="-120"/>
              </a:rPr>
              <a:t>76.6 → 82.2</a:t>
            </a:r>
            <a:endParaRPr lang="en-US" sz="2000" dirty="0"/>
          </a:p>
        </p:txBody>
      </p:sp>
      <p:sp>
        <p:nvSpPr>
          <p:cNvPr id="15" name="Shape 12"/>
          <p:cNvSpPr/>
          <p:nvPr/>
        </p:nvSpPr>
        <p:spPr>
          <a:xfrm>
            <a:off x="9052560" y="3611880"/>
            <a:ext cx="2587752" cy="1828800"/>
          </a:xfrm>
          <a:prstGeom prst="roundRect">
            <a:avLst>
              <a:gd name="adj" fmla="val 6000"/>
            </a:avLst>
          </a:prstGeom>
          <a:solidFill>
            <a:srgbClr val="2B2F36"/>
          </a:solidFill>
          <a:ln w="12700">
            <a:solidFill>
              <a:srgbClr val="2B2F36"/>
            </a:solidFill>
            <a:prstDash val="solid"/>
          </a:ln>
        </p:spPr>
      </p:sp>
      <p:sp>
        <p:nvSpPr>
          <p:cNvPr id="16" name="Text 13"/>
          <p:cNvSpPr txBox="1"/>
          <p:nvPr/>
        </p:nvSpPr>
        <p:spPr>
          <a:xfrm>
            <a:off x="9235440" y="3657600"/>
            <a:ext cx="2286000" cy="1737360"/>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~2 dòng code</a:t>
            </a:r>
            <a:endParaRPr lang="en-US" sz="1600" dirty="0"/>
          </a:p>
          <a:p>
            <a:pPr indent="0" marL="0">
              <a:buNone/>
            </a:pPr>
            <a:r>
              <a:rPr lang="en-US" sz="1300" dirty="0">
                <a:solidFill>
                  <a:srgbClr val="F2F2F2"/>
                </a:solidFill>
                <a:latin typeface="Consolas" pitchFamily="34" charset="0"/>
                <a:ea typeface="Consolas" pitchFamily="34" charset="-122"/>
                <a:cs typeface="Consolas" pitchFamily="34" charset="-120"/>
              </a:rPr>
              <a:t>vận tốc diện tích = 0 khi coast</a:t>
            </a:r>
            <a:endParaRPr lang="en-US" sz="1600" dirty="0"/>
          </a:p>
        </p:txBody>
      </p:sp>
      <p:sp>
        <p:nvSpPr>
          <p:cNvPr id="17" name="Text 14"/>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800" b="1" dirty="0">
                <a:solidFill>
                  <a:srgbClr val="F2F2F2"/>
                </a:solidFill>
                <a:latin typeface="Arial" pitchFamily="34" charset="0"/>
                <a:ea typeface="Arial" pitchFamily="34" charset="-122"/>
                <a:cs typeface="Arial" pitchFamily="34" charset="-120"/>
              </a:rPr>
              <a:t>PEG: box nhỏ dần rồi mất người · PEG+: giữ nguyên kích thước.</a:t>
            </a:r>
            <a:endParaRPr lang="en-US" sz="1800" dirty="0"/>
          </a:p>
        </p:txBody>
      </p:sp>
      <p:sp>
        <p:nvSpPr>
          <p:cNvPr id="18" name="Shape 15"/>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9" name="Text 1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0" name="Text 1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Ghép PEG-F + PEG+: Table I tốt nhất, nhưng Table II/III tụt</a:t>
            </a:r>
            <a:endParaRPr lang="en-US" sz="2600" dirty="0"/>
          </a:p>
        </p:txBody>
      </p:sp>
      <p:pic>
        <p:nvPicPr>
          <p:cNvPr id="4" name="Image 0" descr="D:\PROJECT\PEG\results\peg_f\figures\main_combo.png">    </p:cNvPr>
          <p:cNvPicPr>
            <a:picLocks noChangeAspect="1"/>
          </p:cNvPicPr>
          <p:nvPr/>
        </p:nvPicPr>
        <p:blipFill>
          <a:blip r:embed="rId1"/>
          <a:stretch>
            <a:fillRect/>
          </a:stretch>
        </p:blipFill>
        <p:spPr>
          <a:xfrm>
            <a:off x="457200" y="1371600"/>
            <a:ext cx="11247120" cy="4182813"/>
          </a:xfrm>
          <a:prstGeom prst="rect">
            <a:avLst/>
          </a:prstGeom>
        </p:spPr>
      </p:pic>
      <p:sp>
        <p:nvSpPr>
          <p:cNvPr id="5" name="Text 2"/>
          <p:cNvSpPr txBox="1"/>
          <p:nvPr/>
        </p:nvSpPr>
        <p:spPr>
          <a:xfrm>
            <a:off x="548640" y="5664141"/>
            <a:ext cx="11091672" cy="685800"/>
          </a:xfrm>
          <a:prstGeom prst="rect">
            <a:avLst/>
          </a:prstGeom>
          <a:noFill/>
          <a:ln/>
        </p:spPr>
        <p:txBody>
          <a:bodyPr wrap="square" lIns="0" tIns="0" rIns="0" bIns="0" rtlCol="0" anchor="t"/>
          <a:lstStyle/>
          <a:p>
            <a:pPr algn="ctr" indent="0" marL="0">
              <a:buNone/>
            </a:pPr>
            <a:r>
              <a:rPr lang="en-US" sz="1800" b="1" dirty="0">
                <a:solidFill>
                  <a:srgbClr val="F2F2F2"/>
                </a:solidFill>
                <a:latin typeface="Arial" pitchFamily="34" charset="0"/>
                <a:ea typeface="Arial" pitchFamily="34" charset="-122"/>
                <a:cs typeface="Arial" pitchFamily="34" charset="-120"/>
              </a:rPr>
              <a:t>Table I: HOTA 70.03, IDF1 86.94 — nhưng Table III Rcv@.5 chỉ 68.4 (PEG+: 82.2)</a:t>
            </a:r>
            <a:endParaRPr lang="en-US" sz="1800" dirty="0"/>
          </a:p>
          <a:p>
            <a:pPr algn="ctr" indent="0" marL="0">
              <a:buNone/>
            </a:pPr>
            <a:r>
              <a:rPr lang="en-US" sz="1300" dirty="0">
                <a:solidFill>
                  <a:srgbClr val="A3A8B0"/>
                </a:solidFill>
                <a:latin typeface="Arial" pitchFamily="34" charset="0"/>
                <a:ea typeface="Arial" pitchFamily="34" charset="-122"/>
                <a:cs typeface="Arial" pitchFamily="34" charset="-120"/>
              </a:rPr>
              <a:t>Phần Table I cao hơn PEG-F gần như chỉ đến từ video 176 (45.7 → 65.5): tình cờ, chưa chắc chắn.</a:t>
            </a:r>
            <a:endParaRPr lang="en-US" sz="1800" dirty="0"/>
          </a:p>
        </p:txBody>
      </p:sp>
      <p:sp>
        <p:nvSpPr>
          <p:cNvPr id="6" name="Shape 3"/>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TỤT · M1-DAMP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M1-damp làm box đứng lại trong khi người vẫn đi</a:t>
            </a:r>
            <a:endParaRPr lang="en-US" sz="2600" dirty="0"/>
          </a:p>
        </p:txBody>
      </p:sp>
      <p:pic>
        <p:nvPicPr>
          <p:cNvPr id="4" name="Image 0" descr="D:\PROJECT\PEG\results\peg_f\figures\damp_episode.png">    </p:cNvPr>
          <p:cNvPicPr>
            <a:picLocks noChangeAspect="1"/>
          </p:cNvPicPr>
          <p:nvPr/>
        </p:nvPicPr>
        <p:blipFill>
          <a:blip r:embed="rId1"/>
          <a:stretch>
            <a:fillRect/>
          </a:stretch>
        </p:blipFill>
        <p:spPr>
          <a:xfrm>
            <a:off x="457200" y="1417320"/>
            <a:ext cx="7488515" cy="4206240"/>
          </a:xfrm>
          <a:prstGeom prst="rect">
            <a:avLst/>
          </a:prstGeom>
        </p:spPr>
      </p:pic>
      <p:sp>
        <p:nvSpPr>
          <p:cNvPr id="5" name="Shape 2"/>
          <p:cNvSpPr/>
          <p:nvPr/>
        </p:nvSpPr>
        <p:spPr>
          <a:xfrm>
            <a:off x="8229600" y="1508760"/>
            <a:ext cx="3410712" cy="1737360"/>
          </a:xfrm>
          <a:prstGeom prst="roundRect">
            <a:avLst>
              <a:gd name="adj" fmla="val 6316"/>
            </a:avLst>
          </a:prstGeom>
          <a:solidFill>
            <a:srgbClr val="22252B"/>
          </a:solidFill>
          <a:ln w="12700">
            <a:solidFill>
              <a:srgbClr val="22252B"/>
            </a:solidFill>
            <a:prstDash val="solid"/>
          </a:ln>
        </p:spPr>
      </p:sp>
      <p:sp>
        <p:nvSpPr>
          <p:cNvPr id="6" name="Text 3"/>
          <p:cNvSpPr txBox="1"/>
          <p:nvPr/>
        </p:nvSpPr>
        <p:spPr>
          <a:xfrm>
            <a:off x="8458200" y="155448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35 → 15</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frame bị chói mà box còn trùng người, video 183_62q (35 frame chói)</a:t>
            </a:r>
            <a:endParaRPr lang="en-US" sz="1600" dirty="0"/>
          </a:p>
        </p:txBody>
      </p:sp>
      <p:sp>
        <p:nvSpPr>
          <p:cNvPr id="7" name="Shape 4"/>
          <p:cNvSpPr/>
          <p:nvPr/>
        </p:nvSpPr>
        <p:spPr>
          <a:xfrm>
            <a:off x="8229600" y="3383280"/>
            <a:ext cx="3410712" cy="1737360"/>
          </a:xfrm>
          <a:prstGeom prst="roundRect">
            <a:avLst>
              <a:gd name="adj" fmla="val 6316"/>
            </a:avLst>
          </a:prstGeom>
          <a:solidFill>
            <a:srgbClr val="22252B"/>
          </a:solidFill>
          <a:ln w="12700">
            <a:solidFill>
              <a:srgbClr val="22252B"/>
            </a:solidFill>
            <a:prstDash val="solid"/>
          </a:ln>
        </p:spPr>
      </p:sp>
      <p:sp>
        <p:nvSpPr>
          <p:cNvPr id="8" name="Text 5"/>
          <p:cNvSpPr txBox="1"/>
          <p:nvPr/>
        </p:nvSpPr>
        <p:spPr>
          <a:xfrm>
            <a:off x="8458200" y="342900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651 → 564</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trên cả 30 lần chói: số frame (trên 850) box còn trùng người</a:t>
            </a:r>
            <a:endParaRPr lang="en-US" sz="1600" dirty="0"/>
          </a:p>
        </p:txBody>
      </p:sp>
      <p:sp>
        <p:nvSpPr>
          <p:cNvPr id="9" name="Text 6"/>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Hai người đứng gần → hãm vận tốc ×0.88 mỗi frame → box người bị chói dừng lại.</a:t>
            </a:r>
            <a:endParaRPr lang="en-US" sz="1900" dirty="0"/>
          </a:p>
        </p:txBody>
      </p:sp>
      <p:sp>
        <p:nvSpPr>
          <p:cNvPr id="10" name="Shape 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 CÓ CHỌN LỌC</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Ghép có chọn lọc (chọn trên test): PEG+ + M1-swap + M3</a:t>
            </a:r>
            <a:endParaRPr lang="en-US" sz="3000" dirty="0"/>
          </a:p>
        </p:txBody>
      </p:sp>
      <p:sp>
        <p:nvSpPr>
          <p:cNvPr id="4" name="Text 2"/>
          <p:cNvSpPr txBox="1"/>
          <p:nvPr/>
        </p:nvSpPr>
        <p:spPr>
          <a:xfrm>
            <a:off x="32918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HOTA</a:t>
            </a:r>
            <a:endParaRPr lang="en-US" sz="1400" dirty="0"/>
          </a:p>
        </p:txBody>
      </p:sp>
      <p:sp>
        <p:nvSpPr>
          <p:cNvPr id="5" name="Text 3"/>
          <p:cNvSpPr txBox="1"/>
          <p:nvPr/>
        </p:nvSpPr>
        <p:spPr>
          <a:xfrm>
            <a:off x="48920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IDF1</a:t>
            </a:r>
            <a:endParaRPr lang="en-US" sz="1400" dirty="0"/>
          </a:p>
        </p:txBody>
      </p:sp>
      <p:sp>
        <p:nvSpPr>
          <p:cNvPr id="6" name="Text 4"/>
          <p:cNvSpPr txBox="1"/>
          <p:nvPr/>
        </p:nvSpPr>
        <p:spPr>
          <a:xfrm>
            <a:off x="64922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IDSW</a:t>
            </a:r>
            <a:endParaRPr lang="en-US" sz="1400" dirty="0"/>
          </a:p>
        </p:txBody>
      </p:sp>
      <p:sp>
        <p:nvSpPr>
          <p:cNvPr id="7" name="Text 5"/>
          <p:cNvSpPr txBox="1"/>
          <p:nvPr/>
        </p:nvSpPr>
        <p:spPr>
          <a:xfrm>
            <a:off x="80924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T2 MOTA</a:t>
            </a:r>
            <a:endParaRPr lang="en-US" sz="1400" dirty="0"/>
          </a:p>
        </p:txBody>
      </p:sp>
      <p:sp>
        <p:nvSpPr>
          <p:cNvPr id="8" name="Text 6"/>
          <p:cNvSpPr txBox="1"/>
          <p:nvPr/>
        </p:nvSpPr>
        <p:spPr>
          <a:xfrm>
            <a:off x="96926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T3 Rcv@.5</a:t>
            </a:r>
            <a:endParaRPr lang="en-US" sz="14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a:t>
            </a:r>
            <a:endParaRPr lang="en-US" sz="1700" dirty="0"/>
          </a:p>
        </p:txBody>
      </p:sp>
      <p:sp>
        <p:nvSpPr>
          <p:cNvPr id="12" name="Text 10"/>
          <p:cNvSpPr txBox="1"/>
          <p:nvPr/>
        </p:nvSpPr>
        <p:spPr>
          <a:xfrm>
            <a:off x="32918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3" name="Text 11"/>
          <p:cNvSpPr txBox="1"/>
          <p:nvPr/>
        </p:nvSpPr>
        <p:spPr>
          <a:xfrm>
            <a:off x="48920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4" name="Text 12"/>
          <p:cNvSpPr txBox="1"/>
          <p:nvPr/>
        </p:nvSpPr>
        <p:spPr>
          <a:xfrm>
            <a:off x="64922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15" name="Text 13"/>
          <p:cNvSpPr txBox="1"/>
          <p:nvPr/>
        </p:nvSpPr>
        <p:spPr>
          <a:xfrm>
            <a:off x="80924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16" name="Text 14"/>
          <p:cNvSpPr txBox="1"/>
          <p:nvPr/>
        </p:nvSpPr>
        <p:spPr>
          <a:xfrm>
            <a:off x="96926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19A35F"/>
          </a:solidFill>
          <a:ln w="12700">
            <a:solidFill>
              <a:srgbClr val="19A35F"/>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19A35F"/>
                </a:solidFill>
                <a:latin typeface="Arial" pitchFamily="34" charset="0"/>
                <a:ea typeface="Arial" pitchFamily="34" charset="-122"/>
                <a:cs typeface="Arial" pitchFamily="34" charset="-120"/>
              </a:rPr>
              <a:t>PEG+</a:t>
            </a:r>
            <a:endParaRPr lang="en-US" sz="1700" dirty="0"/>
          </a:p>
        </p:txBody>
      </p:sp>
      <p:sp>
        <p:nvSpPr>
          <p:cNvPr id="20" name="Text 18"/>
          <p:cNvSpPr txBox="1"/>
          <p:nvPr/>
        </p:nvSpPr>
        <p:spPr>
          <a:xfrm>
            <a:off x="32918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68.23</a:t>
            </a:r>
            <a:endParaRPr lang="en-US" sz="2400" dirty="0"/>
          </a:p>
        </p:txBody>
      </p:sp>
      <p:sp>
        <p:nvSpPr>
          <p:cNvPr id="21" name="Text 19"/>
          <p:cNvSpPr txBox="1"/>
          <p:nvPr/>
        </p:nvSpPr>
        <p:spPr>
          <a:xfrm>
            <a:off x="48920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82.24</a:t>
            </a:r>
            <a:endParaRPr lang="en-US" sz="2400" dirty="0"/>
          </a:p>
        </p:txBody>
      </p:sp>
      <p:sp>
        <p:nvSpPr>
          <p:cNvPr id="22" name="Text 20"/>
          <p:cNvSpPr txBox="1"/>
          <p:nvPr/>
        </p:nvSpPr>
        <p:spPr>
          <a:xfrm>
            <a:off x="64922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23" name="Text 21"/>
          <p:cNvSpPr txBox="1"/>
          <p:nvPr/>
        </p:nvSpPr>
        <p:spPr>
          <a:xfrm>
            <a:off x="80924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73.37</a:t>
            </a:r>
            <a:endParaRPr lang="en-US" sz="2400" dirty="0"/>
          </a:p>
        </p:txBody>
      </p:sp>
      <p:sp>
        <p:nvSpPr>
          <p:cNvPr id="24" name="Text 22"/>
          <p:cNvSpPr txBox="1"/>
          <p:nvPr/>
        </p:nvSpPr>
        <p:spPr>
          <a:xfrm>
            <a:off x="96926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a:t>
            </a:r>
            <a:endParaRPr lang="en-US" sz="2400" dirty="0"/>
          </a:p>
        </p:txBody>
      </p:sp>
      <p:sp>
        <p:nvSpPr>
          <p:cNvPr id="25" name="Shape 23"/>
          <p:cNvSpPr/>
          <p:nvPr/>
        </p:nvSpPr>
        <p:spPr>
          <a:xfrm>
            <a:off x="548640" y="3611880"/>
            <a:ext cx="11091672" cy="731520"/>
          </a:xfrm>
          <a:prstGeom prst="roundRect">
            <a:avLst>
              <a:gd name="adj" fmla="val 15000"/>
            </a:avLst>
          </a:prstGeom>
          <a:solidFill>
            <a:srgbClr val="2B2F36"/>
          </a:solidFill>
          <a:ln w="12700">
            <a:solidFill>
              <a:srgbClr val="2B2F36"/>
            </a:solidFill>
            <a:prstDash val="solid"/>
          </a:ln>
        </p:spPr>
      </p:sp>
      <p:sp>
        <p:nvSpPr>
          <p:cNvPr id="26" name="Shape 24"/>
          <p:cNvSpPr/>
          <p:nvPr/>
        </p:nvSpPr>
        <p:spPr>
          <a:xfrm>
            <a:off x="548640" y="3611880"/>
            <a:ext cx="91440" cy="731520"/>
          </a:xfrm>
          <a:prstGeom prst="rect">
            <a:avLst/>
          </a:prstGeom>
          <a:solidFill>
            <a:srgbClr val="1B9AA6"/>
          </a:solidFill>
          <a:ln w="12700">
            <a:solidFill>
              <a:srgbClr val="1B9AA6"/>
            </a:solidFill>
            <a:prstDash val="solid"/>
          </a:ln>
        </p:spPr>
      </p:sp>
      <p:sp>
        <p:nvSpPr>
          <p:cNvPr id="27" name="Text 25"/>
          <p:cNvSpPr txBox="1"/>
          <p:nvPr/>
        </p:nvSpPr>
        <p:spPr>
          <a:xfrm>
            <a:off x="822960" y="3611880"/>
            <a:ext cx="2468880" cy="731520"/>
          </a:xfrm>
          <a:prstGeom prst="rect">
            <a:avLst/>
          </a:prstGeom>
          <a:noFill/>
          <a:ln/>
        </p:spPr>
        <p:txBody>
          <a:bodyPr wrap="square" lIns="0" tIns="0" rIns="0" bIns="0" rtlCol="0" anchor="ctr"/>
          <a:lstStyle/>
          <a:p>
            <a:pPr indent="0" marL="0">
              <a:buNone/>
            </a:pPr>
            <a:r>
              <a:rPr lang="en-US" sz="1400" b="1" dirty="0">
                <a:solidFill>
                  <a:srgbClr val="1B9AA6"/>
                </a:solidFill>
                <a:latin typeface="Arial" pitchFamily="34" charset="0"/>
                <a:ea typeface="Arial" pitchFamily="34" charset="-122"/>
                <a:cs typeface="Arial" pitchFamily="34" charset="-120"/>
              </a:rPr>
              <a:t>PEG+ + M1-swap + M3</a:t>
            </a:r>
            <a:endParaRPr lang="en-US" sz="1400" dirty="0"/>
          </a:p>
        </p:txBody>
      </p:sp>
      <p:sp>
        <p:nvSpPr>
          <p:cNvPr id="28" name="Text 26"/>
          <p:cNvSpPr txBox="1"/>
          <p:nvPr/>
        </p:nvSpPr>
        <p:spPr>
          <a:xfrm>
            <a:off x="32918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68.81</a:t>
            </a:r>
            <a:endParaRPr lang="en-US" sz="2400" dirty="0"/>
          </a:p>
        </p:txBody>
      </p:sp>
      <p:sp>
        <p:nvSpPr>
          <p:cNvPr id="29" name="Text 27"/>
          <p:cNvSpPr txBox="1"/>
          <p:nvPr/>
        </p:nvSpPr>
        <p:spPr>
          <a:xfrm>
            <a:off x="48920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84.56</a:t>
            </a:r>
            <a:endParaRPr lang="en-US" sz="2400" dirty="0"/>
          </a:p>
        </p:txBody>
      </p:sp>
      <p:sp>
        <p:nvSpPr>
          <p:cNvPr id="30" name="Text 28"/>
          <p:cNvSpPr txBox="1"/>
          <p:nvPr/>
        </p:nvSpPr>
        <p:spPr>
          <a:xfrm>
            <a:off x="6492240" y="3611880"/>
            <a:ext cx="1600200" cy="731520"/>
          </a:xfrm>
          <a:prstGeom prst="rect">
            <a:avLst/>
          </a:prstGeom>
          <a:noFill/>
          <a:ln/>
        </p:spPr>
        <p:txBody>
          <a:bodyPr wrap="square" lIns="0" tIns="0" rIns="0" bIns="0" rtlCol="0" anchor="ctr"/>
          <a:lstStyle/>
          <a:p>
            <a:pPr algn="ctr" indent="0" marL="0">
              <a:buNone/>
            </a:pPr>
            <a:r>
              <a:rPr lang="en-US" sz="2400" b="1" dirty="0">
                <a:solidFill>
                  <a:srgbClr val="E66767"/>
                </a:solidFill>
                <a:latin typeface="Arial" pitchFamily="34" charset="0"/>
                <a:ea typeface="Arial" pitchFamily="34" charset="-122"/>
                <a:cs typeface="Arial" pitchFamily="34" charset="-120"/>
              </a:rPr>
              <a:t>36</a:t>
            </a:r>
            <a:endParaRPr lang="en-US" sz="2400" dirty="0"/>
          </a:p>
        </p:txBody>
      </p:sp>
      <p:sp>
        <p:nvSpPr>
          <p:cNvPr id="31" name="Text 29"/>
          <p:cNvSpPr txBox="1"/>
          <p:nvPr/>
        </p:nvSpPr>
        <p:spPr>
          <a:xfrm>
            <a:off x="80924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73.90</a:t>
            </a:r>
            <a:endParaRPr lang="en-US" sz="2400" dirty="0"/>
          </a:p>
        </p:txBody>
      </p:sp>
      <p:sp>
        <p:nvSpPr>
          <p:cNvPr id="32" name="Text 30"/>
          <p:cNvSpPr txBox="1"/>
          <p:nvPr/>
        </p:nvSpPr>
        <p:spPr>
          <a:xfrm>
            <a:off x="96926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82.2</a:t>
            </a:r>
            <a:endParaRPr lang="en-US" sz="2400" dirty="0"/>
          </a:p>
        </p:txBody>
      </p:sp>
      <p:sp>
        <p:nvSpPr>
          <p:cNvPr id="33" name="Text 31"/>
          <p:cNvSpPr txBox="1"/>
          <p:nvPr/>
        </p:nvSpPr>
        <p:spPr>
          <a:xfrm>
            <a:off x="548640" y="4480560"/>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Hàng dưới: xanh = tốt hơn PEG, đỏ = xấu hơn PEG (IDSW: ít hơn là tốt).</a:t>
            </a:r>
            <a:endParaRPr lang="en-US" sz="1200" dirty="0"/>
          </a:p>
        </p:txBody>
      </p:sp>
      <p:sp>
        <p:nvSpPr>
          <p:cNvPr id="34" name="Shape 32"/>
          <p:cNvSpPr/>
          <p:nvPr/>
        </p:nvSpPr>
        <p:spPr>
          <a:xfrm>
            <a:off x="548640" y="4800600"/>
            <a:ext cx="5440680" cy="1371600"/>
          </a:xfrm>
          <a:prstGeom prst="roundRect">
            <a:avLst>
              <a:gd name="adj" fmla="val 8000"/>
            </a:avLst>
          </a:prstGeom>
          <a:solidFill>
            <a:srgbClr val="22252B"/>
          </a:solidFill>
          <a:ln w="12700">
            <a:solidFill>
              <a:srgbClr val="22252B"/>
            </a:solidFill>
            <a:prstDash val="solid"/>
          </a:ln>
        </p:spPr>
      </p:sp>
      <p:sp>
        <p:nvSpPr>
          <p:cNvPr id="35" name="Text 33"/>
          <p:cNvSpPr txBox="1"/>
          <p:nvPr/>
        </p:nvSpPr>
        <p:spPr>
          <a:xfrm>
            <a:off x="777240" y="4846320"/>
            <a:ext cx="5029200" cy="1280160"/>
          </a:xfrm>
          <a:prstGeom prst="rect">
            <a:avLst/>
          </a:prstGeom>
          <a:noFill/>
          <a:ln/>
        </p:spPr>
        <p:txBody>
          <a:bodyPr wrap="square" lIns="0" tIns="0" rIns="0" bIns="0" rtlCol="0" anchor="ctr"/>
          <a:lstStyle/>
          <a:p>
            <a:pPr indent="0" marL="0">
              <a:buNone/>
            </a:pPr>
            <a:r>
              <a:rPr lang="en-US" sz="1800" b="1" dirty="0">
                <a:solidFill>
                  <a:srgbClr val="F2A900"/>
                </a:solidFill>
                <a:latin typeface="Arial" pitchFamily="34" charset="0"/>
                <a:ea typeface="Arial" pitchFamily="34" charset="-122"/>
                <a:cs typeface="Arial" pitchFamily="34" charset="-120"/>
              </a:rPr>
              <a:t>IDF1</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giữ đúng ID lâu dài.</a:t>
            </a:r>
            <a:endParaRPr lang="en-US" sz="1800" dirty="0"/>
          </a:p>
          <a:p>
            <a:pPr indent="0" marL="0">
              <a:buNone/>
            </a:pPr>
            <a:r>
              <a:rPr lang="en-US" sz="1800" b="1" dirty="0">
                <a:solidFill>
                  <a:srgbClr val="F2A900"/>
                </a:solidFill>
                <a:latin typeface="Arial" pitchFamily="34" charset="0"/>
                <a:ea typeface="Arial" pitchFamily="34" charset="-122"/>
                <a:cs typeface="Arial" pitchFamily="34" charset="-120"/>
              </a:rPr>
              <a:t>IDSW</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đếm số lần đổi ID, từng lần ngắn.</a:t>
            </a:r>
            <a:endParaRPr lang="en-US" sz="1800" dirty="0"/>
          </a:p>
        </p:txBody>
      </p:sp>
      <p:sp>
        <p:nvSpPr>
          <p:cNvPr id="36" name="Shape 34"/>
          <p:cNvSpPr/>
          <p:nvPr/>
        </p:nvSpPr>
        <p:spPr>
          <a:xfrm>
            <a:off x="6199632" y="4800600"/>
            <a:ext cx="5440680" cy="1371600"/>
          </a:xfrm>
          <a:prstGeom prst="roundRect">
            <a:avLst>
              <a:gd name="adj" fmla="val 8000"/>
            </a:avLst>
          </a:prstGeom>
          <a:solidFill>
            <a:srgbClr val="2B2F36"/>
          </a:solidFill>
          <a:ln w="12700">
            <a:solidFill>
              <a:srgbClr val="2B2F36"/>
            </a:solidFill>
            <a:prstDash val="solid"/>
          </a:ln>
        </p:spPr>
      </p:sp>
      <p:sp>
        <p:nvSpPr>
          <p:cNvPr id="37" name="Shape 35"/>
          <p:cNvSpPr/>
          <p:nvPr/>
        </p:nvSpPr>
        <p:spPr>
          <a:xfrm>
            <a:off x="6199632" y="4800600"/>
            <a:ext cx="91440" cy="1371600"/>
          </a:xfrm>
          <a:prstGeom prst="rect">
            <a:avLst/>
          </a:prstGeom>
          <a:solidFill>
            <a:srgbClr val="E66767"/>
          </a:solidFill>
          <a:ln w="12700">
            <a:solidFill>
              <a:srgbClr val="E66767"/>
            </a:solidFill>
            <a:prstDash val="solid"/>
          </a:ln>
        </p:spPr>
      </p:sp>
      <p:sp>
        <p:nvSpPr>
          <p:cNvPr id="38" name="Text 36"/>
          <p:cNvSpPr txBox="1"/>
          <p:nvPr/>
        </p:nvSpPr>
        <p:spPr>
          <a:xfrm>
            <a:off x="6473952" y="4800600"/>
            <a:ext cx="5029200" cy="1371600"/>
          </a:xfrm>
          <a:prstGeom prst="rect">
            <a:avLst/>
          </a:prstGeom>
          <a:noFill/>
          <a:ln/>
        </p:spPr>
        <p:txBody>
          <a:bodyPr wrap="square" lIns="0" tIns="0" rIns="0" bIns="0" rtlCol="0" anchor="ctr"/>
          <a:lstStyle/>
          <a:p>
            <a:pPr indent="0" marL="0">
              <a:buNone/>
            </a:pPr>
            <a:r>
              <a:rPr lang="en-US" sz="1700" b="1" dirty="0">
                <a:solidFill>
                  <a:srgbClr val="F2F2F2"/>
                </a:solidFill>
                <a:latin typeface="Arial" pitchFamily="34" charset="0"/>
                <a:ea typeface="Arial" pitchFamily="34" charset="-122"/>
                <a:cs typeface="Arial" pitchFamily="34" charset="-120"/>
              </a:rPr>
              <a:t>IDSW 17 → 36. Và vì chọn sau khi đã thấy test…</a:t>
            </a:r>
            <a:endParaRPr lang="en-US" sz="1600" dirty="0"/>
          </a:p>
          <a:p>
            <a:pPr indent="0" marL="0">
              <a:buNone/>
            </a:pPr>
            <a:r>
              <a:rPr lang="en-US" sz="1600" b="1" dirty="0">
                <a:solidFill>
                  <a:srgbClr val="F2A900"/>
                </a:solidFill>
                <a:latin typeface="Arial" pitchFamily="34" charset="0"/>
                <a:ea typeface="Arial" pitchFamily="34" charset="-122"/>
                <a:cs typeface="Arial" pitchFamily="34" charset="-120"/>
              </a:rPr>
              <a:t>→ kiểm tra lại trên tập val: slide sau.</a:t>
            </a:r>
            <a:endParaRPr lang="en-US" sz="1600" dirty="0"/>
          </a:p>
        </p:txBody>
      </p:sp>
      <p:sp>
        <p:nvSpPr>
          <p:cNvPr id="39" name="Shape 3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40" name="Text 3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41" name="Text 3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SỬA CHỖ RÒ RỈ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Chọn lại trên tập val, luật chốt trước khi nhìn số</a:t>
            </a:r>
            <a:endParaRPr lang="en-US" sz="3000" dirty="0"/>
          </a:p>
        </p:txBody>
      </p:sp>
      <p:sp>
        <p:nvSpPr>
          <p:cNvPr id="4" name="Shape 2"/>
          <p:cNvSpPr/>
          <p:nvPr/>
        </p:nvSpPr>
        <p:spPr>
          <a:xfrm>
            <a:off x="548640" y="1508760"/>
            <a:ext cx="4206240" cy="4526280"/>
          </a:xfrm>
          <a:prstGeom prst="roundRect">
            <a:avLst>
              <a:gd name="adj" fmla="val 2609"/>
            </a:avLst>
          </a:prstGeom>
          <a:solidFill>
            <a:srgbClr val="22252B"/>
          </a:solidFill>
          <a:ln w="12700">
            <a:solidFill>
              <a:srgbClr val="22252B"/>
            </a:solidFill>
            <a:prstDash val="solid"/>
          </a:ln>
        </p:spPr>
      </p:sp>
      <p:sp>
        <p:nvSpPr>
          <p:cNvPr id="5" name="Text 3"/>
          <p:cNvSpPr txBox="1"/>
          <p:nvPr/>
        </p:nvSpPr>
        <p:spPr>
          <a:xfrm>
            <a:off x="777240" y="1600200"/>
            <a:ext cx="3840480" cy="36576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Cách làm</a:t>
            </a:r>
            <a:endParaRPr lang="en-US" sz="1900" dirty="0"/>
          </a:p>
        </p:txBody>
      </p:sp>
      <p:sp>
        <p:nvSpPr>
          <p:cNvPr id="6" name="Text 4"/>
          <p:cNvSpPr txBox="1"/>
          <p:nvPr/>
        </p:nvSpPr>
        <p:spPr>
          <a:xfrm>
            <a:off x="777240" y="2057400"/>
            <a:ext cx="3840480" cy="3886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Val: 17 video thật + 9 video chói giả, 18 lần chói. Chưa dùng để chọn gì.</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Chỉ bật/tắt 8 thành phần, không chỉnh con số nào.</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Thêm dần từ PEG: nhận một thành phần nếu không bảng nào tụt quá 0.5 và tổng 3 bảng tăng hơn 0.5.</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Luật được đưa lên git trước khi chạy val.</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Chọn xong: chạy test đúng 1 lần.</a:t>
            </a:r>
            <a:endParaRPr lang="en-US" sz="1500" dirty="0"/>
          </a:p>
        </p:txBody>
      </p:sp>
      <p:sp>
        <p:nvSpPr>
          <p:cNvPr id="7" name="Text 5"/>
          <p:cNvSpPr txBox="1"/>
          <p:nvPr/>
        </p:nvSpPr>
        <p:spPr>
          <a:xfrm>
            <a:off x="6949440"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T1 HOTA</a:t>
            </a:r>
            <a:endParaRPr lang="en-US" sz="1200" dirty="0"/>
          </a:p>
        </p:txBody>
      </p:sp>
      <p:sp>
        <p:nvSpPr>
          <p:cNvPr id="8" name="Text 6"/>
          <p:cNvSpPr txBox="1"/>
          <p:nvPr/>
        </p:nvSpPr>
        <p:spPr>
          <a:xfrm>
            <a:off x="8110728"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T2 HOTA</a:t>
            </a:r>
            <a:endParaRPr lang="en-US" sz="1200" dirty="0"/>
          </a:p>
        </p:txBody>
      </p:sp>
      <p:sp>
        <p:nvSpPr>
          <p:cNvPr id="9" name="Text 7"/>
          <p:cNvSpPr txBox="1"/>
          <p:nvPr/>
        </p:nvSpPr>
        <p:spPr>
          <a:xfrm>
            <a:off x="9272016"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T3 Rcv</a:t>
            </a:r>
            <a:endParaRPr lang="en-US" sz="1200" dirty="0"/>
          </a:p>
        </p:txBody>
      </p:sp>
      <p:sp>
        <p:nvSpPr>
          <p:cNvPr id="10" name="Text 8"/>
          <p:cNvSpPr txBox="1"/>
          <p:nvPr/>
        </p:nvSpPr>
        <p:spPr>
          <a:xfrm>
            <a:off x="10433304"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11" name="Text 9"/>
          <p:cNvSpPr txBox="1"/>
          <p:nvPr/>
        </p:nvSpPr>
        <p:spPr>
          <a:xfrm>
            <a:off x="5074920" y="192024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PEG+ (A)</a:t>
            </a:r>
            <a:endParaRPr lang="en-US" sz="1400" dirty="0"/>
          </a:p>
        </p:txBody>
      </p:sp>
      <p:sp>
        <p:nvSpPr>
          <p:cNvPr id="12" name="Text 10"/>
          <p:cNvSpPr txBox="1"/>
          <p:nvPr/>
        </p:nvSpPr>
        <p:spPr>
          <a:xfrm>
            <a:off x="6949440"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−0.14</a:t>
            </a:r>
            <a:endParaRPr lang="en-US" sz="1400" dirty="0"/>
          </a:p>
        </p:txBody>
      </p:sp>
      <p:sp>
        <p:nvSpPr>
          <p:cNvPr id="13" name="Text 11"/>
          <p:cNvSpPr txBox="1"/>
          <p:nvPr/>
        </p:nvSpPr>
        <p:spPr>
          <a:xfrm>
            <a:off x="8110728" y="1920240"/>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+0.06</a:t>
            </a:r>
            <a:endParaRPr lang="en-US" sz="1400" dirty="0"/>
          </a:p>
        </p:txBody>
      </p:sp>
      <p:sp>
        <p:nvSpPr>
          <p:cNvPr id="14" name="Text 12"/>
          <p:cNvSpPr txBox="1"/>
          <p:nvPr/>
        </p:nvSpPr>
        <p:spPr>
          <a:xfrm>
            <a:off x="9272016"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−0.3</a:t>
            </a:r>
            <a:endParaRPr lang="en-US" sz="1400" dirty="0"/>
          </a:p>
        </p:txBody>
      </p:sp>
      <p:sp>
        <p:nvSpPr>
          <p:cNvPr id="15" name="Text 13"/>
          <p:cNvSpPr txBox="1"/>
          <p:nvPr/>
        </p:nvSpPr>
        <p:spPr>
          <a:xfrm>
            <a:off x="10433304" y="1920240"/>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−0.38</a:t>
            </a:r>
            <a:endParaRPr lang="en-US" sz="1400" dirty="0"/>
          </a:p>
        </p:txBody>
      </p:sp>
      <p:sp>
        <p:nvSpPr>
          <p:cNvPr id="16" name="Text 14"/>
          <p:cNvSpPr txBox="1"/>
          <p:nvPr/>
        </p:nvSpPr>
        <p:spPr>
          <a:xfrm>
            <a:off x="5074920" y="2350008"/>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Lamp follow (B)</a:t>
            </a:r>
            <a:endParaRPr lang="en-US" sz="1400" dirty="0"/>
          </a:p>
        </p:txBody>
      </p:sp>
      <p:sp>
        <p:nvSpPr>
          <p:cNvPr id="17" name="Text 15"/>
          <p:cNvSpPr txBox="1"/>
          <p:nvPr/>
        </p:nvSpPr>
        <p:spPr>
          <a:xfrm>
            <a:off x="6949440" y="235000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−0.02</a:t>
            </a:r>
            <a:endParaRPr lang="en-US" sz="1400" dirty="0"/>
          </a:p>
        </p:txBody>
      </p:sp>
      <p:sp>
        <p:nvSpPr>
          <p:cNvPr id="18" name="Text 16"/>
          <p:cNvSpPr txBox="1"/>
          <p:nvPr/>
        </p:nvSpPr>
        <p:spPr>
          <a:xfrm>
            <a:off x="8110728"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−2.24</a:t>
            </a:r>
            <a:endParaRPr lang="en-US" sz="1400" dirty="0"/>
          </a:p>
        </p:txBody>
      </p:sp>
      <p:sp>
        <p:nvSpPr>
          <p:cNvPr id="19" name="Text 17"/>
          <p:cNvSpPr txBox="1"/>
          <p:nvPr/>
        </p:nvSpPr>
        <p:spPr>
          <a:xfrm>
            <a:off x="9272016"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−11.6</a:t>
            </a:r>
            <a:endParaRPr lang="en-US" sz="1400" dirty="0"/>
          </a:p>
        </p:txBody>
      </p:sp>
      <p:sp>
        <p:nvSpPr>
          <p:cNvPr id="20" name="Text 18"/>
          <p:cNvSpPr txBox="1"/>
          <p:nvPr/>
        </p:nvSpPr>
        <p:spPr>
          <a:xfrm>
            <a:off x="10433304" y="2350008"/>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−13.86</a:t>
            </a:r>
            <a:endParaRPr lang="en-US" sz="1400" dirty="0"/>
          </a:p>
        </p:txBody>
      </p:sp>
      <p:sp>
        <p:nvSpPr>
          <p:cNvPr id="21" name="Shape 19"/>
          <p:cNvSpPr/>
          <p:nvPr/>
        </p:nvSpPr>
        <p:spPr>
          <a:xfrm>
            <a:off x="4937760" y="2779776"/>
            <a:ext cx="6702552" cy="393192"/>
          </a:xfrm>
          <a:prstGeom prst="roundRect">
            <a:avLst>
              <a:gd name="adj" fmla="val 27907"/>
            </a:avLst>
          </a:prstGeom>
          <a:solidFill>
            <a:srgbClr val="2B2F36"/>
          </a:solidFill>
          <a:ln w="12700">
            <a:solidFill>
              <a:srgbClr val="2B2F36"/>
            </a:solidFill>
            <a:prstDash val="solid"/>
          </a:ln>
        </p:spPr>
      </p:sp>
      <p:sp>
        <p:nvSpPr>
          <p:cNvPr id="22" name="Text 20"/>
          <p:cNvSpPr txBox="1"/>
          <p:nvPr/>
        </p:nvSpPr>
        <p:spPr>
          <a:xfrm>
            <a:off x="5074920" y="2779776"/>
            <a:ext cx="1874520" cy="393192"/>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M1-damp</a:t>
            </a:r>
            <a:endParaRPr lang="en-US" sz="1400" dirty="0"/>
          </a:p>
        </p:txBody>
      </p:sp>
      <p:sp>
        <p:nvSpPr>
          <p:cNvPr id="23" name="Text 21"/>
          <p:cNvSpPr txBox="1"/>
          <p:nvPr/>
        </p:nvSpPr>
        <p:spPr>
          <a:xfrm>
            <a:off x="6949440" y="277977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24" name="Text 22"/>
          <p:cNvSpPr txBox="1"/>
          <p:nvPr/>
        </p:nvSpPr>
        <p:spPr>
          <a:xfrm>
            <a:off x="8110728" y="277977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−0.44</a:t>
            </a:r>
            <a:endParaRPr lang="en-US" sz="1400" dirty="0"/>
          </a:p>
        </p:txBody>
      </p:sp>
      <p:sp>
        <p:nvSpPr>
          <p:cNvPr id="25" name="Text 23"/>
          <p:cNvSpPr txBox="1"/>
          <p:nvPr/>
        </p:nvSpPr>
        <p:spPr>
          <a:xfrm>
            <a:off x="9272016" y="2779776"/>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+1.4</a:t>
            </a:r>
            <a:endParaRPr lang="en-US" sz="1400" dirty="0"/>
          </a:p>
        </p:txBody>
      </p:sp>
      <p:sp>
        <p:nvSpPr>
          <p:cNvPr id="26" name="Text 24"/>
          <p:cNvSpPr txBox="1"/>
          <p:nvPr/>
        </p:nvSpPr>
        <p:spPr>
          <a:xfrm>
            <a:off x="10433304" y="2779776"/>
            <a:ext cx="1161288" cy="393192"/>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+0.96</a:t>
            </a:r>
            <a:endParaRPr lang="en-US" sz="1400" dirty="0"/>
          </a:p>
        </p:txBody>
      </p:sp>
      <p:sp>
        <p:nvSpPr>
          <p:cNvPr id="27" name="Text 25"/>
          <p:cNvSpPr txBox="1"/>
          <p:nvPr/>
        </p:nvSpPr>
        <p:spPr>
          <a:xfrm>
            <a:off x="5074920" y="3209544"/>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M1-swap</a:t>
            </a:r>
            <a:endParaRPr lang="en-US" sz="1400" dirty="0"/>
          </a:p>
        </p:txBody>
      </p:sp>
      <p:sp>
        <p:nvSpPr>
          <p:cNvPr id="28" name="Text 26"/>
          <p:cNvSpPr txBox="1"/>
          <p:nvPr/>
        </p:nvSpPr>
        <p:spPr>
          <a:xfrm>
            <a:off x="6949440"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29" name="Text 27"/>
          <p:cNvSpPr txBox="1"/>
          <p:nvPr/>
        </p:nvSpPr>
        <p:spPr>
          <a:xfrm>
            <a:off x="8110728"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0" name="Text 28"/>
          <p:cNvSpPr txBox="1"/>
          <p:nvPr/>
        </p:nvSpPr>
        <p:spPr>
          <a:xfrm>
            <a:off x="9272016"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1" name="Text 29"/>
          <p:cNvSpPr txBox="1"/>
          <p:nvPr/>
        </p:nvSpPr>
        <p:spPr>
          <a:xfrm>
            <a:off x="10433304" y="3209544"/>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32" name="Text 30"/>
          <p:cNvSpPr txBox="1"/>
          <p:nvPr/>
        </p:nvSpPr>
        <p:spPr>
          <a:xfrm>
            <a:off x="5074920" y="3639312"/>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M2</a:t>
            </a:r>
            <a:endParaRPr lang="en-US" sz="1400" dirty="0"/>
          </a:p>
        </p:txBody>
      </p:sp>
      <p:sp>
        <p:nvSpPr>
          <p:cNvPr id="33" name="Text 31"/>
          <p:cNvSpPr txBox="1"/>
          <p:nvPr/>
        </p:nvSpPr>
        <p:spPr>
          <a:xfrm>
            <a:off x="6949440"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4" name="Text 32"/>
          <p:cNvSpPr txBox="1"/>
          <p:nvPr/>
        </p:nvSpPr>
        <p:spPr>
          <a:xfrm>
            <a:off x="8110728"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5" name="Text 33"/>
          <p:cNvSpPr txBox="1"/>
          <p:nvPr/>
        </p:nvSpPr>
        <p:spPr>
          <a:xfrm>
            <a:off x="9272016"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6" name="Text 34"/>
          <p:cNvSpPr txBox="1"/>
          <p:nvPr/>
        </p:nvSpPr>
        <p:spPr>
          <a:xfrm>
            <a:off x="10433304" y="3639312"/>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37" name="Text 35"/>
          <p:cNvSpPr txBox="1"/>
          <p:nvPr/>
        </p:nvSpPr>
        <p:spPr>
          <a:xfrm>
            <a:off x="5074920" y="406908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M3</a:t>
            </a:r>
            <a:endParaRPr lang="en-US" sz="1400" dirty="0"/>
          </a:p>
        </p:txBody>
      </p:sp>
      <p:sp>
        <p:nvSpPr>
          <p:cNvPr id="38" name="Text 36"/>
          <p:cNvSpPr txBox="1"/>
          <p:nvPr/>
        </p:nvSpPr>
        <p:spPr>
          <a:xfrm>
            <a:off x="6949440"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39" name="Text 37"/>
          <p:cNvSpPr txBox="1"/>
          <p:nvPr/>
        </p:nvSpPr>
        <p:spPr>
          <a:xfrm>
            <a:off x="8110728"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0" name="Text 38"/>
          <p:cNvSpPr txBox="1"/>
          <p:nvPr/>
        </p:nvSpPr>
        <p:spPr>
          <a:xfrm>
            <a:off x="9272016"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1" name="Text 39"/>
          <p:cNvSpPr txBox="1"/>
          <p:nvPr/>
        </p:nvSpPr>
        <p:spPr>
          <a:xfrm>
            <a:off x="10433304" y="4069080"/>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42" name="Text 40"/>
          <p:cNvSpPr txBox="1"/>
          <p:nvPr/>
        </p:nvSpPr>
        <p:spPr>
          <a:xfrm>
            <a:off x="5074920" y="4498848"/>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M4</a:t>
            </a:r>
            <a:endParaRPr lang="en-US" sz="1400" dirty="0"/>
          </a:p>
        </p:txBody>
      </p:sp>
      <p:sp>
        <p:nvSpPr>
          <p:cNvPr id="43" name="Text 41"/>
          <p:cNvSpPr txBox="1"/>
          <p:nvPr/>
        </p:nvSpPr>
        <p:spPr>
          <a:xfrm>
            <a:off x="6949440"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4" name="Text 42"/>
          <p:cNvSpPr txBox="1"/>
          <p:nvPr/>
        </p:nvSpPr>
        <p:spPr>
          <a:xfrm>
            <a:off x="8110728"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5" name="Text 43"/>
          <p:cNvSpPr txBox="1"/>
          <p:nvPr/>
        </p:nvSpPr>
        <p:spPr>
          <a:xfrm>
            <a:off x="9272016"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6" name="Text 44"/>
          <p:cNvSpPr txBox="1"/>
          <p:nvPr/>
        </p:nvSpPr>
        <p:spPr>
          <a:xfrm>
            <a:off x="10433304" y="4498848"/>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47" name="Text 45"/>
          <p:cNvSpPr txBox="1"/>
          <p:nvPr/>
        </p:nvSpPr>
        <p:spPr>
          <a:xfrm>
            <a:off x="5074920" y="4928616"/>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M5</a:t>
            </a:r>
            <a:endParaRPr lang="en-US" sz="1400" dirty="0"/>
          </a:p>
        </p:txBody>
      </p:sp>
      <p:sp>
        <p:nvSpPr>
          <p:cNvPr id="48" name="Text 46"/>
          <p:cNvSpPr txBox="1"/>
          <p:nvPr/>
        </p:nvSpPr>
        <p:spPr>
          <a:xfrm>
            <a:off x="6949440" y="492861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−0.01</a:t>
            </a:r>
            <a:endParaRPr lang="en-US" sz="1400" dirty="0"/>
          </a:p>
        </p:txBody>
      </p:sp>
      <p:sp>
        <p:nvSpPr>
          <p:cNvPr id="49" name="Text 47"/>
          <p:cNvSpPr txBox="1"/>
          <p:nvPr/>
        </p:nvSpPr>
        <p:spPr>
          <a:xfrm>
            <a:off x="8110728"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−1.29</a:t>
            </a:r>
            <a:endParaRPr lang="en-US" sz="1400" dirty="0"/>
          </a:p>
        </p:txBody>
      </p:sp>
      <p:sp>
        <p:nvSpPr>
          <p:cNvPr id="50" name="Text 48"/>
          <p:cNvSpPr txBox="1"/>
          <p:nvPr/>
        </p:nvSpPr>
        <p:spPr>
          <a:xfrm>
            <a:off x="9272016"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−4.2</a:t>
            </a:r>
            <a:endParaRPr lang="en-US" sz="1400" dirty="0"/>
          </a:p>
        </p:txBody>
      </p:sp>
      <p:sp>
        <p:nvSpPr>
          <p:cNvPr id="51" name="Text 49"/>
          <p:cNvSpPr txBox="1"/>
          <p:nvPr/>
        </p:nvSpPr>
        <p:spPr>
          <a:xfrm>
            <a:off x="10433304" y="4928616"/>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−5.50</a:t>
            </a:r>
            <a:endParaRPr lang="en-US" sz="1400" dirty="0"/>
          </a:p>
        </p:txBody>
      </p:sp>
      <p:sp>
        <p:nvSpPr>
          <p:cNvPr id="52" name="Text 50"/>
          <p:cNvSpPr txBox="1"/>
          <p:nvPr/>
        </p:nvSpPr>
        <p:spPr>
          <a:xfrm>
            <a:off x="4983480" y="5404104"/>
            <a:ext cx="6675120" cy="68580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Được chọn: PEG + M1-damp</a:t>
            </a:r>
            <a:endParaRPr lang="en-US" sz="1800" dirty="0"/>
          </a:p>
          <a:p>
            <a:pPr indent="0" marL="0">
              <a:buNone/>
            </a:pPr>
            <a:r>
              <a:rPr lang="en-US" sz="1300" dirty="0">
                <a:solidFill>
                  <a:srgbClr val="A3A8B0"/>
                </a:solidFill>
                <a:latin typeface="Arial" pitchFamily="34" charset="0"/>
                <a:ea typeface="Arial" pitchFamily="34" charset="-122"/>
                <a:cs typeface="Arial" pitchFamily="34" charset="-120"/>
              </a:rPr>
              <a:t>Vòng 2 không thêm được gì (tốt nhất: +0.07).</a:t>
            </a:r>
            <a:endParaRPr lang="en-US" sz="1800" dirty="0"/>
          </a:p>
        </p:txBody>
      </p:sp>
      <p:sp>
        <p:nvSpPr>
          <p:cNvPr id="53" name="Shape 51"/>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QUẢ TRÊN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Chạy test 1 lần: config chọn trên val thua PEG</a:t>
            </a:r>
            <a:endParaRPr lang="en-US" sz="3000" dirty="0"/>
          </a:p>
        </p:txBody>
      </p:sp>
      <p:sp>
        <p:nvSpPr>
          <p:cNvPr id="4" name="Text 2"/>
          <p:cNvSpPr txBox="1"/>
          <p:nvPr/>
        </p:nvSpPr>
        <p:spPr>
          <a:xfrm>
            <a:off x="3749040"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T1 HOTA</a:t>
            </a:r>
            <a:endParaRPr lang="en-US" sz="1500" dirty="0"/>
          </a:p>
        </p:txBody>
      </p:sp>
      <p:sp>
        <p:nvSpPr>
          <p:cNvPr id="5" name="Text 3"/>
          <p:cNvSpPr txBox="1"/>
          <p:nvPr/>
        </p:nvSpPr>
        <p:spPr>
          <a:xfrm>
            <a:off x="374904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6" name="Text 4"/>
          <p:cNvSpPr txBox="1"/>
          <p:nvPr/>
        </p:nvSpPr>
        <p:spPr>
          <a:xfrm>
            <a:off x="5065776"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7" name="Text 5"/>
          <p:cNvSpPr txBox="1"/>
          <p:nvPr/>
        </p:nvSpPr>
        <p:spPr>
          <a:xfrm>
            <a:off x="6382512"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T2 HOTA</a:t>
            </a:r>
            <a:endParaRPr lang="en-US" sz="1500" dirty="0"/>
          </a:p>
        </p:txBody>
      </p:sp>
      <p:sp>
        <p:nvSpPr>
          <p:cNvPr id="8" name="Text 6"/>
          <p:cNvSpPr txBox="1"/>
          <p:nvPr/>
        </p:nvSpPr>
        <p:spPr>
          <a:xfrm>
            <a:off x="6382512"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9" name="Text 7"/>
          <p:cNvSpPr txBox="1"/>
          <p:nvPr/>
        </p:nvSpPr>
        <p:spPr>
          <a:xfrm>
            <a:off x="7699248"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0" name="Text 8"/>
          <p:cNvSpPr txBox="1"/>
          <p:nvPr/>
        </p:nvSpPr>
        <p:spPr>
          <a:xfrm>
            <a:off x="9015984"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T3 Rcv@.5</a:t>
            </a:r>
            <a:endParaRPr lang="en-US" sz="1500" dirty="0"/>
          </a:p>
        </p:txBody>
      </p:sp>
      <p:sp>
        <p:nvSpPr>
          <p:cNvPr id="11" name="Text 9"/>
          <p:cNvSpPr txBox="1"/>
          <p:nvPr/>
        </p:nvSpPr>
        <p:spPr>
          <a:xfrm>
            <a:off x="9015984"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12" name="Text 10"/>
          <p:cNvSpPr txBox="1"/>
          <p:nvPr/>
        </p:nvSpPr>
        <p:spPr>
          <a:xfrm>
            <a:off x="1033272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3" name="Shape 11"/>
          <p:cNvSpPr/>
          <p:nvPr/>
        </p:nvSpPr>
        <p:spPr>
          <a:xfrm>
            <a:off x="548640" y="2121408"/>
            <a:ext cx="11091672" cy="804672"/>
          </a:xfrm>
          <a:prstGeom prst="roundRect">
            <a:avLst>
              <a:gd name="adj" fmla="val 13636"/>
            </a:avLst>
          </a:prstGeom>
          <a:solidFill>
            <a:srgbClr val="22252B"/>
          </a:solidFill>
          <a:ln w="12700">
            <a:solidFill>
              <a:srgbClr val="22252B"/>
            </a:solidFill>
            <a:prstDash val="solid"/>
          </a:ln>
        </p:spPr>
      </p:sp>
      <p:sp>
        <p:nvSpPr>
          <p:cNvPr id="14" name="Shape 12"/>
          <p:cNvSpPr/>
          <p:nvPr/>
        </p:nvSpPr>
        <p:spPr>
          <a:xfrm>
            <a:off x="548640" y="2121408"/>
            <a:ext cx="91440" cy="804672"/>
          </a:xfrm>
          <a:prstGeom prst="rect">
            <a:avLst/>
          </a:prstGeom>
          <a:solidFill>
            <a:srgbClr val="3987E5"/>
          </a:solidFill>
          <a:ln w="12700">
            <a:solidFill>
              <a:srgbClr val="3987E5"/>
            </a:solidFill>
            <a:prstDash val="solid"/>
          </a:ln>
        </p:spPr>
      </p:sp>
      <p:sp>
        <p:nvSpPr>
          <p:cNvPr id="15" name="Text 13"/>
          <p:cNvSpPr txBox="1"/>
          <p:nvPr/>
        </p:nvSpPr>
        <p:spPr>
          <a:xfrm>
            <a:off x="822960" y="2121408"/>
            <a:ext cx="2926080" cy="804672"/>
          </a:xfrm>
          <a:prstGeom prst="rect">
            <a:avLst/>
          </a:prstGeom>
          <a:noFill/>
          <a:ln/>
        </p:spPr>
        <p:txBody>
          <a:bodyPr wrap="square" lIns="0" tIns="0" rIns="0" bIns="0" rtlCol="0" anchor="ctr"/>
          <a:lstStyle/>
          <a:p>
            <a:pPr indent="0" marL="0">
              <a:buNone/>
            </a:pPr>
            <a:r>
              <a:rPr lang="en-US" sz="1600" b="1" dirty="0">
                <a:solidFill>
                  <a:srgbClr val="3987E5"/>
                </a:solidFill>
                <a:latin typeface="Arial" pitchFamily="34" charset="0"/>
                <a:ea typeface="Arial" pitchFamily="34" charset="-122"/>
                <a:cs typeface="Arial" pitchFamily="34" charset="-120"/>
              </a:rPr>
              <a:t>PEG</a:t>
            </a:r>
            <a:endParaRPr lang="en-US" sz="1600" dirty="0"/>
          </a:p>
        </p:txBody>
      </p:sp>
      <p:sp>
        <p:nvSpPr>
          <p:cNvPr id="16" name="Text 14"/>
          <p:cNvSpPr txBox="1"/>
          <p:nvPr/>
        </p:nvSpPr>
        <p:spPr>
          <a:xfrm>
            <a:off x="374904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68.19</a:t>
            </a:r>
            <a:endParaRPr lang="en-US" sz="2000" dirty="0"/>
          </a:p>
        </p:txBody>
      </p:sp>
      <p:sp>
        <p:nvSpPr>
          <p:cNvPr id="17" name="Text 15"/>
          <p:cNvSpPr txBox="1"/>
          <p:nvPr/>
        </p:nvSpPr>
        <p:spPr>
          <a:xfrm>
            <a:off x="5065776"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p:txBody>
      </p:sp>
      <p:sp>
        <p:nvSpPr>
          <p:cNvPr id="18" name="Text 16"/>
          <p:cNvSpPr txBox="1"/>
          <p:nvPr/>
        </p:nvSpPr>
        <p:spPr>
          <a:xfrm>
            <a:off x="6382512"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61.70</a:t>
            </a:r>
            <a:endParaRPr lang="en-US" sz="2000" dirty="0"/>
          </a:p>
        </p:txBody>
      </p:sp>
      <p:sp>
        <p:nvSpPr>
          <p:cNvPr id="19" name="Text 17"/>
          <p:cNvSpPr txBox="1"/>
          <p:nvPr/>
        </p:nvSpPr>
        <p:spPr>
          <a:xfrm>
            <a:off x="7699248"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76.25</a:t>
            </a:r>
            <a:endParaRPr lang="en-US" sz="2000" dirty="0"/>
          </a:p>
        </p:txBody>
      </p:sp>
      <p:sp>
        <p:nvSpPr>
          <p:cNvPr id="20" name="Text 18"/>
          <p:cNvSpPr txBox="1"/>
          <p:nvPr/>
        </p:nvSpPr>
        <p:spPr>
          <a:xfrm>
            <a:off x="9015984"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76.6</a:t>
            </a:r>
            <a:endParaRPr lang="en-US" sz="2000" dirty="0"/>
          </a:p>
        </p:txBody>
      </p:sp>
      <p:sp>
        <p:nvSpPr>
          <p:cNvPr id="21" name="Text 19"/>
          <p:cNvSpPr txBox="1"/>
          <p:nvPr/>
        </p:nvSpPr>
        <p:spPr>
          <a:xfrm>
            <a:off x="1033272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67.6</a:t>
            </a:r>
            <a:endParaRPr lang="en-US" sz="2000" dirty="0"/>
          </a:p>
        </p:txBody>
      </p:sp>
      <p:sp>
        <p:nvSpPr>
          <p:cNvPr id="22" name="Shape 20"/>
          <p:cNvSpPr/>
          <p:nvPr/>
        </p:nvSpPr>
        <p:spPr>
          <a:xfrm>
            <a:off x="548640" y="2999232"/>
            <a:ext cx="11091672" cy="804672"/>
          </a:xfrm>
          <a:prstGeom prst="roundRect">
            <a:avLst>
              <a:gd name="adj" fmla="val 13636"/>
            </a:avLst>
          </a:prstGeom>
          <a:solidFill>
            <a:srgbClr val="2B2F36"/>
          </a:solidFill>
          <a:ln w="12700">
            <a:solidFill>
              <a:srgbClr val="2B2F36"/>
            </a:solidFill>
            <a:prstDash val="solid"/>
          </a:ln>
        </p:spPr>
      </p:sp>
      <p:sp>
        <p:nvSpPr>
          <p:cNvPr id="23" name="Shape 21"/>
          <p:cNvSpPr/>
          <p:nvPr/>
        </p:nvSpPr>
        <p:spPr>
          <a:xfrm>
            <a:off x="548640" y="2999232"/>
            <a:ext cx="91440" cy="804672"/>
          </a:xfrm>
          <a:prstGeom prst="rect">
            <a:avLst/>
          </a:prstGeom>
          <a:solidFill>
            <a:srgbClr val="F2A900"/>
          </a:solidFill>
          <a:ln w="12700">
            <a:solidFill>
              <a:srgbClr val="F2A900"/>
            </a:solidFill>
            <a:prstDash val="solid"/>
          </a:ln>
        </p:spPr>
      </p:sp>
      <p:sp>
        <p:nvSpPr>
          <p:cNvPr id="24" name="Text 22"/>
          <p:cNvSpPr txBox="1"/>
          <p:nvPr/>
        </p:nvSpPr>
        <p:spPr>
          <a:xfrm>
            <a:off x="822960" y="2999232"/>
            <a:ext cx="2926080" cy="804672"/>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PEG + M1-damp</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val</a:t>
            </a:r>
            <a:endParaRPr lang="en-US" sz="1600" dirty="0"/>
          </a:p>
        </p:txBody>
      </p:sp>
      <p:sp>
        <p:nvSpPr>
          <p:cNvPr id="25" name="Text 23"/>
          <p:cNvSpPr txBox="1"/>
          <p:nvPr/>
        </p:nvSpPr>
        <p:spPr>
          <a:xfrm>
            <a:off x="3749040"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67.38</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−0.81</a:t>
            </a:r>
            <a:endParaRPr lang="en-US" sz="2000" dirty="0"/>
          </a:p>
        </p:txBody>
      </p:sp>
      <p:sp>
        <p:nvSpPr>
          <p:cNvPr id="26" name="Text 24"/>
          <p:cNvSpPr txBox="1"/>
          <p:nvPr/>
        </p:nvSpPr>
        <p:spPr>
          <a:xfrm>
            <a:off x="5065776" y="2999232"/>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2000" dirty="0"/>
          </a:p>
        </p:txBody>
      </p:sp>
      <p:sp>
        <p:nvSpPr>
          <p:cNvPr id="27" name="Text 25"/>
          <p:cNvSpPr txBox="1"/>
          <p:nvPr/>
        </p:nvSpPr>
        <p:spPr>
          <a:xfrm>
            <a:off x="6382512"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57.84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−3.86</a:t>
            </a:r>
            <a:endParaRPr lang="en-US" sz="2000" dirty="0"/>
          </a:p>
        </p:txBody>
      </p:sp>
      <p:sp>
        <p:nvSpPr>
          <p:cNvPr id="28" name="Text 26"/>
          <p:cNvSpPr txBox="1"/>
          <p:nvPr/>
        </p:nvSpPr>
        <p:spPr>
          <a:xfrm>
            <a:off x="7699248"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75.81</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−0.44</a:t>
            </a:r>
            <a:endParaRPr lang="en-US" sz="2000" dirty="0"/>
          </a:p>
        </p:txBody>
      </p:sp>
      <p:sp>
        <p:nvSpPr>
          <p:cNvPr id="29" name="Text 27"/>
          <p:cNvSpPr txBox="1"/>
          <p:nvPr/>
        </p:nvSpPr>
        <p:spPr>
          <a:xfrm>
            <a:off x="9015984"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66.4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−10.2</a:t>
            </a:r>
            <a:endParaRPr lang="en-US" sz="2000" dirty="0"/>
          </a:p>
        </p:txBody>
      </p:sp>
      <p:sp>
        <p:nvSpPr>
          <p:cNvPr id="30" name="Text 28"/>
          <p:cNvSpPr txBox="1"/>
          <p:nvPr/>
        </p:nvSpPr>
        <p:spPr>
          <a:xfrm>
            <a:off x="10332720" y="2999232"/>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69.0</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a:t>
            </a:r>
            <a:endParaRPr lang="en-US" sz="2000" dirty="0"/>
          </a:p>
        </p:txBody>
      </p:sp>
      <p:sp>
        <p:nvSpPr>
          <p:cNvPr id="31" name="Shape 29"/>
          <p:cNvSpPr/>
          <p:nvPr/>
        </p:nvSpPr>
        <p:spPr>
          <a:xfrm>
            <a:off x="548640" y="3877056"/>
            <a:ext cx="11091672" cy="804672"/>
          </a:xfrm>
          <a:prstGeom prst="roundRect">
            <a:avLst>
              <a:gd name="adj" fmla="val 13636"/>
            </a:avLst>
          </a:prstGeom>
          <a:solidFill>
            <a:srgbClr val="22252B"/>
          </a:solidFill>
          <a:ln w="12700">
            <a:solidFill>
              <a:srgbClr val="22252B"/>
            </a:solidFill>
            <a:prstDash val="solid"/>
          </a:ln>
        </p:spPr>
      </p:sp>
      <p:sp>
        <p:nvSpPr>
          <p:cNvPr id="32" name="Shape 30"/>
          <p:cNvSpPr/>
          <p:nvPr/>
        </p:nvSpPr>
        <p:spPr>
          <a:xfrm>
            <a:off x="548640" y="3877056"/>
            <a:ext cx="91440" cy="804672"/>
          </a:xfrm>
          <a:prstGeom prst="rect">
            <a:avLst/>
          </a:prstGeom>
          <a:solidFill>
            <a:srgbClr val="19A35F"/>
          </a:solidFill>
          <a:ln w="12700">
            <a:solidFill>
              <a:srgbClr val="19A35F"/>
            </a:solidFill>
            <a:prstDash val="solid"/>
          </a:ln>
        </p:spPr>
      </p:sp>
      <p:sp>
        <p:nvSpPr>
          <p:cNvPr id="33" name="Text 31"/>
          <p:cNvSpPr txBox="1"/>
          <p:nvPr/>
        </p:nvSpPr>
        <p:spPr>
          <a:xfrm>
            <a:off x="822960" y="3877056"/>
            <a:ext cx="2926080" cy="804672"/>
          </a:xfrm>
          <a:prstGeom prst="rect">
            <a:avLst/>
          </a:prstGeom>
          <a:noFill/>
          <a:ln/>
        </p:spPr>
        <p:txBody>
          <a:bodyPr wrap="square" lIns="0" tIns="0" rIns="0" bIns="0" rtlCol="0" anchor="ctr"/>
          <a:lstStyle/>
          <a:p>
            <a:pPr indent="0" marL="0">
              <a:buNone/>
            </a:pPr>
            <a:r>
              <a:rPr lang="en-US" sz="1600" b="1" dirty="0">
                <a:solidFill>
                  <a:srgbClr val="19A35F"/>
                </a:solidFill>
                <a:latin typeface="Arial" pitchFamily="34" charset="0"/>
                <a:ea typeface="Arial" pitchFamily="34" charset="-122"/>
                <a:cs typeface="Arial" pitchFamily="34" charset="-120"/>
              </a:rPr>
              <a:t>PEG+</a:t>
            </a:r>
            <a:endParaRPr lang="en-US" sz="1600" dirty="0"/>
          </a:p>
        </p:txBody>
      </p:sp>
      <p:sp>
        <p:nvSpPr>
          <p:cNvPr id="34" name="Text 32"/>
          <p:cNvSpPr txBox="1"/>
          <p:nvPr/>
        </p:nvSpPr>
        <p:spPr>
          <a:xfrm>
            <a:off x="3749040" y="3877056"/>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68.23</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2000" dirty="0"/>
          </a:p>
        </p:txBody>
      </p:sp>
      <p:sp>
        <p:nvSpPr>
          <p:cNvPr id="35" name="Text 33"/>
          <p:cNvSpPr txBox="1"/>
          <p:nvPr/>
        </p:nvSpPr>
        <p:spPr>
          <a:xfrm>
            <a:off x="5065776"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−0.14</a:t>
            </a:r>
            <a:endParaRPr lang="en-US" sz="2000" dirty="0"/>
          </a:p>
        </p:txBody>
      </p:sp>
      <p:sp>
        <p:nvSpPr>
          <p:cNvPr id="36" name="Text 34"/>
          <p:cNvSpPr txBox="1"/>
          <p:nvPr/>
        </p:nvSpPr>
        <p:spPr>
          <a:xfrm>
            <a:off x="6382512"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62.54</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+0.84</a:t>
            </a:r>
            <a:endParaRPr lang="en-US" sz="2000" dirty="0"/>
          </a:p>
        </p:txBody>
      </p:sp>
      <p:sp>
        <p:nvSpPr>
          <p:cNvPr id="37" name="Text 35"/>
          <p:cNvSpPr txBox="1"/>
          <p:nvPr/>
        </p:nvSpPr>
        <p:spPr>
          <a:xfrm>
            <a:off x="7699248"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38" name="Text 36"/>
          <p:cNvSpPr txBox="1"/>
          <p:nvPr/>
        </p:nvSpPr>
        <p:spPr>
          <a:xfrm>
            <a:off x="9015984"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39" name="Text 37"/>
          <p:cNvSpPr txBox="1"/>
          <p:nvPr/>
        </p:nvSpPr>
        <p:spPr>
          <a:xfrm>
            <a:off x="10332720"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0" name="Shape 38"/>
          <p:cNvSpPr/>
          <p:nvPr/>
        </p:nvSpPr>
        <p:spPr>
          <a:xfrm>
            <a:off x="548640" y="4754880"/>
            <a:ext cx="11091672" cy="804672"/>
          </a:xfrm>
          <a:prstGeom prst="roundRect">
            <a:avLst>
              <a:gd name="adj" fmla="val 13636"/>
            </a:avLst>
          </a:prstGeom>
          <a:solidFill>
            <a:srgbClr val="22252B"/>
          </a:solidFill>
          <a:ln w="12700">
            <a:solidFill>
              <a:srgbClr val="22252B"/>
            </a:solidFill>
            <a:prstDash val="solid"/>
          </a:ln>
        </p:spPr>
      </p:sp>
      <p:sp>
        <p:nvSpPr>
          <p:cNvPr id="41" name="Shape 39"/>
          <p:cNvSpPr/>
          <p:nvPr/>
        </p:nvSpPr>
        <p:spPr>
          <a:xfrm>
            <a:off x="548640" y="4754880"/>
            <a:ext cx="91440" cy="804672"/>
          </a:xfrm>
          <a:prstGeom prst="rect">
            <a:avLst/>
          </a:prstGeom>
          <a:solidFill>
            <a:srgbClr val="1B9AA6"/>
          </a:solidFill>
          <a:ln w="12700">
            <a:solidFill>
              <a:srgbClr val="1B9AA6"/>
            </a:solidFill>
            <a:prstDash val="solid"/>
          </a:ln>
        </p:spPr>
      </p:sp>
      <p:sp>
        <p:nvSpPr>
          <p:cNvPr id="42" name="Text 40"/>
          <p:cNvSpPr txBox="1"/>
          <p:nvPr/>
        </p:nvSpPr>
        <p:spPr>
          <a:xfrm>
            <a:off x="822960" y="4754880"/>
            <a:ext cx="2926080" cy="804672"/>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PEG+ + M1-swap + M3</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test</a:t>
            </a:r>
            <a:endParaRPr lang="en-US" sz="1600" dirty="0"/>
          </a:p>
        </p:txBody>
      </p:sp>
      <p:sp>
        <p:nvSpPr>
          <p:cNvPr id="43" name="Text 41"/>
          <p:cNvSpPr txBox="1"/>
          <p:nvPr/>
        </p:nvSpPr>
        <p:spPr>
          <a:xfrm>
            <a:off x="3749040"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68.81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+0.62</a:t>
            </a:r>
            <a:endParaRPr lang="en-US" sz="2000" dirty="0"/>
          </a:p>
        </p:txBody>
      </p:sp>
      <p:sp>
        <p:nvSpPr>
          <p:cNvPr id="44" name="Text 42"/>
          <p:cNvSpPr txBox="1"/>
          <p:nvPr/>
        </p:nvSpPr>
        <p:spPr>
          <a:xfrm>
            <a:off x="5065776"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70.16</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−0.11</a:t>
            </a:r>
            <a:endParaRPr lang="en-US" sz="2000" dirty="0"/>
          </a:p>
        </p:txBody>
      </p:sp>
      <p:sp>
        <p:nvSpPr>
          <p:cNvPr id="45" name="Text 43"/>
          <p:cNvSpPr txBox="1"/>
          <p:nvPr/>
        </p:nvSpPr>
        <p:spPr>
          <a:xfrm>
            <a:off x="6382512"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63.17</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+1.47</a:t>
            </a:r>
            <a:endParaRPr lang="en-US" sz="2000" dirty="0"/>
          </a:p>
        </p:txBody>
      </p:sp>
      <p:sp>
        <p:nvSpPr>
          <p:cNvPr id="46" name="Text 44"/>
          <p:cNvSpPr txBox="1"/>
          <p:nvPr/>
        </p:nvSpPr>
        <p:spPr>
          <a:xfrm>
            <a:off x="7699248"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47" name="Text 45"/>
          <p:cNvSpPr txBox="1"/>
          <p:nvPr/>
        </p:nvSpPr>
        <p:spPr>
          <a:xfrm>
            <a:off x="9015984"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48" name="Text 46"/>
          <p:cNvSpPr txBox="1"/>
          <p:nvPr/>
        </p:nvSpPr>
        <p:spPr>
          <a:xfrm>
            <a:off x="10332720"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9" name="Text 47"/>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 = tốt hơn PEG trên cùng tập, đỏ = xấu hơn. Hai tập có độ khó khác nhau, chỉ so trong cùng cột.</a:t>
            </a:r>
            <a:endParaRPr lang="en-US" sz="1200" dirty="0"/>
          </a:p>
        </p:txBody>
      </p:sp>
      <p:sp>
        <p:nvSpPr>
          <p:cNvPr id="50" name="Shape 4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ĐẾM TỪNG LẦN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một lần chói có thể quyết định cả bảng</a:t>
            </a:r>
            <a:endParaRPr lang="en-US" sz="3000" dirty="0"/>
          </a:p>
        </p:txBody>
      </p:sp>
      <p:sp>
        <p:nvSpPr>
          <p:cNvPr id="4" name="Shape 2"/>
          <p:cNvSpPr/>
          <p:nvPr/>
        </p:nvSpPr>
        <p:spPr>
          <a:xfrm>
            <a:off x="548640" y="1508760"/>
            <a:ext cx="3566160" cy="2743200"/>
          </a:xfrm>
          <a:prstGeom prst="roundRect">
            <a:avLst>
              <a:gd name="adj" fmla="val 4000"/>
            </a:avLst>
          </a:prstGeom>
          <a:solidFill>
            <a:srgbClr val="22252B"/>
          </a:solidFill>
          <a:ln w="12700">
            <a:solidFill>
              <a:srgbClr val="22252B"/>
            </a:solidFill>
            <a:prstDash val="solid"/>
          </a:ln>
        </p:spPr>
      </p:sp>
      <p:sp>
        <p:nvSpPr>
          <p:cNvPr id="5" name="Shape 3"/>
          <p:cNvSpPr/>
          <p:nvPr/>
        </p:nvSpPr>
        <p:spPr>
          <a:xfrm>
            <a:off x="548640" y="1508760"/>
            <a:ext cx="91440" cy="2743200"/>
          </a:xfrm>
          <a:prstGeom prst="rect">
            <a:avLst/>
          </a:prstGeom>
          <a:solidFill>
            <a:srgbClr val="F2A900"/>
          </a:solidFill>
          <a:ln w="12700">
            <a:solidFill>
              <a:srgbClr val="F2A900"/>
            </a:solidFill>
            <a:prstDash val="solid"/>
          </a:ln>
        </p:spPr>
      </p:sp>
      <p:sp>
        <p:nvSpPr>
          <p:cNvPr id="6" name="Text 4"/>
          <p:cNvSpPr txBox="1"/>
          <p:nvPr/>
        </p:nvSpPr>
        <p:spPr>
          <a:xfrm>
            <a:off x="822960" y="1600200"/>
            <a:ext cx="3108960" cy="36576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M1-damp</a:t>
            </a:r>
            <a:endParaRPr lang="en-US" sz="1800" dirty="0"/>
          </a:p>
        </p:txBody>
      </p:sp>
      <p:sp>
        <p:nvSpPr>
          <p:cNvPr id="7" name="Text 5"/>
          <p:cNvSpPr txBox="1"/>
          <p:nvPr/>
        </p:nvSpPr>
        <p:spPr>
          <a:xfrm>
            <a:off x="822960"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3 → 13</a:t>
            </a:r>
            <a:endParaRPr lang="en-US" sz="3800" dirty="0"/>
          </a:p>
        </p:txBody>
      </p:sp>
      <p:sp>
        <p:nvSpPr>
          <p:cNvPr id="8" name="Text 6"/>
          <p:cNvSpPr txBox="1"/>
          <p:nvPr/>
        </p:nvSpPr>
        <p:spPr>
          <a:xfrm>
            <a:off x="822960"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val: được chọn nhờ đúng 1 lần chói (video 332). Test: 9 lần chói tệ hơn, mất 87 frame.</a:t>
            </a:r>
            <a:endParaRPr lang="en-US" sz="1300" dirty="0"/>
          </a:p>
        </p:txBody>
      </p:sp>
      <p:sp>
        <p:nvSpPr>
          <p:cNvPr id="9" name="Shape 7"/>
          <p:cNvSpPr/>
          <p:nvPr/>
        </p:nvSpPr>
        <p:spPr>
          <a:xfrm>
            <a:off x="4315968" y="1508760"/>
            <a:ext cx="3566160" cy="2743200"/>
          </a:xfrm>
          <a:prstGeom prst="roundRect">
            <a:avLst>
              <a:gd name="adj" fmla="val 4000"/>
            </a:avLst>
          </a:prstGeom>
          <a:solidFill>
            <a:srgbClr val="22252B"/>
          </a:solidFill>
          <a:ln w="12700">
            <a:solidFill>
              <a:srgbClr val="22252B"/>
            </a:solidFill>
            <a:prstDash val="solid"/>
          </a:ln>
        </p:spPr>
      </p:sp>
      <p:sp>
        <p:nvSpPr>
          <p:cNvPr id="10" name="Shape 8"/>
          <p:cNvSpPr/>
          <p:nvPr/>
        </p:nvSpPr>
        <p:spPr>
          <a:xfrm>
            <a:off x="4315968" y="1508760"/>
            <a:ext cx="91440" cy="2743200"/>
          </a:xfrm>
          <a:prstGeom prst="rect">
            <a:avLst/>
          </a:prstGeom>
          <a:solidFill>
            <a:srgbClr val="19A35F"/>
          </a:solidFill>
          <a:ln w="12700">
            <a:solidFill>
              <a:srgbClr val="19A35F"/>
            </a:solidFill>
            <a:prstDash val="solid"/>
          </a:ln>
        </p:spPr>
      </p:sp>
      <p:sp>
        <p:nvSpPr>
          <p:cNvPr id="11" name="Text 9"/>
          <p:cNvSpPr txBox="1"/>
          <p:nvPr/>
        </p:nvSpPr>
        <p:spPr>
          <a:xfrm>
            <a:off x="4590288" y="1600200"/>
            <a:ext cx="3108960" cy="365760"/>
          </a:xfrm>
          <a:prstGeom prst="rect">
            <a:avLst/>
          </a:prstGeom>
          <a:noFill/>
          <a:ln/>
        </p:spPr>
        <p:txBody>
          <a:bodyPr wrap="square" lIns="0" tIns="0" rIns="0" bIns="0" rtlCol="0" anchor="t"/>
          <a:lstStyle/>
          <a:p>
            <a:pPr indent="0" marL="0">
              <a:buNone/>
            </a:pPr>
            <a:r>
              <a:rPr lang="en-US" sz="1800" b="1" dirty="0">
                <a:solidFill>
                  <a:srgbClr val="19A35F"/>
                </a:solidFill>
                <a:latin typeface="Arial" pitchFamily="34" charset="0"/>
                <a:ea typeface="Arial" pitchFamily="34" charset="-122"/>
                <a:cs typeface="Arial" pitchFamily="34" charset="-120"/>
              </a:rPr>
              <a:t>PEG+</a:t>
            </a:r>
            <a:endParaRPr lang="en-US" sz="1800" dirty="0"/>
          </a:p>
        </p:txBody>
      </p:sp>
      <p:sp>
        <p:nvSpPr>
          <p:cNvPr id="12" name="Text 10"/>
          <p:cNvSpPr txBox="1"/>
          <p:nvPr/>
        </p:nvSpPr>
        <p:spPr>
          <a:xfrm>
            <a:off x="4590288"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+5.6 / −0.4</a:t>
            </a:r>
            <a:endParaRPr lang="en-US" sz="3800" dirty="0"/>
          </a:p>
        </p:txBody>
      </p:sp>
      <p:sp>
        <p:nvSpPr>
          <p:cNvPr id="13" name="Text 11"/>
          <p:cNvSpPr txBox="1"/>
          <p:nvPr/>
        </p:nvSpPr>
        <p:spPr>
          <a:xfrm>
            <a:off x="4590288"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Rcv test / val. Lỗi của PEG trên val chủ yếu là người chưa từng được track (3 lần chói gần 0 frame), không phải box co lại.</a:t>
            </a:r>
            <a:endParaRPr lang="en-US" sz="1300" dirty="0"/>
          </a:p>
        </p:txBody>
      </p:sp>
      <p:sp>
        <p:nvSpPr>
          <p:cNvPr id="14" name="Shape 12"/>
          <p:cNvSpPr/>
          <p:nvPr/>
        </p:nvSpPr>
        <p:spPr>
          <a:xfrm>
            <a:off x="8083296" y="1508760"/>
            <a:ext cx="3566160" cy="2743200"/>
          </a:xfrm>
          <a:prstGeom prst="roundRect">
            <a:avLst>
              <a:gd name="adj" fmla="val 4000"/>
            </a:avLst>
          </a:prstGeom>
          <a:solidFill>
            <a:srgbClr val="22252B"/>
          </a:solidFill>
          <a:ln w="12700">
            <a:solidFill>
              <a:srgbClr val="22252B"/>
            </a:solidFill>
            <a:prstDash val="solid"/>
          </a:ln>
        </p:spPr>
      </p:sp>
      <p:sp>
        <p:nvSpPr>
          <p:cNvPr id="15" name="Shape 13"/>
          <p:cNvSpPr/>
          <p:nvPr/>
        </p:nvSpPr>
        <p:spPr>
          <a:xfrm>
            <a:off x="8083296" y="1508760"/>
            <a:ext cx="91440" cy="2743200"/>
          </a:xfrm>
          <a:prstGeom prst="rect">
            <a:avLst/>
          </a:prstGeom>
          <a:solidFill>
            <a:srgbClr val="1B9AA6"/>
          </a:solidFill>
          <a:ln w="12700">
            <a:solidFill>
              <a:srgbClr val="1B9AA6"/>
            </a:solidFill>
            <a:prstDash val="solid"/>
          </a:ln>
        </p:spPr>
      </p:sp>
      <p:sp>
        <p:nvSpPr>
          <p:cNvPr id="16" name="Text 14"/>
          <p:cNvSpPr txBox="1"/>
          <p:nvPr/>
        </p:nvSpPr>
        <p:spPr>
          <a:xfrm>
            <a:off x="8357616" y="1600200"/>
            <a:ext cx="3108960" cy="365760"/>
          </a:xfrm>
          <a:prstGeom prst="rect">
            <a:avLst/>
          </a:prstGeom>
          <a:noFill/>
          <a:ln/>
        </p:spPr>
        <p:txBody>
          <a:bodyPr wrap="square" lIns="0" tIns="0" rIns="0" bIns="0" rtlCol="0" anchor="t"/>
          <a:lstStyle/>
          <a:p>
            <a:pPr indent="0" marL="0">
              <a:buNone/>
            </a:pPr>
            <a:r>
              <a:rPr lang="en-US" sz="1800" b="1" dirty="0">
                <a:solidFill>
                  <a:srgbClr val="1B9AA6"/>
                </a:solidFill>
                <a:latin typeface="Arial" pitchFamily="34" charset="0"/>
                <a:ea typeface="Arial" pitchFamily="34" charset="-122"/>
                <a:cs typeface="Arial" pitchFamily="34" charset="-120"/>
              </a:rPr>
              <a:t>M1-swap</a:t>
            </a:r>
            <a:endParaRPr lang="en-US" sz="1800" dirty="0"/>
          </a:p>
        </p:txBody>
      </p:sp>
      <p:sp>
        <p:nvSpPr>
          <p:cNvPr id="17" name="Text 15"/>
          <p:cNvSpPr txBox="1"/>
          <p:nvPr/>
        </p:nvSpPr>
        <p:spPr>
          <a:xfrm>
            <a:off x="8357616"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15 → 22</a:t>
            </a:r>
            <a:endParaRPr lang="en-US" sz="3800" dirty="0"/>
          </a:p>
        </p:txBody>
      </p:sp>
      <p:sp>
        <p:nvSpPr>
          <p:cNvPr id="18" name="Text 16"/>
          <p:cNvSpPr txBox="1"/>
          <p:nvPr/>
        </p:nvSpPr>
        <p:spPr>
          <a:xfrm>
            <a:off x="8357616"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IDSW trên val. Phần tăng Table I trên test đến từ 1 video (129); trên val HOTA −0.04.</a:t>
            </a:r>
            <a:endParaRPr lang="en-US" sz="1300" dirty="0"/>
          </a:p>
        </p:txBody>
      </p:sp>
      <p:sp>
        <p:nvSpPr>
          <p:cNvPr id="19" name="Shape 17"/>
          <p:cNvSpPr/>
          <p:nvPr/>
        </p:nvSpPr>
        <p:spPr>
          <a:xfrm>
            <a:off x="548640" y="4434840"/>
            <a:ext cx="11091672" cy="1600200"/>
          </a:xfrm>
          <a:prstGeom prst="roundRect">
            <a:avLst>
              <a:gd name="adj" fmla="val 6857"/>
            </a:avLst>
          </a:prstGeom>
          <a:solidFill>
            <a:srgbClr val="2B2F36"/>
          </a:solidFill>
          <a:ln w="12700">
            <a:solidFill>
              <a:srgbClr val="2B2F36"/>
            </a:solidFill>
            <a:prstDash val="solid"/>
          </a:ln>
        </p:spPr>
      </p:sp>
      <p:sp>
        <p:nvSpPr>
          <p:cNvPr id="20" name="Shape 18"/>
          <p:cNvSpPr/>
          <p:nvPr/>
        </p:nvSpPr>
        <p:spPr>
          <a:xfrm>
            <a:off x="548640" y="4434840"/>
            <a:ext cx="91440" cy="1600200"/>
          </a:xfrm>
          <a:prstGeom prst="rect">
            <a:avLst/>
          </a:prstGeom>
          <a:solidFill>
            <a:srgbClr val="E66767"/>
          </a:solidFill>
          <a:ln w="12700">
            <a:solidFill>
              <a:srgbClr val="E66767"/>
            </a:solidFill>
            <a:prstDash val="solid"/>
          </a:ln>
        </p:spPr>
      </p:sp>
      <p:sp>
        <p:nvSpPr>
          <p:cNvPr id="21" name="Text 19"/>
          <p:cNvSpPr txBox="1"/>
          <p:nvPr/>
        </p:nvSpPr>
        <p:spPr>
          <a:xfrm>
            <a:off x="868680" y="4480560"/>
            <a:ext cx="10607040" cy="1508760"/>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Bài học: ngưỡng +0.5 quá thấp. Trên val, 1 frame = 0.18 điểm Rcv.</a:t>
            </a:r>
            <a:endParaRPr lang="en-US" sz="1600" dirty="0"/>
          </a:p>
          <a:p>
            <a:pPr indent="0" marL="0">
              <a:buNone/>
            </a:pPr>
            <a:r>
              <a:rPr lang="en-US" sz="1500" dirty="0">
                <a:solidFill>
                  <a:srgbClr val="F2F2F2"/>
                </a:solidFill>
                <a:latin typeface="Arial" pitchFamily="34" charset="0"/>
                <a:ea typeface="Arial" pitchFamily="34" charset="-122"/>
                <a:cs typeface="Arial" pitchFamily="34" charset="-120"/>
              </a:rPr>
              <a:t>Gộp cả 48 lần chói (val + test), khoảng tin cậy 95%: PEG+ +3.2 [+0.1, +7.3], M1-damp −5.6 [−10.6, −1.2].</a:t>
            </a:r>
            <a:endParaRPr lang="en-US" sz="1600" dirty="0"/>
          </a:p>
          <a:p>
            <a:pPr indent="0" marL="0">
              <a:buNone/>
            </a:pPr>
            <a:r>
              <a:rPr lang="en-US" sz="1500" b="1" dirty="0">
                <a:solidFill>
                  <a:srgbClr val="F2A900"/>
                </a:solidFill>
                <a:latin typeface="Arial" pitchFamily="34" charset="0"/>
                <a:ea typeface="Arial" pitchFamily="34" charset="-122"/>
                <a:cs typeface="Arial" pitchFamily="34" charset="-120"/>
              </a:rPr>
              <a:t>Lần sau: chỉ nhận một thành phần khi khoảng tin cậy không chứa 0.</a:t>
            </a:r>
            <a:endParaRPr lang="en-US" sz="1600" dirty="0"/>
          </a:p>
        </p:txBody>
      </p:sp>
      <p:sp>
        <p:nvSpPr>
          <p:cNvPr id="22" name="Shape 2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23" name="Text 2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4" name="Text 2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TỔNG KẾT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Kết luận và bài học</a:t>
            </a:r>
            <a:endParaRPr lang="en-US" sz="3000" dirty="0"/>
          </a:p>
        </p:txBody>
      </p:sp>
      <p:sp>
        <p:nvSpPr>
          <p:cNvPr id="4" name="Shape 2"/>
          <p:cNvSpPr/>
          <p:nvPr/>
        </p:nvSpPr>
        <p:spPr>
          <a:xfrm>
            <a:off x="548640" y="1508760"/>
            <a:ext cx="5486400" cy="4480560"/>
          </a:xfrm>
          <a:prstGeom prst="roundRect">
            <a:avLst>
              <a:gd name="adj" fmla="val 2449"/>
            </a:avLst>
          </a:prstGeom>
          <a:solidFill>
            <a:srgbClr val="22252B"/>
          </a:solidFill>
          <a:ln w="12700">
            <a:solidFill>
              <a:srgbClr val="22252B"/>
            </a:solidFill>
            <a:prstDash val="solid"/>
          </a:ln>
        </p:spPr>
      </p:sp>
      <p:sp>
        <p:nvSpPr>
          <p:cNvPr id="5" name="Text 3"/>
          <p:cNvSpPr txBox="1"/>
          <p:nvPr/>
        </p:nvSpPr>
        <p:spPr>
          <a:xfrm>
            <a:off x="822960" y="1600200"/>
            <a:ext cx="4937760" cy="365760"/>
          </a:xfrm>
          <a:prstGeom prst="rect">
            <a:avLst/>
          </a:prstGeom>
          <a:noFill/>
          <a:ln/>
        </p:spPr>
        <p:txBody>
          <a:bodyPr wrap="square" lIns="0" tIns="0" rIns="0" bIns="0" rtlCol="0" anchor="t"/>
          <a:lstStyle/>
          <a:p>
            <a:pPr indent="0" marL="0">
              <a:buNone/>
            </a:pPr>
            <a:r>
              <a:rPr lang="en-US" sz="2000" b="1" dirty="0">
                <a:solidFill>
                  <a:srgbClr val="F2A900"/>
                </a:solidFill>
                <a:latin typeface="Arial" pitchFamily="34" charset="0"/>
                <a:ea typeface="Arial" pitchFamily="34" charset="-122"/>
                <a:cs typeface="Arial" pitchFamily="34" charset="-120"/>
              </a:rPr>
              <a:t>Kết quả</a:t>
            </a:r>
            <a:endParaRPr lang="en-US" sz="2000" dirty="0"/>
          </a:p>
        </p:txBody>
      </p:sp>
      <p:sp>
        <p:nvSpPr>
          <p:cNvPr id="6" name="Text 4"/>
          <p:cNvSpPr txBox="1"/>
          <p:nvPr/>
        </p:nvSpPr>
        <p:spPr>
          <a:xfrm>
            <a:off x="822960" y="2103120"/>
            <a:ext cx="4983480" cy="3749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Claim của PEG-F tái hiện được, nhưng phải so cùng cấu hình (guard bật): chỉ +0.49 HOTA.</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 một mình dễ đánh lừa: 2 lần đổi ID quyết định cả bảng → phải đo cả 3 bảng.</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M1-swap, M3 giúp trên test nhưng không lặp lại trên val. M1-damp gây hại. M2, M4, M5 ≈ 0.</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PEG+: Rcv test +5.6, val −0.4, gộp +3.2: chỉ giúp khi box co lại lúc coast.</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Chọn trên val (luật chốt trước) ra PEG + M1-damp, thua PEG trên test: val quá nhỏ.</a:t>
            </a:r>
            <a:endParaRPr lang="en-US" sz="1600" dirty="0"/>
          </a:p>
        </p:txBody>
      </p:sp>
      <p:sp>
        <p:nvSpPr>
          <p:cNvPr id="7" name="Shape 5"/>
          <p:cNvSpPr/>
          <p:nvPr/>
        </p:nvSpPr>
        <p:spPr>
          <a:xfrm>
            <a:off x="6199632" y="1508760"/>
            <a:ext cx="5440680" cy="4480560"/>
          </a:xfrm>
          <a:prstGeom prst="roundRect">
            <a:avLst>
              <a:gd name="adj" fmla="val 2449"/>
            </a:avLst>
          </a:prstGeom>
          <a:solidFill>
            <a:srgbClr val="2B2F36"/>
          </a:solidFill>
          <a:ln w="12700">
            <a:solidFill>
              <a:srgbClr val="2B2F36"/>
            </a:solidFill>
            <a:prstDash val="solid"/>
          </a:ln>
        </p:spPr>
      </p:sp>
      <p:sp>
        <p:nvSpPr>
          <p:cNvPr id="8" name="Text 6"/>
          <p:cNvSpPr txBox="1"/>
          <p:nvPr/>
        </p:nvSpPr>
        <p:spPr>
          <a:xfrm>
            <a:off x="6473952" y="1600200"/>
            <a:ext cx="4937760" cy="365760"/>
          </a:xfrm>
          <a:prstGeom prst="rect">
            <a:avLst/>
          </a:prstGeom>
          <a:noFill/>
          <a:ln/>
        </p:spPr>
        <p:txBody>
          <a:bodyPr wrap="square" lIns="0" tIns="0" rIns="0" bIns="0" rtlCol="0" anchor="t"/>
          <a:lstStyle/>
          <a:p>
            <a:pPr indent="0" marL="0">
              <a:buNone/>
            </a:pPr>
            <a:r>
              <a:rPr lang="en-US" sz="2000" b="1" dirty="0">
                <a:solidFill>
                  <a:srgbClr val="19A35F"/>
                </a:solidFill>
                <a:latin typeface="Arial" pitchFamily="34" charset="0"/>
                <a:ea typeface="Arial" pitchFamily="34" charset="-122"/>
                <a:cs typeface="Arial" pitchFamily="34" charset="-120"/>
              </a:rPr>
              <a:t>Hướng tiếp theo</a:t>
            </a:r>
            <a:endParaRPr lang="en-US" sz="2000" dirty="0"/>
          </a:p>
        </p:txBody>
      </p:sp>
      <p:sp>
        <p:nvSpPr>
          <p:cNvPr id="9" name="Text 7"/>
          <p:cNvSpPr txBox="1"/>
          <p:nvPr/>
        </p:nvSpPr>
        <p:spPr>
          <a:xfrm>
            <a:off x="6473952" y="2103120"/>
            <a:ext cx="4937760" cy="3749040"/>
          </a:xfrm>
          <a:prstGeom prst="rect">
            <a:avLst/>
          </a:prstGeom>
          <a:noFill/>
          <a:ln/>
        </p:spPr>
        <p:txBody>
          <a:bodyPr wrap="square" lIns="0" tIns="0" rIns="0" bIns="0" rtlCol="0" anchor="t"/>
          <a:lstStyle/>
          <a:p>
            <a:pPr marL="342900" indent="-342900">
              <a:spcAft>
                <a:spcPts val="2600"/>
              </a:spcAft>
              <a:buSzPct val="100000"/>
              <a:buFont typeface="+mj-lt"/>
              <a:buAutoNum type="arabicPeriod" startAt="1"/>
            </a:pPr>
            <a:r>
              <a:rPr lang="en-US" sz="2200" dirty="0">
                <a:solidFill>
                  <a:srgbClr val="F2F2F2"/>
                </a:solidFill>
                <a:latin typeface="Arial" pitchFamily="34" charset="0"/>
                <a:ea typeface="Arial" pitchFamily="34" charset="-122"/>
                <a:cs typeface="Arial" pitchFamily="34" charset="-120"/>
              </a:rPr>
              <a:t>Chọn bằng khoảng tin cậy hoặc cross-validation, không bằng ngưỡng cứng</a:t>
            </a:r>
            <a:endParaRPr lang="en-US" sz="2200" dirty="0"/>
          </a:p>
          <a:p>
            <a:pPr marL="342900" indent="-342900">
              <a:spcAft>
                <a:spcPts val="2600"/>
              </a:spcAft>
              <a:buSzPct val="100000"/>
              <a:buFont typeface="+mj-lt"/>
              <a:buAutoNum type="arabicPeriod" startAt="1"/>
            </a:pPr>
            <a:r>
              <a:rPr lang="en-US" sz="2200" dirty="0">
                <a:solidFill>
                  <a:srgbClr val="F2F2F2"/>
                </a:solidFill>
                <a:latin typeface="Arial" pitchFamily="34" charset="0"/>
                <a:ea typeface="Arial" pitchFamily="34" charset="-122"/>
                <a:cs typeface="Arial" pitchFamily="34" charset="-120"/>
              </a:rPr>
              <a:t>Re-ID học được thay cho màu HSV</a:t>
            </a:r>
            <a:endParaRPr lang="en-US" sz="2200" dirty="0"/>
          </a:p>
          <a:p>
            <a:pPr marL="342900" indent="-342900">
              <a:spcAft>
                <a:spcPts val="2600"/>
              </a:spcAft>
              <a:buSzPct val="100000"/>
              <a:buFont typeface="+mj-lt"/>
              <a:buAutoNum type="arabicPeriod" startAt="1"/>
            </a:pPr>
            <a:r>
              <a:rPr lang="en-US" sz="2200" dirty="0">
                <a:solidFill>
                  <a:srgbClr val="F2F2F2"/>
                </a:solidFill>
                <a:latin typeface="Arial" pitchFamily="34" charset="0"/>
                <a:ea typeface="Arial" pitchFamily="34" charset="-122"/>
                <a:cs typeface="Arial" pitchFamily="34" charset="-120"/>
              </a:rPr>
              <a:t>Damping chỉ áp cho track đang được thấy, không áp cho track đang coast</a:t>
            </a:r>
            <a:endParaRPr lang="en-US" sz="2200" dirty="0"/>
          </a:p>
        </p:txBody>
      </p:sp>
      <p:sp>
        <p:nvSpPr>
          <p:cNvPr id="10" name="Shape 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595360" y="1188720"/>
            <a:ext cx="3108960" cy="3108960"/>
          </a:xfrm>
          <a:prstGeom prst="ellipse">
            <a:avLst/>
          </a:prstGeom>
          <a:solidFill>
            <a:srgbClr val="9B6EE8">
              <a:alpha val="16000"/>
            </a:srgbClr>
          </a:solidFill>
          <a:ln w="12700">
            <a:solidFill>
              <a:srgbClr val="15171B"/>
            </a:solidFill>
            <a:prstDash val="solid"/>
          </a:ln>
        </p:spPr>
      </p:sp>
      <p:sp>
        <p:nvSpPr>
          <p:cNvPr id="3" name="Shape 1"/>
          <p:cNvSpPr/>
          <p:nvPr/>
        </p:nvSpPr>
        <p:spPr>
          <a:xfrm>
            <a:off x="9418320" y="2011680"/>
            <a:ext cx="1463040" cy="1463040"/>
          </a:xfrm>
          <a:prstGeom prst="ellipse">
            <a:avLst/>
          </a:prstGeom>
          <a:solidFill>
            <a:srgbClr val="19A35F">
              <a:alpha val="38000"/>
            </a:srgbClr>
          </a:solidFill>
          <a:ln w="12700">
            <a:solidFill>
              <a:srgbClr val="15171B"/>
            </a:solidFill>
            <a:prstDash val="solid"/>
          </a:ln>
        </p:spPr>
      </p:sp>
      <p:sp>
        <p:nvSpPr>
          <p:cNvPr id="4" name="Text 2"/>
          <p:cNvSpPr txBox="1"/>
          <p:nvPr/>
        </p:nvSpPr>
        <p:spPr>
          <a:xfrm>
            <a:off x="731520" y="2103120"/>
            <a:ext cx="7680960" cy="914400"/>
          </a:xfrm>
          <a:prstGeom prst="rect">
            <a:avLst/>
          </a:prstGeom>
          <a:noFill/>
          <a:ln/>
        </p:spPr>
        <p:txBody>
          <a:bodyPr wrap="square" lIns="0" tIns="0" rIns="0" bIns="0" rtlCol="0" anchor="t"/>
          <a:lstStyle/>
          <a:p>
            <a:pPr indent="0" marL="0">
              <a:buNone/>
            </a:pPr>
            <a:r>
              <a:rPr lang="en-US" sz="4000" b="1" dirty="0">
                <a:solidFill>
                  <a:srgbClr val="F2F2F2"/>
                </a:solidFill>
                <a:latin typeface="Arial" pitchFamily="34" charset="0"/>
                <a:ea typeface="Arial" pitchFamily="34" charset="-122"/>
                <a:cs typeface="Arial" pitchFamily="34" charset="-120"/>
              </a:rPr>
              <a:t>Cảm ơn thầy cô và các bạn</a:t>
            </a:r>
            <a:endParaRPr lang="en-US" sz="4000" dirty="0"/>
          </a:p>
        </p:txBody>
      </p:sp>
      <p:sp>
        <p:nvSpPr>
          <p:cNvPr id="5" name="Text 3"/>
          <p:cNvSpPr txBox="1"/>
          <p:nvPr/>
        </p:nvSpPr>
        <p:spPr>
          <a:xfrm>
            <a:off x="731520" y="3200400"/>
            <a:ext cx="768096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Hỏi đáp (Q&amp;A)</a:t>
            </a:r>
            <a:endParaRPr lang="en-US" sz="2400" dirty="0"/>
          </a:p>
        </p:txBody>
      </p:sp>
      <p:sp>
        <p:nvSpPr>
          <p:cNvPr id="6" name="Text 4"/>
          <p:cNvSpPr txBox="1"/>
          <p:nvPr/>
        </p:nvSpPr>
        <p:spPr>
          <a:xfrm>
            <a:off x="731520" y="5120640"/>
            <a:ext cx="8229600" cy="36576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Người 1 · PEG-F    |    Người 2 · PEG+</a:t>
            </a:r>
            <a:endParaRPr lang="en-US" sz="1600" dirty="0"/>
          </a:p>
        </p:txBody>
      </p:sp>
      <p:sp>
        <p:nvSpPr>
          <p:cNvPr id="7" name="Shape 5"/>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8"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9"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PEG-F và PEG+ — nâng cấp tracker khi đèn mũ làm chói camera</dc:title>
  <dc:subject>PptxGenJS Presentation</dc:subject>
  <dc:creator>PptxGenJS</dc:creator>
  <cp:lastModifiedBy>PptxGenJS</cp:lastModifiedBy>
  <cp:revision>1</cp:revision>
  <dcterms:created xsi:type="dcterms:W3CDTF">2026-10-16T17:31:56Z</dcterms:created>
  <dcterms:modified xsi:type="dcterms:W3CDTF">2026-10-16T17:31:56Z</dcterms:modified>
</cp:coreProperties>
</file>