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trước, Thạch sửa lại PEG-F và gửi bản mới, gọi là PEG-F v2. Giờ có sáu method. Ba cái mới là M1, M2 và M6: M1 viết lại hoàn toàn thành một vùng bất định nở rộng khi mất người; M2 không chỉ dùng màu áo nữa mà lấy thêm đặc trưng từ chính detector; và M6 là method mới, xử lý ảnh trước khi đưa vào detector. M3, M4, M5 giữ như cũ. Thạch báo trên Table I, tập test, cấu hình đầy đủ cộng M6 đạt HOTA 70.03 và IDF1 87.03. Mình chạy lại cả mười bốn cấu hình trong bảng của Thạch và ra đúng từng con số. Nhưng Thạch chỉ báo Table I trên test, nên mình đo thêm hai bảng còn lại và tập val, đúng như cách mình đã kiểm chứng ở phần trước. Trước hết mình giải thích từng method, mỗi method một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của Thạch giải quyết tình huống này: người bị chói vài chục frame, trong lúc đó họ có thể rẽ, đứng lại hoặc lùi, nên box dự đoán không còn trùng với người khi họ hiện ra lại, và tracker sinh ID mới. Cách làm có hai phần. Phần một: mỗi frame không thấy người, Kalman filter tăng độ bất định về vị trí, mỗi frame cộng thêm khoảng ba phần trăm chiều cao người, tối đa ba mươi frame. Hình bên phải cho thấy vùng này nở rộng theo thời gian, như một cái nón. Phần hai: những detection chưa được ai nhận sẽ được thử với các track đã mất từ hai frame trở lên. Nếu detection nằm trong vùng chín mươi chín phần trăm, theo một trong hai giả thuyết là đi tiếp với vận tốc cũ hoặc đứng lại chỗ cũ, thì gán lại ID cũ. Có thêm vài chặn để tránh gán nhầm: không xa quá sức đi bộ, chiều cao không lệch quá, và không đè lên người đang được track. Ngoài ra M1 vẫn kèm phần hãm vận tốc khi hai người gần nhau, và giờ Thạch chỉ áp cho track đang coast. Trên cả tập test, cone chỉ khớp lại 10 lần. Kết quả bật riêng M1 ở dải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là phần nhận lại người. Bản cũ chỉ so màu áo, mà công nhân mặc đồ bảo hộ giống nhau, nên nó không bao giờ đổi được quyết định nào. Bản mới lấy thêm đặc trưng từ chính detector: feature map ở tầng P4, cắt theo box của người và chia làm nửa trên, nửa dưới, nên không cần thêm mạng nào. Thạch trừ đi trung bình của cả video để bỏ phần giống nhau chung, rồi ghép với màu: độ giống bằng bảy mươi phần trăm feature cộng ba mươi phần trăm màu. Mỗi người giữ tối đa mười mẫu, gọi là gallery, lấy năm frame một lần và chỉ lấy khi người rõ, chưa bị chói và không chen với ai. Khi bị chói thì gallery đóng băng. Dấu vân tay này được dùng ở bốn chỗ: khi hai track giành một detection, khi xét đổi ID của một cặp, để lọc cone của M1, và để hồi sinh ID ở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giữ nguyên như bản cũ. Vấn đề nó nhắm tới là đèn chiếu lên tường: vùng box cũng trắng, nên PEG tưởng người vẫn ở đó và giữ box ma. Cách làm: khi đã mất detection quá ba frame, ngưỡng h tăng sáu phần trăm mỗi frame, từ 0.4 tới tối đa 0.65, như hình bên trái; càng mất lâu càng cần bằng chứng chói mạnh hơn. Thứ hai, thời gian được giữ box sau khi xác nhận chói không còn cố định năm frame mà tỉ lệ với độ chói φ. Nhưng vì box chỉ được giữ khi φ đã vượt ngưỡng, như vùng xám ở hình bên phải, nên thực tế nó chỉ là bốn hoặc năm frame: phần này gần như không đổi gì so với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giữ như bản cũ. Khi một track bị xóa vì mất quá lâu, thay vì quên luôn, tracker cất nó vào một pool, giữ tối đa bốn mươi lăm frame. Khi có người mới xuất hiện gần chỗ cũ, trong tầm đi bộ, và dấu vân tay giống từ 0.6 trở lên, thì người đó được trả lại ID cũ. Ý tưởng hợp lý, nhưng trên cả tập test với cấu hình đầy đủ, số lần hồi sinh là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M5 cũng giữ như cũ. Khi người bị chói, box chỉ chạy theo dự đoán của Kalman, nên nếu người đổi tư thế thì box trôi. M5 chỉ chạy khi gate của PEG đã xác nhận là người đang bị chói. Nó tìm tâm của đốm đèn ở dải đầu của box, suy ra tâm người bằng tâm đèn cộng 0.35 lần chiều cao, rồi kéo nhẹ box về đó. Bật một mình thì M5 gần như không đổi gì. Nhưng khi đi cùng M1, cú kéo nhẹ này trở thành kéo mạnh, và đó là nguyên nhân Table III sụt; mình sẽ quay lại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là method mới và khác các method khác: nó không sửa tracker mà sửa ảnh trước khi đưa vào detector. Quanh đèn có một vầng sáng rộng làm mất chi tiết của người đứng gần. Thạch tách ảnh thành một lớp độ sáng nền, làm mờ nhưng giữ cạnh, và một lớp chi tiết; rồi nén lớp nền ở chỗ quá sáng, chỉ trong vòng quanh đèn, còn lõi đèn thì giữ nguyên. Hình bên phải là ảnh gốc, ảnh sau khi xử lý, và bản đồ chỗ bị đổi. Chỉ ảnh đưa vào detector bị đổi; gate của PEG và màu Re-ID vẫn dùng ảnh gốc. Ngưỡng bật rất thấp, nên M6 được áp lên khoảng 100 phần trăm số frame của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có một điểm về cấu hình. Trong bảng của Thạch, mọi chênh lệch đều so với một cấu hình gọi là base, tức là PEG khi tắt hết sáu method. Nhưng base đó không phải PEG: phần logic đổi lại ID mà ở v1 mình gọi là M1-swap giờ luôn bật, không có công tắc. Nó sửa được video 129, HOTA tăng 23.5 điểm, nhưng làm hỏng video 320: số lần đổi ID tăng từ 4 lên 25. Vì vậy chênh lệch so với base không phải chênh lệch so với PEG. Ở các slide sau mình so với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mình kiểm tra Thạch đã chọn cấu hình trên tập nào. Trong thư mục kết quả Thạch gửi có năm mươi sáu lượt chạy Table I trên tập test, không có lượt nào trên val, và không có lượt nào cho Table II hay Table III. Script của Thạch có ghi đúng quy trình: chọn trên val, báo test một lần, nhưng thực tế không làm. Ví dụ riêng M1 có ba bản thử tên dx, rồi fix1, rồi fix2 là bản cuối, HOTA từ khoảng 66 đến 69.24, và tất cả đều đo trên Table I test. Vì vậy con số cộng 1.69 HOTA là số chọn trên test rồi báo cũng trên test. Bọn mình làm lại theo đúng cách: luật chọn được viết và đưa lên git trước khi có bất kỳ số val nào, chọn trên val, rồi chỉ báo test một lần cho cấu hình được chọn. Có một điều bọn mình không gỡ được: các tham số bên trong method đã được chỉnh trên test; muốn gỡ thì phải tune lại từ đầu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trên tập test, đủ ba bảng, so với PEG cùng cấu hình guard bật. Ở Table I, cấu hình đầy đủ cộng M6 hơn PEG +1.69 HOTA và +4.35 IDF1, số lần đổi ID từ 15 thành 29. Ở Table II, HOTA −0.20 và MOTA −4.00. Ở Table III, phần đo người đang bị chói, Rcv@.5 từ 76.2 thành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Table III sụt mạnh như vậy? Mình tách từng phần. Bật riêng M1, Rcv trên test từ 76.2 còn 70.1. Bật riêng M5, gần như không đổi. Nhưng bật cả hai thì còn khoảng 55.6 trên test và 37.7 trên val. Lý do: M1 làm độ bất định vị trí của Kalman tăng lên mỗi frame không thấy người. M5 kéo box về phía đèn bằng một phép đo có độ tin cố định, được thiết kế là cú kéo nhẹ. Nhưng Kalman cân giữa dự đoán và phép đo theo độ bất định: dự đoán càng không chắc thì phép đo càng được tin. Nên khi M1 làm độ bất định phình ra, cú kéo nhẹ của M5 thành kéo hẳn. Mình đo trong các frame bị chói: box vẫn còn, vẫn đúng chiều cao, nhưng trượt ngang khỏi người, trung vị khoảng 10 phần trăm bề rộng người trên test và 39 phần trăm trên val. Để chắc chắn, mình dùng công tắc con trong code của Thạch: chỉ M5 cộng riêng phần nở vùng bất định của M1 là đã ra 53.6 trên test; còn tắt riêng phần đó khỏi cấu hình đầy đủ thì hồi lại 69.5. Các lượt này chỉ để chẩn đoán, không dùng để chọn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đến tập val, phần dữ liệu Thạch chưa dùng tới. Cấu hình đầy đủ cộng M6 so với PEG: Table I −0.39 HOTA, số lần đổi ID từ 15 lên 48; Table II −3.09 HOTA; Table III từ 67.6 xuống 37.1. Tức là mức tăng Table I trên test không lặp lại trên val, còn Table III sụt như trên test và còn nặng hơn. Ngay cả base, tức PEG cộng logic đổi ID cũ, cũng kém PEG ở Table I trên val: 69.98 so với 70.24, và đổi ID 28 lần so với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chọn. Luật được viết và đưa lên git trước khi có số val nào. Ứng viên là mười ba cấu hình của Thạch, so với base. Vòng một: không bảng nào được giảm quá 0.5, và tổng mức tăng phải lớn hơn 0.5. Chỉ có 2 cấu hình qua vòng này: full-M5 và base+M1. Vòng hai là điều kiện mình thêm từ bài học lần trước: bỏ đi một video, hoặc một lần chói, có lợi nhất cho cấu hình đó mà vẫn còn tăng thì mới nhận. Cả hai đều trượt: mức tăng của chúng đến từ đúng một video ở Table II, video 147, và một lần chói ở Table III, video 332. Mọi cấu hình có cả M1 và M5 bị loại ngay ở vòng một vì Table III giảm khoảng ba mươi điểm, và M6 bị loại vì cả ba bảng đều giảm trên val. Kết quả: không method nào được val ủng hộ, nên cấu hình được chọn là base. Báo test đúng một lần cho cấu hình này: Table I 68.84, Table II 62.18, Table III 76.2, so với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lại trên val chưa đủ, vì các tham số bên trong method vẫn là số Thạch đã chỉnh trên test. Nên bọn mình tune lại từ đầu, chỉ trên val, với luật viết trước và đưa lên git trước khi chạy. Điểm xuất phát là PEG: bọn mình chép lại logic đổi ID gốc của PEG vào code của Thạch và kiểm tra là khi tắt hết method thì ra đúng từng số của PEG. Phần đổi ID mà Thạch viết lại cũng thành một thành phần để thử. Mỗi vòng, mỗi thành phần được thử với vài giá trị tham số, vòng đầu tổng cộng 26 lượt. Bảng này là giá trị tốt nhất của từng thành phần ở vòng đầu. Chỉ có hai thứ tăng quá ngưỡng: cone của M1, cộng 1.73, và phần hãm vận tốc, cộng 1.32. Nhưng khi bỏ đi một video hoặc một lần chói có lợi nhất, cone còn −0.01 và hãm vận tốc còn −0.60: toàn bộ mức tăng của cone nằm ở hai video, 156 và 147, còn của hãm vận tốc nằm ở một lần chói trong video 332. Phần nở vùng bất định, Re-ID và pool track ngủ không đổi gì khi đứng một mình; neo đèn và tone-map làm giảm. Nên không thành phần nào được nhận, cấu hình cuối cùng chính là PEG, và test một lần cho nó ra đúng số PEG: 68.34, 61.41 và 76.2. Cột cuối là số test của từng thành phần, chạy sau khi đã chốt, chỉ để đối chiếu. Trên test cũng vậy: M6 và phần đổi ID viết lại tăng gần như chỉ nhờ sửa đúng một lần đổi ID ở video 129, lần đó đáng hai mươi ba điểm HOTA ở video ấy; cone tăng chủ yếu nhờ video 204; còn hãm vận tốc giảm tám điểm rưỡi, nên val loại nó là đúng. Lưu ý là số test của M6 và phần đổi ID bị lạc quan, vì Thạch đã chỉnh chúng trên chính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đầy đủ trên test: mỗi dòng là PEG cộng một thành phần, với tham số tốt nhất chọn trên val, cộng hai bản mạnh nhất và bản của Thạch. Xanh là tốt hơn PEG, đỏ là kém hơn, cột cuối ghi video quyết định mức tăng. Bản mạnh nhất mà để val chọn hết, gồm cone và hãm vận tốc, chỉ ra Table III 70.0, kém PEG, vì phần hãm vận tốc. Bản tốt nhất là PEG+ cộng cone: Table I 68.44, Table II HOTA 63.14, Table III 83.1, tốt hơn PEG ở cả ba bảng, và hơn PEG+ một mình +0.81 HOTA ở Table II và +0.9 ở Table III. Phần tăng Table III của nó không phụ thuộc một video: bỏ lần chói có lợi nhất thì vẫn còn khoảng cộng bốn điểm rưỡi. Bản của Thạch có Table I cao nhất, nhưng Table III chỉ 53.6. Bốn dòng PEG-C ở cuối: PEG-C online, T1 IDF1 84.26, T3 80.4; bản có S, T2 HOTA 62.67 nhưng nhờ một video; ALL cộng cone của Thạch. Chi tiết ở slide PEG-C.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cùng bảng trên val, tập dùng để chọn. Trên val các mức chênh nhỏ hơn và gần như mức nào cũng nằm ở một hai video: cone nhờ video 156 và 147, hãm vận tốc nhờ một lần chói ở video 332. PEG+ trên val gần như bằng PEG, vì val hầu như không có ca box bị co lại khi coast. Bốn dòng PEG-C ở cuối: trên val PEG-C online tăng Table III lên 75.8 so với 67.3 của PEG+, đó là phần V được chọn; dòng fixed-lag chỉ có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ánh sáng phá hủy quyết định giữ box. PEG-O: cùng ánh sáng đó đo box đã dời bao xa — không giả định đèn ở đâu trên người, và chỉ tin khi đỉnh tương quan đủ nhọn. Đi qua bốn dòng. Một, tâm đĩa chói gắn cứng với người, nên độ dời của đĩa chính là độ dời của người, không cần biết đèn nằm đâu. Hai, lọc đĩa trên thành phần bão hòa để tìm tâm đĩa. Ba, độ nhọn của đỉnh là độ tin cậy: đỉnh phẳng thì không cập nhật. Bốn, đưa độ dời vào Kalman chỉ cho tâm, kích thước giữ như PEG+. Sau thử nghiệm trên video 135, bọn mình đã đổi một lần: với nhiễu đo tuyệt đối của kế hoạch ban đầu, gain gần như bằng không nên box không nhúc nhích; đổi sang nhiễu tương đối theo độ nhọn, và ghi thay đổi này vào protocol trước khi chạy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thẳng thắn: PEG-O không qua. Trên val, cả chín điểm của lưới tau và gamma đều làm Table III sụt, mất từ 13.5 đến 41.2 điểm, nên theo luật viết trước, cấu hình cuối vẫn là PEG+. Test chạy đúng một lần, ở điểm val tốt nhất để báo cáo cho đủ: Table III Rcv 73.6 so với 82.2 của PEG+, và Table I, II gần như không đổi. Gộp 48 lần chói, PEG-O thấp hơn PEG+ 10.6 điểm, khoảng tin cậy không chứa không. Một chi tiết thú vị: tỉ lệ ID bị tắt giảm, 9.5 phần trăm so với 15.5, vì box sống lâu hơn; nhưng phần lớn các box đó bị lệch khỏi người nên không tính là trúng.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video cho hai kết cục. Ở video 135 trên test, người đi khoảng 111 pixel và box rộng 264: với cấu hình tau 0,06 gamma 1, box bám theo người, 41 trên 43 frame trúng, đúng bằng cận trên nếu căn tâm hoàn hảo. Nhưng chính cấu hình đó không phải điểm val chọn; điểm báo cáo tau 0,08 gamma 4 chỉ được 11 trên 43. Ở video 187 trên val thì ngược lại: người gần như đứng yên, box chỉ rộng 30 pixel, nhưng đỉnh của bộ lọc đĩa trôi mười đến hai mươi pixel khi độ chói tăng rồi giảm, vì vùng bão hòa đổi hình chứ không dời theo người. Với box hẹp như vậy, sai số đó đủ để mất box. Bọn mình kiểm tra lại là không phải lỗi code: ước lượng offline với mốc là đúng vị trí thật cũng thua, không có anchor cũ, và độ lệch trung vị của cập nhật là 9.7 pixel so với bề rộng box 41. Ngoài ra anchor lấy đúng lúc chói đang tăng, và vận tốc bị bơm vào Kalman nên box tiếp tục trôi.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là phân tích oracle, chưa phải tracker. Câu hỏi: PEG giữ box cho người đang bị chói, nhưng box giữ như thế nào là tốt nhất. Mình lấy bốn mươi ba lần chói mà PEG+ đang theo dõi người, rồi thử áp một vận tốc không đổi từ khung cuối có detection. Nếu cứ đứng yên thì Rcv@.5 là 72.9 khi gộp. Nếu đoán vận tốc từ năm khung gần nhất thì chỉ 62.9, tệ hơn đứng yên, vì năm khung là nhiễu. Nếu đoán từ bốn mươi khung thì lên 87.8, trên val 86.6 và trên test 88.5, cao hơn cả PEG+ thực tế là 84.2. Trần lý thuyết nếu biết vận tốc thật là 96.0, và nếu biết cả tâm thật thì 99.9. Hình bên phải trả lời vì sao cửa sổ dài thắng: nét đứt xám là sai số nếu chỉ có nhiễu trắng, σ bằng 2.21 pixel, rơi theo K mũ trừ một phẩy năm. Đường xanh là sai số đo được, và nó dừng ở khoảng 0.28 pixel mỗi frame, bằng khoảng 54 phần trăm tốc độ thật. Đường cam là sai số khi lấy vận tốc từ chính ground truth quá khứ, cũng dừng ở khoảng 0.30. Vậy phần sai còn lại là do người đổi nhịp, tức là do mô hình vận tốc không đổi, không phải do nhiễu. Hàm ý: đi bộ dự đoán được từ cửa sổ dài, còn năm khung thì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trả lời câu hỏi có nên giữ box hay không, bằng cổng phi lớn hơn hoặc bằng h. PEG-C trả lời câu hỏi giữ như thế nào, bằng một mô hình duy nhất: vận tốc không đổi. Mô hình này dùng theo hai cách. Cách thứ nhất là bộ lọc online, gồm ba thành phần. V: lúc bắt đầu coast, vận tốc lấy từ độ dốc bình phương tối thiểu của K tâm detection gần nhất, thay vì vận tốc Kalman bị chói làm sai; trục nào có độ dốc nhỏ hơn t lần sai số chuẩn thì đặt bằng không. C: cổng chỉ được arm khi track đã mất không quá N khung. S: nếu ngay sau khi hết chói có một detection định sinh ID mới mà nằm sát box dự đoán của một track vừa cháy, thì nối lại thay vì sinh ID mới, chỉ khi ghép một đối một. Cách thứ hai là bộ làm mượt fixed-lag, cho phép sửa các hàng đã ghi tới L khung trước. B: khi một track cháy được bắt lại sau M khung, nối đường thẳng giữa hai detection hai đầu và điền vào khoảng trống; chế độ hidden chỉ thêm hàng còn thiếu, chế độ all thay luôn box coast. BB: nếu một track đã cháy ngay lúc sinh thì thêm hàng ngược về trước. Mỗi thành phần chỉ có một núm, lưới viết trước trong protocol, và val chọn. Có hai lưu ý ghi ở khung dưới. Một, dữ liệu chói giả đặt đĩa chói theo đúng ground truth box, nên bất cứ thứ gì đọc hình đĩa là rò rỉ; PEG-C chỉ đọc cổng phi lớn hơn h, giống PEG. Hai, B và BB sửa quá khứ nên không phải online; mọi hàng của chúng luôn gắn nhãn fixed-lag và báo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thẳng thắn. Trên val, luật chốt trước chấp nhận V, vận tốc từ bốn mươi khung với t bằng hai: Table III tăng +8.5, Table I và II gần như không đổi. Thành phần S, nối lại ID sau chói, tăng Table II trên val nhưng chỉ nhờ một video, nên luật chặt không nhận. C và B hidden không đổi gì; B all làm Table III val giảm. Test chạy đúng một lần: Table III −1.7 so với PEG+, Table II HOTA −1.4, và Table I IDF1 +1.0. Theo từng lần chói, test −1.8 với khoảng tin cậy từ −7.7 đến +3.6, 4 tốt hơn và 5 tệ hơn; val +8.6 với 9 tốt hơn và 1 tệ hơn; gộp +2.4, khoảng tin cậy từ −2.1 đến +6.8, còn chứa không. Hàng nhỏ màu hồng là fixed-lag chín mươi khung: không được val chọn, và trên Table III trùng online. Hai hình dưới là hai đầu: video 187 trên val, người đi đều, cửa sổ sạch, PEG+ 19 lên 35 trên 35 khung; video 211 trên test, 25 xuống 13 trên 25. Phân tích sau test, không dùng để chọn: ở hai video thua trên test, vận tốc Kalman sẵn có của PEG+ lúc vào coast gần vận tốc thật hơn độ dốc bốn mươi khung: ở 211, Kalman (-0.33, 1.42), OLS (0.53, 1.08), thật (-0.08, 1.96); cửa sổ bốn mươi khung bắc qua một khoảng trống bốn mươi khung trước đó. Nền dài chỉ thắng khi người đi đều. Lợi ích nhất quán duy nhất trên test là IDF1 Table 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bảy điều. Một, PEG-F bản đầu tái hiện được, nhưng khi so cùng cấu hình thì mức tăng chỉ +0.49 HOTA, và hai lần đổi ID quyết định gần hết mức tăng đó. Hai, PEG-F bản hai: Table I tái hiện đúng cả mười bốn cấu hình, nhưng Thạch chỉnh và chọn mọi thứ trên test; khi chọn lại trên val bằng luật chốt trước thì không method nào qua; và khi tune lại tham số từ đầu, chỉ trên val, kết quả vẫn vậy, cấu hình cuối cùng là PEG. Ba, ở bản hai, M1 đi cùng M5 làm Table III sụt mạnh, từ 76.2 xuống 53.6 trên test và từ 67.6 xuống 37.1 trên val, vì box bị kéo trượt ngang khỏi người. Bốn, PEG+ tăng Rcv trên test +5.6, trên val −0.4, gộp lại +3.2: chỉ giúp khi box co lại lúc coast. Năm, PEG-O, thử đo vị trí bằng chính vùng chói: đúng ở video 135 nơi người đi xa, nhưng so với PEG+ trên val −13.5 và trên test −8.6 Rcv, nên không nhận, vì đĩa chói đổi hình chứ không cứng. Sáu, PEG-C, thiết kế lại cách coast bằng vận tốc đo từ cửa sổ quá khứ dài: val nhận V và Table III tăng +8.6, nhưng test không xác nhận, −1.8 với khoảng tin cậy từ −7.7 đến +3.6, chỉ IDF1 Table I tăng +1.0; bài học là lợi ích oracle do val dẫn dắt thì vẫn do val dẫn dắt, và sàn sai số của vận tốc là mô hình vận tốc không đổi, không phải nhiễu. Bảy, nhìn một mình Table I rất dễ bị đánh lừa, nên lúc nào cũng đo đủ ba bảng, chọn trên val và báo test một lần. Hướng tiếp theo: chọn bằng khoảng tin cậy hoặc cross-validation thay vì ngưỡng cứng; thêm dữ liệu val, vì hiện giờ một hai video quyết định mọi mức tăng; đo vị trí từ vùng chói chỉ khi đĩa đã ổn định và box đủ lớn so với nhiễu đo khoảng 10 pixel; và M6 đáng thử lại khi có thêm dữ liệu val có người đứng gần đèn. Bài học lớn nhất với mình không phải một con số mà là cách làm: tái hiện trước, so cùng cấu hình, đo cả ba bảng, chọn trên val, và tách từng phần ra để xem phần nào thật sự có tác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TỔNG QUAN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v2: Thạch sửa lại, giờ có 6 method</a:t>
            </a:r>
            <a:endParaRPr lang="en-US" sz="3000" dirty="0"/>
          </a:p>
        </p:txBody>
      </p:sp>
      <p:sp>
        <p:nvSpPr>
          <p:cNvPr id="4" name="Shape 2"/>
          <p:cNvSpPr/>
          <p:nvPr/>
        </p:nvSpPr>
        <p:spPr>
          <a:xfrm>
            <a:off x="548640" y="1463040"/>
            <a:ext cx="11091672" cy="603504"/>
          </a:xfrm>
          <a:prstGeom prst="roundRect">
            <a:avLst>
              <a:gd name="adj" fmla="val 18182"/>
            </a:avLst>
          </a:prstGeom>
          <a:solidFill>
            <a:srgbClr val="22252B"/>
          </a:solidFill>
          <a:ln w="12700">
            <a:solidFill>
              <a:srgbClr val="22252B"/>
            </a:solidFill>
            <a:prstDash val="solid"/>
          </a:ln>
        </p:spPr>
      </p:sp>
      <p:sp>
        <p:nvSpPr>
          <p:cNvPr id="5" name="Shape 3"/>
          <p:cNvSpPr/>
          <p:nvPr/>
        </p:nvSpPr>
        <p:spPr>
          <a:xfrm>
            <a:off x="548640" y="1463040"/>
            <a:ext cx="91440" cy="603504"/>
          </a:xfrm>
          <a:prstGeom prst="rect">
            <a:avLst/>
          </a:prstGeom>
          <a:solidFill>
            <a:srgbClr val="9B6EE8"/>
          </a:solidFill>
          <a:ln w="12700">
            <a:solidFill>
              <a:srgbClr val="9B6EE8"/>
            </a:solidFill>
            <a:prstDash val="solid"/>
          </a:ln>
        </p:spPr>
      </p:sp>
      <p:sp>
        <p:nvSpPr>
          <p:cNvPr id="6" name="Text 4"/>
          <p:cNvSpPr txBox="1"/>
          <p:nvPr/>
        </p:nvSpPr>
        <p:spPr>
          <a:xfrm>
            <a:off x="822960" y="146304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M1</a:t>
            </a:r>
            <a:endParaRPr lang="en-US" sz="2200" dirty="0"/>
          </a:p>
        </p:txBody>
      </p:sp>
      <p:sp>
        <p:nvSpPr>
          <p:cNvPr id="7" name="Text 5"/>
          <p:cNvSpPr txBox="1"/>
          <p:nvPr/>
        </p:nvSpPr>
        <p:spPr>
          <a:xfrm>
            <a:off x="1600200" y="146304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Vùng bất định (cone)</a:t>
            </a:r>
            <a:endParaRPr lang="en-US" sz="1600" dirty="0"/>
          </a:p>
        </p:txBody>
      </p:sp>
      <p:sp>
        <p:nvSpPr>
          <p:cNvPr id="8" name="Text 6"/>
          <p:cNvSpPr txBox="1"/>
          <p:nvPr/>
        </p:nvSpPr>
        <p:spPr>
          <a:xfrm>
            <a:off x="4892040" y="146304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9" name="Text 7"/>
          <p:cNvSpPr txBox="1"/>
          <p:nvPr/>
        </p:nvSpPr>
        <p:spPr>
          <a:xfrm>
            <a:off x="5715000" y="146304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Khi mất người lâu, vùng tìm lại nở rộng dần; khớp lại ID cũ thay vì sinh ID mới.</a:t>
            </a:r>
            <a:endParaRPr lang="en-US" sz="1300" dirty="0"/>
          </a:p>
        </p:txBody>
      </p:sp>
      <p:sp>
        <p:nvSpPr>
          <p:cNvPr id="10" name="Shape 8"/>
          <p:cNvSpPr/>
          <p:nvPr/>
        </p:nvSpPr>
        <p:spPr>
          <a:xfrm>
            <a:off x="548640" y="2139696"/>
            <a:ext cx="11091672" cy="603504"/>
          </a:xfrm>
          <a:prstGeom prst="roundRect">
            <a:avLst>
              <a:gd name="adj" fmla="val 18182"/>
            </a:avLst>
          </a:prstGeom>
          <a:solidFill>
            <a:srgbClr val="22252B"/>
          </a:solidFill>
          <a:ln w="12700">
            <a:solidFill>
              <a:srgbClr val="22252B"/>
            </a:solidFill>
            <a:prstDash val="solid"/>
          </a:ln>
        </p:spPr>
      </p:sp>
      <p:sp>
        <p:nvSpPr>
          <p:cNvPr id="11" name="Shape 9"/>
          <p:cNvSpPr/>
          <p:nvPr/>
        </p:nvSpPr>
        <p:spPr>
          <a:xfrm>
            <a:off x="548640" y="2139696"/>
            <a:ext cx="91440" cy="603504"/>
          </a:xfrm>
          <a:prstGeom prst="rect">
            <a:avLst/>
          </a:prstGeom>
          <a:solidFill>
            <a:srgbClr val="9B6EE8"/>
          </a:solidFill>
          <a:ln w="12700">
            <a:solidFill>
              <a:srgbClr val="9B6EE8"/>
            </a:solidFill>
            <a:prstDash val="solid"/>
          </a:ln>
        </p:spPr>
      </p:sp>
      <p:sp>
        <p:nvSpPr>
          <p:cNvPr id="12" name="Text 10"/>
          <p:cNvSpPr txBox="1"/>
          <p:nvPr/>
        </p:nvSpPr>
        <p:spPr>
          <a:xfrm>
            <a:off x="822960" y="2139696"/>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M2</a:t>
            </a:r>
            <a:endParaRPr lang="en-US" sz="2200" dirty="0"/>
          </a:p>
        </p:txBody>
      </p:sp>
      <p:sp>
        <p:nvSpPr>
          <p:cNvPr id="13" name="Text 11"/>
          <p:cNvSpPr txBox="1"/>
          <p:nvPr/>
        </p:nvSpPr>
        <p:spPr>
          <a:xfrm>
            <a:off x="1600200" y="2139696"/>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Re-ID: feature detector + màu</a:t>
            </a:r>
            <a:endParaRPr lang="en-US" sz="1600" dirty="0"/>
          </a:p>
        </p:txBody>
      </p:sp>
      <p:sp>
        <p:nvSpPr>
          <p:cNvPr id="14" name="Text 12"/>
          <p:cNvSpPr txBox="1"/>
          <p:nvPr/>
        </p:nvSpPr>
        <p:spPr>
          <a:xfrm>
            <a:off x="4892040" y="2139696"/>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15" name="Text 13"/>
          <p:cNvSpPr txBox="1"/>
          <p:nvPr/>
        </p:nvSpPr>
        <p:spPr>
          <a:xfrm>
            <a:off x="5715000" y="2139696"/>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“Dấu vân tay” lấy từ chính detector (không thêm mạng) + màu HSV, lưu lúc chưa chói.</a:t>
            </a:r>
            <a:endParaRPr lang="en-US" sz="1300" dirty="0"/>
          </a:p>
        </p:txBody>
      </p:sp>
      <p:sp>
        <p:nvSpPr>
          <p:cNvPr id="16" name="Shape 14"/>
          <p:cNvSpPr/>
          <p:nvPr/>
        </p:nvSpPr>
        <p:spPr>
          <a:xfrm>
            <a:off x="548640" y="2816352"/>
            <a:ext cx="11091672" cy="603504"/>
          </a:xfrm>
          <a:prstGeom prst="roundRect">
            <a:avLst>
              <a:gd name="adj" fmla="val 18182"/>
            </a:avLst>
          </a:prstGeom>
          <a:solidFill>
            <a:srgbClr val="22252B"/>
          </a:solidFill>
          <a:ln w="12700">
            <a:solidFill>
              <a:srgbClr val="22252B"/>
            </a:solidFill>
            <a:prstDash val="solid"/>
          </a:ln>
        </p:spPr>
      </p:sp>
      <p:sp>
        <p:nvSpPr>
          <p:cNvPr id="17" name="Shape 15"/>
          <p:cNvSpPr/>
          <p:nvPr/>
        </p:nvSpPr>
        <p:spPr>
          <a:xfrm>
            <a:off x="548640" y="2816352"/>
            <a:ext cx="91440" cy="603504"/>
          </a:xfrm>
          <a:prstGeom prst="rect">
            <a:avLst/>
          </a:prstGeom>
          <a:solidFill>
            <a:srgbClr val="9B6EE8"/>
          </a:solidFill>
          <a:ln w="12700">
            <a:solidFill>
              <a:srgbClr val="9B6EE8"/>
            </a:solidFill>
            <a:prstDash val="solid"/>
          </a:ln>
        </p:spPr>
      </p:sp>
      <p:sp>
        <p:nvSpPr>
          <p:cNvPr id="18" name="Text 16"/>
          <p:cNvSpPr txBox="1"/>
          <p:nvPr/>
        </p:nvSpPr>
        <p:spPr>
          <a:xfrm>
            <a:off x="822960" y="2816352"/>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M3</a:t>
            </a:r>
            <a:endParaRPr lang="en-US" sz="2200" dirty="0"/>
          </a:p>
        </p:txBody>
      </p:sp>
      <p:sp>
        <p:nvSpPr>
          <p:cNvPr id="19" name="Text 17"/>
          <p:cNvSpPr txBox="1"/>
          <p:nvPr/>
        </p:nvSpPr>
        <p:spPr>
          <a:xfrm>
            <a:off x="1600200" y="2816352"/>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Ngưỡng h động + TTL</a:t>
            </a:r>
            <a:endParaRPr lang="en-US" sz="1600" dirty="0"/>
          </a:p>
        </p:txBody>
      </p:sp>
      <p:sp>
        <p:nvSpPr>
          <p:cNvPr id="20" name="Text 18"/>
          <p:cNvSpPr txBox="1"/>
          <p:nvPr/>
        </p:nvSpPr>
        <p:spPr>
          <a:xfrm>
            <a:off x="4892040" y="2816352"/>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1" name="Text 19"/>
          <p:cNvSpPr txBox="1"/>
          <p:nvPr/>
        </p:nvSpPr>
        <p:spPr>
          <a:xfrm>
            <a:off x="5715000" y="2816352"/>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22" name="Shape 20"/>
          <p:cNvSpPr/>
          <p:nvPr/>
        </p:nvSpPr>
        <p:spPr>
          <a:xfrm>
            <a:off x="548640" y="3493008"/>
            <a:ext cx="11091672" cy="603504"/>
          </a:xfrm>
          <a:prstGeom prst="roundRect">
            <a:avLst>
              <a:gd name="adj" fmla="val 18182"/>
            </a:avLst>
          </a:prstGeom>
          <a:solidFill>
            <a:srgbClr val="22252B"/>
          </a:solidFill>
          <a:ln w="12700">
            <a:solidFill>
              <a:srgbClr val="22252B"/>
            </a:solidFill>
            <a:prstDash val="solid"/>
          </a:ln>
        </p:spPr>
      </p:sp>
      <p:sp>
        <p:nvSpPr>
          <p:cNvPr id="23" name="Shape 21"/>
          <p:cNvSpPr/>
          <p:nvPr/>
        </p:nvSpPr>
        <p:spPr>
          <a:xfrm>
            <a:off x="548640" y="3493008"/>
            <a:ext cx="91440" cy="603504"/>
          </a:xfrm>
          <a:prstGeom prst="rect">
            <a:avLst/>
          </a:prstGeom>
          <a:solidFill>
            <a:srgbClr val="9B6EE8"/>
          </a:solidFill>
          <a:ln w="12700">
            <a:solidFill>
              <a:srgbClr val="9B6EE8"/>
            </a:solidFill>
            <a:prstDash val="solid"/>
          </a:ln>
        </p:spPr>
      </p:sp>
      <p:sp>
        <p:nvSpPr>
          <p:cNvPr id="24" name="Text 22"/>
          <p:cNvSpPr txBox="1"/>
          <p:nvPr/>
        </p:nvSpPr>
        <p:spPr>
          <a:xfrm>
            <a:off x="822960" y="3493008"/>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M4</a:t>
            </a:r>
            <a:endParaRPr lang="en-US" sz="2200" dirty="0"/>
          </a:p>
        </p:txBody>
      </p:sp>
      <p:sp>
        <p:nvSpPr>
          <p:cNvPr id="25" name="Text 23"/>
          <p:cNvSpPr txBox="1"/>
          <p:nvPr/>
        </p:nvSpPr>
        <p:spPr>
          <a:xfrm>
            <a:off x="1600200" y="3493008"/>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Pool track “ngủ”</a:t>
            </a:r>
            <a:endParaRPr lang="en-US" sz="1600" dirty="0"/>
          </a:p>
        </p:txBody>
      </p:sp>
      <p:sp>
        <p:nvSpPr>
          <p:cNvPr id="26" name="Text 24"/>
          <p:cNvSpPr txBox="1"/>
          <p:nvPr/>
        </p:nvSpPr>
        <p:spPr>
          <a:xfrm>
            <a:off x="4892040" y="3493008"/>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7" name="Text 25"/>
          <p:cNvSpPr txBox="1"/>
          <p:nvPr/>
        </p:nvSpPr>
        <p:spPr>
          <a:xfrm>
            <a:off x="5715000" y="3493008"/>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 dùng dấu vân tay của M2.</a:t>
            </a:r>
            <a:endParaRPr lang="en-US" sz="1300" dirty="0"/>
          </a:p>
        </p:txBody>
      </p:sp>
      <p:sp>
        <p:nvSpPr>
          <p:cNvPr id="28" name="Shape 26"/>
          <p:cNvSpPr/>
          <p:nvPr/>
        </p:nvSpPr>
        <p:spPr>
          <a:xfrm>
            <a:off x="548640" y="4169664"/>
            <a:ext cx="11091672" cy="603504"/>
          </a:xfrm>
          <a:prstGeom prst="roundRect">
            <a:avLst>
              <a:gd name="adj" fmla="val 18182"/>
            </a:avLst>
          </a:prstGeom>
          <a:solidFill>
            <a:srgbClr val="22252B"/>
          </a:solidFill>
          <a:ln w="12700">
            <a:solidFill>
              <a:srgbClr val="22252B"/>
            </a:solidFill>
            <a:prstDash val="solid"/>
          </a:ln>
        </p:spPr>
      </p:sp>
      <p:sp>
        <p:nvSpPr>
          <p:cNvPr id="29" name="Shape 27"/>
          <p:cNvSpPr/>
          <p:nvPr/>
        </p:nvSpPr>
        <p:spPr>
          <a:xfrm>
            <a:off x="548640" y="4169664"/>
            <a:ext cx="91440" cy="603504"/>
          </a:xfrm>
          <a:prstGeom prst="rect">
            <a:avLst/>
          </a:prstGeom>
          <a:solidFill>
            <a:srgbClr val="9B6EE8"/>
          </a:solidFill>
          <a:ln w="12700">
            <a:solidFill>
              <a:srgbClr val="9B6EE8"/>
            </a:solidFill>
            <a:prstDash val="solid"/>
          </a:ln>
        </p:spPr>
      </p:sp>
      <p:sp>
        <p:nvSpPr>
          <p:cNvPr id="30" name="Text 28"/>
          <p:cNvSpPr txBox="1"/>
          <p:nvPr/>
        </p:nvSpPr>
        <p:spPr>
          <a:xfrm>
            <a:off x="822960" y="4169664"/>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M5</a:t>
            </a:r>
            <a:endParaRPr lang="en-US" sz="2200" dirty="0"/>
          </a:p>
        </p:txBody>
      </p:sp>
      <p:sp>
        <p:nvSpPr>
          <p:cNvPr id="31" name="Text 29"/>
          <p:cNvSpPr txBox="1"/>
          <p:nvPr/>
        </p:nvSpPr>
        <p:spPr>
          <a:xfrm>
            <a:off x="1600200" y="4169664"/>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Neo vào đèn mũ</a:t>
            </a:r>
            <a:endParaRPr lang="en-US" sz="1600" dirty="0"/>
          </a:p>
        </p:txBody>
      </p:sp>
      <p:sp>
        <p:nvSpPr>
          <p:cNvPr id="32" name="Text 30"/>
          <p:cNvSpPr txBox="1"/>
          <p:nvPr/>
        </p:nvSpPr>
        <p:spPr>
          <a:xfrm>
            <a:off x="4892040" y="4169664"/>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33" name="Text 31"/>
          <p:cNvSpPr txBox="1"/>
          <p:nvPr/>
        </p:nvSpPr>
        <p:spPr>
          <a:xfrm>
            <a:off x="5715000" y="4169664"/>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34" name="Shape 32"/>
          <p:cNvSpPr/>
          <p:nvPr/>
        </p:nvSpPr>
        <p:spPr>
          <a:xfrm>
            <a:off x="548640" y="4846320"/>
            <a:ext cx="11091672" cy="603504"/>
          </a:xfrm>
          <a:prstGeom prst="roundRect">
            <a:avLst>
              <a:gd name="adj" fmla="val 18182"/>
            </a:avLst>
          </a:prstGeom>
          <a:solidFill>
            <a:srgbClr val="22252B"/>
          </a:solidFill>
          <a:ln w="12700">
            <a:solidFill>
              <a:srgbClr val="22252B"/>
            </a:solidFill>
            <a:prstDash val="solid"/>
          </a:ln>
        </p:spPr>
      </p:sp>
      <p:sp>
        <p:nvSpPr>
          <p:cNvPr id="35" name="Shape 33"/>
          <p:cNvSpPr/>
          <p:nvPr/>
        </p:nvSpPr>
        <p:spPr>
          <a:xfrm>
            <a:off x="548640" y="4846320"/>
            <a:ext cx="91440" cy="603504"/>
          </a:xfrm>
          <a:prstGeom prst="rect">
            <a:avLst/>
          </a:prstGeom>
          <a:solidFill>
            <a:srgbClr val="9B6EE8"/>
          </a:solidFill>
          <a:ln w="12700">
            <a:solidFill>
              <a:srgbClr val="9B6EE8"/>
            </a:solidFill>
            <a:prstDash val="solid"/>
          </a:ln>
        </p:spPr>
      </p:sp>
      <p:sp>
        <p:nvSpPr>
          <p:cNvPr id="36" name="Text 34"/>
          <p:cNvSpPr txBox="1"/>
          <p:nvPr/>
        </p:nvSpPr>
        <p:spPr>
          <a:xfrm>
            <a:off x="822960" y="484632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M6</a:t>
            </a:r>
            <a:endParaRPr lang="en-US" sz="2200" dirty="0"/>
          </a:p>
        </p:txBody>
      </p:sp>
      <p:sp>
        <p:nvSpPr>
          <p:cNvPr id="37" name="Text 35"/>
          <p:cNvSpPr txBox="1"/>
          <p:nvPr/>
        </p:nvSpPr>
        <p:spPr>
          <a:xfrm>
            <a:off x="1600200" y="484632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Tone-mapping quanh đèn</a:t>
            </a:r>
            <a:endParaRPr lang="en-US" sz="1600" dirty="0"/>
          </a:p>
        </p:txBody>
      </p:sp>
      <p:sp>
        <p:nvSpPr>
          <p:cNvPr id="38" name="Text 36"/>
          <p:cNvSpPr txBox="1"/>
          <p:nvPr/>
        </p:nvSpPr>
        <p:spPr>
          <a:xfrm>
            <a:off x="4892040" y="484632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39" name="Text 37"/>
          <p:cNvSpPr txBox="1"/>
          <p:nvPr/>
        </p:nvSpPr>
        <p:spPr>
          <a:xfrm>
            <a:off x="5715000" y="484632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Làm dịu vầng sáng quanh đèn trong ảnh đưa vào detector.</a:t>
            </a:r>
            <a:endParaRPr lang="en-US" sz="1300" dirty="0"/>
          </a:p>
        </p:txBody>
      </p:sp>
      <p:sp>
        <p:nvSpPr>
          <p:cNvPr id="40" name="Text 38"/>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600" b="1" dirty="0">
                <a:solidFill>
                  <a:srgbClr val="F2F2F2"/>
                </a:solidFill>
                <a:latin typeface="Arial" pitchFamily="34" charset="0"/>
                <a:ea typeface="Arial" pitchFamily="34" charset="-122"/>
                <a:cs typeface="Arial" pitchFamily="34" charset="-120"/>
              </a:rPr>
              <a:t>Thạch báo (Table I, test): full+M6 HOTA 70.03, IDF1 87.03.  </a:t>
            </a:r>
            <a:pPr indent="0" marL="0">
              <a:buNone/>
            </a:pPr>
            <a:r>
              <a:rPr lang="en-US" sz="1600" b="1" dirty="0">
                <a:solidFill>
                  <a:srgbClr val="19A35F"/>
                </a:solidFill>
                <a:latin typeface="Arial" pitchFamily="34" charset="0"/>
                <a:ea typeface="Arial" pitchFamily="34" charset="-122"/>
                <a:cs typeface="Arial" pitchFamily="34" charset="-120"/>
              </a:rPr>
              <a:t>Mình chạy lại 14/14 cấu hình: ra đúng từng số.</a:t>
            </a:r>
            <a:endParaRPr lang="en-US" sz="1600" dirty="0"/>
          </a:p>
        </p:txBody>
      </p:sp>
      <p:sp>
        <p:nvSpPr>
          <p:cNvPr id="41" name="Text 39"/>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Thạch chỉ báo Table I trên test. Mình đo thêm Table II/III và tập val, như các phần trước.</a:t>
            </a:r>
            <a:endParaRPr lang="en-US" sz="1300" dirty="0"/>
          </a:p>
        </p:txBody>
      </p:sp>
      <p:sp>
        <p:nvSpPr>
          <p:cNvPr id="42" name="Shape 4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43"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44"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M1</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Vùng bất định nở rộng khi mất người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Người bị chói vài chục frame có thể rẽ, đứng lại hay lùi. Box dự đoán không còn trùng (IoU = 0) → sinh ID mới.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frame không thấy người, Kalman tăng độ bất định: vị trí cộng thêm (0.03·h)² mỗi frame (h = chiều cao box), tối đa 30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Detection chưa ai nhận được thử với track đã mất ≥ 2 frame: khoảng cách Mahalanobis ≤ 9.21 (vùng 99%), so với 2 giả thuyết: đi tiếp vận tốc cũ, hoặc đứng lại chỗ cũ.</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Chặn thêm: không xa quá sức đi bộ, chiều cao lệch &lt; 1.5×, không đè lên người đang được track.</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Kèm theo: hãm vận tốc ×0.88 khi hai người gần nhau, giờ chỉ áp cho track đang coast.</a:t>
            </a:r>
            <a:endParaRPr lang="en-US" sz="1300" dirty="0"/>
          </a:p>
        </p:txBody>
      </p:sp>
      <p:pic>
        <p:nvPicPr>
          <p:cNvPr id="9" name="Image 0" descr="D:\PROJECT\PEG\results\thach_v2\figures\m1_cone.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M1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+0.40</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−0.05</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−6.1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+0.67</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+1.8</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Cone khớp lại được 10 lần trên cả tập test (full+M6). Đi cùng M5 thì Table III sụt mạnh: xem slide “Vì sao Table III sụt”.</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Re-ID: “dấu vân tay” lấy từ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Công nhân mặc đồ bảo hộ giống nhau, nên màu áo (HSV) gần như không phân biệt được ai với ai. Đó là lý do M2 cũ không bao giờ kích hoạt.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Lấy feature map tầng P4 của detector, cắt theo box, chia nửa trên / nửa dưới người (không thêm mạng nào).</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Trừ trung bình của cả video để bỏ phần “giống nhau” chung, rồi ghép với màu HSV: độ giống = 70% feature + 30% màu.</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người giữ tối đa 10 dấu vân tay, 5 frame lấy 1 lần, chỉ khi người rõ, chưa chói và không chen với người khác.</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So detection mới với cả 10 mẫu, lấy mẫu giống nhất.</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chưa chói: lưu dấu vân tay</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lấy khi người rõ, không có đốm cháy, không chen</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chói: đóng băng</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không cập nhật bằng ảnh cháy trắng</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Dùng ở 4 chỗ</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giành detection (+0.25) · đổi cặp ID (+0.15) · lọc cone M1 (≥ 0.35) · hồi sinh M4 (≥ 0.60)</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M2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Không có bộ đếm số lần M2 quyết định. Ở test, FP giảm chủ yếu trên video 320.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M3</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Ngưỡng chói h tăng dần + thời gian giữ box thích nghi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Đèn chiếu lên tường cũng làm vùng box trắng → PEG giữ box “ma” mãi. Và mọi lần chói đều được giữ 5 frame như nhau.</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Mất detection quá 3 frame: ngưỡng h tăng 6% mỗi frame, từ 0.40 tới tối đa 0.65 → càng lâu càng cần bằng chứng mạnh.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Thời gian được giữ box sau khi xác nhận chói = 5 frame × φ / 0.5. Vì chỉ xét khi φ ≥ h, thực tế là 4 hoặc 5 frame (PEG: luôn 5).</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nguyên như v1.</a:t>
            </a:r>
            <a:endParaRPr lang="en-US" sz="1300" dirty="0"/>
          </a:p>
        </p:txBody>
      </p:sp>
      <p:pic>
        <p:nvPicPr>
          <p:cNvPr id="9" name="Image 0" descr="D:\PROJECT\PEG\results\thach_v2\figures\m3_dynamic_h.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M3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+0.15</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+0.04</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Chỉ đổi lúc người đã mất detection; không có bộ đếm trong code của Thạch.</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M4</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Pool track “ngủ”: trả lại ID cũ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Track bị xóa sau khi mất quá lâu. Nếu người quay lại, họ nhận một ID mới → đổi ID.</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Track đã xác nhận bị xóa → cất vào pool, giữ tối đa 45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Có người mới xuất hiện: xét các track trong pool ở gần đó (khoảng cách ≤ 2 lần đường chéo box + 15% mỗi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Dấu vân tay (M2) giống ≥ 0.60 → trả lại ID cũ, gộp gallery.</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như v1, nhưng giờ dùng dấu vân tay mới của M2.</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Track mất quá lâu</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cất vào pool “ngủ” (≤ 45 frame)</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Người mới xuất hiện gần chỗ cũ</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trong tầm đi bộ</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Giống ≥ 0.60?</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có → trả lại ID cũ thay vì ID mới</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M4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+0.29</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Trong bảng của Thạch, base+M4 bật kèm M2. Số lần hồi sinh trên test (full+M6): 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M5</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Neo box vào đèn mũ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Khi chói, box chỉ chạy theo dự đoán Kalman; người đổi tư thế hay quay người thì box trôi.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chạy khi gate PEG đã xác nhận người đang bị chói.</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tâm đốm đèn trong dải đầu của box (45% phía trên).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Tâm người ≈ tâm đèn + 0.35 × chiều cao box.</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Kéo nhẹ tâm box Kalman về đó (cập nhật yếu), nếu không quá xa box hiện tại. Giữ như v1.</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Gate PEG: người đang bị chói</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lúc này M5 mới chạy</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Tìm đốm đèn ở dải đầu box</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tâm người ≈ đèn + 0.35 h</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Kéo nhẹ box về đó</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cập nhật Kalman với độ tin thấp</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M5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−0.12</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+0.20</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−1.29</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−4.2</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Một mình M5 gần như vô hại. Đi cùng M1 thì cú “kéo nhẹ” thành kéo mạnh: xem slide “Vì sao Table III sụt”.</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M6</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Làm dịu vầng sáng quanh đèn trước khi đưa vào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Quanh đèn có một vầng sáng rộng làm mất chi tiết của người đứng gần → detector bỏ sót.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vùng cháy trắng (lõi đèn) trong ảnh.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Tách ảnh thành lớp “độ sáng nền” (mờ, giữ cạnh) và lớp chi tiết.</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Nén lớp nền chỗ quá sáng (trên 0.55, nén còn 35%), chỉ trong vòng quanh đèn; lõi đèn giữ nguyên.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ảnh đưa vào detector bị đổi. Gate PEG và màu Re-ID vẫn dùng ảnh gốc.</a:t>
            </a:r>
            <a:endParaRPr lang="en-US" sz="1300" dirty="0"/>
          </a:p>
        </p:txBody>
      </p:sp>
      <p:pic>
        <p:nvPicPr>
          <p:cNvPr id="9" name="Image 0" descr="D:\PROJECT\PEG\results\thach_v2\figures\m6_tonemap.png">    </p:cNvPr>
          <p:cNvPicPr>
            <a:picLocks noChangeAspect="1"/>
          </p:cNvPicPr>
          <p:nvPr/>
        </p:nvPicPr>
        <p:blipFill>
          <a:blip r:embed="rId1"/>
          <a:stretch>
            <a:fillRect/>
          </a:stretch>
        </p:blipFill>
        <p:spPr>
          <a:xfrm>
            <a:off x="6080760" y="1463040"/>
            <a:ext cx="5559552" cy="2093008"/>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M6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+1.04</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−0.10</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−0.73</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Áp lên 100% số frame test (ngưỡng bật rất thấp). Cần chạy lại detector: phải build cache riêng.</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SO CÙNG CẤU HÌNH</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“base” của Thạch không phải PEG</a:t>
            </a:r>
            <a:endParaRPr lang="en-US" sz="3000" dirty="0"/>
          </a:p>
        </p:txBody>
      </p:sp>
      <p:sp>
        <p:nvSpPr>
          <p:cNvPr id="4" name="Text 2"/>
          <p:cNvSpPr txBox="1"/>
          <p:nvPr/>
        </p:nvSpPr>
        <p:spPr>
          <a:xfrm>
            <a:off x="3291840"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965192"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6" name="Text 4"/>
          <p:cNvSpPr txBox="1"/>
          <p:nvPr/>
        </p:nvSpPr>
        <p:spPr>
          <a:xfrm>
            <a:off x="6638544"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129 HOTA</a:t>
            </a:r>
            <a:endParaRPr lang="en-US" sz="1300" dirty="0"/>
          </a:p>
        </p:txBody>
      </p:sp>
      <p:sp>
        <p:nvSpPr>
          <p:cNvPr id="7" name="Text 5"/>
          <p:cNvSpPr txBox="1"/>
          <p:nvPr/>
        </p:nvSpPr>
        <p:spPr>
          <a:xfrm>
            <a:off x="8311896"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HOTA</a:t>
            </a:r>
            <a:endParaRPr lang="en-US" sz="1300" dirty="0"/>
          </a:p>
        </p:txBody>
      </p:sp>
      <p:sp>
        <p:nvSpPr>
          <p:cNvPr id="8" name="Text 6"/>
          <p:cNvSpPr txBox="1"/>
          <p:nvPr/>
        </p:nvSpPr>
        <p:spPr>
          <a:xfrm>
            <a:off x="9985248"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IDSW</a:t>
            </a:r>
            <a:endParaRPr lang="en-US" sz="13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 (guard bật)</a:t>
            </a:r>
            <a:endParaRPr lang="en-US" sz="1700" dirty="0"/>
          </a:p>
        </p:txBody>
      </p:sp>
      <p:sp>
        <p:nvSpPr>
          <p:cNvPr id="12" name="Text 10"/>
          <p:cNvSpPr txBox="1"/>
          <p:nvPr/>
        </p:nvSpPr>
        <p:spPr>
          <a:xfrm>
            <a:off x="3291840"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68.34</a:t>
            </a:r>
            <a:endParaRPr lang="en-US" sz="2400" dirty="0"/>
          </a:p>
        </p:txBody>
      </p:sp>
      <p:sp>
        <p:nvSpPr>
          <p:cNvPr id="13" name="Text 11"/>
          <p:cNvSpPr txBox="1"/>
          <p:nvPr/>
        </p:nvSpPr>
        <p:spPr>
          <a:xfrm>
            <a:off x="4965192"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15</a:t>
            </a:r>
            <a:endParaRPr lang="en-US" sz="2400" dirty="0"/>
          </a:p>
        </p:txBody>
      </p:sp>
      <p:sp>
        <p:nvSpPr>
          <p:cNvPr id="14" name="Text 12"/>
          <p:cNvSpPr txBox="1"/>
          <p:nvPr/>
        </p:nvSpPr>
        <p:spPr>
          <a:xfrm>
            <a:off x="6638544"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36.6</a:t>
            </a:r>
            <a:endParaRPr lang="en-US" sz="2400" dirty="0"/>
          </a:p>
        </p:txBody>
      </p:sp>
      <p:sp>
        <p:nvSpPr>
          <p:cNvPr id="15" name="Text 13"/>
          <p:cNvSpPr txBox="1"/>
          <p:nvPr/>
        </p:nvSpPr>
        <p:spPr>
          <a:xfrm>
            <a:off x="8311896"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43.0</a:t>
            </a:r>
            <a:endParaRPr lang="en-US" sz="2400" dirty="0"/>
          </a:p>
        </p:txBody>
      </p:sp>
      <p:sp>
        <p:nvSpPr>
          <p:cNvPr id="16" name="Text 14"/>
          <p:cNvSpPr txBox="1"/>
          <p:nvPr/>
        </p:nvSpPr>
        <p:spPr>
          <a:xfrm>
            <a:off x="9985248"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9B6EE8"/>
          </a:solidFill>
          <a:ln w="12700">
            <a:solidFill>
              <a:srgbClr val="9B6EE8"/>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 của Thạch</a:t>
            </a:r>
            <a:endParaRPr lang="en-US" sz="1700" dirty="0"/>
          </a:p>
        </p:txBody>
      </p:sp>
      <p:sp>
        <p:nvSpPr>
          <p:cNvPr id="20" name="Text 18"/>
          <p:cNvSpPr txBox="1"/>
          <p:nvPr/>
        </p:nvSpPr>
        <p:spPr>
          <a:xfrm>
            <a:off x="3291840"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68.84</a:t>
            </a:r>
            <a:endParaRPr lang="en-US" sz="2400" dirty="0"/>
          </a:p>
        </p:txBody>
      </p:sp>
      <p:sp>
        <p:nvSpPr>
          <p:cNvPr id="21" name="Text 19"/>
          <p:cNvSpPr txBox="1"/>
          <p:nvPr/>
        </p:nvSpPr>
        <p:spPr>
          <a:xfrm>
            <a:off x="4965192"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38</a:t>
            </a:r>
            <a:endParaRPr lang="en-US" sz="2400" dirty="0"/>
          </a:p>
        </p:txBody>
      </p:sp>
      <p:sp>
        <p:nvSpPr>
          <p:cNvPr id="22" name="Text 20"/>
          <p:cNvSpPr txBox="1"/>
          <p:nvPr/>
        </p:nvSpPr>
        <p:spPr>
          <a:xfrm>
            <a:off x="6638544"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60.1</a:t>
            </a:r>
            <a:endParaRPr lang="en-US" sz="2400" dirty="0"/>
          </a:p>
        </p:txBody>
      </p:sp>
      <p:sp>
        <p:nvSpPr>
          <p:cNvPr id="23" name="Text 21"/>
          <p:cNvSpPr txBox="1"/>
          <p:nvPr/>
        </p:nvSpPr>
        <p:spPr>
          <a:xfrm>
            <a:off x="8311896"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39.2</a:t>
            </a:r>
            <a:endParaRPr lang="en-US" sz="2400" dirty="0"/>
          </a:p>
        </p:txBody>
      </p:sp>
      <p:sp>
        <p:nvSpPr>
          <p:cNvPr id="24" name="Text 22"/>
          <p:cNvSpPr txBox="1"/>
          <p:nvPr/>
        </p:nvSpPr>
        <p:spPr>
          <a:xfrm>
            <a:off x="9985248"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25</a:t>
            </a:r>
            <a:endParaRPr lang="en-US" sz="2400" dirty="0"/>
          </a:p>
        </p:txBody>
      </p:sp>
      <p:sp>
        <p:nvSpPr>
          <p:cNvPr id="25" name="Shape 23"/>
          <p:cNvSpPr/>
          <p:nvPr/>
        </p:nvSpPr>
        <p:spPr>
          <a:xfrm>
            <a:off x="548640" y="4023360"/>
            <a:ext cx="11091672" cy="2011680"/>
          </a:xfrm>
          <a:prstGeom prst="roundRect">
            <a:avLst>
              <a:gd name="adj" fmla="val 5455"/>
            </a:avLst>
          </a:prstGeom>
          <a:solidFill>
            <a:srgbClr val="2B2F36"/>
          </a:solidFill>
          <a:ln w="12700">
            <a:solidFill>
              <a:srgbClr val="2B2F36"/>
            </a:solidFill>
            <a:prstDash val="solid"/>
          </a:ln>
        </p:spPr>
      </p:sp>
      <p:sp>
        <p:nvSpPr>
          <p:cNvPr id="26" name="Shape 24"/>
          <p:cNvSpPr/>
          <p:nvPr/>
        </p:nvSpPr>
        <p:spPr>
          <a:xfrm>
            <a:off x="548640" y="4023360"/>
            <a:ext cx="91440" cy="2011680"/>
          </a:xfrm>
          <a:prstGeom prst="rect">
            <a:avLst/>
          </a:prstGeom>
          <a:solidFill>
            <a:srgbClr val="F2A900"/>
          </a:solidFill>
          <a:ln w="12700">
            <a:solidFill>
              <a:srgbClr val="F2A900"/>
            </a:solidFill>
            <a:prstDash val="solid"/>
          </a:ln>
        </p:spPr>
      </p:sp>
      <p:sp>
        <p:nvSpPr>
          <p:cNvPr id="27" name="Text 25"/>
          <p:cNvSpPr txBox="1"/>
          <p:nvPr/>
        </p:nvSpPr>
        <p:spPr>
          <a:xfrm>
            <a:off x="822960" y="4114800"/>
            <a:ext cx="106070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Logic đổi-ID cũ (M1-swap của v1) giờ luôn bật, không có công tắc → nằm sẵn trong base.</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Nó sửa video 129 (+23.5 HOTA) nhưng làm hỏng video 320 (IDSW 4 → 25).</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“Δ so với base” trong bảng của Thạch không phải “Δ so với PEG”. Các slide sau so với cả hai.</a:t>
            </a:r>
            <a:endParaRPr lang="en-US" sz="1600" dirty="0"/>
          </a:p>
        </p:txBody>
      </p:sp>
      <p:sp>
        <p:nvSpPr>
          <p:cNvPr id="28" name="Shape 2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9" name="Text 2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0" name="Text 2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KIỂM TRA CÁCH CHỌN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Bảng của Thạch được chỉnh và chọn trên test</a:t>
            </a:r>
            <a:endParaRPr lang="en-US" sz="3000" dirty="0"/>
          </a:p>
        </p:txBody>
      </p:sp>
      <p:sp>
        <p:nvSpPr>
          <p:cNvPr id="4" name="Shape 2"/>
          <p:cNvSpPr/>
          <p:nvPr/>
        </p:nvSpPr>
        <p:spPr>
          <a:xfrm>
            <a:off x="548640" y="1508760"/>
            <a:ext cx="3566160" cy="1737360"/>
          </a:xfrm>
          <a:prstGeom prst="roundRect">
            <a:avLst>
              <a:gd name="adj" fmla="val 6316"/>
            </a:avLst>
          </a:prstGeom>
          <a:solidFill>
            <a:srgbClr val="22252B"/>
          </a:solidFill>
          <a:ln w="12700">
            <a:solidFill>
              <a:srgbClr val="22252B"/>
            </a:solidFill>
            <a:prstDash val="solid"/>
          </a:ln>
        </p:spPr>
      </p:sp>
      <p:sp>
        <p:nvSpPr>
          <p:cNvPr id="5" name="Shape 3"/>
          <p:cNvSpPr/>
          <p:nvPr/>
        </p:nvSpPr>
        <p:spPr>
          <a:xfrm>
            <a:off x="548640" y="1508760"/>
            <a:ext cx="91440" cy="1737360"/>
          </a:xfrm>
          <a:prstGeom prst="rect">
            <a:avLst/>
          </a:prstGeom>
          <a:solidFill>
            <a:srgbClr val="E66767"/>
          </a:solidFill>
          <a:ln w="12700">
            <a:solidFill>
              <a:srgbClr val="E66767"/>
            </a:solidFill>
            <a:prstDash val="solid"/>
          </a:ln>
        </p:spPr>
      </p:sp>
      <p:sp>
        <p:nvSpPr>
          <p:cNvPr id="6" name="Text 4"/>
          <p:cNvSpPr txBox="1"/>
          <p:nvPr/>
        </p:nvSpPr>
        <p:spPr>
          <a:xfrm>
            <a:off x="822960"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22960"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 trên test</a:t>
            </a:r>
            <a:endParaRPr lang="en-US" sz="1600" dirty="0"/>
          </a:p>
        </p:txBody>
      </p:sp>
      <p:sp>
        <p:nvSpPr>
          <p:cNvPr id="8" name="Shape 6"/>
          <p:cNvSpPr/>
          <p:nvPr/>
        </p:nvSpPr>
        <p:spPr>
          <a:xfrm>
            <a:off x="4315968" y="1508760"/>
            <a:ext cx="3566160" cy="1737360"/>
          </a:xfrm>
          <a:prstGeom prst="roundRect">
            <a:avLst>
              <a:gd name="adj" fmla="val 6316"/>
            </a:avLst>
          </a:prstGeom>
          <a:solidFill>
            <a:srgbClr val="22252B"/>
          </a:solidFill>
          <a:ln w="12700">
            <a:solidFill>
              <a:srgbClr val="22252B"/>
            </a:solidFill>
            <a:prstDash val="solid"/>
          </a:ln>
        </p:spPr>
      </p:sp>
      <p:sp>
        <p:nvSpPr>
          <p:cNvPr id="9" name="Shape 7"/>
          <p:cNvSpPr/>
          <p:nvPr/>
        </p:nvSpPr>
        <p:spPr>
          <a:xfrm>
            <a:off x="4315968" y="1508760"/>
            <a:ext cx="91440" cy="1737360"/>
          </a:xfrm>
          <a:prstGeom prst="rect">
            <a:avLst/>
          </a:prstGeom>
          <a:solidFill>
            <a:srgbClr val="E66767"/>
          </a:solidFill>
          <a:ln w="12700">
            <a:solidFill>
              <a:srgbClr val="E66767"/>
            </a:solidFill>
            <a:prstDash val="solid"/>
          </a:ln>
        </p:spPr>
      </p:sp>
      <p:sp>
        <p:nvSpPr>
          <p:cNvPr id="10" name="Text 8"/>
          <p:cNvSpPr txBox="1"/>
          <p:nvPr/>
        </p:nvSpPr>
        <p:spPr>
          <a:xfrm>
            <a:off x="4590288"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0</a:t>
            </a:r>
            <a:endParaRPr lang="en-US" sz="5400" dirty="0"/>
          </a:p>
        </p:txBody>
      </p:sp>
      <p:sp>
        <p:nvSpPr>
          <p:cNvPr id="11" name="Text 9"/>
          <p:cNvSpPr txBox="1"/>
          <p:nvPr/>
        </p:nvSpPr>
        <p:spPr>
          <a:xfrm>
            <a:off x="4590288"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trên val</a:t>
            </a:r>
            <a:endParaRPr lang="en-US" sz="1600" dirty="0"/>
          </a:p>
        </p:txBody>
      </p:sp>
      <p:sp>
        <p:nvSpPr>
          <p:cNvPr id="12" name="Shape 10"/>
          <p:cNvSpPr/>
          <p:nvPr/>
        </p:nvSpPr>
        <p:spPr>
          <a:xfrm>
            <a:off x="8083296" y="1508760"/>
            <a:ext cx="3566160" cy="1737360"/>
          </a:xfrm>
          <a:prstGeom prst="roundRect">
            <a:avLst>
              <a:gd name="adj" fmla="val 6316"/>
            </a:avLst>
          </a:prstGeom>
          <a:solidFill>
            <a:srgbClr val="22252B"/>
          </a:solidFill>
          <a:ln w="12700">
            <a:solidFill>
              <a:srgbClr val="22252B"/>
            </a:solidFill>
            <a:prstDash val="solid"/>
          </a:ln>
        </p:spPr>
      </p:sp>
      <p:sp>
        <p:nvSpPr>
          <p:cNvPr id="13" name="Shape 11"/>
          <p:cNvSpPr/>
          <p:nvPr/>
        </p:nvSpPr>
        <p:spPr>
          <a:xfrm>
            <a:off x="8083296" y="1508760"/>
            <a:ext cx="91440" cy="1737360"/>
          </a:xfrm>
          <a:prstGeom prst="rect">
            <a:avLst/>
          </a:prstGeom>
          <a:solidFill>
            <a:srgbClr val="F2A900"/>
          </a:solidFill>
          <a:ln w="12700">
            <a:solidFill>
              <a:srgbClr val="F2A900"/>
            </a:solidFill>
            <a:prstDash val="solid"/>
          </a:ln>
        </p:spPr>
      </p:sp>
      <p:sp>
        <p:nvSpPr>
          <p:cNvPr id="14" name="Text 12"/>
          <p:cNvSpPr txBox="1"/>
          <p:nvPr/>
        </p:nvSpPr>
        <p:spPr>
          <a:xfrm>
            <a:off x="8357616" y="1554480"/>
            <a:ext cx="3108960" cy="1005840"/>
          </a:xfrm>
          <a:prstGeom prst="rect">
            <a:avLst/>
          </a:prstGeom>
          <a:noFill/>
          <a:ln/>
        </p:spPr>
        <p:txBody>
          <a:bodyPr wrap="square" lIns="0" tIns="0" rIns="0" bIns="0" rtlCol="0" anchor="ctr"/>
          <a:lstStyle/>
          <a:p>
            <a:pPr indent="0" marL="0">
              <a:buNone/>
            </a:pPr>
            <a:r>
              <a:rPr lang="en-US" sz="5400" b="1" dirty="0">
                <a:solidFill>
                  <a:srgbClr val="F2A900"/>
                </a:solidFill>
                <a:latin typeface="Arial" pitchFamily="34" charset="0"/>
                <a:ea typeface="Arial" pitchFamily="34" charset="-122"/>
                <a:cs typeface="Arial" pitchFamily="34" charset="-120"/>
              </a:rPr>
              <a:t>0</a:t>
            </a:r>
            <a:endParaRPr lang="en-US" sz="5400" dirty="0"/>
          </a:p>
        </p:txBody>
      </p:sp>
      <p:sp>
        <p:nvSpPr>
          <p:cNvPr id="15" name="Text 13"/>
          <p:cNvSpPr txBox="1"/>
          <p:nvPr/>
        </p:nvSpPr>
        <p:spPr>
          <a:xfrm>
            <a:off x="8357616"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II / III</a:t>
            </a:r>
            <a:endParaRPr lang="en-US" sz="1600" dirty="0"/>
          </a:p>
        </p:txBody>
      </p:sp>
      <p:sp>
        <p:nvSpPr>
          <p:cNvPr id="16" name="Shape 14"/>
          <p:cNvSpPr/>
          <p:nvPr/>
        </p:nvSpPr>
        <p:spPr>
          <a:xfrm>
            <a:off x="548640" y="3429000"/>
            <a:ext cx="11091672" cy="2606040"/>
          </a:xfrm>
          <a:prstGeom prst="roundRect">
            <a:avLst>
              <a:gd name="adj" fmla="val 4211"/>
            </a:avLst>
          </a:prstGeom>
          <a:solidFill>
            <a:srgbClr val="2B2F36"/>
          </a:solidFill>
          <a:ln w="12700">
            <a:solidFill>
              <a:srgbClr val="2B2F36"/>
            </a:solidFill>
            <a:prstDash val="solid"/>
          </a:ln>
        </p:spPr>
      </p:sp>
      <p:sp>
        <p:nvSpPr>
          <p:cNvPr id="17" name="Text 15"/>
          <p:cNvSpPr txBox="1"/>
          <p:nvPr/>
        </p:nvSpPr>
        <p:spPr>
          <a:xfrm>
            <a:off x="822960" y="3520440"/>
            <a:ext cx="10607040" cy="242316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Script của Thạch ghi: “choose / calibrate on VAL, report TEST once”, nhưng thư mục kết quả không có file val nào.</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Riêng M1 có các bản thử dx_qonly / dx_qcone / dx_damp (HOTA 66.44–68.84), fix1 (69.09), fix2 = bản cuối (69.24): tất cả đo trên Table I test.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+1.69 HOTA là số “chọn trên test, báo trên test”. Mình làm lại đúng cách: chọn trên val bằng luật chốt trước (commit trước khi có số val), báo test một lần.</a:t>
            </a:r>
            <a:endParaRPr lang="en-US" sz="1600" dirty="0"/>
          </a:p>
        </p:txBody>
      </p:sp>
      <p:sp>
        <p:nvSpPr>
          <p:cNvPr id="18" name="Shape 1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 name="Text 1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 name="Text 1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KẾT QUẢ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test,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68.34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82.68</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61.41</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73.48</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68.84</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84.73</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62.18</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72.93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69.54</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85.87</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57.24</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70.28</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55.6</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70.03</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87.03</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29</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61.21</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69.48</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53.6</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full+M6 hơn PEG +1.69 HOTA, +4.35 IDF1. IDSW 15 → 29.</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II: −0.20 HOTA, −4.00 MOTA.   Table III: Rcv@.5 76.2 → 53.6.</a:t>
            </a:r>
            <a:endParaRPr lang="en-US" sz="16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TỪNG FRAME BỊ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Table III sụt: M1 làm cú “kéo nhẹ” của M5 thành kéo mạnh</a:t>
            </a:r>
            <a:endParaRPr lang="en-US" sz="2600" dirty="0"/>
          </a:p>
        </p:txBody>
      </p:sp>
      <p:sp>
        <p:nvSpPr>
          <p:cNvPr id="4" name="Text 2"/>
          <p:cNvSpPr txBox="1"/>
          <p:nvPr/>
        </p:nvSpPr>
        <p:spPr>
          <a:xfrm>
            <a:off x="4846320"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test</a:t>
            </a:r>
            <a:endParaRPr lang="en-US" sz="1200" dirty="0"/>
          </a:p>
        </p:txBody>
      </p:sp>
      <p:sp>
        <p:nvSpPr>
          <p:cNvPr id="5" name="Text 3"/>
          <p:cNvSpPr txBox="1"/>
          <p:nvPr/>
        </p:nvSpPr>
        <p:spPr>
          <a:xfrm>
            <a:off x="6547104"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val</a:t>
            </a:r>
            <a:endParaRPr lang="en-US" sz="1200" dirty="0"/>
          </a:p>
        </p:txBody>
      </p:sp>
      <p:sp>
        <p:nvSpPr>
          <p:cNvPr id="6" name="Text 4"/>
          <p:cNvSpPr txBox="1"/>
          <p:nvPr/>
        </p:nvSpPr>
        <p:spPr>
          <a:xfrm>
            <a:off x="8247888"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test</a:t>
            </a:r>
            <a:endParaRPr lang="en-US" sz="1200" dirty="0"/>
          </a:p>
        </p:txBody>
      </p:sp>
      <p:sp>
        <p:nvSpPr>
          <p:cNvPr id="7" name="Text 5"/>
          <p:cNvSpPr txBox="1"/>
          <p:nvPr/>
        </p:nvSpPr>
        <p:spPr>
          <a:xfrm>
            <a:off x="9948672"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val</a:t>
            </a:r>
            <a:endParaRPr lang="en-US" sz="1200" dirty="0"/>
          </a:p>
        </p:txBody>
      </p:sp>
      <p:sp>
        <p:nvSpPr>
          <p:cNvPr id="8" name="Shape 6"/>
          <p:cNvSpPr/>
          <p:nvPr/>
        </p:nvSpPr>
        <p:spPr>
          <a:xfrm>
            <a:off x="548640" y="1783080"/>
            <a:ext cx="11091672" cy="457200"/>
          </a:xfrm>
          <a:prstGeom prst="roundRect">
            <a:avLst>
              <a:gd name="adj" fmla="val 24000"/>
            </a:avLst>
          </a:prstGeom>
          <a:solidFill>
            <a:srgbClr val="22252B"/>
          </a:solidFill>
          <a:ln w="12700">
            <a:solidFill>
              <a:srgbClr val="22252B"/>
            </a:solidFill>
            <a:prstDash val="solid"/>
          </a:ln>
        </p:spPr>
      </p:sp>
      <p:sp>
        <p:nvSpPr>
          <p:cNvPr id="9" name="Shape 7"/>
          <p:cNvSpPr/>
          <p:nvPr/>
        </p:nvSpPr>
        <p:spPr>
          <a:xfrm>
            <a:off x="548640" y="1783080"/>
            <a:ext cx="91440" cy="457200"/>
          </a:xfrm>
          <a:prstGeom prst="rect">
            <a:avLst/>
          </a:prstGeom>
          <a:solidFill>
            <a:srgbClr val="A3A8B0"/>
          </a:solidFill>
          <a:ln w="12700">
            <a:solidFill>
              <a:srgbClr val="A3A8B0"/>
            </a:solidFill>
            <a:prstDash val="solid"/>
          </a:ln>
        </p:spPr>
      </p:sp>
      <p:sp>
        <p:nvSpPr>
          <p:cNvPr id="10" name="Text 8"/>
          <p:cNvSpPr txBox="1"/>
          <p:nvPr/>
        </p:nvSpPr>
        <p:spPr>
          <a:xfrm>
            <a:off x="822960" y="1783080"/>
            <a:ext cx="4023360" cy="457200"/>
          </a:xfrm>
          <a:prstGeom prst="rect">
            <a:avLst/>
          </a:prstGeom>
          <a:noFill/>
          <a:ln/>
        </p:spPr>
        <p:txBody>
          <a:bodyPr wrap="square" lIns="0" tIns="0" rIns="0" bIns="0" rtlCol="0" anchor="ctr"/>
          <a:lstStyle/>
          <a:p>
            <a:pPr indent="0" marL="0">
              <a:buNone/>
            </a:pPr>
            <a:r>
              <a:rPr lang="en-US" sz="1400" b="1" dirty="0">
                <a:solidFill>
                  <a:srgbClr val="A3A8B0"/>
                </a:solidFill>
                <a:latin typeface="Arial" pitchFamily="34" charset="0"/>
                <a:ea typeface="Arial" pitchFamily="34" charset="-122"/>
                <a:cs typeface="Arial" pitchFamily="34" charset="-120"/>
              </a:rPr>
              <a:t>base</a:t>
            </a:r>
            <a:endParaRPr lang="en-US" sz="1400" dirty="0"/>
          </a:p>
        </p:txBody>
      </p:sp>
      <p:sp>
        <p:nvSpPr>
          <p:cNvPr id="11" name="Text 9"/>
          <p:cNvSpPr txBox="1"/>
          <p:nvPr/>
        </p:nvSpPr>
        <p:spPr>
          <a:xfrm>
            <a:off x="4846320"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12" name="Text 10"/>
          <p:cNvSpPr txBox="1"/>
          <p:nvPr/>
        </p:nvSpPr>
        <p:spPr>
          <a:xfrm>
            <a:off x="6547104"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67.6</a:t>
            </a:r>
            <a:endParaRPr lang="en-US" sz="1700" dirty="0"/>
          </a:p>
        </p:txBody>
      </p:sp>
      <p:sp>
        <p:nvSpPr>
          <p:cNvPr id="13" name="Text 11"/>
          <p:cNvSpPr txBox="1"/>
          <p:nvPr/>
        </p:nvSpPr>
        <p:spPr>
          <a:xfrm>
            <a:off x="8247888"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9948672"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5" name="Shape 13"/>
          <p:cNvSpPr/>
          <p:nvPr/>
        </p:nvSpPr>
        <p:spPr>
          <a:xfrm>
            <a:off x="548640" y="2295144"/>
            <a:ext cx="11091672" cy="457200"/>
          </a:xfrm>
          <a:prstGeom prst="roundRect">
            <a:avLst>
              <a:gd name="adj" fmla="val 24000"/>
            </a:avLst>
          </a:prstGeom>
          <a:solidFill>
            <a:srgbClr val="22252B"/>
          </a:solidFill>
          <a:ln w="12700">
            <a:solidFill>
              <a:srgbClr val="22252B"/>
            </a:solidFill>
            <a:prstDash val="solid"/>
          </a:ln>
        </p:spPr>
      </p:sp>
      <p:sp>
        <p:nvSpPr>
          <p:cNvPr id="16" name="Shape 14"/>
          <p:cNvSpPr/>
          <p:nvPr/>
        </p:nvSpPr>
        <p:spPr>
          <a:xfrm>
            <a:off x="548640" y="2295144"/>
            <a:ext cx="91440" cy="457200"/>
          </a:xfrm>
          <a:prstGeom prst="rect">
            <a:avLst/>
          </a:prstGeom>
          <a:solidFill>
            <a:srgbClr val="9B6EE8"/>
          </a:solidFill>
          <a:ln w="12700">
            <a:solidFill>
              <a:srgbClr val="9B6EE8"/>
            </a:solidFill>
            <a:prstDash val="solid"/>
          </a:ln>
        </p:spPr>
      </p:sp>
      <p:sp>
        <p:nvSpPr>
          <p:cNvPr id="17" name="Text 15"/>
          <p:cNvSpPr txBox="1"/>
          <p:nvPr/>
        </p:nvSpPr>
        <p:spPr>
          <a:xfrm>
            <a:off x="822960" y="2295144"/>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M1</a:t>
            </a:r>
            <a:endParaRPr lang="en-US" sz="1400" dirty="0"/>
          </a:p>
        </p:txBody>
      </p:sp>
      <p:sp>
        <p:nvSpPr>
          <p:cNvPr id="18" name="Text 16"/>
          <p:cNvSpPr txBox="1"/>
          <p:nvPr/>
        </p:nvSpPr>
        <p:spPr>
          <a:xfrm>
            <a:off x="4846320"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70.1</a:t>
            </a:r>
            <a:endParaRPr lang="en-US" sz="1700" dirty="0"/>
          </a:p>
        </p:txBody>
      </p:sp>
      <p:sp>
        <p:nvSpPr>
          <p:cNvPr id="19" name="Text 17"/>
          <p:cNvSpPr txBox="1"/>
          <p:nvPr/>
        </p:nvSpPr>
        <p:spPr>
          <a:xfrm>
            <a:off x="6547104"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69.4</a:t>
            </a:r>
            <a:endParaRPr lang="en-US" sz="1700" dirty="0"/>
          </a:p>
        </p:txBody>
      </p:sp>
      <p:sp>
        <p:nvSpPr>
          <p:cNvPr id="20" name="Text 18"/>
          <p:cNvSpPr txBox="1"/>
          <p:nvPr/>
        </p:nvSpPr>
        <p:spPr>
          <a:xfrm>
            <a:off x="8247888"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1" name="Text 19"/>
          <p:cNvSpPr txBox="1"/>
          <p:nvPr/>
        </p:nvSpPr>
        <p:spPr>
          <a:xfrm>
            <a:off x="9948672"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22" name="Shape 20"/>
          <p:cNvSpPr/>
          <p:nvPr/>
        </p:nvSpPr>
        <p:spPr>
          <a:xfrm>
            <a:off x="548640" y="2807208"/>
            <a:ext cx="11091672" cy="457200"/>
          </a:xfrm>
          <a:prstGeom prst="roundRect">
            <a:avLst>
              <a:gd name="adj" fmla="val 24000"/>
            </a:avLst>
          </a:prstGeom>
          <a:solidFill>
            <a:srgbClr val="22252B"/>
          </a:solidFill>
          <a:ln w="12700">
            <a:solidFill>
              <a:srgbClr val="22252B"/>
            </a:solidFill>
            <a:prstDash val="solid"/>
          </a:ln>
        </p:spPr>
      </p:sp>
      <p:sp>
        <p:nvSpPr>
          <p:cNvPr id="23" name="Shape 21"/>
          <p:cNvSpPr/>
          <p:nvPr/>
        </p:nvSpPr>
        <p:spPr>
          <a:xfrm>
            <a:off x="548640" y="2807208"/>
            <a:ext cx="91440" cy="457200"/>
          </a:xfrm>
          <a:prstGeom prst="rect">
            <a:avLst/>
          </a:prstGeom>
          <a:solidFill>
            <a:srgbClr val="9B6EE8"/>
          </a:solidFill>
          <a:ln w="12700">
            <a:solidFill>
              <a:srgbClr val="9B6EE8"/>
            </a:solidFill>
            <a:prstDash val="solid"/>
          </a:ln>
        </p:spPr>
      </p:sp>
      <p:sp>
        <p:nvSpPr>
          <p:cNvPr id="24" name="Text 22"/>
          <p:cNvSpPr txBox="1"/>
          <p:nvPr/>
        </p:nvSpPr>
        <p:spPr>
          <a:xfrm>
            <a:off x="822960" y="2807208"/>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M5</a:t>
            </a:r>
            <a:endParaRPr lang="en-US" sz="1400" dirty="0"/>
          </a:p>
        </p:txBody>
      </p:sp>
      <p:sp>
        <p:nvSpPr>
          <p:cNvPr id="25" name="Text 23"/>
          <p:cNvSpPr txBox="1"/>
          <p:nvPr/>
        </p:nvSpPr>
        <p:spPr>
          <a:xfrm>
            <a:off x="4846320"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26" name="Text 24"/>
          <p:cNvSpPr txBox="1"/>
          <p:nvPr/>
        </p:nvSpPr>
        <p:spPr>
          <a:xfrm>
            <a:off x="6547104"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63.4</a:t>
            </a:r>
            <a:endParaRPr lang="en-US" sz="1700" dirty="0"/>
          </a:p>
        </p:txBody>
      </p:sp>
      <p:sp>
        <p:nvSpPr>
          <p:cNvPr id="27" name="Text 25"/>
          <p:cNvSpPr txBox="1"/>
          <p:nvPr/>
        </p:nvSpPr>
        <p:spPr>
          <a:xfrm>
            <a:off x="8247888"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8" name="Text 26"/>
          <p:cNvSpPr txBox="1"/>
          <p:nvPr/>
        </p:nvSpPr>
        <p:spPr>
          <a:xfrm>
            <a:off x="9948672"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29" name="Shape 27"/>
          <p:cNvSpPr/>
          <p:nvPr/>
        </p:nvSpPr>
        <p:spPr>
          <a:xfrm>
            <a:off x="548640" y="3319272"/>
            <a:ext cx="11091672" cy="457200"/>
          </a:xfrm>
          <a:prstGeom prst="roundRect">
            <a:avLst>
              <a:gd name="adj" fmla="val 24000"/>
            </a:avLst>
          </a:prstGeom>
          <a:solidFill>
            <a:srgbClr val="22252B"/>
          </a:solidFill>
          <a:ln w="12700">
            <a:solidFill>
              <a:srgbClr val="22252B"/>
            </a:solidFill>
            <a:prstDash val="solid"/>
          </a:ln>
        </p:spPr>
      </p:sp>
      <p:sp>
        <p:nvSpPr>
          <p:cNvPr id="30" name="Shape 28"/>
          <p:cNvSpPr/>
          <p:nvPr/>
        </p:nvSpPr>
        <p:spPr>
          <a:xfrm>
            <a:off x="548640" y="3319272"/>
            <a:ext cx="91440" cy="457200"/>
          </a:xfrm>
          <a:prstGeom prst="rect">
            <a:avLst/>
          </a:prstGeom>
          <a:solidFill>
            <a:srgbClr val="E66767"/>
          </a:solidFill>
          <a:ln w="12700">
            <a:solidFill>
              <a:srgbClr val="E66767"/>
            </a:solidFill>
            <a:prstDash val="solid"/>
          </a:ln>
        </p:spPr>
      </p:sp>
      <p:sp>
        <p:nvSpPr>
          <p:cNvPr id="31" name="Text 29"/>
          <p:cNvSpPr txBox="1"/>
          <p:nvPr/>
        </p:nvSpPr>
        <p:spPr>
          <a:xfrm>
            <a:off x="822960" y="3319272"/>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M5 + chỉ phần nở vùng bất định của M1</a:t>
            </a:r>
            <a:endParaRPr lang="en-US" sz="1400" dirty="0"/>
          </a:p>
        </p:txBody>
      </p:sp>
      <p:sp>
        <p:nvSpPr>
          <p:cNvPr id="32" name="Text 30"/>
          <p:cNvSpPr txBox="1"/>
          <p:nvPr/>
        </p:nvSpPr>
        <p:spPr>
          <a:xfrm>
            <a:off x="4846320"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53.6</a:t>
            </a:r>
            <a:endParaRPr lang="en-US" sz="1700" dirty="0"/>
          </a:p>
        </p:txBody>
      </p:sp>
      <p:sp>
        <p:nvSpPr>
          <p:cNvPr id="33" name="Text 31"/>
          <p:cNvSpPr txBox="1"/>
          <p:nvPr/>
        </p:nvSpPr>
        <p:spPr>
          <a:xfrm>
            <a:off x="6547104"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35.9</a:t>
            </a:r>
            <a:endParaRPr lang="en-US" sz="1700" dirty="0"/>
          </a:p>
        </p:txBody>
      </p:sp>
      <p:sp>
        <p:nvSpPr>
          <p:cNvPr id="34" name="Text 32"/>
          <p:cNvSpPr txBox="1"/>
          <p:nvPr/>
        </p:nvSpPr>
        <p:spPr>
          <a:xfrm>
            <a:off x="8247888"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−14%</a:t>
            </a:r>
            <a:endParaRPr lang="en-US" sz="1700" dirty="0"/>
          </a:p>
        </p:txBody>
      </p:sp>
      <p:sp>
        <p:nvSpPr>
          <p:cNvPr id="35" name="Text 33"/>
          <p:cNvSpPr txBox="1"/>
          <p:nvPr/>
        </p:nvSpPr>
        <p:spPr>
          <a:xfrm>
            <a:off x="9948672"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36" name="Shape 34"/>
          <p:cNvSpPr/>
          <p:nvPr/>
        </p:nvSpPr>
        <p:spPr>
          <a:xfrm>
            <a:off x="548640" y="3831336"/>
            <a:ext cx="11091672" cy="457200"/>
          </a:xfrm>
          <a:prstGeom prst="roundRect">
            <a:avLst>
              <a:gd name="adj" fmla="val 24000"/>
            </a:avLst>
          </a:prstGeom>
          <a:solidFill>
            <a:srgbClr val="22252B"/>
          </a:solidFill>
          <a:ln w="12700">
            <a:solidFill>
              <a:srgbClr val="22252B"/>
            </a:solidFill>
            <a:prstDash val="solid"/>
          </a:ln>
        </p:spPr>
      </p:sp>
      <p:sp>
        <p:nvSpPr>
          <p:cNvPr id="37" name="Shape 35"/>
          <p:cNvSpPr/>
          <p:nvPr/>
        </p:nvSpPr>
        <p:spPr>
          <a:xfrm>
            <a:off x="548640" y="3831336"/>
            <a:ext cx="91440" cy="457200"/>
          </a:xfrm>
          <a:prstGeom prst="rect">
            <a:avLst/>
          </a:prstGeom>
          <a:solidFill>
            <a:srgbClr val="E66767"/>
          </a:solidFill>
          <a:ln w="12700">
            <a:solidFill>
              <a:srgbClr val="E66767"/>
            </a:solidFill>
            <a:prstDash val="solid"/>
          </a:ln>
        </p:spPr>
      </p:sp>
      <p:sp>
        <p:nvSpPr>
          <p:cNvPr id="38" name="Text 36"/>
          <p:cNvSpPr txBox="1"/>
          <p:nvPr/>
        </p:nvSpPr>
        <p:spPr>
          <a:xfrm>
            <a:off x="822960" y="3831336"/>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full (M1–M5)</a:t>
            </a:r>
            <a:endParaRPr lang="en-US" sz="1400" dirty="0"/>
          </a:p>
        </p:txBody>
      </p:sp>
      <p:sp>
        <p:nvSpPr>
          <p:cNvPr id="39" name="Text 37"/>
          <p:cNvSpPr txBox="1"/>
          <p:nvPr/>
        </p:nvSpPr>
        <p:spPr>
          <a:xfrm>
            <a:off x="4846320"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55.6</a:t>
            </a:r>
            <a:endParaRPr lang="en-US" sz="1700" dirty="0"/>
          </a:p>
        </p:txBody>
      </p:sp>
      <p:sp>
        <p:nvSpPr>
          <p:cNvPr id="40" name="Text 38"/>
          <p:cNvSpPr txBox="1"/>
          <p:nvPr/>
        </p:nvSpPr>
        <p:spPr>
          <a:xfrm>
            <a:off x="6547104"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37.7</a:t>
            </a:r>
            <a:endParaRPr lang="en-US" sz="1700" dirty="0"/>
          </a:p>
        </p:txBody>
      </p:sp>
      <p:sp>
        <p:nvSpPr>
          <p:cNvPr id="41" name="Text 39"/>
          <p:cNvSpPr txBox="1"/>
          <p:nvPr/>
        </p:nvSpPr>
        <p:spPr>
          <a:xfrm>
            <a:off x="8247888"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−10%</a:t>
            </a:r>
            <a:endParaRPr lang="en-US" sz="1700" dirty="0"/>
          </a:p>
        </p:txBody>
      </p:sp>
      <p:sp>
        <p:nvSpPr>
          <p:cNvPr id="42" name="Text 40"/>
          <p:cNvSpPr txBox="1"/>
          <p:nvPr/>
        </p:nvSpPr>
        <p:spPr>
          <a:xfrm>
            <a:off x="9948672"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43" name="Shape 41"/>
          <p:cNvSpPr/>
          <p:nvPr/>
        </p:nvSpPr>
        <p:spPr>
          <a:xfrm>
            <a:off x="548640" y="4343400"/>
            <a:ext cx="11091672" cy="457200"/>
          </a:xfrm>
          <a:prstGeom prst="roundRect">
            <a:avLst>
              <a:gd name="adj" fmla="val 24000"/>
            </a:avLst>
          </a:prstGeom>
          <a:solidFill>
            <a:srgbClr val="22252B"/>
          </a:solidFill>
          <a:ln w="12700">
            <a:solidFill>
              <a:srgbClr val="22252B"/>
            </a:solidFill>
            <a:prstDash val="solid"/>
          </a:ln>
        </p:spPr>
      </p:sp>
      <p:sp>
        <p:nvSpPr>
          <p:cNvPr id="44" name="Shape 42"/>
          <p:cNvSpPr/>
          <p:nvPr/>
        </p:nvSpPr>
        <p:spPr>
          <a:xfrm>
            <a:off x="548640" y="4343400"/>
            <a:ext cx="91440" cy="457200"/>
          </a:xfrm>
          <a:prstGeom prst="rect">
            <a:avLst/>
          </a:prstGeom>
          <a:solidFill>
            <a:srgbClr val="19A35F"/>
          </a:solidFill>
          <a:ln w="12700">
            <a:solidFill>
              <a:srgbClr val="19A35F"/>
            </a:solidFill>
            <a:prstDash val="solid"/>
          </a:ln>
        </p:spPr>
      </p:sp>
      <p:sp>
        <p:nvSpPr>
          <p:cNvPr id="45" name="Text 43"/>
          <p:cNvSpPr txBox="1"/>
          <p:nvPr/>
        </p:nvSpPr>
        <p:spPr>
          <a:xfrm>
            <a:off x="822960" y="4343400"/>
            <a:ext cx="4023360" cy="457200"/>
          </a:xfrm>
          <a:prstGeom prst="rect">
            <a:avLst/>
          </a:prstGeom>
          <a:noFill/>
          <a:ln/>
        </p:spPr>
        <p:txBody>
          <a:bodyPr wrap="square" lIns="0" tIns="0" rIns="0" bIns="0" rtlCol="0" anchor="ctr"/>
          <a:lstStyle/>
          <a:p>
            <a:pPr indent="0" marL="0">
              <a:buNone/>
            </a:pPr>
            <a:r>
              <a:rPr lang="en-US" sz="1400" b="1" dirty="0">
                <a:solidFill>
                  <a:srgbClr val="19A35F"/>
                </a:solidFill>
                <a:latin typeface="Arial" pitchFamily="34" charset="0"/>
                <a:ea typeface="Arial" pitchFamily="34" charset="-122"/>
                <a:cs typeface="Arial" pitchFamily="34" charset="-120"/>
              </a:rPr>
              <a:t>full, tắt phần nở vùng bất định</a:t>
            </a:r>
            <a:endParaRPr lang="en-US" sz="1400" dirty="0"/>
          </a:p>
        </p:txBody>
      </p:sp>
      <p:sp>
        <p:nvSpPr>
          <p:cNvPr id="46" name="Text 44"/>
          <p:cNvSpPr txBox="1"/>
          <p:nvPr/>
        </p:nvSpPr>
        <p:spPr>
          <a:xfrm>
            <a:off x="4846320"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69.5</a:t>
            </a:r>
            <a:endParaRPr lang="en-US" sz="1700" dirty="0"/>
          </a:p>
        </p:txBody>
      </p:sp>
      <p:sp>
        <p:nvSpPr>
          <p:cNvPr id="47" name="Text 45"/>
          <p:cNvSpPr txBox="1"/>
          <p:nvPr/>
        </p:nvSpPr>
        <p:spPr>
          <a:xfrm>
            <a:off x="6547104"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65.1</a:t>
            </a:r>
            <a:endParaRPr lang="en-US" sz="1700" dirty="0"/>
          </a:p>
        </p:txBody>
      </p:sp>
      <p:sp>
        <p:nvSpPr>
          <p:cNvPr id="48" name="Text 46"/>
          <p:cNvSpPr txBox="1"/>
          <p:nvPr/>
        </p:nvSpPr>
        <p:spPr>
          <a:xfrm>
            <a:off x="8247888"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±0%</a:t>
            </a:r>
            <a:endParaRPr lang="en-US" sz="1700" dirty="0"/>
          </a:p>
        </p:txBody>
      </p:sp>
      <p:sp>
        <p:nvSpPr>
          <p:cNvPr id="49" name="Text 47"/>
          <p:cNvSpPr txBox="1"/>
          <p:nvPr/>
        </p:nvSpPr>
        <p:spPr>
          <a:xfrm>
            <a:off x="9948672"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50" name="Shape 48"/>
          <p:cNvSpPr/>
          <p:nvPr/>
        </p:nvSpPr>
        <p:spPr>
          <a:xfrm>
            <a:off x="548640" y="4946904"/>
            <a:ext cx="11091672" cy="1316736"/>
          </a:xfrm>
          <a:prstGeom prst="roundRect">
            <a:avLst>
              <a:gd name="adj" fmla="val 8333"/>
            </a:avLst>
          </a:prstGeom>
          <a:solidFill>
            <a:srgbClr val="2B2F36"/>
          </a:solidFill>
          <a:ln w="12700">
            <a:solidFill>
              <a:srgbClr val="2B2F36"/>
            </a:solidFill>
            <a:prstDash val="solid"/>
          </a:ln>
        </p:spPr>
      </p:sp>
      <p:sp>
        <p:nvSpPr>
          <p:cNvPr id="51" name="Shape 49"/>
          <p:cNvSpPr/>
          <p:nvPr/>
        </p:nvSpPr>
        <p:spPr>
          <a:xfrm>
            <a:off x="548640" y="4946904"/>
            <a:ext cx="91440" cy="1316736"/>
          </a:xfrm>
          <a:prstGeom prst="rect">
            <a:avLst/>
          </a:prstGeom>
          <a:solidFill>
            <a:srgbClr val="F2A900"/>
          </a:solidFill>
          <a:ln w="12700">
            <a:solidFill>
              <a:srgbClr val="F2A900"/>
            </a:solidFill>
            <a:prstDash val="solid"/>
          </a:ln>
        </p:spPr>
      </p:sp>
      <p:sp>
        <p:nvSpPr>
          <p:cNvPr id="52" name="Text 50"/>
          <p:cNvSpPr txBox="1"/>
          <p:nvPr/>
        </p:nvSpPr>
        <p:spPr>
          <a:xfrm>
            <a:off x="822960" y="4992624"/>
            <a:ext cx="10607040" cy="122529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M1 làm độ bất định vị trí của Kalman tăng mỗi frame mất người. M5 kéo box về đèn với độ tin cố định. Độ bất định càng lớn thì Kalman càng tin phép đo → kéo nhẹ thành kéo hẳn.</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Box vẫn còn và vẫn đúng chiều cao, nhưng trượt ngang theo đốm sáng (lệch trung vị = % bề rộng người, trong các frame chói).</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Kiểm tra bằng công tắc con của M1: chỉ cần phần nở vùng bất định + M5 là đủ gây sụt; tắt riêng phần đó thì T3 hồi lại.</a:t>
            </a:r>
            <a:endParaRPr lang="en-US" sz="1400" dirty="0"/>
          </a:p>
        </p:txBody>
      </p:sp>
      <p:sp>
        <p:nvSpPr>
          <p:cNvPr id="53" name="Shape 5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val,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70.24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86.35</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69.98</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85.76</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70.51</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86.60</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33</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73.70</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86.55</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37.7</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69.85</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85.37</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48</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73.16</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86.62</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37.1</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full+M6 so với PEG: T1 −0.39 HOTA (IDSW 15 → 48), T2 −3.09 HOTA, T3 Rcv 67.6 → 37.1.</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Mức tăng Table I trên test không lặp lại. Table III sụt như trên test, còn nặng hơn.</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Ngay cả base (có logic đổi-ID cũ) cũng kém PEG ở T1: 69.98 so với 70.24, IDSW 28 so với 15.</a:t>
            </a:r>
            <a:endParaRPr lang="en-US" sz="15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CHỌN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Luật chốt trước, chọn trên val: không method nào qua</a:t>
            </a:r>
            <a:endParaRPr lang="en-US" sz="3000" dirty="0"/>
          </a:p>
        </p:txBody>
      </p:sp>
      <p:sp>
        <p:nvSpPr>
          <p:cNvPr id="4" name="Text 2"/>
          <p:cNvSpPr txBox="1"/>
          <p:nvPr/>
        </p:nvSpPr>
        <p:spPr>
          <a:xfrm>
            <a:off x="548640" y="1371600"/>
            <a:ext cx="1106424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Ứng viên = 13 cấu hình của Thạch so với base. Qua vòng 1 nếu không bảng nào giảm quá 0.5 và tổng tăng &gt; 0.5:</a:t>
            </a:r>
            <a:endParaRPr lang="en-US" sz="1400" dirty="0"/>
          </a:p>
        </p:txBody>
      </p:sp>
      <p:sp>
        <p:nvSpPr>
          <p:cNvPr id="5" name="Text 3"/>
          <p:cNvSpPr txBox="1"/>
          <p:nvPr/>
        </p:nvSpPr>
        <p:spPr>
          <a:xfrm>
            <a:off x="292608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ΔT1 HOTA</a:t>
            </a:r>
            <a:endParaRPr lang="en-US" sz="1200" dirty="0"/>
          </a:p>
        </p:txBody>
      </p:sp>
      <p:sp>
        <p:nvSpPr>
          <p:cNvPr id="6" name="Text 4"/>
          <p:cNvSpPr txBox="1"/>
          <p:nvPr/>
        </p:nvSpPr>
        <p:spPr>
          <a:xfrm>
            <a:off x="425196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ΔT2 HOTA</a:t>
            </a:r>
            <a:endParaRPr lang="en-US" sz="1200" dirty="0"/>
          </a:p>
        </p:txBody>
      </p:sp>
      <p:sp>
        <p:nvSpPr>
          <p:cNvPr id="7" name="Text 5"/>
          <p:cNvSpPr txBox="1"/>
          <p:nvPr/>
        </p:nvSpPr>
        <p:spPr>
          <a:xfrm>
            <a:off x="5577840" y="1737360"/>
            <a:ext cx="118872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ΔT3 Rcv</a:t>
            </a:r>
            <a:endParaRPr lang="en-US" sz="1200" dirty="0"/>
          </a:p>
        </p:txBody>
      </p:sp>
      <p:sp>
        <p:nvSpPr>
          <p:cNvPr id="8" name="Text 6"/>
          <p:cNvSpPr txBox="1"/>
          <p:nvPr/>
        </p:nvSpPr>
        <p:spPr>
          <a:xfrm>
            <a:off x="6766560" y="1737360"/>
            <a:ext cx="100584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9" name="Text 7"/>
          <p:cNvSpPr txBox="1"/>
          <p:nvPr/>
        </p:nvSpPr>
        <p:spPr>
          <a:xfrm>
            <a:off x="7863840" y="1737360"/>
            <a:ext cx="246888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bỏ 1 video / 1 lần chói có lợi nhất</a:t>
            </a:r>
            <a:endParaRPr lang="en-US" sz="1200" dirty="0"/>
          </a:p>
        </p:txBody>
      </p:sp>
      <p:sp>
        <p:nvSpPr>
          <p:cNvPr id="10" name="Text 8"/>
          <p:cNvSpPr txBox="1"/>
          <p:nvPr/>
        </p:nvSpPr>
        <p:spPr>
          <a:xfrm>
            <a:off x="10332720" y="1737360"/>
            <a:ext cx="1280160" cy="320040"/>
          </a:xfrm>
          <a:prstGeom prst="rect">
            <a:avLst/>
          </a:prstGeom>
          <a:noFill/>
          <a:ln/>
        </p:spPr>
        <p:txBody>
          <a:bodyPr wrap="square" lIns="0" tIns="0" rIns="0" bIns="0" rtlCol="0" anchor="t"/>
          <a:lstStyle/>
          <a:p>
            <a:pPr algn="ctr" indent="0" marL="0">
              <a:buNone/>
            </a:pPr>
            <a:endParaRPr lang="en-US" sz="1200" dirty="0"/>
          </a:p>
        </p:txBody>
      </p:sp>
      <p:sp>
        <p:nvSpPr>
          <p:cNvPr id="11" name="Shape 9"/>
          <p:cNvSpPr/>
          <p:nvPr/>
        </p:nvSpPr>
        <p:spPr>
          <a:xfrm>
            <a:off x="548640" y="2103120"/>
            <a:ext cx="11091672" cy="548640"/>
          </a:xfrm>
          <a:prstGeom prst="roundRect">
            <a:avLst>
              <a:gd name="adj" fmla="val 20000"/>
            </a:avLst>
          </a:prstGeom>
          <a:solidFill>
            <a:srgbClr val="22252B"/>
          </a:solidFill>
          <a:ln w="12700">
            <a:solidFill>
              <a:srgbClr val="22252B"/>
            </a:solidFill>
            <a:prstDash val="solid"/>
          </a:ln>
        </p:spPr>
      </p:sp>
      <p:sp>
        <p:nvSpPr>
          <p:cNvPr id="12" name="Text 10"/>
          <p:cNvSpPr txBox="1"/>
          <p:nvPr/>
        </p:nvSpPr>
        <p:spPr>
          <a:xfrm>
            <a:off x="777240" y="2103120"/>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full-M5</a:t>
            </a:r>
            <a:endParaRPr lang="en-US" sz="1700" dirty="0"/>
          </a:p>
        </p:txBody>
      </p:sp>
      <p:sp>
        <p:nvSpPr>
          <p:cNvPr id="13" name="Text 11"/>
          <p:cNvSpPr txBox="1"/>
          <p:nvPr/>
        </p:nvSpPr>
        <p:spPr>
          <a:xfrm>
            <a:off x="292608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+0.53</a:t>
            </a:r>
            <a:endParaRPr lang="en-US" sz="1600" dirty="0"/>
          </a:p>
        </p:txBody>
      </p:sp>
      <p:sp>
        <p:nvSpPr>
          <p:cNvPr id="14" name="Text 12"/>
          <p:cNvSpPr txBox="1"/>
          <p:nvPr/>
        </p:nvSpPr>
        <p:spPr>
          <a:xfrm>
            <a:off x="425196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15" name="Text 13"/>
          <p:cNvSpPr txBox="1"/>
          <p:nvPr/>
        </p:nvSpPr>
        <p:spPr>
          <a:xfrm>
            <a:off x="5577840" y="2103120"/>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16" name="Text 14"/>
          <p:cNvSpPr txBox="1"/>
          <p:nvPr/>
        </p:nvSpPr>
        <p:spPr>
          <a:xfrm>
            <a:off x="6766560" y="2103120"/>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+3.00</a:t>
            </a:r>
            <a:endParaRPr lang="en-US" sz="1600" dirty="0"/>
          </a:p>
        </p:txBody>
      </p:sp>
      <p:sp>
        <p:nvSpPr>
          <p:cNvPr id="17" name="Text 15"/>
          <p:cNvSpPr txBox="1"/>
          <p:nvPr/>
        </p:nvSpPr>
        <p:spPr>
          <a:xfrm>
            <a:off x="7863840" y="2103120"/>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−0.71</a:t>
            </a:r>
            <a:endParaRPr lang="en-US" sz="1600" dirty="0"/>
          </a:p>
        </p:txBody>
      </p:sp>
      <p:sp>
        <p:nvSpPr>
          <p:cNvPr id="18" name="Text 16"/>
          <p:cNvSpPr txBox="1"/>
          <p:nvPr/>
        </p:nvSpPr>
        <p:spPr>
          <a:xfrm>
            <a:off x="10332720" y="2103120"/>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19" name="Shape 17"/>
          <p:cNvSpPr/>
          <p:nvPr/>
        </p:nvSpPr>
        <p:spPr>
          <a:xfrm>
            <a:off x="548640" y="2724912"/>
            <a:ext cx="11091672" cy="548640"/>
          </a:xfrm>
          <a:prstGeom prst="roundRect">
            <a:avLst>
              <a:gd name="adj" fmla="val 20000"/>
            </a:avLst>
          </a:prstGeom>
          <a:solidFill>
            <a:srgbClr val="22252B"/>
          </a:solidFill>
          <a:ln w="12700">
            <a:solidFill>
              <a:srgbClr val="22252B"/>
            </a:solidFill>
            <a:prstDash val="solid"/>
          </a:ln>
        </p:spPr>
      </p:sp>
      <p:sp>
        <p:nvSpPr>
          <p:cNvPr id="20" name="Text 18"/>
          <p:cNvSpPr txBox="1"/>
          <p:nvPr/>
        </p:nvSpPr>
        <p:spPr>
          <a:xfrm>
            <a:off x="777240" y="2724912"/>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base+M1</a:t>
            </a:r>
            <a:endParaRPr lang="en-US" sz="1700" dirty="0"/>
          </a:p>
        </p:txBody>
      </p:sp>
      <p:sp>
        <p:nvSpPr>
          <p:cNvPr id="21" name="Text 19"/>
          <p:cNvSpPr txBox="1"/>
          <p:nvPr/>
        </p:nvSpPr>
        <p:spPr>
          <a:xfrm>
            <a:off x="292608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425196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23" name="Text 21"/>
          <p:cNvSpPr txBox="1"/>
          <p:nvPr/>
        </p:nvSpPr>
        <p:spPr>
          <a:xfrm>
            <a:off x="5577840" y="2724912"/>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24" name="Text 22"/>
          <p:cNvSpPr txBox="1"/>
          <p:nvPr/>
        </p:nvSpPr>
        <p:spPr>
          <a:xfrm>
            <a:off x="6766560" y="2724912"/>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+2.72</a:t>
            </a:r>
            <a:endParaRPr lang="en-US" sz="1600" dirty="0"/>
          </a:p>
        </p:txBody>
      </p:sp>
      <p:sp>
        <p:nvSpPr>
          <p:cNvPr id="25" name="Text 23"/>
          <p:cNvSpPr txBox="1"/>
          <p:nvPr/>
        </p:nvSpPr>
        <p:spPr>
          <a:xfrm>
            <a:off x="7863840" y="2724912"/>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−0.89</a:t>
            </a:r>
            <a:endParaRPr lang="en-US" sz="1600" dirty="0"/>
          </a:p>
        </p:txBody>
      </p:sp>
      <p:sp>
        <p:nvSpPr>
          <p:cNvPr id="26" name="Text 24"/>
          <p:cNvSpPr txBox="1"/>
          <p:nvPr/>
        </p:nvSpPr>
        <p:spPr>
          <a:xfrm>
            <a:off x="10332720" y="2724912"/>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27" name="Shape 25"/>
          <p:cNvSpPr/>
          <p:nvPr/>
        </p:nvSpPr>
        <p:spPr>
          <a:xfrm>
            <a:off x="548640" y="3438144"/>
            <a:ext cx="5440680" cy="2825496"/>
          </a:xfrm>
          <a:prstGeom prst="roundRect">
            <a:avLst>
              <a:gd name="adj" fmla="val 3883"/>
            </a:avLst>
          </a:prstGeom>
          <a:solidFill>
            <a:srgbClr val="2B2F36"/>
          </a:solidFill>
          <a:ln w="12700">
            <a:solidFill>
              <a:srgbClr val="2B2F36"/>
            </a:solidFill>
            <a:prstDash val="solid"/>
          </a:ln>
        </p:spPr>
      </p:sp>
      <p:sp>
        <p:nvSpPr>
          <p:cNvPr id="28" name="Text 26"/>
          <p:cNvSpPr txBox="1"/>
          <p:nvPr/>
        </p:nvSpPr>
        <p:spPr>
          <a:xfrm>
            <a:off x="777240" y="3483864"/>
            <a:ext cx="5074920" cy="273405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Mức tăng của cả hai đến từ 1 video T2 (147) và 1 lần chói T3 (video 332).</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Cấu hình có cả M1 và M5 bị loại ngay: T3 giảm ~30 điểm.</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M6 bị loại: cả 3 bảng đều giảm trên val.</a:t>
            </a:r>
            <a:endParaRPr lang="en-US" sz="1400" dirty="0"/>
          </a:p>
        </p:txBody>
      </p:sp>
      <p:sp>
        <p:nvSpPr>
          <p:cNvPr id="29" name="Shape 27"/>
          <p:cNvSpPr/>
          <p:nvPr/>
        </p:nvSpPr>
        <p:spPr>
          <a:xfrm>
            <a:off x="6199632" y="3438144"/>
            <a:ext cx="5440680" cy="2825496"/>
          </a:xfrm>
          <a:prstGeom prst="roundRect">
            <a:avLst>
              <a:gd name="adj" fmla="val 3883"/>
            </a:avLst>
          </a:prstGeom>
          <a:solidFill>
            <a:srgbClr val="22252B"/>
          </a:solidFill>
          <a:ln w="12700">
            <a:solidFill>
              <a:srgbClr val="22252B"/>
            </a:solidFill>
            <a:prstDash val="solid"/>
          </a:ln>
        </p:spPr>
      </p:sp>
      <p:sp>
        <p:nvSpPr>
          <p:cNvPr id="30" name="Shape 28"/>
          <p:cNvSpPr/>
          <p:nvPr/>
        </p:nvSpPr>
        <p:spPr>
          <a:xfrm>
            <a:off x="6199632" y="3438144"/>
            <a:ext cx="91440" cy="2825496"/>
          </a:xfrm>
          <a:prstGeom prst="rect">
            <a:avLst/>
          </a:prstGeom>
          <a:solidFill>
            <a:srgbClr val="F2A900"/>
          </a:solidFill>
          <a:ln w="12700">
            <a:solidFill>
              <a:srgbClr val="F2A900"/>
            </a:solidFill>
            <a:prstDash val="solid"/>
          </a:ln>
        </p:spPr>
      </p:sp>
      <p:sp>
        <p:nvSpPr>
          <p:cNvPr id="31" name="Text 29"/>
          <p:cNvSpPr txBox="1"/>
          <p:nvPr/>
        </p:nvSpPr>
        <p:spPr>
          <a:xfrm>
            <a:off x="6446520" y="3483864"/>
            <a:ext cx="5029200" cy="2734056"/>
          </a:xfrm>
          <a:prstGeom prst="rect">
            <a:avLst/>
          </a:prstGeom>
          <a:noFill/>
          <a:ln/>
        </p:spPr>
        <p:txBody>
          <a:bodyPr wrap="square" lIns="0" tIns="0" rIns="0" bIns="0" rtlCol="0" anchor="ctr"/>
          <a:lstStyle/>
          <a:p>
            <a:pPr indent="0" marL="0">
              <a:buNone/>
            </a:pPr>
            <a:r>
              <a:rPr lang="en-US" sz="1700" b="1" dirty="0">
                <a:solidFill>
                  <a:srgbClr val="F2A900"/>
                </a:solidFill>
                <a:latin typeface="Arial" pitchFamily="34" charset="0"/>
                <a:ea typeface="Arial" pitchFamily="34" charset="-122"/>
                <a:cs typeface="Arial" pitchFamily="34" charset="-120"/>
              </a:rPr>
              <a:t>Báo test một lần: base</a:t>
            </a:r>
            <a:endParaRPr lang="en-US" sz="1600" dirty="0"/>
          </a:p>
          <a:p>
            <a:pPr indent="0" marL="0">
              <a:buNone/>
            </a:pPr>
            <a:r>
              <a:rPr lang="en-US" sz="1600" b="1" dirty="0">
                <a:solidFill>
                  <a:srgbClr val="F2F2F2"/>
                </a:solidFill>
                <a:latin typeface="Arial" pitchFamily="34" charset="0"/>
                <a:ea typeface="Arial" pitchFamily="34" charset="-122"/>
                <a:cs typeface="Arial" pitchFamily="34" charset="-120"/>
              </a:rPr>
              <a:t>T1 HOTA 68.84 · T2 HOTA 62.18 · T3 76.2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PEG: 68.34 · 61.41 · 76.2</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Thạch báo (chọn trên test): full+M6 T1 70.03</a:t>
            </a:r>
            <a:endParaRPr lang="en-US" sz="1600" dirty="0"/>
          </a:p>
          <a:p>
            <a:pPr indent="0" marL="0">
              <a:buNone/>
            </a:pPr>
            <a:r>
              <a:rPr lang="en-US" sz="1300" dirty="0">
                <a:solidFill>
                  <a:srgbClr val="F2A900"/>
                </a:solidFill>
                <a:latin typeface="Arial" pitchFamily="34" charset="0"/>
                <a:ea typeface="Arial" pitchFamily="34" charset="-122"/>
                <a:cs typeface="Arial" pitchFamily="34" charset="-120"/>
              </a:rPr>
              <a:t>base trên val: T1 −0.26 so với PEG, T2/T3 bằng → thực chất là giữ PEG.</a:t>
            </a:r>
            <a:endParaRPr lang="en-US" sz="1600" dirty="0"/>
          </a:p>
        </p:txBody>
      </p:sp>
      <p:sp>
        <p:nvSpPr>
          <p:cNvPr id="32" name="Shape 3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3" name="Text 3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4"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TUNE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Tune lại tham số trên val từ đầu: vẫn không thành phần nào qua</a:t>
            </a:r>
            <a:endParaRPr lang="en-US" sz="2600" dirty="0"/>
          </a:p>
        </p:txBody>
      </p:sp>
      <p:sp>
        <p:nvSpPr>
          <p:cNvPr id="4" name="Text 2"/>
          <p:cNvSpPr txBox="1"/>
          <p:nvPr/>
        </p:nvSpPr>
        <p:spPr>
          <a:xfrm>
            <a:off x="548640" y="132588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Xuất phát = PEG (đã kiểm: ra đúng từng số). Vòng 1 thử 26 giá trị tham số của 9 thành phần; mỗi dòng = giá trị tốt nhất của một thành phần.</a:t>
            </a:r>
            <a:endParaRPr lang="en-US" sz="1300" dirty="0"/>
          </a:p>
        </p:txBody>
      </p:sp>
      <p:sp>
        <p:nvSpPr>
          <p:cNvPr id="5" name="Text 3"/>
          <p:cNvSpPr txBox="1"/>
          <p:nvPr/>
        </p:nvSpPr>
        <p:spPr>
          <a:xfrm>
            <a:off x="777240" y="1691640"/>
            <a:ext cx="283464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thành phần</a:t>
            </a:r>
            <a:endParaRPr lang="en-US" sz="1100" dirty="0"/>
          </a:p>
        </p:txBody>
      </p:sp>
      <p:sp>
        <p:nvSpPr>
          <p:cNvPr id="6" name="Text 4"/>
          <p:cNvSpPr txBox="1"/>
          <p:nvPr/>
        </p:nvSpPr>
        <p:spPr>
          <a:xfrm>
            <a:off x="3611880" y="1691640"/>
            <a:ext cx="182880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tham số tốt nhất</a:t>
            </a:r>
            <a:endParaRPr lang="en-US" sz="1100" dirty="0"/>
          </a:p>
        </p:txBody>
      </p:sp>
      <p:sp>
        <p:nvSpPr>
          <p:cNvPr id="7" name="Text 5"/>
          <p:cNvSpPr txBox="1"/>
          <p:nvPr/>
        </p:nvSpPr>
        <p:spPr>
          <a:xfrm>
            <a:off x="544068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ΔT1 HOTA</a:t>
            </a:r>
            <a:endParaRPr lang="en-US" sz="1100" dirty="0"/>
          </a:p>
        </p:txBody>
      </p:sp>
      <p:sp>
        <p:nvSpPr>
          <p:cNvPr id="8" name="Text 6"/>
          <p:cNvSpPr txBox="1"/>
          <p:nvPr/>
        </p:nvSpPr>
        <p:spPr>
          <a:xfrm>
            <a:off x="630936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ΔT2 HOTA</a:t>
            </a:r>
            <a:endParaRPr lang="en-US" sz="1100" dirty="0"/>
          </a:p>
        </p:txBody>
      </p:sp>
      <p:sp>
        <p:nvSpPr>
          <p:cNvPr id="9" name="Text 7"/>
          <p:cNvSpPr txBox="1"/>
          <p:nvPr/>
        </p:nvSpPr>
        <p:spPr>
          <a:xfrm>
            <a:off x="7178040" y="1691640"/>
            <a:ext cx="82296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ΔT3 Rcv</a:t>
            </a:r>
            <a:endParaRPr lang="en-US" sz="1100" dirty="0"/>
          </a:p>
        </p:txBody>
      </p:sp>
      <p:sp>
        <p:nvSpPr>
          <p:cNvPr id="10" name="Text 8"/>
          <p:cNvSpPr txBox="1"/>
          <p:nvPr/>
        </p:nvSpPr>
        <p:spPr>
          <a:xfrm>
            <a:off x="8001000" y="1691640"/>
            <a:ext cx="9144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tổng (val)</a:t>
            </a:r>
            <a:endParaRPr lang="en-US" sz="1100" dirty="0"/>
          </a:p>
        </p:txBody>
      </p:sp>
      <p:sp>
        <p:nvSpPr>
          <p:cNvPr id="11" name="Text 9"/>
          <p:cNvSpPr txBox="1"/>
          <p:nvPr/>
        </p:nvSpPr>
        <p:spPr>
          <a:xfrm>
            <a:off x="8915400" y="1691640"/>
            <a:ext cx="15544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bỏ 1 video / lần chói</a:t>
            </a:r>
            <a:endParaRPr lang="en-US" sz="1100" dirty="0"/>
          </a:p>
        </p:txBody>
      </p:sp>
      <p:sp>
        <p:nvSpPr>
          <p:cNvPr id="12" name="Text 10"/>
          <p:cNvSpPr txBox="1"/>
          <p:nvPr/>
        </p:nvSpPr>
        <p:spPr>
          <a:xfrm>
            <a:off x="10469880" y="1691640"/>
            <a:ext cx="11430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test (đối chiếu)</a:t>
            </a:r>
            <a:endParaRPr lang="en-US" sz="1100" dirty="0"/>
          </a:p>
        </p:txBody>
      </p:sp>
      <p:sp>
        <p:nvSpPr>
          <p:cNvPr id="13" name="Shape 11"/>
          <p:cNvSpPr/>
          <p:nvPr/>
        </p:nvSpPr>
        <p:spPr>
          <a:xfrm>
            <a:off x="548640" y="2011680"/>
            <a:ext cx="11091672" cy="338328"/>
          </a:xfrm>
          <a:prstGeom prst="roundRect">
            <a:avLst>
              <a:gd name="adj" fmla="val 32432"/>
            </a:avLst>
          </a:prstGeom>
          <a:solidFill>
            <a:srgbClr val="22252B"/>
          </a:solidFill>
          <a:ln w="12700">
            <a:solidFill>
              <a:srgbClr val="22252B"/>
            </a:solidFill>
            <a:prstDash val="solid"/>
          </a:ln>
        </p:spPr>
      </p:sp>
      <p:sp>
        <p:nvSpPr>
          <p:cNvPr id="14" name="Text 12"/>
          <p:cNvSpPr txBox="1"/>
          <p:nvPr/>
        </p:nvSpPr>
        <p:spPr>
          <a:xfrm>
            <a:off x="777240" y="201168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cone khớp lại ID</a:t>
            </a:r>
            <a:endParaRPr lang="en-US" sz="1300" dirty="0"/>
          </a:p>
        </p:txBody>
      </p:sp>
      <p:sp>
        <p:nvSpPr>
          <p:cNvPr id="15" name="Text 13"/>
          <p:cNvSpPr txBox="1"/>
          <p:nvPr/>
        </p:nvSpPr>
        <p:spPr>
          <a:xfrm>
            <a:off x="3611880" y="201168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χ² 5.99, 0.04h</a:t>
            </a:r>
            <a:endParaRPr lang="en-US" sz="1200" dirty="0"/>
          </a:p>
        </p:txBody>
      </p:sp>
      <p:sp>
        <p:nvSpPr>
          <p:cNvPr id="16" name="Text 14"/>
          <p:cNvSpPr txBox="1"/>
          <p:nvPr/>
        </p:nvSpPr>
        <p:spPr>
          <a:xfrm>
            <a:off x="544068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+0.42</a:t>
            </a:r>
            <a:endParaRPr lang="en-US" sz="1200" dirty="0"/>
          </a:p>
        </p:txBody>
      </p:sp>
      <p:sp>
        <p:nvSpPr>
          <p:cNvPr id="17" name="Text 15"/>
          <p:cNvSpPr txBox="1"/>
          <p:nvPr/>
        </p:nvSpPr>
        <p:spPr>
          <a:xfrm>
            <a:off x="630936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+1.31</a:t>
            </a:r>
            <a:endParaRPr lang="en-US" sz="1200" dirty="0"/>
          </a:p>
        </p:txBody>
      </p:sp>
      <p:sp>
        <p:nvSpPr>
          <p:cNvPr id="18" name="Text 16"/>
          <p:cNvSpPr txBox="1"/>
          <p:nvPr/>
        </p:nvSpPr>
        <p:spPr>
          <a:xfrm>
            <a:off x="7178040" y="201168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19" name="Text 17"/>
          <p:cNvSpPr txBox="1"/>
          <p:nvPr/>
        </p:nvSpPr>
        <p:spPr>
          <a:xfrm>
            <a:off x="8001000" y="2011680"/>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+1.73</a:t>
            </a:r>
            <a:endParaRPr lang="en-US" sz="1200" dirty="0"/>
          </a:p>
        </p:txBody>
      </p:sp>
      <p:sp>
        <p:nvSpPr>
          <p:cNvPr id="20" name="Text 18"/>
          <p:cNvSpPr txBox="1"/>
          <p:nvPr/>
        </p:nvSpPr>
        <p:spPr>
          <a:xfrm>
            <a:off x="8915400" y="2011680"/>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−0.01</a:t>
            </a:r>
            <a:endParaRPr lang="en-US" sz="1200" dirty="0"/>
          </a:p>
        </p:txBody>
      </p:sp>
      <p:sp>
        <p:nvSpPr>
          <p:cNvPr id="21" name="Text 19"/>
          <p:cNvSpPr txBox="1"/>
          <p:nvPr/>
        </p:nvSpPr>
        <p:spPr>
          <a:xfrm>
            <a:off x="10469880" y="201168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+2.53</a:t>
            </a:r>
            <a:endParaRPr lang="en-US" sz="1200" dirty="0"/>
          </a:p>
        </p:txBody>
      </p:sp>
      <p:sp>
        <p:nvSpPr>
          <p:cNvPr id="22" name="Shape 20"/>
          <p:cNvSpPr/>
          <p:nvPr/>
        </p:nvSpPr>
        <p:spPr>
          <a:xfrm>
            <a:off x="548640" y="2395728"/>
            <a:ext cx="11091672" cy="338328"/>
          </a:xfrm>
          <a:prstGeom prst="roundRect">
            <a:avLst>
              <a:gd name="adj" fmla="val 32432"/>
            </a:avLst>
          </a:prstGeom>
          <a:solidFill>
            <a:srgbClr val="22252B"/>
          </a:solidFill>
          <a:ln w="12700">
            <a:solidFill>
              <a:srgbClr val="22252B"/>
            </a:solidFill>
            <a:prstDash val="solid"/>
          </a:ln>
        </p:spPr>
      </p:sp>
      <p:sp>
        <p:nvSpPr>
          <p:cNvPr id="23" name="Text 21"/>
          <p:cNvSpPr txBox="1"/>
          <p:nvPr/>
        </p:nvSpPr>
        <p:spPr>
          <a:xfrm>
            <a:off x="777240" y="239572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hãm vận tốc ×0.88</a:t>
            </a:r>
            <a:endParaRPr lang="en-US" sz="1300" dirty="0"/>
          </a:p>
        </p:txBody>
      </p:sp>
      <p:sp>
        <p:nvSpPr>
          <p:cNvPr id="24" name="Text 22"/>
          <p:cNvSpPr txBox="1"/>
          <p:nvPr/>
        </p:nvSpPr>
        <p:spPr>
          <a:xfrm>
            <a:off x="3611880" y="239572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25" name="Text 23"/>
          <p:cNvSpPr txBox="1"/>
          <p:nvPr/>
        </p:nvSpPr>
        <p:spPr>
          <a:xfrm>
            <a:off x="5440680" y="239572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26" name="Text 24"/>
          <p:cNvSpPr txBox="1"/>
          <p:nvPr/>
        </p:nvSpPr>
        <p:spPr>
          <a:xfrm>
            <a:off x="6309360" y="239572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−0.48</a:t>
            </a:r>
            <a:endParaRPr lang="en-US" sz="1200" dirty="0"/>
          </a:p>
        </p:txBody>
      </p:sp>
      <p:sp>
        <p:nvSpPr>
          <p:cNvPr id="27" name="Text 25"/>
          <p:cNvSpPr txBox="1"/>
          <p:nvPr/>
        </p:nvSpPr>
        <p:spPr>
          <a:xfrm>
            <a:off x="7178040" y="2395728"/>
            <a:ext cx="82296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+1.8</a:t>
            </a:r>
            <a:endParaRPr lang="en-US" sz="1200" dirty="0"/>
          </a:p>
        </p:txBody>
      </p:sp>
      <p:sp>
        <p:nvSpPr>
          <p:cNvPr id="28" name="Text 26"/>
          <p:cNvSpPr txBox="1"/>
          <p:nvPr/>
        </p:nvSpPr>
        <p:spPr>
          <a:xfrm>
            <a:off x="8001000" y="2395728"/>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+1.32</a:t>
            </a:r>
            <a:endParaRPr lang="en-US" sz="1200" dirty="0"/>
          </a:p>
        </p:txBody>
      </p:sp>
      <p:sp>
        <p:nvSpPr>
          <p:cNvPr id="29" name="Text 27"/>
          <p:cNvSpPr txBox="1"/>
          <p:nvPr/>
        </p:nvSpPr>
        <p:spPr>
          <a:xfrm>
            <a:off x="8915400" y="2395728"/>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−0.60</a:t>
            </a:r>
            <a:endParaRPr lang="en-US" sz="1200" dirty="0"/>
          </a:p>
        </p:txBody>
      </p:sp>
      <p:sp>
        <p:nvSpPr>
          <p:cNvPr id="30" name="Text 28"/>
          <p:cNvSpPr txBox="1"/>
          <p:nvPr/>
        </p:nvSpPr>
        <p:spPr>
          <a:xfrm>
            <a:off x="10469880" y="239572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−8.52</a:t>
            </a:r>
            <a:endParaRPr lang="en-US" sz="1200" dirty="0"/>
          </a:p>
        </p:txBody>
      </p:sp>
      <p:sp>
        <p:nvSpPr>
          <p:cNvPr id="31" name="Shape 29"/>
          <p:cNvSpPr/>
          <p:nvPr/>
        </p:nvSpPr>
        <p:spPr>
          <a:xfrm>
            <a:off x="548640" y="2779776"/>
            <a:ext cx="11091672" cy="338328"/>
          </a:xfrm>
          <a:prstGeom prst="roundRect">
            <a:avLst>
              <a:gd name="adj" fmla="val 32432"/>
            </a:avLst>
          </a:prstGeom>
          <a:solidFill>
            <a:srgbClr val="22252B"/>
          </a:solidFill>
          <a:ln w="12700">
            <a:solidFill>
              <a:srgbClr val="22252B"/>
            </a:solidFill>
            <a:prstDash val="solid"/>
          </a:ln>
        </p:spPr>
      </p:sp>
      <p:sp>
        <p:nvSpPr>
          <p:cNvPr id="32" name="Text 30"/>
          <p:cNvSpPr txBox="1"/>
          <p:nvPr/>
        </p:nvSpPr>
        <p:spPr>
          <a:xfrm>
            <a:off x="777240" y="277977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M3 · h động / TTL</a:t>
            </a:r>
            <a:endParaRPr lang="en-US" sz="1300" dirty="0"/>
          </a:p>
        </p:txBody>
      </p:sp>
      <p:sp>
        <p:nvSpPr>
          <p:cNvPr id="33" name="Text 31"/>
          <p:cNvSpPr txBox="1"/>
          <p:nvPr/>
        </p:nvSpPr>
        <p:spPr>
          <a:xfrm>
            <a:off x="3611880" y="277977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0.03, TTL tắt</a:t>
            </a:r>
            <a:endParaRPr lang="en-US" sz="1200" dirty="0"/>
          </a:p>
        </p:txBody>
      </p:sp>
      <p:sp>
        <p:nvSpPr>
          <p:cNvPr id="34" name="Text 32"/>
          <p:cNvSpPr txBox="1"/>
          <p:nvPr/>
        </p:nvSpPr>
        <p:spPr>
          <a:xfrm>
            <a:off x="544068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+0.04</a:t>
            </a:r>
            <a:endParaRPr lang="en-US" sz="1200" dirty="0"/>
          </a:p>
        </p:txBody>
      </p:sp>
      <p:sp>
        <p:nvSpPr>
          <p:cNvPr id="35" name="Text 33"/>
          <p:cNvSpPr txBox="1"/>
          <p:nvPr/>
        </p:nvSpPr>
        <p:spPr>
          <a:xfrm>
            <a:off x="630936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36" name="Text 34"/>
          <p:cNvSpPr txBox="1"/>
          <p:nvPr/>
        </p:nvSpPr>
        <p:spPr>
          <a:xfrm>
            <a:off x="7178040" y="277977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37" name="Text 35"/>
          <p:cNvSpPr txBox="1"/>
          <p:nvPr/>
        </p:nvSpPr>
        <p:spPr>
          <a:xfrm>
            <a:off x="8001000" y="2779776"/>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1200" dirty="0"/>
          </a:p>
        </p:txBody>
      </p:sp>
      <p:sp>
        <p:nvSpPr>
          <p:cNvPr id="38" name="Text 36"/>
          <p:cNvSpPr txBox="1"/>
          <p:nvPr/>
        </p:nvSpPr>
        <p:spPr>
          <a:xfrm>
            <a:off x="8915400" y="277977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39" name="Text 37"/>
          <p:cNvSpPr txBox="1"/>
          <p:nvPr/>
        </p:nvSpPr>
        <p:spPr>
          <a:xfrm>
            <a:off x="10469880" y="277977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+0.46</a:t>
            </a:r>
            <a:endParaRPr lang="en-US" sz="1200" dirty="0"/>
          </a:p>
        </p:txBody>
      </p:sp>
      <p:sp>
        <p:nvSpPr>
          <p:cNvPr id="40" name="Shape 38"/>
          <p:cNvSpPr/>
          <p:nvPr/>
        </p:nvSpPr>
        <p:spPr>
          <a:xfrm>
            <a:off x="548640" y="3163824"/>
            <a:ext cx="11091672" cy="338328"/>
          </a:xfrm>
          <a:prstGeom prst="roundRect">
            <a:avLst>
              <a:gd name="adj" fmla="val 32432"/>
            </a:avLst>
          </a:prstGeom>
          <a:solidFill>
            <a:srgbClr val="22252B"/>
          </a:solidFill>
          <a:ln w="12700">
            <a:solidFill>
              <a:srgbClr val="22252B"/>
            </a:solidFill>
            <a:prstDash val="solid"/>
          </a:ln>
        </p:spPr>
      </p:sp>
      <p:sp>
        <p:nvSpPr>
          <p:cNvPr id="41" name="Text 39"/>
          <p:cNvSpPr txBox="1"/>
          <p:nvPr/>
        </p:nvSpPr>
        <p:spPr>
          <a:xfrm>
            <a:off x="777240" y="316382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nở vùng bất định</a:t>
            </a:r>
            <a:endParaRPr lang="en-US" sz="1300" dirty="0"/>
          </a:p>
        </p:txBody>
      </p:sp>
      <p:sp>
        <p:nvSpPr>
          <p:cNvPr id="42" name="Text 40"/>
          <p:cNvSpPr txBox="1"/>
          <p:nvPr/>
        </p:nvSpPr>
        <p:spPr>
          <a:xfrm>
            <a:off x="3611880" y="316382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43" name="Text 41"/>
          <p:cNvSpPr txBox="1"/>
          <p:nvPr/>
        </p:nvSpPr>
        <p:spPr>
          <a:xfrm>
            <a:off x="544068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4" name="Text 42"/>
          <p:cNvSpPr txBox="1"/>
          <p:nvPr/>
        </p:nvSpPr>
        <p:spPr>
          <a:xfrm>
            <a:off x="630936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5" name="Text 43"/>
          <p:cNvSpPr txBox="1"/>
          <p:nvPr/>
        </p:nvSpPr>
        <p:spPr>
          <a:xfrm>
            <a:off x="7178040" y="3163824"/>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46" name="Text 44"/>
          <p:cNvSpPr txBox="1"/>
          <p:nvPr/>
        </p:nvSpPr>
        <p:spPr>
          <a:xfrm>
            <a:off x="8001000" y="3163824"/>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47" name="Text 45"/>
          <p:cNvSpPr txBox="1"/>
          <p:nvPr/>
        </p:nvSpPr>
        <p:spPr>
          <a:xfrm>
            <a:off x="8915400" y="316382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48" name="Text 46"/>
          <p:cNvSpPr txBox="1"/>
          <p:nvPr/>
        </p:nvSpPr>
        <p:spPr>
          <a:xfrm>
            <a:off x="10469880" y="316382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49" name="Shape 47"/>
          <p:cNvSpPr/>
          <p:nvPr/>
        </p:nvSpPr>
        <p:spPr>
          <a:xfrm>
            <a:off x="548640" y="3547872"/>
            <a:ext cx="11091672" cy="338328"/>
          </a:xfrm>
          <a:prstGeom prst="roundRect">
            <a:avLst>
              <a:gd name="adj" fmla="val 32432"/>
            </a:avLst>
          </a:prstGeom>
          <a:solidFill>
            <a:srgbClr val="22252B"/>
          </a:solidFill>
          <a:ln w="12700">
            <a:solidFill>
              <a:srgbClr val="22252B"/>
            </a:solidFill>
            <a:prstDash val="solid"/>
          </a:ln>
        </p:spPr>
      </p:sp>
      <p:sp>
        <p:nvSpPr>
          <p:cNvPr id="50" name="Text 48"/>
          <p:cNvSpPr txBox="1"/>
          <p:nvPr/>
        </p:nvSpPr>
        <p:spPr>
          <a:xfrm>
            <a:off x="777240" y="3547872"/>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M2 · Re-ID</a:t>
            </a:r>
            <a:endParaRPr lang="en-US" sz="1300" dirty="0"/>
          </a:p>
        </p:txBody>
      </p:sp>
      <p:sp>
        <p:nvSpPr>
          <p:cNvPr id="51" name="Text 49"/>
          <p:cNvSpPr txBox="1"/>
          <p:nvPr/>
        </p:nvSpPr>
        <p:spPr>
          <a:xfrm>
            <a:off x="3611880" y="3547872"/>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52" name="Text 50"/>
          <p:cNvSpPr txBox="1"/>
          <p:nvPr/>
        </p:nvSpPr>
        <p:spPr>
          <a:xfrm>
            <a:off x="544068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3" name="Text 51"/>
          <p:cNvSpPr txBox="1"/>
          <p:nvPr/>
        </p:nvSpPr>
        <p:spPr>
          <a:xfrm>
            <a:off x="630936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4" name="Text 52"/>
          <p:cNvSpPr txBox="1"/>
          <p:nvPr/>
        </p:nvSpPr>
        <p:spPr>
          <a:xfrm>
            <a:off x="7178040" y="3547872"/>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5" name="Text 53"/>
          <p:cNvSpPr txBox="1"/>
          <p:nvPr/>
        </p:nvSpPr>
        <p:spPr>
          <a:xfrm>
            <a:off x="8001000" y="3547872"/>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6" name="Text 54"/>
          <p:cNvSpPr txBox="1"/>
          <p:nvPr/>
        </p:nvSpPr>
        <p:spPr>
          <a:xfrm>
            <a:off x="8915400" y="3547872"/>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57" name="Text 55"/>
          <p:cNvSpPr txBox="1"/>
          <p:nvPr/>
        </p:nvSpPr>
        <p:spPr>
          <a:xfrm>
            <a:off x="10469880" y="3547872"/>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58" name="Shape 56"/>
          <p:cNvSpPr/>
          <p:nvPr/>
        </p:nvSpPr>
        <p:spPr>
          <a:xfrm>
            <a:off x="548640" y="3931920"/>
            <a:ext cx="11091672" cy="338328"/>
          </a:xfrm>
          <a:prstGeom prst="roundRect">
            <a:avLst>
              <a:gd name="adj" fmla="val 32432"/>
            </a:avLst>
          </a:prstGeom>
          <a:solidFill>
            <a:srgbClr val="22252B"/>
          </a:solidFill>
          <a:ln w="12700">
            <a:solidFill>
              <a:srgbClr val="22252B"/>
            </a:solidFill>
            <a:prstDash val="solid"/>
          </a:ln>
        </p:spPr>
      </p:sp>
      <p:sp>
        <p:nvSpPr>
          <p:cNvPr id="59" name="Text 57"/>
          <p:cNvSpPr txBox="1"/>
          <p:nvPr/>
        </p:nvSpPr>
        <p:spPr>
          <a:xfrm>
            <a:off x="777240" y="393192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M4 · pool track ngủ</a:t>
            </a:r>
            <a:endParaRPr lang="en-US" sz="1300" dirty="0"/>
          </a:p>
        </p:txBody>
      </p:sp>
      <p:sp>
        <p:nvSpPr>
          <p:cNvPr id="60" name="Text 58"/>
          <p:cNvSpPr txBox="1"/>
          <p:nvPr/>
        </p:nvSpPr>
        <p:spPr>
          <a:xfrm>
            <a:off x="3611880" y="393192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61" name="Text 59"/>
          <p:cNvSpPr txBox="1"/>
          <p:nvPr/>
        </p:nvSpPr>
        <p:spPr>
          <a:xfrm>
            <a:off x="544068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2" name="Text 60"/>
          <p:cNvSpPr txBox="1"/>
          <p:nvPr/>
        </p:nvSpPr>
        <p:spPr>
          <a:xfrm>
            <a:off x="630936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3" name="Text 61"/>
          <p:cNvSpPr txBox="1"/>
          <p:nvPr/>
        </p:nvSpPr>
        <p:spPr>
          <a:xfrm>
            <a:off x="7178040" y="393192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64" name="Text 62"/>
          <p:cNvSpPr txBox="1"/>
          <p:nvPr/>
        </p:nvSpPr>
        <p:spPr>
          <a:xfrm>
            <a:off x="8001000" y="3931920"/>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65" name="Text 63"/>
          <p:cNvSpPr txBox="1"/>
          <p:nvPr/>
        </p:nvSpPr>
        <p:spPr>
          <a:xfrm>
            <a:off x="8915400" y="3931920"/>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6" name="Text 64"/>
          <p:cNvSpPr txBox="1"/>
          <p:nvPr/>
        </p:nvSpPr>
        <p:spPr>
          <a:xfrm>
            <a:off x="10469880" y="393192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+0.05</a:t>
            </a:r>
            <a:endParaRPr lang="en-US" sz="1200" dirty="0"/>
          </a:p>
        </p:txBody>
      </p:sp>
      <p:sp>
        <p:nvSpPr>
          <p:cNvPr id="67" name="Shape 65"/>
          <p:cNvSpPr/>
          <p:nvPr/>
        </p:nvSpPr>
        <p:spPr>
          <a:xfrm>
            <a:off x="548640" y="4315968"/>
            <a:ext cx="11091672" cy="338328"/>
          </a:xfrm>
          <a:prstGeom prst="roundRect">
            <a:avLst>
              <a:gd name="adj" fmla="val 32432"/>
            </a:avLst>
          </a:prstGeom>
          <a:solidFill>
            <a:srgbClr val="22252B"/>
          </a:solidFill>
          <a:ln w="12700">
            <a:solidFill>
              <a:srgbClr val="22252B"/>
            </a:solidFill>
            <a:prstDash val="solid"/>
          </a:ln>
        </p:spPr>
      </p:sp>
      <p:sp>
        <p:nvSpPr>
          <p:cNvPr id="68" name="Text 66"/>
          <p:cNvSpPr txBox="1"/>
          <p:nvPr/>
        </p:nvSpPr>
        <p:spPr>
          <a:xfrm>
            <a:off x="777240" y="431596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M5 · neo đèn</a:t>
            </a:r>
            <a:endParaRPr lang="en-US" sz="1300" dirty="0"/>
          </a:p>
        </p:txBody>
      </p:sp>
      <p:sp>
        <p:nvSpPr>
          <p:cNvPr id="69" name="Text 67"/>
          <p:cNvSpPr txBox="1"/>
          <p:nvPr/>
        </p:nvSpPr>
        <p:spPr>
          <a:xfrm>
            <a:off x="3611880" y="431596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R ×96</a:t>
            </a:r>
            <a:endParaRPr lang="en-US" sz="1200" dirty="0"/>
          </a:p>
        </p:txBody>
      </p:sp>
      <p:sp>
        <p:nvSpPr>
          <p:cNvPr id="70" name="Text 68"/>
          <p:cNvSpPr txBox="1"/>
          <p:nvPr/>
        </p:nvSpPr>
        <p:spPr>
          <a:xfrm>
            <a:off x="5440680" y="431596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+0.02</a:t>
            </a:r>
            <a:endParaRPr lang="en-US" sz="1200" dirty="0"/>
          </a:p>
        </p:txBody>
      </p:sp>
      <p:sp>
        <p:nvSpPr>
          <p:cNvPr id="71" name="Text 69"/>
          <p:cNvSpPr txBox="1"/>
          <p:nvPr/>
        </p:nvSpPr>
        <p:spPr>
          <a:xfrm>
            <a:off x="6309360" y="431596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−0.07</a:t>
            </a:r>
            <a:endParaRPr lang="en-US" sz="1200" dirty="0"/>
          </a:p>
        </p:txBody>
      </p:sp>
      <p:sp>
        <p:nvSpPr>
          <p:cNvPr id="72" name="Text 70"/>
          <p:cNvSpPr txBox="1"/>
          <p:nvPr/>
        </p:nvSpPr>
        <p:spPr>
          <a:xfrm>
            <a:off x="7178040" y="4315968"/>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a:t>
            </a:r>
            <a:endParaRPr lang="en-US" sz="1200" dirty="0"/>
          </a:p>
        </p:txBody>
      </p:sp>
      <p:sp>
        <p:nvSpPr>
          <p:cNvPr id="73" name="Text 71"/>
          <p:cNvSpPr txBox="1"/>
          <p:nvPr/>
        </p:nvSpPr>
        <p:spPr>
          <a:xfrm>
            <a:off x="8001000" y="4315968"/>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−0.25</a:t>
            </a:r>
            <a:endParaRPr lang="en-US" sz="1200" dirty="0"/>
          </a:p>
        </p:txBody>
      </p:sp>
      <p:sp>
        <p:nvSpPr>
          <p:cNvPr id="74" name="Text 72"/>
          <p:cNvSpPr txBox="1"/>
          <p:nvPr/>
        </p:nvSpPr>
        <p:spPr>
          <a:xfrm>
            <a:off x="8915400" y="4315968"/>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75" name="Text 73"/>
          <p:cNvSpPr txBox="1"/>
          <p:nvPr/>
        </p:nvSpPr>
        <p:spPr>
          <a:xfrm>
            <a:off x="10469880" y="431596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+0.38</a:t>
            </a:r>
            <a:endParaRPr lang="en-US" sz="1200" dirty="0"/>
          </a:p>
        </p:txBody>
      </p:sp>
      <p:sp>
        <p:nvSpPr>
          <p:cNvPr id="76" name="Shape 74"/>
          <p:cNvSpPr/>
          <p:nvPr/>
        </p:nvSpPr>
        <p:spPr>
          <a:xfrm>
            <a:off x="548640" y="4700016"/>
            <a:ext cx="11091672" cy="338328"/>
          </a:xfrm>
          <a:prstGeom prst="roundRect">
            <a:avLst>
              <a:gd name="adj" fmla="val 32432"/>
            </a:avLst>
          </a:prstGeom>
          <a:solidFill>
            <a:srgbClr val="22252B"/>
          </a:solidFill>
          <a:ln w="12700">
            <a:solidFill>
              <a:srgbClr val="22252B"/>
            </a:solidFill>
            <a:prstDash val="solid"/>
          </a:ln>
        </p:spPr>
      </p:sp>
      <p:sp>
        <p:nvSpPr>
          <p:cNvPr id="77" name="Text 75"/>
          <p:cNvSpPr txBox="1"/>
          <p:nvPr/>
        </p:nvSpPr>
        <p:spPr>
          <a:xfrm>
            <a:off x="777240" y="470001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Đổi-ID viết lại (luôn bật ở base)</a:t>
            </a:r>
            <a:endParaRPr lang="en-US" sz="1300" dirty="0"/>
          </a:p>
        </p:txBody>
      </p:sp>
      <p:sp>
        <p:nvSpPr>
          <p:cNvPr id="78" name="Text 76"/>
          <p:cNvSpPr txBox="1"/>
          <p:nvPr/>
        </p:nvSpPr>
        <p:spPr>
          <a:xfrm>
            <a:off x="3611880" y="470001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9" name="Text 77"/>
          <p:cNvSpPr txBox="1"/>
          <p:nvPr/>
        </p:nvSpPr>
        <p:spPr>
          <a:xfrm>
            <a:off x="5440680" y="4700016"/>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−0.26</a:t>
            </a:r>
            <a:endParaRPr lang="en-US" sz="1200" dirty="0"/>
          </a:p>
        </p:txBody>
      </p:sp>
      <p:sp>
        <p:nvSpPr>
          <p:cNvPr id="80" name="Text 78"/>
          <p:cNvSpPr txBox="1"/>
          <p:nvPr/>
        </p:nvSpPr>
        <p:spPr>
          <a:xfrm>
            <a:off x="6309360" y="470001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81" name="Text 79"/>
          <p:cNvSpPr txBox="1"/>
          <p:nvPr/>
        </p:nvSpPr>
        <p:spPr>
          <a:xfrm>
            <a:off x="7178040" y="470001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82" name="Text 80"/>
          <p:cNvSpPr txBox="1"/>
          <p:nvPr/>
        </p:nvSpPr>
        <p:spPr>
          <a:xfrm>
            <a:off x="8001000" y="4700016"/>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−0.26</a:t>
            </a:r>
            <a:endParaRPr lang="en-US" sz="1200" dirty="0"/>
          </a:p>
        </p:txBody>
      </p:sp>
      <p:sp>
        <p:nvSpPr>
          <p:cNvPr id="83" name="Text 81"/>
          <p:cNvSpPr txBox="1"/>
          <p:nvPr/>
        </p:nvSpPr>
        <p:spPr>
          <a:xfrm>
            <a:off x="8915400" y="470001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84" name="Text 82"/>
          <p:cNvSpPr txBox="1"/>
          <p:nvPr/>
        </p:nvSpPr>
        <p:spPr>
          <a:xfrm>
            <a:off x="10469880" y="470001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+1.27</a:t>
            </a:r>
            <a:endParaRPr lang="en-US" sz="1200" dirty="0"/>
          </a:p>
        </p:txBody>
      </p:sp>
      <p:sp>
        <p:nvSpPr>
          <p:cNvPr id="85" name="Shape 83"/>
          <p:cNvSpPr/>
          <p:nvPr/>
        </p:nvSpPr>
        <p:spPr>
          <a:xfrm>
            <a:off x="548640" y="5084064"/>
            <a:ext cx="11091672" cy="338328"/>
          </a:xfrm>
          <a:prstGeom prst="roundRect">
            <a:avLst>
              <a:gd name="adj" fmla="val 32432"/>
            </a:avLst>
          </a:prstGeom>
          <a:solidFill>
            <a:srgbClr val="22252B"/>
          </a:solidFill>
          <a:ln w="12700">
            <a:solidFill>
              <a:srgbClr val="22252B"/>
            </a:solidFill>
            <a:prstDash val="solid"/>
          </a:ln>
        </p:spPr>
      </p:sp>
      <p:sp>
        <p:nvSpPr>
          <p:cNvPr id="86" name="Text 84"/>
          <p:cNvSpPr txBox="1"/>
          <p:nvPr/>
        </p:nvSpPr>
        <p:spPr>
          <a:xfrm>
            <a:off x="777240" y="508406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M6 · tone-map</a:t>
            </a:r>
            <a:endParaRPr lang="en-US" sz="1300" dirty="0"/>
          </a:p>
        </p:txBody>
      </p:sp>
      <p:sp>
        <p:nvSpPr>
          <p:cNvPr id="87" name="Text 85"/>
          <p:cNvSpPr txBox="1"/>
          <p:nvPr/>
        </p:nvSpPr>
        <p:spPr>
          <a:xfrm>
            <a:off x="3611880" y="508406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88" name="Text 86"/>
          <p:cNvSpPr txBox="1"/>
          <p:nvPr/>
        </p:nvSpPr>
        <p:spPr>
          <a:xfrm>
            <a:off x="544068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−0.10</a:t>
            </a:r>
            <a:endParaRPr lang="en-US" sz="1200" dirty="0"/>
          </a:p>
        </p:txBody>
      </p:sp>
      <p:sp>
        <p:nvSpPr>
          <p:cNvPr id="89" name="Text 87"/>
          <p:cNvSpPr txBox="1"/>
          <p:nvPr/>
        </p:nvSpPr>
        <p:spPr>
          <a:xfrm>
            <a:off x="630936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−0.73</a:t>
            </a:r>
            <a:endParaRPr lang="en-US" sz="1200" dirty="0"/>
          </a:p>
        </p:txBody>
      </p:sp>
      <p:sp>
        <p:nvSpPr>
          <p:cNvPr id="90" name="Text 88"/>
          <p:cNvSpPr txBox="1"/>
          <p:nvPr/>
        </p:nvSpPr>
        <p:spPr>
          <a:xfrm>
            <a:off x="7178040" y="5084064"/>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a:t>
            </a:r>
            <a:endParaRPr lang="en-US" sz="1200" dirty="0"/>
          </a:p>
        </p:txBody>
      </p:sp>
      <p:sp>
        <p:nvSpPr>
          <p:cNvPr id="91" name="Text 89"/>
          <p:cNvSpPr txBox="1"/>
          <p:nvPr/>
        </p:nvSpPr>
        <p:spPr>
          <a:xfrm>
            <a:off x="8001000" y="5084064"/>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−1.53</a:t>
            </a:r>
            <a:endParaRPr lang="en-US" sz="1200" dirty="0"/>
          </a:p>
        </p:txBody>
      </p:sp>
      <p:sp>
        <p:nvSpPr>
          <p:cNvPr id="92" name="Text 90"/>
          <p:cNvSpPr txBox="1"/>
          <p:nvPr/>
        </p:nvSpPr>
        <p:spPr>
          <a:xfrm>
            <a:off x="8915400" y="508406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giảm &gt; 0.5</a:t>
            </a:r>
            <a:endParaRPr lang="en-US" sz="1200" dirty="0"/>
          </a:p>
        </p:txBody>
      </p:sp>
      <p:sp>
        <p:nvSpPr>
          <p:cNvPr id="93" name="Text 91"/>
          <p:cNvSpPr txBox="1"/>
          <p:nvPr/>
        </p:nvSpPr>
        <p:spPr>
          <a:xfrm>
            <a:off x="10469880" y="508406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+3.58</a:t>
            </a:r>
            <a:endParaRPr lang="en-US" sz="1200" dirty="0"/>
          </a:p>
        </p:txBody>
      </p:sp>
      <p:sp>
        <p:nvSpPr>
          <p:cNvPr id="94" name="Shape 92"/>
          <p:cNvSpPr/>
          <p:nvPr/>
        </p:nvSpPr>
        <p:spPr>
          <a:xfrm>
            <a:off x="548640" y="5541264"/>
            <a:ext cx="11091672" cy="749808"/>
          </a:xfrm>
          <a:prstGeom prst="roundRect">
            <a:avLst>
              <a:gd name="adj" fmla="val 14634"/>
            </a:avLst>
          </a:prstGeom>
          <a:solidFill>
            <a:srgbClr val="2B2F36"/>
          </a:solidFill>
          <a:ln w="12700">
            <a:solidFill>
              <a:srgbClr val="2B2F36"/>
            </a:solidFill>
            <a:prstDash val="solid"/>
          </a:ln>
        </p:spPr>
      </p:sp>
      <p:sp>
        <p:nvSpPr>
          <p:cNvPr id="95" name="Shape 93"/>
          <p:cNvSpPr/>
          <p:nvPr/>
        </p:nvSpPr>
        <p:spPr>
          <a:xfrm>
            <a:off x="548640" y="5541264"/>
            <a:ext cx="91440" cy="749808"/>
          </a:xfrm>
          <a:prstGeom prst="rect">
            <a:avLst/>
          </a:prstGeom>
          <a:solidFill>
            <a:srgbClr val="F2A900"/>
          </a:solidFill>
          <a:ln w="12700">
            <a:solidFill>
              <a:srgbClr val="F2A900"/>
            </a:solidFill>
            <a:prstDash val="solid"/>
          </a:ln>
        </p:spPr>
      </p:sp>
      <p:sp>
        <p:nvSpPr>
          <p:cNvPr id="96" name="Text 94"/>
          <p:cNvSpPr txBox="1"/>
          <p:nvPr/>
        </p:nvSpPr>
        <p:spPr>
          <a:xfrm>
            <a:off x="822960" y="5541264"/>
            <a:ext cx="10698480" cy="749808"/>
          </a:xfrm>
          <a:prstGeom prst="rect">
            <a:avLst/>
          </a:prstGeom>
          <a:noFill/>
          <a:ln/>
        </p:spPr>
        <p:txBody>
          <a:bodyPr wrap="square" lIns="0" tIns="0" rIns="0" bIns="0" rtlCol="0" anchor="ctr"/>
          <a:lstStyle/>
          <a:p>
            <a:pPr indent="0" marL="0">
              <a:buNone/>
            </a:pPr>
            <a:r>
              <a:rPr lang="en-US" sz="1300" b="1" dirty="0">
                <a:solidFill>
                  <a:srgbClr val="F2A900"/>
                </a:solidFill>
                <a:latin typeface="Arial" pitchFamily="34" charset="0"/>
                <a:ea typeface="Arial" pitchFamily="34" charset="-122"/>
                <a:cs typeface="Arial" pitchFamily="34" charset="-120"/>
              </a:rPr>
              <a:t>Kết quả: giữ PEG. </a:t>
            </a:r>
            <a:pPr indent="0" marL="0">
              <a:buNone/>
            </a:pPr>
            <a:r>
              <a:rPr lang="en-US" sz="1300" dirty="0">
                <a:solidFill>
                  <a:srgbClr val="F2F2F2"/>
                </a:solidFill>
                <a:latin typeface="Arial" pitchFamily="34" charset="0"/>
                <a:ea typeface="Arial" pitchFamily="34" charset="-122"/>
                <a:cs typeface="Arial" pitchFamily="34" charset="-120"/>
              </a:rPr>
              <a:t>Test cho cấu hình cuối = PEG: 68.34 · 61.41 · 76.2. Cột test chỉ để đối chiếu (chạy sau khi đã chốt): trên test, M6 và đổi-ID viết lại tăng gần như chỉ nhờ 1 lần đổi ID ở video 129; cone nhờ video 204; hãm vận tốc −8.5 → val loại đúng.</a:t>
            </a:r>
            <a:endParaRPr lang="en-US" sz="1300" dirty="0"/>
          </a:p>
        </p:txBody>
      </p:sp>
      <p:sp>
        <p:nvSpPr>
          <p:cNvPr id="97" name="Shape 9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8" name="Text 9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99" name="Text 9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test: từng thành phần và bản mạnh nhất</a:t>
            </a:r>
            <a:endParaRPr lang="en-US" sz="2600" dirty="0"/>
          </a:p>
        </p:txBody>
      </p:sp>
      <p:sp>
        <p:nvSpPr>
          <p:cNvPr id="4" name="Text 2"/>
          <p:cNvSpPr txBox="1"/>
          <p:nvPr/>
        </p:nvSpPr>
        <p:spPr>
          <a:xfrm>
            <a:off x="320040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188720"/>
            <a:ext cx="1463040" cy="384048"/>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600200"/>
            <a:ext cx="11091672" cy="203093"/>
          </a:xfrm>
          <a:prstGeom prst="rect">
            <a:avLst/>
          </a:prstGeom>
          <a:solidFill>
            <a:srgbClr val="22252B"/>
          </a:solidFill>
          <a:ln w="12700">
            <a:solidFill>
              <a:srgbClr val="22252B"/>
            </a:solidFill>
            <a:prstDash val="solid"/>
          </a:ln>
        </p:spPr>
      </p:sp>
      <p:sp>
        <p:nvSpPr>
          <p:cNvPr id="16" name="Text 14"/>
          <p:cNvSpPr txBox="1"/>
          <p:nvPr/>
        </p:nvSpPr>
        <p:spPr>
          <a:xfrm>
            <a:off x="640080" y="1600200"/>
            <a:ext cx="2606040" cy="221381"/>
          </a:xfrm>
          <a:prstGeom prst="rect">
            <a:avLst/>
          </a:prstGeom>
          <a:noFill/>
          <a:ln/>
        </p:spPr>
        <p:txBody>
          <a:bodyPr wrap="square" lIns="0" tIns="0" rIns="0" bIns="0" rtlCol="0" anchor="ctr"/>
          <a:lstStyle/>
          <a:p>
            <a:pPr indent="0" marL="0">
              <a:buNone/>
            </a:pPr>
            <a:r>
              <a:rPr lang="en-US" sz="900" b="1" dirty="0">
                <a:solidFill>
                  <a:srgbClr val="3987E5"/>
                </a:solidFill>
                <a:latin typeface="Arial" pitchFamily="34" charset="0"/>
                <a:ea typeface="Arial" pitchFamily="34" charset="-122"/>
                <a:cs typeface="Arial" pitchFamily="34" charset="-120"/>
              </a:rPr>
              <a:t>PEG</a:t>
            </a:r>
            <a:endParaRPr lang="en-US" sz="900" dirty="0"/>
          </a:p>
        </p:txBody>
      </p:sp>
      <p:sp>
        <p:nvSpPr>
          <p:cNvPr id="17" name="Text 15"/>
          <p:cNvSpPr txBox="1"/>
          <p:nvPr/>
        </p:nvSpPr>
        <p:spPr>
          <a:xfrm>
            <a:off x="3200400"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18" name="Text 16"/>
          <p:cNvSpPr txBox="1"/>
          <p:nvPr/>
        </p:nvSpPr>
        <p:spPr>
          <a:xfrm>
            <a:off x="3877056"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19" name="Text 17"/>
          <p:cNvSpPr txBox="1"/>
          <p:nvPr/>
        </p:nvSpPr>
        <p:spPr>
          <a:xfrm>
            <a:off x="4553712"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80.59</a:t>
            </a:r>
            <a:endParaRPr lang="en-US" sz="900" dirty="0"/>
          </a:p>
        </p:txBody>
      </p:sp>
      <p:sp>
        <p:nvSpPr>
          <p:cNvPr id="20" name="Text 18"/>
          <p:cNvSpPr txBox="1"/>
          <p:nvPr/>
        </p:nvSpPr>
        <p:spPr>
          <a:xfrm>
            <a:off x="5230368"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1" name="Text 19"/>
          <p:cNvSpPr txBox="1"/>
          <p:nvPr/>
        </p:nvSpPr>
        <p:spPr>
          <a:xfrm>
            <a:off x="5907024"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61.41</a:t>
            </a:r>
            <a:endParaRPr lang="en-US" sz="900" dirty="0"/>
          </a:p>
        </p:txBody>
      </p:sp>
      <p:sp>
        <p:nvSpPr>
          <p:cNvPr id="22" name="Text 20"/>
          <p:cNvSpPr txBox="1"/>
          <p:nvPr/>
        </p:nvSpPr>
        <p:spPr>
          <a:xfrm>
            <a:off x="6583680"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23" name="Text 21"/>
          <p:cNvSpPr txBox="1"/>
          <p:nvPr/>
        </p:nvSpPr>
        <p:spPr>
          <a:xfrm>
            <a:off x="7260336"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73.48</a:t>
            </a:r>
            <a:endParaRPr lang="en-US" sz="900" dirty="0"/>
          </a:p>
        </p:txBody>
      </p:sp>
      <p:sp>
        <p:nvSpPr>
          <p:cNvPr id="24" name="Text 22"/>
          <p:cNvSpPr txBox="1"/>
          <p:nvPr/>
        </p:nvSpPr>
        <p:spPr>
          <a:xfrm>
            <a:off x="7936992"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25" name="Text 23"/>
          <p:cNvSpPr txBox="1"/>
          <p:nvPr/>
        </p:nvSpPr>
        <p:spPr>
          <a:xfrm>
            <a:off x="8613648"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26" name="Text 24"/>
          <p:cNvSpPr txBox="1"/>
          <p:nvPr/>
        </p:nvSpPr>
        <p:spPr>
          <a:xfrm>
            <a:off x="9290304"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27" name="Text 25"/>
          <p:cNvSpPr txBox="1"/>
          <p:nvPr/>
        </p:nvSpPr>
        <p:spPr>
          <a:xfrm>
            <a:off x="10012680" y="1600200"/>
            <a:ext cx="1600200" cy="221381"/>
          </a:xfrm>
          <a:prstGeom prst="rect">
            <a:avLst/>
          </a:prstGeom>
          <a:noFill/>
          <a:ln/>
        </p:spPr>
        <p:txBody>
          <a:bodyPr wrap="square" lIns="0" tIns="0" rIns="0" bIns="0" rtlCol="0" anchor="ctr"/>
          <a:lstStyle/>
          <a:p>
            <a:pPr indent="0" marL="0">
              <a:buNone/>
            </a:pPr>
            <a:endParaRPr lang="en-US" sz="700" dirty="0"/>
          </a:p>
        </p:txBody>
      </p:sp>
      <p:sp>
        <p:nvSpPr>
          <p:cNvPr id="28" name="Text 26"/>
          <p:cNvSpPr txBox="1"/>
          <p:nvPr/>
        </p:nvSpPr>
        <p:spPr>
          <a:xfrm>
            <a:off x="640080" y="1821581"/>
            <a:ext cx="2606040" cy="221381"/>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PEG+ (của mình)</a:t>
            </a:r>
            <a:endParaRPr lang="en-US" sz="900" dirty="0"/>
          </a:p>
        </p:txBody>
      </p:sp>
      <p:sp>
        <p:nvSpPr>
          <p:cNvPr id="29" name="Text 27"/>
          <p:cNvSpPr txBox="1"/>
          <p:nvPr/>
        </p:nvSpPr>
        <p:spPr>
          <a:xfrm>
            <a:off x="3200400"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68.41</a:t>
            </a:r>
            <a:endParaRPr lang="en-US" sz="900" dirty="0"/>
          </a:p>
        </p:txBody>
      </p:sp>
      <p:sp>
        <p:nvSpPr>
          <p:cNvPr id="30" name="Text 28"/>
          <p:cNvSpPr txBox="1"/>
          <p:nvPr/>
        </p:nvSpPr>
        <p:spPr>
          <a:xfrm>
            <a:off x="3877056" y="182158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31" name="Text 29"/>
          <p:cNvSpPr txBox="1"/>
          <p:nvPr/>
        </p:nvSpPr>
        <p:spPr>
          <a:xfrm>
            <a:off x="4553712"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80.77</a:t>
            </a:r>
            <a:endParaRPr lang="en-US" sz="900" dirty="0"/>
          </a:p>
        </p:txBody>
      </p:sp>
      <p:sp>
        <p:nvSpPr>
          <p:cNvPr id="32" name="Text 30"/>
          <p:cNvSpPr txBox="1"/>
          <p:nvPr/>
        </p:nvSpPr>
        <p:spPr>
          <a:xfrm>
            <a:off x="5230368" y="182158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33" name="Text 31"/>
          <p:cNvSpPr txBox="1"/>
          <p:nvPr/>
        </p:nvSpPr>
        <p:spPr>
          <a:xfrm>
            <a:off x="5907024"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62.33</a:t>
            </a:r>
            <a:endParaRPr lang="en-US" sz="900" dirty="0"/>
          </a:p>
        </p:txBody>
      </p:sp>
      <p:sp>
        <p:nvSpPr>
          <p:cNvPr id="34" name="Text 32"/>
          <p:cNvSpPr txBox="1"/>
          <p:nvPr/>
        </p:nvSpPr>
        <p:spPr>
          <a:xfrm>
            <a:off x="6583680"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77.52</a:t>
            </a:r>
            <a:endParaRPr lang="en-US" sz="900" dirty="0"/>
          </a:p>
        </p:txBody>
      </p:sp>
      <p:sp>
        <p:nvSpPr>
          <p:cNvPr id="35" name="Text 33"/>
          <p:cNvSpPr txBox="1"/>
          <p:nvPr/>
        </p:nvSpPr>
        <p:spPr>
          <a:xfrm>
            <a:off x="7260336"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73.99</a:t>
            </a:r>
            <a:endParaRPr lang="en-US" sz="900" dirty="0"/>
          </a:p>
        </p:txBody>
      </p:sp>
      <p:sp>
        <p:nvSpPr>
          <p:cNvPr id="36" name="Text 34"/>
          <p:cNvSpPr txBox="1"/>
          <p:nvPr/>
        </p:nvSpPr>
        <p:spPr>
          <a:xfrm>
            <a:off x="7936992"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a:t>
            </a:r>
            <a:endParaRPr lang="en-US" sz="900" dirty="0"/>
          </a:p>
        </p:txBody>
      </p:sp>
      <p:sp>
        <p:nvSpPr>
          <p:cNvPr id="37" name="Text 35"/>
          <p:cNvSpPr txBox="1"/>
          <p:nvPr/>
        </p:nvSpPr>
        <p:spPr>
          <a:xfrm>
            <a:off x="8613648" y="1821581"/>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85.1</a:t>
            </a:r>
            <a:endParaRPr lang="en-US" sz="900" dirty="0"/>
          </a:p>
        </p:txBody>
      </p:sp>
      <p:sp>
        <p:nvSpPr>
          <p:cNvPr id="38" name="Text 36"/>
          <p:cNvSpPr txBox="1"/>
          <p:nvPr/>
        </p:nvSpPr>
        <p:spPr>
          <a:xfrm>
            <a:off x="9290304"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15.5</a:t>
            </a:r>
            <a:endParaRPr lang="en-US" sz="900" dirty="0"/>
          </a:p>
        </p:txBody>
      </p:sp>
      <p:sp>
        <p:nvSpPr>
          <p:cNvPr id="39" name="Text 37"/>
          <p:cNvSpPr txBox="1"/>
          <p:nvPr/>
        </p:nvSpPr>
        <p:spPr>
          <a:xfrm>
            <a:off x="10012680" y="1821581"/>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176</a:t>
            </a:r>
            <a:endParaRPr lang="en-US" sz="700" dirty="0"/>
          </a:p>
        </p:txBody>
      </p:sp>
      <p:sp>
        <p:nvSpPr>
          <p:cNvPr id="40" name="Shape 38"/>
          <p:cNvSpPr/>
          <p:nvPr/>
        </p:nvSpPr>
        <p:spPr>
          <a:xfrm>
            <a:off x="548640" y="2042962"/>
            <a:ext cx="11091672" cy="203093"/>
          </a:xfrm>
          <a:prstGeom prst="rect">
            <a:avLst/>
          </a:prstGeom>
          <a:solidFill>
            <a:srgbClr val="22252B"/>
          </a:solidFill>
          <a:ln w="12700">
            <a:solidFill>
              <a:srgbClr val="22252B"/>
            </a:solidFill>
            <a:prstDash val="solid"/>
          </a:ln>
        </p:spPr>
      </p:sp>
      <p:sp>
        <p:nvSpPr>
          <p:cNvPr id="41" name="Text 39"/>
          <p:cNvSpPr txBox="1"/>
          <p:nvPr/>
        </p:nvSpPr>
        <p:spPr>
          <a:xfrm>
            <a:off x="640080" y="2042962"/>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cone</a:t>
            </a:r>
            <a:endParaRPr lang="en-US" sz="900" dirty="0"/>
          </a:p>
        </p:txBody>
      </p:sp>
      <p:sp>
        <p:nvSpPr>
          <p:cNvPr id="42" name="Text 40"/>
          <p:cNvSpPr txBox="1"/>
          <p:nvPr/>
        </p:nvSpPr>
        <p:spPr>
          <a:xfrm>
            <a:off x="3200400"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68.38</a:t>
            </a:r>
            <a:endParaRPr lang="en-US" sz="900" dirty="0"/>
          </a:p>
        </p:txBody>
      </p:sp>
      <p:sp>
        <p:nvSpPr>
          <p:cNvPr id="43" name="Text 41"/>
          <p:cNvSpPr txBox="1"/>
          <p:nvPr/>
        </p:nvSpPr>
        <p:spPr>
          <a:xfrm>
            <a:off x="3877056"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82.66</a:t>
            </a:r>
            <a:endParaRPr lang="en-US" sz="900" dirty="0"/>
          </a:p>
        </p:txBody>
      </p:sp>
      <p:sp>
        <p:nvSpPr>
          <p:cNvPr id="44" name="Text 42"/>
          <p:cNvSpPr txBox="1"/>
          <p:nvPr/>
        </p:nvSpPr>
        <p:spPr>
          <a:xfrm>
            <a:off x="4553712"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81.00</a:t>
            </a:r>
            <a:endParaRPr lang="en-US" sz="900" dirty="0"/>
          </a:p>
        </p:txBody>
      </p:sp>
      <p:sp>
        <p:nvSpPr>
          <p:cNvPr id="45" name="Text 43"/>
          <p:cNvSpPr txBox="1"/>
          <p:nvPr/>
        </p:nvSpPr>
        <p:spPr>
          <a:xfrm>
            <a:off x="5230368"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46" name="Text 44"/>
          <p:cNvSpPr txBox="1"/>
          <p:nvPr/>
        </p:nvSpPr>
        <p:spPr>
          <a:xfrm>
            <a:off x="5907024"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62.70</a:t>
            </a:r>
            <a:endParaRPr lang="en-US" sz="900" dirty="0"/>
          </a:p>
        </p:txBody>
      </p:sp>
      <p:sp>
        <p:nvSpPr>
          <p:cNvPr id="47" name="Text 45"/>
          <p:cNvSpPr txBox="1"/>
          <p:nvPr/>
        </p:nvSpPr>
        <p:spPr>
          <a:xfrm>
            <a:off x="6583680"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76.61</a:t>
            </a:r>
            <a:endParaRPr lang="en-US" sz="900" dirty="0"/>
          </a:p>
        </p:txBody>
      </p:sp>
      <p:sp>
        <p:nvSpPr>
          <p:cNvPr id="48" name="Text 46"/>
          <p:cNvSpPr txBox="1"/>
          <p:nvPr/>
        </p:nvSpPr>
        <p:spPr>
          <a:xfrm>
            <a:off x="7260336"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74.64</a:t>
            </a:r>
            <a:endParaRPr lang="en-US" sz="900" dirty="0"/>
          </a:p>
        </p:txBody>
      </p:sp>
      <p:sp>
        <p:nvSpPr>
          <p:cNvPr id="49" name="Text 47"/>
          <p:cNvSpPr txBox="1"/>
          <p:nvPr/>
        </p:nvSpPr>
        <p:spPr>
          <a:xfrm>
            <a:off x="7936992"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a:t>
            </a:r>
            <a:endParaRPr lang="en-US" sz="900" dirty="0"/>
          </a:p>
        </p:txBody>
      </p:sp>
      <p:sp>
        <p:nvSpPr>
          <p:cNvPr id="50" name="Text 48"/>
          <p:cNvSpPr txBox="1"/>
          <p:nvPr/>
        </p:nvSpPr>
        <p:spPr>
          <a:xfrm>
            <a:off x="8613648"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77.6</a:t>
            </a:r>
            <a:endParaRPr lang="en-US" sz="900" dirty="0"/>
          </a:p>
        </p:txBody>
      </p:sp>
      <p:sp>
        <p:nvSpPr>
          <p:cNvPr id="51" name="Text 49"/>
          <p:cNvSpPr txBox="1"/>
          <p:nvPr/>
        </p:nvSpPr>
        <p:spPr>
          <a:xfrm>
            <a:off x="9290304"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11.6</a:t>
            </a:r>
            <a:endParaRPr lang="en-US" sz="900" dirty="0"/>
          </a:p>
        </p:txBody>
      </p:sp>
      <p:sp>
        <p:nvSpPr>
          <p:cNvPr id="52" name="Text 50"/>
          <p:cNvSpPr txBox="1"/>
          <p:nvPr/>
        </p:nvSpPr>
        <p:spPr>
          <a:xfrm>
            <a:off x="10012680" y="2042962"/>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204, T3: video 204</a:t>
            </a:r>
            <a:endParaRPr lang="en-US" sz="700" dirty="0"/>
          </a:p>
        </p:txBody>
      </p:sp>
      <p:sp>
        <p:nvSpPr>
          <p:cNvPr id="53" name="Text 51"/>
          <p:cNvSpPr txBox="1"/>
          <p:nvPr/>
        </p:nvSpPr>
        <p:spPr>
          <a:xfrm>
            <a:off x="640080" y="2264343"/>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hãm vận tốc</a:t>
            </a:r>
            <a:endParaRPr lang="en-US" sz="900" dirty="0"/>
          </a:p>
        </p:txBody>
      </p:sp>
      <p:sp>
        <p:nvSpPr>
          <p:cNvPr id="54" name="Text 52"/>
          <p:cNvSpPr txBox="1"/>
          <p:nvPr/>
        </p:nvSpPr>
        <p:spPr>
          <a:xfrm>
            <a:off x="3200400"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68.45</a:t>
            </a:r>
            <a:endParaRPr lang="en-US" sz="900" dirty="0"/>
          </a:p>
        </p:txBody>
      </p:sp>
      <p:sp>
        <p:nvSpPr>
          <p:cNvPr id="55" name="Text 53"/>
          <p:cNvSpPr txBox="1"/>
          <p:nvPr/>
        </p:nvSpPr>
        <p:spPr>
          <a:xfrm>
            <a:off x="3877056"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83.08</a:t>
            </a:r>
            <a:endParaRPr lang="en-US" sz="900" dirty="0"/>
          </a:p>
        </p:txBody>
      </p:sp>
      <p:sp>
        <p:nvSpPr>
          <p:cNvPr id="56" name="Text 54"/>
          <p:cNvSpPr txBox="1"/>
          <p:nvPr/>
        </p:nvSpPr>
        <p:spPr>
          <a:xfrm>
            <a:off x="4553712"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80.77</a:t>
            </a:r>
            <a:endParaRPr lang="en-US" sz="900" dirty="0"/>
          </a:p>
        </p:txBody>
      </p:sp>
      <p:sp>
        <p:nvSpPr>
          <p:cNvPr id="57" name="Text 55"/>
          <p:cNvSpPr txBox="1"/>
          <p:nvPr/>
        </p:nvSpPr>
        <p:spPr>
          <a:xfrm>
            <a:off x="5230368"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58" name="Text 56"/>
          <p:cNvSpPr txBox="1"/>
          <p:nvPr/>
        </p:nvSpPr>
        <p:spPr>
          <a:xfrm>
            <a:off x="5907024"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59.48</a:t>
            </a:r>
            <a:endParaRPr lang="en-US" sz="900" dirty="0"/>
          </a:p>
        </p:txBody>
      </p:sp>
      <p:sp>
        <p:nvSpPr>
          <p:cNvPr id="59" name="Text 57"/>
          <p:cNvSpPr txBox="1"/>
          <p:nvPr/>
        </p:nvSpPr>
        <p:spPr>
          <a:xfrm>
            <a:off x="6583680"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71.56</a:t>
            </a:r>
            <a:endParaRPr lang="en-US" sz="900" dirty="0"/>
          </a:p>
        </p:txBody>
      </p:sp>
      <p:sp>
        <p:nvSpPr>
          <p:cNvPr id="60" name="Text 58"/>
          <p:cNvSpPr txBox="1"/>
          <p:nvPr/>
        </p:nvSpPr>
        <p:spPr>
          <a:xfrm>
            <a:off x="7260336"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72.00</a:t>
            </a:r>
            <a:endParaRPr lang="en-US" sz="900" dirty="0"/>
          </a:p>
        </p:txBody>
      </p:sp>
      <p:sp>
        <p:nvSpPr>
          <p:cNvPr id="61" name="Text 59"/>
          <p:cNvSpPr txBox="1"/>
          <p:nvPr/>
        </p:nvSpPr>
        <p:spPr>
          <a:xfrm>
            <a:off x="7936992"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69.5</a:t>
            </a:r>
            <a:endParaRPr lang="en-US" sz="900" dirty="0"/>
          </a:p>
        </p:txBody>
      </p:sp>
      <p:sp>
        <p:nvSpPr>
          <p:cNvPr id="62" name="Text 60"/>
          <p:cNvSpPr txBox="1"/>
          <p:nvPr/>
        </p:nvSpPr>
        <p:spPr>
          <a:xfrm>
            <a:off x="8613648"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73.8</a:t>
            </a:r>
            <a:endParaRPr lang="en-US" sz="900" dirty="0"/>
          </a:p>
        </p:txBody>
      </p:sp>
      <p:sp>
        <p:nvSpPr>
          <p:cNvPr id="63" name="Text 61"/>
          <p:cNvSpPr txBox="1"/>
          <p:nvPr/>
        </p:nvSpPr>
        <p:spPr>
          <a:xfrm>
            <a:off x="9290304" y="2264343"/>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64" name="Text 62"/>
          <p:cNvSpPr txBox="1"/>
          <p:nvPr/>
        </p:nvSpPr>
        <p:spPr>
          <a:xfrm>
            <a:off x="10012680" y="2264343"/>
            <a:ext cx="1600200" cy="221381"/>
          </a:xfrm>
          <a:prstGeom prst="rect">
            <a:avLst/>
          </a:prstGeom>
          <a:noFill/>
          <a:ln/>
        </p:spPr>
        <p:txBody>
          <a:bodyPr wrap="square" lIns="0" tIns="0" rIns="0" bIns="0" rtlCol="0" anchor="ctr"/>
          <a:lstStyle/>
          <a:p>
            <a:pPr indent="0" marL="0">
              <a:buNone/>
            </a:pPr>
            <a:endParaRPr lang="en-US" sz="700" dirty="0"/>
          </a:p>
        </p:txBody>
      </p:sp>
      <p:sp>
        <p:nvSpPr>
          <p:cNvPr id="65" name="Shape 63"/>
          <p:cNvSpPr/>
          <p:nvPr/>
        </p:nvSpPr>
        <p:spPr>
          <a:xfrm>
            <a:off x="548640" y="2485724"/>
            <a:ext cx="11091672" cy="203093"/>
          </a:xfrm>
          <a:prstGeom prst="rect">
            <a:avLst/>
          </a:prstGeom>
          <a:solidFill>
            <a:srgbClr val="22252B"/>
          </a:solidFill>
          <a:ln w="12700">
            <a:solidFill>
              <a:srgbClr val="22252B"/>
            </a:solidFill>
            <a:prstDash val="solid"/>
          </a:ln>
        </p:spPr>
      </p:sp>
      <p:sp>
        <p:nvSpPr>
          <p:cNvPr id="66" name="Text 64"/>
          <p:cNvSpPr txBox="1"/>
          <p:nvPr/>
        </p:nvSpPr>
        <p:spPr>
          <a:xfrm>
            <a:off x="640080" y="2485724"/>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M3</a:t>
            </a:r>
            <a:endParaRPr lang="en-US" sz="900" dirty="0"/>
          </a:p>
        </p:txBody>
      </p:sp>
      <p:sp>
        <p:nvSpPr>
          <p:cNvPr id="67" name="Text 65"/>
          <p:cNvSpPr txBox="1"/>
          <p:nvPr/>
        </p:nvSpPr>
        <p:spPr>
          <a:xfrm>
            <a:off x="3200400"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68.49</a:t>
            </a:r>
            <a:endParaRPr lang="en-US" sz="900" dirty="0"/>
          </a:p>
        </p:txBody>
      </p:sp>
      <p:sp>
        <p:nvSpPr>
          <p:cNvPr id="68" name="Text 66"/>
          <p:cNvSpPr txBox="1"/>
          <p:nvPr/>
        </p:nvSpPr>
        <p:spPr>
          <a:xfrm>
            <a:off x="3877056"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82.89</a:t>
            </a:r>
            <a:endParaRPr lang="en-US" sz="900" dirty="0"/>
          </a:p>
        </p:txBody>
      </p:sp>
      <p:sp>
        <p:nvSpPr>
          <p:cNvPr id="69" name="Text 67"/>
          <p:cNvSpPr txBox="1"/>
          <p:nvPr/>
        </p:nvSpPr>
        <p:spPr>
          <a:xfrm>
            <a:off x="4553712"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81.10</a:t>
            </a:r>
            <a:endParaRPr lang="en-US" sz="900" dirty="0"/>
          </a:p>
        </p:txBody>
      </p:sp>
      <p:sp>
        <p:nvSpPr>
          <p:cNvPr id="70" name="Text 68"/>
          <p:cNvSpPr txBox="1"/>
          <p:nvPr/>
        </p:nvSpPr>
        <p:spPr>
          <a:xfrm>
            <a:off x="5230368"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71" name="Text 69"/>
          <p:cNvSpPr txBox="1"/>
          <p:nvPr/>
        </p:nvSpPr>
        <p:spPr>
          <a:xfrm>
            <a:off x="5907024"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61.72</a:t>
            </a:r>
            <a:endParaRPr lang="en-US" sz="900" dirty="0"/>
          </a:p>
        </p:txBody>
      </p:sp>
      <p:sp>
        <p:nvSpPr>
          <p:cNvPr id="72" name="Text 70"/>
          <p:cNvSpPr txBox="1"/>
          <p:nvPr/>
        </p:nvSpPr>
        <p:spPr>
          <a:xfrm>
            <a:off x="6583680"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74.98</a:t>
            </a:r>
            <a:endParaRPr lang="en-US" sz="900" dirty="0"/>
          </a:p>
        </p:txBody>
      </p:sp>
      <p:sp>
        <p:nvSpPr>
          <p:cNvPr id="73" name="Text 71"/>
          <p:cNvSpPr txBox="1"/>
          <p:nvPr/>
        </p:nvSpPr>
        <p:spPr>
          <a:xfrm>
            <a:off x="7260336"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74.46</a:t>
            </a:r>
            <a:endParaRPr lang="en-US" sz="900" dirty="0"/>
          </a:p>
        </p:txBody>
      </p:sp>
      <p:sp>
        <p:nvSpPr>
          <p:cNvPr id="74" name="Text 72"/>
          <p:cNvSpPr txBox="1"/>
          <p:nvPr/>
        </p:nvSpPr>
        <p:spPr>
          <a:xfrm>
            <a:off x="7936992"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75" name="Text 73"/>
          <p:cNvSpPr txBox="1"/>
          <p:nvPr/>
        </p:nvSpPr>
        <p:spPr>
          <a:xfrm>
            <a:off x="8613648"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76" name="Text 74"/>
          <p:cNvSpPr txBox="1"/>
          <p:nvPr/>
        </p:nvSpPr>
        <p:spPr>
          <a:xfrm>
            <a:off x="9290304"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77" name="Text 75"/>
          <p:cNvSpPr txBox="1"/>
          <p:nvPr/>
        </p:nvSpPr>
        <p:spPr>
          <a:xfrm>
            <a:off x="10012680" y="2485724"/>
            <a:ext cx="1600200" cy="221381"/>
          </a:xfrm>
          <a:prstGeom prst="rect">
            <a:avLst/>
          </a:prstGeom>
          <a:noFill/>
          <a:ln/>
        </p:spPr>
        <p:txBody>
          <a:bodyPr wrap="square" lIns="0" tIns="0" rIns="0" bIns="0" rtlCol="0" anchor="ctr"/>
          <a:lstStyle/>
          <a:p>
            <a:pPr indent="0" marL="0">
              <a:buNone/>
            </a:pPr>
            <a:endParaRPr lang="en-US" sz="700" dirty="0"/>
          </a:p>
        </p:txBody>
      </p:sp>
      <p:sp>
        <p:nvSpPr>
          <p:cNvPr id="78" name="Text 76"/>
          <p:cNvSpPr txBox="1"/>
          <p:nvPr/>
        </p:nvSpPr>
        <p:spPr>
          <a:xfrm>
            <a:off x="640080" y="2707105"/>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nở bất định</a:t>
            </a:r>
            <a:endParaRPr lang="en-US" sz="900" dirty="0"/>
          </a:p>
        </p:txBody>
      </p:sp>
      <p:sp>
        <p:nvSpPr>
          <p:cNvPr id="79" name="Text 77"/>
          <p:cNvSpPr txBox="1"/>
          <p:nvPr/>
        </p:nvSpPr>
        <p:spPr>
          <a:xfrm>
            <a:off x="3200400"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80" name="Text 78"/>
          <p:cNvSpPr txBox="1"/>
          <p:nvPr/>
        </p:nvSpPr>
        <p:spPr>
          <a:xfrm>
            <a:off x="3877056"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81" name="Text 79"/>
          <p:cNvSpPr txBox="1"/>
          <p:nvPr/>
        </p:nvSpPr>
        <p:spPr>
          <a:xfrm>
            <a:off x="4553712"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80.59</a:t>
            </a:r>
            <a:endParaRPr lang="en-US" sz="900" dirty="0"/>
          </a:p>
        </p:txBody>
      </p:sp>
      <p:sp>
        <p:nvSpPr>
          <p:cNvPr id="82" name="Text 80"/>
          <p:cNvSpPr txBox="1"/>
          <p:nvPr/>
        </p:nvSpPr>
        <p:spPr>
          <a:xfrm>
            <a:off x="5230368"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83" name="Text 81"/>
          <p:cNvSpPr txBox="1"/>
          <p:nvPr/>
        </p:nvSpPr>
        <p:spPr>
          <a:xfrm>
            <a:off x="5907024"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61.41</a:t>
            </a:r>
            <a:endParaRPr lang="en-US" sz="900" dirty="0"/>
          </a:p>
        </p:txBody>
      </p:sp>
      <p:sp>
        <p:nvSpPr>
          <p:cNvPr id="84" name="Text 82"/>
          <p:cNvSpPr txBox="1"/>
          <p:nvPr/>
        </p:nvSpPr>
        <p:spPr>
          <a:xfrm>
            <a:off x="6583680"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85" name="Text 83"/>
          <p:cNvSpPr txBox="1"/>
          <p:nvPr/>
        </p:nvSpPr>
        <p:spPr>
          <a:xfrm>
            <a:off x="7260336"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73.48</a:t>
            </a:r>
            <a:endParaRPr lang="en-US" sz="900" dirty="0"/>
          </a:p>
        </p:txBody>
      </p:sp>
      <p:sp>
        <p:nvSpPr>
          <p:cNvPr id="86" name="Text 84"/>
          <p:cNvSpPr txBox="1"/>
          <p:nvPr/>
        </p:nvSpPr>
        <p:spPr>
          <a:xfrm>
            <a:off x="7936992"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87" name="Text 85"/>
          <p:cNvSpPr txBox="1"/>
          <p:nvPr/>
        </p:nvSpPr>
        <p:spPr>
          <a:xfrm>
            <a:off x="8613648"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88" name="Text 86"/>
          <p:cNvSpPr txBox="1"/>
          <p:nvPr/>
        </p:nvSpPr>
        <p:spPr>
          <a:xfrm>
            <a:off x="9290304"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89" name="Text 87"/>
          <p:cNvSpPr txBox="1"/>
          <p:nvPr/>
        </p:nvSpPr>
        <p:spPr>
          <a:xfrm>
            <a:off x="10012680" y="2707105"/>
            <a:ext cx="1600200" cy="221381"/>
          </a:xfrm>
          <a:prstGeom prst="rect">
            <a:avLst/>
          </a:prstGeom>
          <a:noFill/>
          <a:ln/>
        </p:spPr>
        <p:txBody>
          <a:bodyPr wrap="square" lIns="0" tIns="0" rIns="0" bIns="0" rtlCol="0" anchor="ctr"/>
          <a:lstStyle/>
          <a:p>
            <a:pPr indent="0" marL="0">
              <a:buNone/>
            </a:pPr>
            <a:endParaRPr lang="en-US" sz="700" dirty="0"/>
          </a:p>
        </p:txBody>
      </p:sp>
      <p:sp>
        <p:nvSpPr>
          <p:cNvPr id="90" name="Shape 88"/>
          <p:cNvSpPr/>
          <p:nvPr/>
        </p:nvSpPr>
        <p:spPr>
          <a:xfrm>
            <a:off x="548640" y="2928486"/>
            <a:ext cx="11091672" cy="203093"/>
          </a:xfrm>
          <a:prstGeom prst="rect">
            <a:avLst/>
          </a:prstGeom>
          <a:solidFill>
            <a:srgbClr val="22252B"/>
          </a:solidFill>
          <a:ln w="12700">
            <a:solidFill>
              <a:srgbClr val="22252B"/>
            </a:solidFill>
            <a:prstDash val="solid"/>
          </a:ln>
        </p:spPr>
      </p:sp>
      <p:sp>
        <p:nvSpPr>
          <p:cNvPr id="91" name="Text 89"/>
          <p:cNvSpPr txBox="1"/>
          <p:nvPr/>
        </p:nvSpPr>
        <p:spPr>
          <a:xfrm>
            <a:off x="640080" y="2928486"/>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M2</a:t>
            </a:r>
            <a:endParaRPr lang="en-US" sz="900" dirty="0"/>
          </a:p>
        </p:txBody>
      </p:sp>
      <p:sp>
        <p:nvSpPr>
          <p:cNvPr id="92" name="Text 90"/>
          <p:cNvSpPr txBox="1"/>
          <p:nvPr/>
        </p:nvSpPr>
        <p:spPr>
          <a:xfrm>
            <a:off x="3200400"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93" name="Text 91"/>
          <p:cNvSpPr txBox="1"/>
          <p:nvPr/>
        </p:nvSpPr>
        <p:spPr>
          <a:xfrm>
            <a:off x="3877056"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94" name="Text 92"/>
          <p:cNvSpPr txBox="1"/>
          <p:nvPr/>
        </p:nvSpPr>
        <p:spPr>
          <a:xfrm>
            <a:off x="4553712"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80.59</a:t>
            </a:r>
            <a:endParaRPr lang="en-US" sz="900" dirty="0"/>
          </a:p>
        </p:txBody>
      </p:sp>
      <p:sp>
        <p:nvSpPr>
          <p:cNvPr id="95" name="Text 93"/>
          <p:cNvSpPr txBox="1"/>
          <p:nvPr/>
        </p:nvSpPr>
        <p:spPr>
          <a:xfrm>
            <a:off x="5230368"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96" name="Text 94"/>
          <p:cNvSpPr txBox="1"/>
          <p:nvPr/>
        </p:nvSpPr>
        <p:spPr>
          <a:xfrm>
            <a:off x="5907024"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61.41</a:t>
            </a:r>
            <a:endParaRPr lang="en-US" sz="900" dirty="0"/>
          </a:p>
        </p:txBody>
      </p:sp>
      <p:sp>
        <p:nvSpPr>
          <p:cNvPr id="97" name="Text 95"/>
          <p:cNvSpPr txBox="1"/>
          <p:nvPr/>
        </p:nvSpPr>
        <p:spPr>
          <a:xfrm>
            <a:off x="6583680"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98" name="Text 96"/>
          <p:cNvSpPr txBox="1"/>
          <p:nvPr/>
        </p:nvSpPr>
        <p:spPr>
          <a:xfrm>
            <a:off x="7260336"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73.48</a:t>
            </a:r>
            <a:endParaRPr lang="en-US" sz="900" dirty="0"/>
          </a:p>
        </p:txBody>
      </p:sp>
      <p:sp>
        <p:nvSpPr>
          <p:cNvPr id="99" name="Text 97"/>
          <p:cNvSpPr txBox="1"/>
          <p:nvPr/>
        </p:nvSpPr>
        <p:spPr>
          <a:xfrm>
            <a:off x="7936992"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100" name="Text 98"/>
          <p:cNvSpPr txBox="1"/>
          <p:nvPr/>
        </p:nvSpPr>
        <p:spPr>
          <a:xfrm>
            <a:off x="8613648"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101" name="Text 99"/>
          <p:cNvSpPr txBox="1"/>
          <p:nvPr/>
        </p:nvSpPr>
        <p:spPr>
          <a:xfrm>
            <a:off x="9290304"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02" name="Text 100"/>
          <p:cNvSpPr txBox="1"/>
          <p:nvPr/>
        </p:nvSpPr>
        <p:spPr>
          <a:xfrm>
            <a:off x="10012680" y="2928486"/>
            <a:ext cx="1600200" cy="221381"/>
          </a:xfrm>
          <a:prstGeom prst="rect">
            <a:avLst/>
          </a:prstGeom>
          <a:noFill/>
          <a:ln/>
        </p:spPr>
        <p:txBody>
          <a:bodyPr wrap="square" lIns="0" tIns="0" rIns="0" bIns="0" rtlCol="0" anchor="ctr"/>
          <a:lstStyle/>
          <a:p>
            <a:pPr indent="0" marL="0">
              <a:buNone/>
            </a:pPr>
            <a:endParaRPr lang="en-US" sz="700" dirty="0"/>
          </a:p>
        </p:txBody>
      </p:sp>
      <p:sp>
        <p:nvSpPr>
          <p:cNvPr id="103" name="Text 101"/>
          <p:cNvSpPr txBox="1"/>
          <p:nvPr/>
        </p:nvSpPr>
        <p:spPr>
          <a:xfrm>
            <a:off x="640080" y="3149867"/>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M4</a:t>
            </a:r>
            <a:endParaRPr lang="en-US" sz="900" dirty="0"/>
          </a:p>
        </p:txBody>
      </p:sp>
      <p:sp>
        <p:nvSpPr>
          <p:cNvPr id="104" name="Text 102"/>
          <p:cNvSpPr txBox="1"/>
          <p:nvPr/>
        </p:nvSpPr>
        <p:spPr>
          <a:xfrm>
            <a:off x="3200400"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105" name="Text 103"/>
          <p:cNvSpPr txBox="1"/>
          <p:nvPr/>
        </p:nvSpPr>
        <p:spPr>
          <a:xfrm>
            <a:off x="3877056"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82.70</a:t>
            </a:r>
            <a:endParaRPr lang="en-US" sz="900" dirty="0"/>
          </a:p>
        </p:txBody>
      </p:sp>
      <p:sp>
        <p:nvSpPr>
          <p:cNvPr id="106" name="Text 104"/>
          <p:cNvSpPr txBox="1"/>
          <p:nvPr/>
        </p:nvSpPr>
        <p:spPr>
          <a:xfrm>
            <a:off x="4553712"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80.60</a:t>
            </a:r>
            <a:endParaRPr lang="en-US" sz="900" dirty="0"/>
          </a:p>
        </p:txBody>
      </p:sp>
      <p:sp>
        <p:nvSpPr>
          <p:cNvPr id="107" name="Text 105"/>
          <p:cNvSpPr txBox="1"/>
          <p:nvPr/>
        </p:nvSpPr>
        <p:spPr>
          <a:xfrm>
            <a:off x="5230368" y="3149867"/>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14</a:t>
            </a:r>
            <a:endParaRPr lang="en-US" sz="900" dirty="0"/>
          </a:p>
        </p:txBody>
      </p:sp>
      <p:sp>
        <p:nvSpPr>
          <p:cNvPr id="108" name="Text 106"/>
          <p:cNvSpPr txBox="1"/>
          <p:nvPr/>
        </p:nvSpPr>
        <p:spPr>
          <a:xfrm>
            <a:off x="5907024" y="3149867"/>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61.46</a:t>
            </a:r>
            <a:endParaRPr lang="en-US" sz="900" dirty="0"/>
          </a:p>
        </p:txBody>
      </p:sp>
      <p:sp>
        <p:nvSpPr>
          <p:cNvPr id="109" name="Text 107"/>
          <p:cNvSpPr txBox="1"/>
          <p:nvPr/>
        </p:nvSpPr>
        <p:spPr>
          <a:xfrm>
            <a:off x="6583680"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74.64</a:t>
            </a:r>
            <a:endParaRPr lang="en-US" sz="900" dirty="0"/>
          </a:p>
        </p:txBody>
      </p:sp>
      <p:sp>
        <p:nvSpPr>
          <p:cNvPr id="110" name="Text 108"/>
          <p:cNvSpPr txBox="1"/>
          <p:nvPr/>
        </p:nvSpPr>
        <p:spPr>
          <a:xfrm>
            <a:off x="7260336"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73.51</a:t>
            </a:r>
            <a:endParaRPr lang="en-US" sz="900" dirty="0"/>
          </a:p>
        </p:txBody>
      </p:sp>
      <p:sp>
        <p:nvSpPr>
          <p:cNvPr id="111" name="Text 109"/>
          <p:cNvSpPr txBox="1"/>
          <p:nvPr/>
        </p:nvSpPr>
        <p:spPr>
          <a:xfrm>
            <a:off x="7936992"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112" name="Text 110"/>
          <p:cNvSpPr txBox="1"/>
          <p:nvPr/>
        </p:nvSpPr>
        <p:spPr>
          <a:xfrm>
            <a:off x="8613648"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113" name="Text 111"/>
          <p:cNvSpPr txBox="1"/>
          <p:nvPr/>
        </p:nvSpPr>
        <p:spPr>
          <a:xfrm>
            <a:off x="9290304"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14" name="Text 112"/>
          <p:cNvSpPr txBox="1"/>
          <p:nvPr/>
        </p:nvSpPr>
        <p:spPr>
          <a:xfrm>
            <a:off x="10012680" y="3149867"/>
            <a:ext cx="1600200" cy="221381"/>
          </a:xfrm>
          <a:prstGeom prst="rect">
            <a:avLst/>
          </a:prstGeom>
          <a:noFill/>
          <a:ln/>
        </p:spPr>
        <p:txBody>
          <a:bodyPr wrap="square" lIns="0" tIns="0" rIns="0" bIns="0" rtlCol="0" anchor="ctr"/>
          <a:lstStyle/>
          <a:p>
            <a:pPr indent="0" marL="0">
              <a:buNone/>
            </a:pPr>
            <a:endParaRPr lang="en-US" sz="700" dirty="0"/>
          </a:p>
        </p:txBody>
      </p:sp>
      <p:sp>
        <p:nvSpPr>
          <p:cNvPr id="115" name="Shape 113"/>
          <p:cNvSpPr/>
          <p:nvPr/>
        </p:nvSpPr>
        <p:spPr>
          <a:xfrm>
            <a:off x="548640" y="3371248"/>
            <a:ext cx="11091672" cy="203093"/>
          </a:xfrm>
          <a:prstGeom prst="rect">
            <a:avLst/>
          </a:prstGeom>
          <a:solidFill>
            <a:srgbClr val="22252B"/>
          </a:solidFill>
          <a:ln w="12700">
            <a:solidFill>
              <a:srgbClr val="22252B"/>
            </a:solidFill>
            <a:prstDash val="solid"/>
          </a:ln>
        </p:spPr>
      </p:sp>
      <p:sp>
        <p:nvSpPr>
          <p:cNvPr id="116" name="Text 114"/>
          <p:cNvSpPr txBox="1"/>
          <p:nvPr/>
        </p:nvSpPr>
        <p:spPr>
          <a:xfrm>
            <a:off x="640080" y="3371248"/>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M5</a:t>
            </a:r>
            <a:endParaRPr lang="en-US" sz="900" dirty="0"/>
          </a:p>
        </p:txBody>
      </p:sp>
      <p:sp>
        <p:nvSpPr>
          <p:cNvPr id="117" name="Text 115"/>
          <p:cNvSpPr txBox="1"/>
          <p:nvPr/>
        </p:nvSpPr>
        <p:spPr>
          <a:xfrm>
            <a:off x="3200400"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68.33</a:t>
            </a:r>
            <a:endParaRPr lang="en-US" sz="900" dirty="0"/>
          </a:p>
        </p:txBody>
      </p:sp>
      <p:sp>
        <p:nvSpPr>
          <p:cNvPr id="118" name="Text 116"/>
          <p:cNvSpPr txBox="1"/>
          <p:nvPr/>
        </p:nvSpPr>
        <p:spPr>
          <a:xfrm>
            <a:off x="3877056"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119" name="Text 117"/>
          <p:cNvSpPr txBox="1"/>
          <p:nvPr/>
        </p:nvSpPr>
        <p:spPr>
          <a:xfrm>
            <a:off x="4553712"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80.60</a:t>
            </a:r>
            <a:endParaRPr lang="en-US" sz="900" dirty="0"/>
          </a:p>
        </p:txBody>
      </p:sp>
      <p:sp>
        <p:nvSpPr>
          <p:cNvPr id="120" name="Text 118"/>
          <p:cNvSpPr txBox="1"/>
          <p:nvPr/>
        </p:nvSpPr>
        <p:spPr>
          <a:xfrm>
            <a:off x="5230368"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121" name="Text 119"/>
          <p:cNvSpPr txBox="1"/>
          <p:nvPr/>
        </p:nvSpPr>
        <p:spPr>
          <a:xfrm>
            <a:off x="5907024"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61.40</a:t>
            </a:r>
            <a:endParaRPr lang="en-US" sz="900" dirty="0"/>
          </a:p>
        </p:txBody>
      </p:sp>
      <p:sp>
        <p:nvSpPr>
          <p:cNvPr id="122" name="Text 120"/>
          <p:cNvSpPr txBox="1"/>
          <p:nvPr/>
        </p:nvSpPr>
        <p:spPr>
          <a:xfrm>
            <a:off x="6583680"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74.60</a:t>
            </a:r>
            <a:endParaRPr lang="en-US" sz="900" dirty="0"/>
          </a:p>
        </p:txBody>
      </p:sp>
      <p:sp>
        <p:nvSpPr>
          <p:cNvPr id="123" name="Text 121"/>
          <p:cNvSpPr txBox="1"/>
          <p:nvPr/>
        </p:nvSpPr>
        <p:spPr>
          <a:xfrm>
            <a:off x="7260336" y="337124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73.40</a:t>
            </a:r>
            <a:endParaRPr lang="en-US" sz="900" dirty="0"/>
          </a:p>
        </p:txBody>
      </p:sp>
      <p:sp>
        <p:nvSpPr>
          <p:cNvPr id="124" name="Text 122"/>
          <p:cNvSpPr txBox="1"/>
          <p:nvPr/>
        </p:nvSpPr>
        <p:spPr>
          <a:xfrm>
            <a:off x="7936992" y="337124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76.6</a:t>
            </a:r>
            <a:endParaRPr lang="en-US" sz="900" dirty="0"/>
          </a:p>
        </p:txBody>
      </p:sp>
      <p:sp>
        <p:nvSpPr>
          <p:cNvPr id="125" name="Text 123"/>
          <p:cNvSpPr txBox="1"/>
          <p:nvPr/>
        </p:nvSpPr>
        <p:spPr>
          <a:xfrm>
            <a:off x="8613648" y="337124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77.8</a:t>
            </a:r>
            <a:endParaRPr lang="en-US" sz="900" dirty="0"/>
          </a:p>
        </p:txBody>
      </p:sp>
      <p:sp>
        <p:nvSpPr>
          <p:cNvPr id="126" name="Text 124"/>
          <p:cNvSpPr txBox="1"/>
          <p:nvPr/>
        </p:nvSpPr>
        <p:spPr>
          <a:xfrm>
            <a:off x="9290304"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27" name="Text 125"/>
          <p:cNvSpPr txBox="1"/>
          <p:nvPr/>
        </p:nvSpPr>
        <p:spPr>
          <a:xfrm>
            <a:off x="10012680" y="3371248"/>
            <a:ext cx="1600200" cy="221381"/>
          </a:xfrm>
          <a:prstGeom prst="rect">
            <a:avLst/>
          </a:prstGeom>
          <a:noFill/>
          <a:ln/>
        </p:spPr>
        <p:txBody>
          <a:bodyPr wrap="square" lIns="0" tIns="0" rIns="0" bIns="0" rtlCol="0" anchor="ctr"/>
          <a:lstStyle/>
          <a:p>
            <a:pPr indent="0" marL="0">
              <a:buNone/>
            </a:pPr>
            <a:endParaRPr lang="en-US" sz="700" dirty="0"/>
          </a:p>
        </p:txBody>
      </p:sp>
      <p:sp>
        <p:nvSpPr>
          <p:cNvPr id="128" name="Text 126"/>
          <p:cNvSpPr txBox="1"/>
          <p:nvPr/>
        </p:nvSpPr>
        <p:spPr>
          <a:xfrm>
            <a:off x="640080" y="3592629"/>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đổi-ID viết lại</a:t>
            </a:r>
            <a:endParaRPr lang="en-US" sz="900" dirty="0"/>
          </a:p>
        </p:txBody>
      </p:sp>
      <p:sp>
        <p:nvSpPr>
          <p:cNvPr id="129" name="Text 127"/>
          <p:cNvSpPr txBox="1"/>
          <p:nvPr/>
        </p:nvSpPr>
        <p:spPr>
          <a:xfrm>
            <a:off x="3200400" y="359262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68.84</a:t>
            </a:r>
            <a:endParaRPr lang="en-US" sz="900" dirty="0"/>
          </a:p>
        </p:txBody>
      </p:sp>
      <p:sp>
        <p:nvSpPr>
          <p:cNvPr id="130" name="Text 128"/>
          <p:cNvSpPr txBox="1"/>
          <p:nvPr/>
        </p:nvSpPr>
        <p:spPr>
          <a:xfrm>
            <a:off x="3877056" y="359262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84.73</a:t>
            </a:r>
            <a:endParaRPr lang="en-US" sz="900" dirty="0"/>
          </a:p>
        </p:txBody>
      </p:sp>
      <p:sp>
        <p:nvSpPr>
          <p:cNvPr id="131" name="Text 129"/>
          <p:cNvSpPr txBox="1"/>
          <p:nvPr/>
        </p:nvSpPr>
        <p:spPr>
          <a:xfrm>
            <a:off x="4553712"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80.00</a:t>
            </a:r>
            <a:endParaRPr lang="en-US" sz="900" dirty="0"/>
          </a:p>
        </p:txBody>
      </p:sp>
      <p:sp>
        <p:nvSpPr>
          <p:cNvPr id="132" name="Text 130"/>
          <p:cNvSpPr txBox="1"/>
          <p:nvPr/>
        </p:nvSpPr>
        <p:spPr>
          <a:xfrm>
            <a:off x="5230368"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38</a:t>
            </a:r>
            <a:endParaRPr lang="en-US" sz="900" dirty="0"/>
          </a:p>
        </p:txBody>
      </p:sp>
      <p:sp>
        <p:nvSpPr>
          <p:cNvPr id="133" name="Text 131"/>
          <p:cNvSpPr txBox="1"/>
          <p:nvPr/>
        </p:nvSpPr>
        <p:spPr>
          <a:xfrm>
            <a:off x="5907024" y="359262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62.18</a:t>
            </a:r>
            <a:endParaRPr lang="en-US" sz="900" dirty="0"/>
          </a:p>
        </p:txBody>
      </p:sp>
      <p:sp>
        <p:nvSpPr>
          <p:cNvPr id="134" name="Text 132"/>
          <p:cNvSpPr txBox="1"/>
          <p:nvPr/>
        </p:nvSpPr>
        <p:spPr>
          <a:xfrm>
            <a:off x="6583680" y="359262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77.42</a:t>
            </a:r>
            <a:endParaRPr lang="en-US" sz="900" dirty="0"/>
          </a:p>
        </p:txBody>
      </p:sp>
      <p:sp>
        <p:nvSpPr>
          <p:cNvPr id="135" name="Text 133"/>
          <p:cNvSpPr txBox="1"/>
          <p:nvPr/>
        </p:nvSpPr>
        <p:spPr>
          <a:xfrm>
            <a:off x="7260336"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72.93</a:t>
            </a:r>
            <a:endParaRPr lang="en-US" sz="900" dirty="0"/>
          </a:p>
        </p:txBody>
      </p:sp>
      <p:sp>
        <p:nvSpPr>
          <p:cNvPr id="136" name="Text 134"/>
          <p:cNvSpPr txBox="1"/>
          <p:nvPr/>
        </p:nvSpPr>
        <p:spPr>
          <a:xfrm>
            <a:off x="7936992"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137" name="Text 135"/>
          <p:cNvSpPr txBox="1"/>
          <p:nvPr/>
        </p:nvSpPr>
        <p:spPr>
          <a:xfrm>
            <a:off x="8613648"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138" name="Text 136"/>
          <p:cNvSpPr txBox="1"/>
          <p:nvPr/>
        </p:nvSpPr>
        <p:spPr>
          <a:xfrm>
            <a:off x="9290304"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39" name="Text 137"/>
          <p:cNvSpPr txBox="1"/>
          <p:nvPr/>
        </p:nvSpPr>
        <p:spPr>
          <a:xfrm>
            <a:off x="10012680" y="3592629"/>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129, T2: video 129</a:t>
            </a:r>
            <a:endParaRPr lang="en-US" sz="700" dirty="0"/>
          </a:p>
        </p:txBody>
      </p:sp>
      <p:sp>
        <p:nvSpPr>
          <p:cNvPr id="140" name="Shape 138"/>
          <p:cNvSpPr/>
          <p:nvPr/>
        </p:nvSpPr>
        <p:spPr>
          <a:xfrm>
            <a:off x="548640" y="3814011"/>
            <a:ext cx="11091672" cy="203093"/>
          </a:xfrm>
          <a:prstGeom prst="rect">
            <a:avLst/>
          </a:prstGeom>
          <a:solidFill>
            <a:srgbClr val="22252B"/>
          </a:solidFill>
          <a:ln w="12700">
            <a:solidFill>
              <a:srgbClr val="22252B"/>
            </a:solidFill>
            <a:prstDash val="solid"/>
          </a:ln>
        </p:spPr>
      </p:sp>
      <p:sp>
        <p:nvSpPr>
          <p:cNvPr id="141" name="Text 139"/>
          <p:cNvSpPr txBox="1"/>
          <p:nvPr/>
        </p:nvSpPr>
        <p:spPr>
          <a:xfrm>
            <a:off x="640080" y="3814011"/>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M6</a:t>
            </a:r>
            <a:endParaRPr lang="en-US" sz="900" dirty="0"/>
          </a:p>
        </p:txBody>
      </p:sp>
      <p:sp>
        <p:nvSpPr>
          <p:cNvPr id="142" name="Text 140"/>
          <p:cNvSpPr txBox="1"/>
          <p:nvPr/>
        </p:nvSpPr>
        <p:spPr>
          <a:xfrm>
            <a:off x="3200400" y="381401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69.39</a:t>
            </a:r>
            <a:endParaRPr lang="en-US" sz="900" dirty="0"/>
          </a:p>
        </p:txBody>
      </p:sp>
      <p:sp>
        <p:nvSpPr>
          <p:cNvPr id="143" name="Text 141"/>
          <p:cNvSpPr txBox="1"/>
          <p:nvPr/>
        </p:nvSpPr>
        <p:spPr>
          <a:xfrm>
            <a:off x="3877056" y="381401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85.00</a:t>
            </a:r>
            <a:endParaRPr lang="en-US" sz="900" dirty="0"/>
          </a:p>
        </p:txBody>
      </p:sp>
      <p:sp>
        <p:nvSpPr>
          <p:cNvPr id="144" name="Text 142"/>
          <p:cNvSpPr txBox="1"/>
          <p:nvPr/>
        </p:nvSpPr>
        <p:spPr>
          <a:xfrm>
            <a:off x="4553712" y="381401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80.56</a:t>
            </a:r>
            <a:endParaRPr lang="en-US" sz="900" dirty="0"/>
          </a:p>
        </p:txBody>
      </p:sp>
      <p:sp>
        <p:nvSpPr>
          <p:cNvPr id="145" name="Text 143"/>
          <p:cNvSpPr txBox="1"/>
          <p:nvPr/>
        </p:nvSpPr>
        <p:spPr>
          <a:xfrm>
            <a:off x="5230368" y="3814011"/>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13</a:t>
            </a:r>
            <a:endParaRPr lang="en-US" sz="900" dirty="0"/>
          </a:p>
        </p:txBody>
      </p:sp>
      <p:sp>
        <p:nvSpPr>
          <p:cNvPr id="146" name="Text 144"/>
          <p:cNvSpPr txBox="1"/>
          <p:nvPr/>
        </p:nvSpPr>
        <p:spPr>
          <a:xfrm>
            <a:off x="5907024" y="381401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62.84</a:t>
            </a:r>
            <a:endParaRPr lang="en-US" sz="900" dirty="0"/>
          </a:p>
        </p:txBody>
      </p:sp>
      <p:sp>
        <p:nvSpPr>
          <p:cNvPr id="147" name="Text 145"/>
          <p:cNvSpPr txBox="1"/>
          <p:nvPr/>
        </p:nvSpPr>
        <p:spPr>
          <a:xfrm>
            <a:off x="6583680" y="381401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77.49</a:t>
            </a:r>
            <a:endParaRPr lang="en-US" sz="900" dirty="0"/>
          </a:p>
        </p:txBody>
      </p:sp>
      <p:sp>
        <p:nvSpPr>
          <p:cNvPr id="148" name="Text 146"/>
          <p:cNvSpPr txBox="1"/>
          <p:nvPr/>
        </p:nvSpPr>
        <p:spPr>
          <a:xfrm>
            <a:off x="7260336"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73.34</a:t>
            </a:r>
            <a:endParaRPr lang="en-US" sz="900" dirty="0"/>
          </a:p>
        </p:txBody>
      </p:sp>
      <p:sp>
        <p:nvSpPr>
          <p:cNvPr id="149" name="Text 147"/>
          <p:cNvSpPr txBox="1"/>
          <p:nvPr/>
        </p:nvSpPr>
        <p:spPr>
          <a:xfrm>
            <a:off x="7936992" y="381401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77.3</a:t>
            </a:r>
            <a:endParaRPr lang="en-US" sz="900" dirty="0"/>
          </a:p>
        </p:txBody>
      </p:sp>
      <p:sp>
        <p:nvSpPr>
          <p:cNvPr id="150" name="Text 148"/>
          <p:cNvSpPr txBox="1"/>
          <p:nvPr/>
        </p:nvSpPr>
        <p:spPr>
          <a:xfrm>
            <a:off x="8613648" y="381401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78.9</a:t>
            </a:r>
            <a:endParaRPr lang="en-US" sz="900" dirty="0"/>
          </a:p>
        </p:txBody>
      </p:sp>
      <p:sp>
        <p:nvSpPr>
          <p:cNvPr id="151" name="Text 149"/>
          <p:cNvSpPr txBox="1"/>
          <p:nvPr/>
        </p:nvSpPr>
        <p:spPr>
          <a:xfrm>
            <a:off x="9290304" y="381401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52" name="Text 150"/>
          <p:cNvSpPr txBox="1"/>
          <p:nvPr/>
        </p:nvSpPr>
        <p:spPr>
          <a:xfrm>
            <a:off x="10012680" y="3814011"/>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129, T2: video 129, T3: video 316</a:t>
            </a:r>
            <a:endParaRPr lang="en-US" sz="700" dirty="0"/>
          </a:p>
        </p:txBody>
      </p:sp>
      <p:sp>
        <p:nvSpPr>
          <p:cNvPr id="153" name="Text 151"/>
          <p:cNvSpPr txBox="1"/>
          <p:nvPr/>
        </p:nvSpPr>
        <p:spPr>
          <a:xfrm>
            <a:off x="640080" y="4035392"/>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Thạch full+M6 (tham số của Thạch)</a:t>
            </a:r>
            <a:endParaRPr lang="en-US" sz="900" dirty="0"/>
          </a:p>
        </p:txBody>
      </p:sp>
      <p:sp>
        <p:nvSpPr>
          <p:cNvPr id="154" name="Text 152"/>
          <p:cNvSpPr txBox="1"/>
          <p:nvPr/>
        </p:nvSpPr>
        <p:spPr>
          <a:xfrm>
            <a:off x="3200400" y="4035392"/>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70.03</a:t>
            </a:r>
            <a:endParaRPr lang="en-US" sz="900" dirty="0"/>
          </a:p>
        </p:txBody>
      </p:sp>
      <p:sp>
        <p:nvSpPr>
          <p:cNvPr id="155" name="Text 153"/>
          <p:cNvSpPr txBox="1"/>
          <p:nvPr/>
        </p:nvSpPr>
        <p:spPr>
          <a:xfrm>
            <a:off x="3877056" y="4035392"/>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87.03</a:t>
            </a:r>
            <a:endParaRPr lang="en-US" sz="900" dirty="0"/>
          </a:p>
        </p:txBody>
      </p:sp>
      <p:sp>
        <p:nvSpPr>
          <p:cNvPr id="156" name="Text 154"/>
          <p:cNvSpPr txBox="1"/>
          <p:nvPr/>
        </p:nvSpPr>
        <p:spPr>
          <a:xfrm>
            <a:off x="4553712"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80.43</a:t>
            </a:r>
            <a:endParaRPr lang="en-US" sz="900" dirty="0"/>
          </a:p>
        </p:txBody>
      </p:sp>
      <p:sp>
        <p:nvSpPr>
          <p:cNvPr id="157" name="Text 155"/>
          <p:cNvSpPr txBox="1"/>
          <p:nvPr/>
        </p:nvSpPr>
        <p:spPr>
          <a:xfrm>
            <a:off x="5230368"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29</a:t>
            </a:r>
            <a:endParaRPr lang="en-US" sz="900" dirty="0"/>
          </a:p>
        </p:txBody>
      </p:sp>
      <p:sp>
        <p:nvSpPr>
          <p:cNvPr id="158" name="Text 156"/>
          <p:cNvSpPr txBox="1"/>
          <p:nvPr/>
        </p:nvSpPr>
        <p:spPr>
          <a:xfrm>
            <a:off x="5907024"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61.21</a:t>
            </a:r>
            <a:endParaRPr lang="en-US" sz="900" dirty="0"/>
          </a:p>
        </p:txBody>
      </p:sp>
      <p:sp>
        <p:nvSpPr>
          <p:cNvPr id="159" name="Text 157"/>
          <p:cNvSpPr txBox="1"/>
          <p:nvPr/>
        </p:nvSpPr>
        <p:spPr>
          <a:xfrm>
            <a:off x="6583680" y="403539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77.56</a:t>
            </a:r>
            <a:endParaRPr lang="en-US" sz="900" dirty="0"/>
          </a:p>
        </p:txBody>
      </p:sp>
      <p:sp>
        <p:nvSpPr>
          <p:cNvPr id="160" name="Text 158"/>
          <p:cNvSpPr txBox="1"/>
          <p:nvPr/>
        </p:nvSpPr>
        <p:spPr>
          <a:xfrm>
            <a:off x="7260336"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69.48</a:t>
            </a:r>
            <a:endParaRPr lang="en-US" sz="900" dirty="0"/>
          </a:p>
        </p:txBody>
      </p:sp>
      <p:sp>
        <p:nvSpPr>
          <p:cNvPr id="161" name="Text 159"/>
          <p:cNvSpPr txBox="1"/>
          <p:nvPr/>
        </p:nvSpPr>
        <p:spPr>
          <a:xfrm>
            <a:off x="7936992"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53.6</a:t>
            </a:r>
            <a:endParaRPr lang="en-US" sz="900" dirty="0"/>
          </a:p>
        </p:txBody>
      </p:sp>
      <p:sp>
        <p:nvSpPr>
          <p:cNvPr id="162" name="Text 160"/>
          <p:cNvSpPr txBox="1"/>
          <p:nvPr/>
        </p:nvSpPr>
        <p:spPr>
          <a:xfrm>
            <a:off x="8613648"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55.4</a:t>
            </a:r>
            <a:endParaRPr lang="en-US" sz="900" dirty="0"/>
          </a:p>
        </p:txBody>
      </p:sp>
      <p:sp>
        <p:nvSpPr>
          <p:cNvPr id="163" name="Text 161"/>
          <p:cNvSpPr txBox="1"/>
          <p:nvPr/>
        </p:nvSpPr>
        <p:spPr>
          <a:xfrm>
            <a:off x="9290304" y="4035392"/>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10.5</a:t>
            </a:r>
            <a:endParaRPr lang="en-US" sz="900" dirty="0"/>
          </a:p>
        </p:txBody>
      </p:sp>
      <p:sp>
        <p:nvSpPr>
          <p:cNvPr id="164" name="Text 162"/>
          <p:cNvSpPr txBox="1"/>
          <p:nvPr/>
        </p:nvSpPr>
        <p:spPr>
          <a:xfrm>
            <a:off x="10012680" y="4035392"/>
            <a:ext cx="1600200" cy="221381"/>
          </a:xfrm>
          <a:prstGeom prst="rect">
            <a:avLst/>
          </a:prstGeom>
          <a:noFill/>
          <a:ln/>
        </p:spPr>
        <p:txBody>
          <a:bodyPr wrap="square" lIns="0" tIns="0" rIns="0" bIns="0" rtlCol="0" anchor="ctr"/>
          <a:lstStyle/>
          <a:p>
            <a:pPr indent="0" marL="0">
              <a:buNone/>
            </a:pPr>
            <a:endParaRPr lang="en-US" sz="700" dirty="0"/>
          </a:p>
        </p:txBody>
      </p:sp>
      <p:sp>
        <p:nvSpPr>
          <p:cNvPr id="165" name="Shape 163"/>
          <p:cNvSpPr/>
          <p:nvPr/>
        </p:nvSpPr>
        <p:spPr>
          <a:xfrm>
            <a:off x="548640" y="4256773"/>
            <a:ext cx="11091672" cy="203093"/>
          </a:xfrm>
          <a:prstGeom prst="rect">
            <a:avLst/>
          </a:prstGeom>
          <a:solidFill>
            <a:srgbClr val="2B2F36"/>
          </a:solidFill>
          <a:ln w="12700">
            <a:solidFill>
              <a:srgbClr val="F2A900"/>
            </a:solidFill>
            <a:prstDash val="solid"/>
          </a:ln>
        </p:spPr>
      </p:sp>
      <p:sp>
        <p:nvSpPr>
          <p:cNvPr id="166" name="Text 164"/>
          <p:cNvSpPr txBox="1"/>
          <p:nvPr/>
        </p:nvSpPr>
        <p:spPr>
          <a:xfrm>
            <a:off x="640080" y="4256773"/>
            <a:ext cx="2606040" cy="221381"/>
          </a:xfrm>
          <a:prstGeom prst="rect">
            <a:avLst/>
          </a:prstGeom>
          <a:noFill/>
          <a:ln/>
        </p:spPr>
        <p:txBody>
          <a:bodyPr wrap="square" lIns="0" tIns="0" rIns="0" bIns="0" rtlCol="0" anchor="ctr"/>
          <a:lstStyle/>
          <a:p>
            <a:pPr indent="0" marL="0">
              <a:buNone/>
            </a:pPr>
            <a:r>
              <a:rPr lang="en-US" sz="900" b="1" dirty="0">
                <a:solidFill>
                  <a:srgbClr val="F2A900"/>
                </a:solidFill>
                <a:latin typeface="Arial" pitchFamily="34" charset="0"/>
                <a:ea typeface="Arial" pitchFamily="34" charset="-122"/>
                <a:cs typeface="Arial" pitchFamily="34" charset="-120"/>
              </a:rPr>
              <a:t>★ Mạnh nhất: cone + hãm vận tốc</a:t>
            </a:r>
            <a:endParaRPr lang="en-US" sz="900" dirty="0"/>
          </a:p>
        </p:txBody>
      </p:sp>
      <p:sp>
        <p:nvSpPr>
          <p:cNvPr id="167" name="Text 165"/>
          <p:cNvSpPr txBox="1"/>
          <p:nvPr/>
        </p:nvSpPr>
        <p:spPr>
          <a:xfrm>
            <a:off x="3200400"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68.46</a:t>
            </a:r>
            <a:endParaRPr lang="en-US" sz="900" dirty="0"/>
          </a:p>
        </p:txBody>
      </p:sp>
      <p:sp>
        <p:nvSpPr>
          <p:cNvPr id="168" name="Text 166"/>
          <p:cNvSpPr txBox="1"/>
          <p:nvPr/>
        </p:nvSpPr>
        <p:spPr>
          <a:xfrm>
            <a:off x="3877056"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82.94</a:t>
            </a:r>
            <a:endParaRPr lang="en-US" sz="900" dirty="0"/>
          </a:p>
        </p:txBody>
      </p:sp>
      <p:sp>
        <p:nvSpPr>
          <p:cNvPr id="169" name="Text 167"/>
          <p:cNvSpPr txBox="1"/>
          <p:nvPr/>
        </p:nvSpPr>
        <p:spPr>
          <a:xfrm>
            <a:off x="4553712"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80.91</a:t>
            </a:r>
            <a:endParaRPr lang="en-US" sz="900" dirty="0"/>
          </a:p>
        </p:txBody>
      </p:sp>
      <p:sp>
        <p:nvSpPr>
          <p:cNvPr id="170" name="Text 168"/>
          <p:cNvSpPr txBox="1"/>
          <p:nvPr/>
        </p:nvSpPr>
        <p:spPr>
          <a:xfrm>
            <a:off x="5230368" y="4256773"/>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16</a:t>
            </a:r>
            <a:endParaRPr lang="en-US" sz="900" dirty="0"/>
          </a:p>
        </p:txBody>
      </p:sp>
      <p:sp>
        <p:nvSpPr>
          <p:cNvPr id="171" name="Text 169"/>
          <p:cNvSpPr txBox="1"/>
          <p:nvPr/>
        </p:nvSpPr>
        <p:spPr>
          <a:xfrm>
            <a:off x="5907024" y="4256773"/>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60.41</a:t>
            </a:r>
            <a:endParaRPr lang="en-US" sz="900" dirty="0"/>
          </a:p>
        </p:txBody>
      </p:sp>
      <p:sp>
        <p:nvSpPr>
          <p:cNvPr id="172" name="Text 170"/>
          <p:cNvSpPr txBox="1"/>
          <p:nvPr/>
        </p:nvSpPr>
        <p:spPr>
          <a:xfrm>
            <a:off x="6583680" y="4256773"/>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73.28</a:t>
            </a:r>
            <a:endParaRPr lang="en-US" sz="900" dirty="0"/>
          </a:p>
        </p:txBody>
      </p:sp>
      <p:sp>
        <p:nvSpPr>
          <p:cNvPr id="173" name="Text 171"/>
          <p:cNvSpPr txBox="1"/>
          <p:nvPr/>
        </p:nvSpPr>
        <p:spPr>
          <a:xfrm>
            <a:off x="7260336" y="4256773"/>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73.20</a:t>
            </a:r>
            <a:endParaRPr lang="en-US" sz="900" dirty="0"/>
          </a:p>
        </p:txBody>
      </p:sp>
      <p:sp>
        <p:nvSpPr>
          <p:cNvPr id="174" name="Text 172"/>
          <p:cNvSpPr txBox="1"/>
          <p:nvPr/>
        </p:nvSpPr>
        <p:spPr>
          <a:xfrm>
            <a:off x="7936992" y="4256773"/>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70.0</a:t>
            </a:r>
            <a:endParaRPr lang="en-US" sz="900" dirty="0"/>
          </a:p>
        </p:txBody>
      </p:sp>
      <p:sp>
        <p:nvSpPr>
          <p:cNvPr id="175" name="Text 173"/>
          <p:cNvSpPr txBox="1"/>
          <p:nvPr/>
        </p:nvSpPr>
        <p:spPr>
          <a:xfrm>
            <a:off x="8613648" y="4256773"/>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73.8</a:t>
            </a:r>
            <a:endParaRPr lang="en-US" sz="900" dirty="0"/>
          </a:p>
        </p:txBody>
      </p:sp>
      <p:sp>
        <p:nvSpPr>
          <p:cNvPr id="176" name="Text 174"/>
          <p:cNvSpPr txBox="1"/>
          <p:nvPr/>
        </p:nvSpPr>
        <p:spPr>
          <a:xfrm>
            <a:off x="9290304"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15.5</a:t>
            </a:r>
            <a:endParaRPr lang="en-US" sz="900" dirty="0"/>
          </a:p>
        </p:txBody>
      </p:sp>
      <p:sp>
        <p:nvSpPr>
          <p:cNvPr id="177" name="Text 175"/>
          <p:cNvSpPr txBox="1"/>
          <p:nvPr/>
        </p:nvSpPr>
        <p:spPr>
          <a:xfrm>
            <a:off x="10012680" y="4256773"/>
            <a:ext cx="1600200" cy="221381"/>
          </a:xfrm>
          <a:prstGeom prst="rect">
            <a:avLst/>
          </a:prstGeom>
          <a:noFill/>
          <a:ln/>
        </p:spPr>
        <p:txBody>
          <a:bodyPr wrap="square" lIns="0" tIns="0" rIns="0" bIns="0" rtlCol="0" anchor="ctr"/>
          <a:lstStyle/>
          <a:p>
            <a:pPr indent="0" marL="0">
              <a:buNone/>
            </a:pPr>
            <a:endParaRPr lang="en-US" sz="700" dirty="0"/>
          </a:p>
        </p:txBody>
      </p:sp>
      <p:sp>
        <p:nvSpPr>
          <p:cNvPr id="178" name="Shape 176"/>
          <p:cNvSpPr/>
          <p:nvPr/>
        </p:nvSpPr>
        <p:spPr>
          <a:xfrm>
            <a:off x="548640" y="4478154"/>
            <a:ext cx="11091672" cy="203093"/>
          </a:xfrm>
          <a:prstGeom prst="rect">
            <a:avLst/>
          </a:prstGeom>
          <a:solidFill>
            <a:srgbClr val="2B2F36"/>
          </a:solidFill>
          <a:ln w="12700">
            <a:solidFill>
              <a:srgbClr val="F2A900"/>
            </a:solidFill>
            <a:prstDash val="solid"/>
          </a:ln>
        </p:spPr>
      </p:sp>
      <p:sp>
        <p:nvSpPr>
          <p:cNvPr id="179" name="Text 177"/>
          <p:cNvSpPr txBox="1"/>
          <p:nvPr/>
        </p:nvSpPr>
        <p:spPr>
          <a:xfrm>
            <a:off x="640080" y="4478154"/>
            <a:ext cx="2606040" cy="221381"/>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 PEG+ (nguyên lý) + cone</a:t>
            </a:r>
            <a:endParaRPr lang="en-US" sz="900" dirty="0"/>
          </a:p>
        </p:txBody>
      </p:sp>
      <p:sp>
        <p:nvSpPr>
          <p:cNvPr id="180" name="Text 178"/>
          <p:cNvSpPr txBox="1"/>
          <p:nvPr/>
        </p:nvSpPr>
        <p:spPr>
          <a:xfrm>
            <a:off x="3200400"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68.44</a:t>
            </a:r>
            <a:endParaRPr lang="en-US" sz="900" dirty="0"/>
          </a:p>
        </p:txBody>
      </p:sp>
      <p:sp>
        <p:nvSpPr>
          <p:cNvPr id="181" name="Text 179"/>
          <p:cNvSpPr txBox="1"/>
          <p:nvPr/>
        </p:nvSpPr>
        <p:spPr>
          <a:xfrm>
            <a:off x="3877056" y="4478154"/>
            <a:ext cx="676656" cy="221381"/>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82.71</a:t>
            </a:r>
            <a:endParaRPr lang="en-US" sz="900" dirty="0"/>
          </a:p>
        </p:txBody>
      </p:sp>
      <p:sp>
        <p:nvSpPr>
          <p:cNvPr id="182" name="Text 180"/>
          <p:cNvSpPr txBox="1"/>
          <p:nvPr/>
        </p:nvSpPr>
        <p:spPr>
          <a:xfrm>
            <a:off x="4553712"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80.88</a:t>
            </a:r>
            <a:endParaRPr lang="en-US" sz="900" dirty="0"/>
          </a:p>
        </p:txBody>
      </p:sp>
      <p:sp>
        <p:nvSpPr>
          <p:cNvPr id="183" name="Text 181"/>
          <p:cNvSpPr txBox="1"/>
          <p:nvPr/>
        </p:nvSpPr>
        <p:spPr>
          <a:xfrm>
            <a:off x="5230368" y="4478154"/>
            <a:ext cx="676656" cy="221381"/>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15</a:t>
            </a:r>
            <a:endParaRPr lang="en-US" sz="900" dirty="0"/>
          </a:p>
        </p:txBody>
      </p:sp>
      <p:sp>
        <p:nvSpPr>
          <p:cNvPr id="184" name="Text 182"/>
          <p:cNvSpPr txBox="1"/>
          <p:nvPr/>
        </p:nvSpPr>
        <p:spPr>
          <a:xfrm>
            <a:off x="5907024" y="4478154"/>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63.14</a:t>
            </a:r>
            <a:endParaRPr lang="en-US" sz="900" dirty="0"/>
          </a:p>
        </p:txBody>
      </p:sp>
      <p:sp>
        <p:nvSpPr>
          <p:cNvPr id="185" name="Text 183"/>
          <p:cNvSpPr txBox="1"/>
          <p:nvPr/>
        </p:nvSpPr>
        <p:spPr>
          <a:xfrm>
            <a:off x="6583680" y="4478154"/>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78.50</a:t>
            </a:r>
            <a:endParaRPr lang="en-US" sz="900" dirty="0"/>
          </a:p>
        </p:txBody>
      </p:sp>
      <p:sp>
        <p:nvSpPr>
          <p:cNvPr id="186" name="Text 184"/>
          <p:cNvSpPr txBox="1"/>
          <p:nvPr/>
        </p:nvSpPr>
        <p:spPr>
          <a:xfrm>
            <a:off x="7260336"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75.05</a:t>
            </a:r>
            <a:endParaRPr lang="en-US" sz="900" dirty="0"/>
          </a:p>
        </p:txBody>
      </p:sp>
      <p:sp>
        <p:nvSpPr>
          <p:cNvPr id="187" name="Text 185"/>
          <p:cNvSpPr txBox="1"/>
          <p:nvPr/>
        </p:nvSpPr>
        <p:spPr>
          <a:xfrm>
            <a:off x="7936992" y="4478154"/>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83.1</a:t>
            </a:r>
            <a:endParaRPr lang="en-US" sz="900" dirty="0"/>
          </a:p>
        </p:txBody>
      </p:sp>
      <p:sp>
        <p:nvSpPr>
          <p:cNvPr id="188" name="Text 186"/>
          <p:cNvSpPr txBox="1"/>
          <p:nvPr/>
        </p:nvSpPr>
        <p:spPr>
          <a:xfrm>
            <a:off x="8613648" y="4478154"/>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85.1</a:t>
            </a:r>
            <a:endParaRPr lang="en-US" sz="900" dirty="0"/>
          </a:p>
        </p:txBody>
      </p:sp>
      <p:sp>
        <p:nvSpPr>
          <p:cNvPr id="189" name="Text 187"/>
          <p:cNvSpPr txBox="1"/>
          <p:nvPr/>
        </p:nvSpPr>
        <p:spPr>
          <a:xfrm>
            <a:off x="9290304"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11.6</a:t>
            </a:r>
            <a:endParaRPr lang="en-US" sz="900" dirty="0"/>
          </a:p>
        </p:txBody>
      </p:sp>
      <p:sp>
        <p:nvSpPr>
          <p:cNvPr id="190" name="Text 188"/>
          <p:cNvSpPr txBox="1"/>
          <p:nvPr/>
        </p:nvSpPr>
        <p:spPr>
          <a:xfrm>
            <a:off x="10012680" y="4478154"/>
            <a:ext cx="1600200" cy="221381"/>
          </a:xfrm>
          <a:prstGeom prst="rect">
            <a:avLst/>
          </a:prstGeom>
          <a:noFill/>
          <a:ln/>
        </p:spPr>
        <p:txBody>
          <a:bodyPr wrap="square" lIns="0" tIns="0" rIns="0" bIns="0" rtlCol="0" anchor="ctr"/>
          <a:lstStyle/>
          <a:p>
            <a:pPr indent="0" marL="0">
              <a:buNone/>
            </a:pPr>
            <a:endParaRPr lang="en-US" sz="700" dirty="0"/>
          </a:p>
        </p:txBody>
      </p:sp>
      <p:sp>
        <p:nvSpPr>
          <p:cNvPr id="191" name="Shape 189"/>
          <p:cNvSpPr/>
          <p:nvPr/>
        </p:nvSpPr>
        <p:spPr>
          <a:xfrm>
            <a:off x="548640" y="4699535"/>
            <a:ext cx="11091672" cy="203093"/>
          </a:xfrm>
          <a:prstGeom prst="rect">
            <a:avLst/>
          </a:prstGeom>
          <a:solidFill>
            <a:srgbClr val="22252B"/>
          </a:solidFill>
          <a:ln w="12700">
            <a:solidFill>
              <a:srgbClr val="22252B"/>
            </a:solidFill>
            <a:prstDash val="solid"/>
          </a:ln>
        </p:spPr>
      </p:sp>
      <p:sp>
        <p:nvSpPr>
          <p:cNvPr id="192" name="Text 190"/>
          <p:cNvSpPr txBox="1"/>
          <p:nvPr/>
        </p:nvSpPr>
        <p:spPr>
          <a:xfrm>
            <a:off x="640080" y="4699535"/>
            <a:ext cx="2606040" cy="221381"/>
          </a:xfrm>
          <a:prstGeom prst="rect">
            <a:avLst/>
          </a:prstGeom>
          <a:noFill/>
          <a:ln/>
        </p:spPr>
        <p:txBody>
          <a:bodyPr wrap="square" lIns="0" tIns="0" rIns="0" bIns="0" rtlCol="0" anchor="ctr"/>
          <a:lstStyle/>
          <a:p>
            <a:pPr indent="0" marL="0">
              <a:buNone/>
            </a:pPr>
            <a:r>
              <a:rPr lang="en-US" sz="900" b="1" dirty="0">
                <a:solidFill>
                  <a:srgbClr val="E8833A"/>
                </a:solidFill>
                <a:latin typeface="Arial" pitchFamily="34" charset="0"/>
                <a:ea typeface="Arial" pitchFamily="34" charset="-122"/>
                <a:cs typeface="Arial" pitchFamily="34" charset="-120"/>
              </a:rPr>
              <a:t>PEG-O (τ .08 γ 4, val loại)</a:t>
            </a:r>
            <a:endParaRPr lang="en-US" sz="900" dirty="0"/>
          </a:p>
        </p:txBody>
      </p:sp>
      <p:sp>
        <p:nvSpPr>
          <p:cNvPr id="193" name="Text 191"/>
          <p:cNvSpPr txBox="1"/>
          <p:nvPr/>
        </p:nvSpPr>
        <p:spPr>
          <a:xfrm>
            <a:off x="3200400"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4" name="Text 192"/>
          <p:cNvSpPr txBox="1"/>
          <p:nvPr/>
        </p:nvSpPr>
        <p:spPr>
          <a:xfrm>
            <a:off x="3877056"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5" name="Text 193"/>
          <p:cNvSpPr txBox="1"/>
          <p:nvPr/>
        </p:nvSpPr>
        <p:spPr>
          <a:xfrm>
            <a:off x="4553712"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6" name="Text 194"/>
          <p:cNvSpPr txBox="1"/>
          <p:nvPr/>
        </p:nvSpPr>
        <p:spPr>
          <a:xfrm>
            <a:off x="5230368"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7" name="Text 195"/>
          <p:cNvSpPr txBox="1"/>
          <p:nvPr/>
        </p:nvSpPr>
        <p:spPr>
          <a:xfrm>
            <a:off x="5907024"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8" name="Text 196"/>
          <p:cNvSpPr txBox="1"/>
          <p:nvPr/>
        </p:nvSpPr>
        <p:spPr>
          <a:xfrm>
            <a:off x="6583680"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9" name="Text 197"/>
          <p:cNvSpPr txBox="1"/>
          <p:nvPr/>
        </p:nvSpPr>
        <p:spPr>
          <a:xfrm>
            <a:off x="7260336"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0" name="Text 198"/>
          <p:cNvSpPr txBox="1"/>
          <p:nvPr/>
        </p:nvSpPr>
        <p:spPr>
          <a:xfrm>
            <a:off x="7936992"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1" name="Text 199"/>
          <p:cNvSpPr txBox="1"/>
          <p:nvPr/>
        </p:nvSpPr>
        <p:spPr>
          <a:xfrm>
            <a:off x="8613648"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2" name="Text 200"/>
          <p:cNvSpPr txBox="1"/>
          <p:nvPr/>
        </p:nvSpPr>
        <p:spPr>
          <a:xfrm>
            <a:off x="9290304" y="4699535"/>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3" name="Text 201"/>
          <p:cNvSpPr txBox="1"/>
          <p:nvPr/>
        </p:nvSpPr>
        <p:spPr>
          <a:xfrm>
            <a:off x="10012680" y="4699535"/>
            <a:ext cx="1600200" cy="221381"/>
          </a:xfrm>
          <a:prstGeom prst="rect">
            <a:avLst/>
          </a:prstGeom>
          <a:noFill/>
          <a:ln/>
        </p:spPr>
        <p:txBody>
          <a:bodyPr wrap="square" lIns="0" tIns="0" rIns="0" bIns="0" rtlCol="0" anchor="ctr"/>
          <a:lstStyle/>
          <a:p>
            <a:pPr indent="0" marL="0">
              <a:buNone/>
            </a:pPr>
            <a:endParaRPr lang="en-US" sz="700" dirty="0"/>
          </a:p>
        </p:txBody>
      </p:sp>
      <p:sp>
        <p:nvSpPr>
          <p:cNvPr id="204" name="Text 202"/>
          <p:cNvSpPr txBox="1"/>
          <p:nvPr/>
        </p:nvSpPr>
        <p:spPr>
          <a:xfrm>
            <a:off x="640080" y="4920916"/>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online (V K40 t2, val chọn)</a:t>
            </a:r>
            <a:endParaRPr lang="en-US" sz="900" dirty="0"/>
          </a:p>
        </p:txBody>
      </p:sp>
      <p:sp>
        <p:nvSpPr>
          <p:cNvPr id="205" name="Text 203"/>
          <p:cNvSpPr txBox="1"/>
          <p:nvPr/>
        </p:nvSpPr>
        <p:spPr>
          <a:xfrm>
            <a:off x="3200400"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68.80</a:t>
            </a:r>
            <a:endParaRPr lang="en-US" sz="900" dirty="0"/>
          </a:p>
        </p:txBody>
      </p:sp>
      <p:sp>
        <p:nvSpPr>
          <p:cNvPr id="206" name="Text 204"/>
          <p:cNvSpPr txBox="1"/>
          <p:nvPr/>
        </p:nvSpPr>
        <p:spPr>
          <a:xfrm>
            <a:off x="3877056"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84.26</a:t>
            </a:r>
            <a:endParaRPr lang="en-US" sz="900" dirty="0"/>
          </a:p>
        </p:txBody>
      </p:sp>
      <p:sp>
        <p:nvSpPr>
          <p:cNvPr id="207" name="Text 205"/>
          <p:cNvSpPr txBox="1"/>
          <p:nvPr/>
        </p:nvSpPr>
        <p:spPr>
          <a:xfrm>
            <a:off x="4553712"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80.98</a:t>
            </a:r>
            <a:endParaRPr lang="en-US" sz="900" dirty="0"/>
          </a:p>
        </p:txBody>
      </p:sp>
      <p:sp>
        <p:nvSpPr>
          <p:cNvPr id="208" name="Text 206"/>
          <p:cNvSpPr txBox="1"/>
          <p:nvPr/>
        </p:nvSpPr>
        <p:spPr>
          <a:xfrm>
            <a:off x="5230368" y="492091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09" name="Text 207"/>
          <p:cNvSpPr txBox="1"/>
          <p:nvPr/>
        </p:nvSpPr>
        <p:spPr>
          <a:xfrm>
            <a:off x="5907024" y="4920916"/>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60.89</a:t>
            </a:r>
            <a:endParaRPr lang="en-US" sz="900" dirty="0"/>
          </a:p>
        </p:txBody>
      </p:sp>
      <p:sp>
        <p:nvSpPr>
          <p:cNvPr id="210" name="Text 208"/>
          <p:cNvSpPr txBox="1"/>
          <p:nvPr/>
        </p:nvSpPr>
        <p:spPr>
          <a:xfrm>
            <a:off x="6583680" y="492091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211" name="Text 209"/>
          <p:cNvSpPr txBox="1"/>
          <p:nvPr/>
        </p:nvSpPr>
        <p:spPr>
          <a:xfrm>
            <a:off x="7260336"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74.55</a:t>
            </a:r>
            <a:endParaRPr lang="en-US" sz="900" dirty="0"/>
          </a:p>
        </p:txBody>
      </p:sp>
      <p:sp>
        <p:nvSpPr>
          <p:cNvPr id="212" name="Text 210"/>
          <p:cNvSpPr txBox="1"/>
          <p:nvPr/>
        </p:nvSpPr>
        <p:spPr>
          <a:xfrm>
            <a:off x="7936992"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80.4</a:t>
            </a:r>
            <a:endParaRPr lang="en-US" sz="900" dirty="0"/>
          </a:p>
        </p:txBody>
      </p:sp>
      <p:sp>
        <p:nvSpPr>
          <p:cNvPr id="213" name="Text 211"/>
          <p:cNvSpPr txBox="1"/>
          <p:nvPr/>
        </p:nvSpPr>
        <p:spPr>
          <a:xfrm>
            <a:off x="8613648"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81.8</a:t>
            </a:r>
            <a:endParaRPr lang="en-US" sz="900" dirty="0"/>
          </a:p>
        </p:txBody>
      </p:sp>
      <p:sp>
        <p:nvSpPr>
          <p:cNvPr id="214" name="Text 212"/>
          <p:cNvSpPr txBox="1"/>
          <p:nvPr/>
        </p:nvSpPr>
        <p:spPr>
          <a:xfrm>
            <a:off x="9290304" y="492091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215" name="Text 213"/>
          <p:cNvSpPr txBox="1"/>
          <p:nvPr/>
        </p:nvSpPr>
        <p:spPr>
          <a:xfrm>
            <a:off x="10012680" y="4920916"/>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video 325</a:t>
            </a:r>
            <a:endParaRPr lang="en-US" sz="700" dirty="0"/>
          </a:p>
        </p:txBody>
      </p:sp>
      <p:sp>
        <p:nvSpPr>
          <p:cNvPr id="216" name="Shape 214"/>
          <p:cNvSpPr/>
          <p:nvPr/>
        </p:nvSpPr>
        <p:spPr>
          <a:xfrm>
            <a:off x="548640" y="5142297"/>
            <a:ext cx="11091672" cy="203093"/>
          </a:xfrm>
          <a:prstGeom prst="rect">
            <a:avLst/>
          </a:prstGeom>
          <a:solidFill>
            <a:srgbClr val="22252B"/>
          </a:solidFill>
          <a:ln w="12700">
            <a:solidFill>
              <a:srgbClr val="22252B"/>
            </a:solidFill>
            <a:prstDash val="solid"/>
          </a:ln>
        </p:spPr>
      </p:sp>
      <p:sp>
        <p:nvSpPr>
          <p:cNvPr id="217" name="Text 215"/>
          <p:cNvSpPr txBox="1"/>
          <p:nvPr/>
        </p:nvSpPr>
        <p:spPr>
          <a:xfrm>
            <a:off x="640080" y="5142297"/>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fixed-lag 90 (B hidden, val loại)</a:t>
            </a:r>
            <a:endParaRPr lang="en-US" sz="900" dirty="0"/>
          </a:p>
        </p:txBody>
      </p:sp>
      <p:sp>
        <p:nvSpPr>
          <p:cNvPr id="218" name="Text 216"/>
          <p:cNvSpPr txBox="1"/>
          <p:nvPr/>
        </p:nvSpPr>
        <p:spPr>
          <a:xfrm>
            <a:off x="3200400"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19" name="Text 217"/>
          <p:cNvSpPr txBox="1"/>
          <p:nvPr/>
        </p:nvSpPr>
        <p:spPr>
          <a:xfrm>
            <a:off x="3877056"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0" name="Text 218"/>
          <p:cNvSpPr txBox="1"/>
          <p:nvPr/>
        </p:nvSpPr>
        <p:spPr>
          <a:xfrm>
            <a:off x="4553712"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1" name="Text 219"/>
          <p:cNvSpPr txBox="1"/>
          <p:nvPr/>
        </p:nvSpPr>
        <p:spPr>
          <a:xfrm>
            <a:off x="5230368"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2" name="Text 220"/>
          <p:cNvSpPr txBox="1"/>
          <p:nvPr/>
        </p:nvSpPr>
        <p:spPr>
          <a:xfrm>
            <a:off x="5907024"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3" name="Text 221"/>
          <p:cNvSpPr txBox="1"/>
          <p:nvPr/>
        </p:nvSpPr>
        <p:spPr>
          <a:xfrm>
            <a:off x="6583680"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4" name="Text 222"/>
          <p:cNvSpPr txBox="1"/>
          <p:nvPr/>
        </p:nvSpPr>
        <p:spPr>
          <a:xfrm>
            <a:off x="7260336"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5" name="Text 223"/>
          <p:cNvSpPr txBox="1"/>
          <p:nvPr/>
        </p:nvSpPr>
        <p:spPr>
          <a:xfrm>
            <a:off x="7936992"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6" name="Text 224"/>
          <p:cNvSpPr txBox="1"/>
          <p:nvPr/>
        </p:nvSpPr>
        <p:spPr>
          <a:xfrm>
            <a:off x="8613648"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7" name="Text 225"/>
          <p:cNvSpPr txBox="1"/>
          <p:nvPr/>
        </p:nvSpPr>
        <p:spPr>
          <a:xfrm>
            <a:off x="9290304" y="5142297"/>
            <a:ext cx="676656" cy="221381"/>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8" name="Text 226"/>
          <p:cNvSpPr txBox="1"/>
          <p:nvPr/>
        </p:nvSpPr>
        <p:spPr>
          <a:xfrm>
            <a:off x="10012680" y="5142297"/>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không chạy ở harness (val loại)</a:t>
            </a:r>
            <a:endParaRPr lang="en-US" sz="700" dirty="0"/>
          </a:p>
        </p:txBody>
      </p:sp>
      <p:sp>
        <p:nvSpPr>
          <p:cNvPr id="229" name="Text 227"/>
          <p:cNvSpPr txBox="1"/>
          <p:nvPr/>
        </p:nvSpPr>
        <p:spPr>
          <a:xfrm>
            <a:off x="640080" y="5363678"/>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mạnh nhất (+ S k 1.0)</a:t>
            </a:r>
            <a:endParaRPr lang="en-US" sz="900" dirty="0"/>
          </a:p>
        </p:txBody>
      </p:sp>
      <p:sp>
        <p:nvSpPr>
          <p:cNvPr id="230" name="Text 228"/>
          <p:cNvSpPr txBox="1"/>
          <p:nvPr/>
        </p:nvSpPr>
        <p:spPr>
          <a:xfrm>
            <a:off x="3200400"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68.86</a:t>
            </a:r>
            <a:endParaRPr lang="en-US" sz="900" dirty="0"/>
          </a:p>
        </p:txBody>
      </p:sp>
      <p:sp>
        <p:nvSpPr>
          <p:cNvPr id="231" name="Text 229"/>
          <p:cNvSpPr txBox="1"/>
          <p:nvPr/>
        </p:nvSpPr>
        <p:spPr>
          <a:xfrm>
            <a:off x="3877056"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84.34</a:t>
            </a:r>
            <a:endParaRPr lang="en-US" sz="900" dirty="0"/>
          </a:p>
        </p:txBody>
      </p:sp>
      <p:sp>
        <p:nvSpPr>
          <p:cNvPr id="232" name="Text 230"/>
          <p:cNvSpPr txBox="1"/>
          <p:nvPr/>
        </p:nvSpPr>
        <p:spPr>
          <a:xfrm>
            <a:off x="4553712" y="5363678"/>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81.16</a:t>
            </a:r>
            <a:endParaRPr lang="en-US" sz="900" dirty="0"/>
          </a:p>
        </p:txBody>
      </p:sp>
      <p:sp>
        <p:nvSpPr>
          <p:cNvPr id="233" name="Text 231"/>
          <p:cNvSpPr txBox="1"/>
          <p:nvPr/>
        </p:nvSpPr>
        <p:spPr>
          <a:xfrm>
            <a:off x="5230368"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14</a:t>
            </a:r>
            <a:endParaRPr lang="en-US" sz="900" dirty="0"/>
          </a:p>
        </p:txBody>
      </p:sp>
      <p:sp>
        <p:nvSpPr>
          <p:cNvPr id="234" name="Text 232"/>
          <p:cNvSpPr txBox="1"/>
          <p:nvPr/>
        </p:nvSpPr>
        <p:spPr>
          <a:xfrm>
            <a:off x="5907024"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62.67</a:t>
            </a:r>
            <a:endParaRPr lang="en-US" sz="900" dirty="0"/>
          </a:p>
        </p:txBody>
      </p:sp>
      <p:sp>
        <p:nvSpPr>
          <p:cNvPr id="235" name="Text 233"/>
          <p:cNvSpPr txBox="1"/>
          <p:nvPr/>
        </p:nvSpPr>
        <p:spPr>
          <a:xfrm>
            <a:off x="6583680"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78.29</a:t>
            </a:r>
            <a:endParaRPr lang="en-US" sz="900" dirty="0"/>
          </a:p>
        </p:txBody>
      </p:sp>
      <p:sp>
        <p:nvSpPr>
          <p:cNvPr id="236" name="Text 234"/>
          <p:cNvSpPr txBox="1"/>
          <p:nvPr/>
        </p:nvSpPr>
        <p:spPr>
          <a:xfrm>
            <a:off x="7260336" y="5363678"/>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75.55</a:t>
            </a:r>
            <a:endParaRPr lang="en-US" sz="900" dirty="0"/>
          </a:p>
        </p:txBody>
      </p:sp>
      <p:sp>
        <p:nvSpPr>
          <p:cNvPr id="237" name="Text 235"/>
          <p:cNvSpPr txBox="1"/>
          <p:nvPr/>
        </p:nvSpPr>
        <p:spPr>
          <a:xfrm>
            <a:off x="7936992"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81.2</a:t>
            </a:r>
            <a:endParaRPr lang="en-US" sz="900" dirty="0"/>
          </a:p>
        </p:txBody>
      </p:sp>
      <p:sp>
        <p:nvSpPr>
          <p:cNvPr id="238" name="Text 236"/>
          <p:cNvSpPr txBox="1"/>
          <p:nvPr/>
        </p:nvSpPr>
        <p:spPr>
          <a:xfrm>
            <a:off x="8613648"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81.8</a:t>
            </a:r>
            <a:endParaRPr lang="en-US" sz="900" dirty="0"/>
          </a:p>
        </p:txBody>
      </p:sp>
      <p:sp>
        <p:nvSpPr>
          <p:cNvPr id="239" name="Text 237"/>
          <p:cNvSpPr txBox="1"/>
          <p:nvPr/>
        </p:nvSpPr>
        <p:spPr>
          <a:xfrm>
            <a:off x="9290304" y="5363678"/>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10.5</a:t>
            </a:r>
            <a:endParaRPr lang="en-US" sz="900" dirty="0"/>
          </a:p>
        </p:txBody>
      </p:sp>
      <p:sp>
        <p:nvSpPr>
          <p:cNvPr id="240" name="Text 238"/>
          <p:cNvSpPr txBox="1"/>
          <p:nvPr/>
        </p:nvSpPr>
        <p:spPr>
          <a:xfrm>
            <a:off x="10012680" y="5363678"/>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135</a:t>
            </a:r>
            <a:endParaRPr lang="en-US" sz="700" dirty="0"/>
          </a:p>
        </p:txBody>
      </p:sp>
      <p:sp>
        <p:nvSpPr>
          <p:cNvPr id="241" name="Shape 239"/>
          <p:cNvSpPr/>
          <p:nvPr/>
        </p:nvSpPr>
        <p:spPr>
          <a:xfrm>
            <a:off x="548640" y="5585059"/>
            <a:ext cx="11091672" cy="203093"/>
          </a:xfrm>
          <a:prstGeom prst="rect">
            <a:avLst/>
          </a:prstGeom>
          <a:solidFill>
            <a:srgbClr val="22252B"/>
          </a:solidFill>
          <a:ln w="12700">
            <a:solidFill>
              <a:srgbClr val="22252B"/>
            </a:solidFill>
            <a:prstDash val="solid"/>
          </a:ln>
        </p:spPr>
      </p:sp>
      <p:sp>
        <p:nvSpPr>
          <p:cNvPr id="242" name="Text 240"/>
          <p:cNvSpPr txBox="1"/>
          <p:nvPr/>
        </p:nvSpPr>
        <p:spPr>
          <a:xfrm>
            <a:off x="640080" y="5585059"/>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ALL = PEG-C + Thạch (M1 cone)</a:t>
            </a:r>
            <a:endParaRPr lang="en-US" sz="900" dirty="0"/>
          </a:p>
        </p:txBody>
      </p:sp>
      <p:sp>
        <p:nvSpPr>
          <p:cNvPr id="243" name="Text 241"/>
          <p:cNvSpPr txBox="1"/>
          <p:nvPr/>
        </p:nvSpPr>
        <p:spPr>
          <a:xfrm>
            <a:off x="3200400"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68.78</a:t>
            </a:r>
            <a:endParaRPr lang="en-US" sz="900" dirty="0"/>
          </a:p>
        </p:txBody>
      </p:sp>
      <p:sp>
        <p:nvSpPr>
          <p:cNvPr id="244" name="Text 242"/>
          <p:cNvSpPr txBox="1"/>
          <p:nvPr/>
        </p:nvSpPr>
        <p:spPr>
          <a:xfrm>
            <a:off x="3877056"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84.24</a:t>
            </a:r>
            <a:endParaRPr lang="en-US" sz="900" dirty="0"/>
          </a:p>
        </p:txBody>
      </p:sp>
      <p:sp>
        <p:nvSpPr>
          <p:cNvPr id="245" name="Text 243"/>
          <p:cNvSpPr txBox="1"/>
          <p:nvPr/>
        </p:nvSpPr>
        <p:spPr>
          <a:xfrm>
            <a:off x="4553712"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80.95</a:t>
            </a:r>
            <a:endParaRPr lang="en-US" sz="900" dirty="0"/>
          </a:p>
        </p:txBody>
      </p:sp>
      <p:sp>
        <p:nvSpPr>
          <p:cNvPr id="246" name="Text 244"/>
          <p:cNvSpPr txBox="1"/>
          <p:nvPr/>
        </p:nvSpPr>
        <p:spPr>
          <a:xfrm>
            <a:off x="5230368" y="558505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47" name="Text 245"/>
          <p:cNvSpPr txBox="1"/>
          <p:nvPr/>
        </p:nvSpPr>
        <p:spPr>
          <a:xfrm>
            <a:off x="5907024" y="558505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61.35</a:t>
            </a:r>
            <a:endParaRPr lang="en-US" sz="900" dirty="0"/>
          </a:p>
        </p:txBody>
      </p:sp>
      <p:sp>
        <p:nvSpPr>
          <p:cNvPr id="248" name="Text 246"/>
          <p:cNvSpPr txBox="1"/>
          <p:nvPr/>
        </p:nvSpPr>
        <p:spPr>
          <a:xfrm>
            <a:off x="6583680"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75.45</a:t>
            </a:r>
            <a:endParaRPr lang="en-US" sz="900" dirty="0"/>
          </a:p>
        </p:txBody>
      </p:sp>
      <p:sp>
        <p:nvSpPr>
          <p:cNvPr id="249" name="Text 247"/>
          <p:cNvSpPr txBox="1"/>
          <p:nvPr/>
        </p:nvSpPr>
        <p:spPr>
          <a:xfrm>
            <a:off x="7260336"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75.13</a:t>
            </a:r>
            <a:endParaRPr lang="en-US" sz="900" dirty="0"/>
          </a:p>
        </p:txBody>
      </p:sp>
      <p:sp>
        <p:nvSpPr>
          <p:cNvPr id="250" name="Text 248"/>
          <p:cNvSpPr txBox="1"/>
          <p:nvPr/>
        </p:nvSpPr>
        <p:spPr>
          <a:xfrm>
            <a:off x="7936992"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81.2</a:t>
            </a:r>
            <a:endParaRPr lang="en-US" sz="900" dirty="0"/>
          </a:p>
        </p:txBody>
      </p:sp>
      <p:sp>
        <p:nvSpPr>
          <p:cNvPr id="251" name="Text 249"/>
          <p:cNvSpPr txBox="1"/>
          <p:nvPr/>
        </p:nvSpPr>
        <p:spPr>
          <a:xfrm>
            <a:off x="8613648"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81.8</a:t>
            </a:r>
            <a:endParaRPr lang="en-US" sz="900" dirty="0"/>
          </a:p>
        </p:txBody>
      </p:sp>
      <p:sp>
        <p:nvSpPr>
          <p:cNvPr id="252" name="Text 250"/>
          <p:cNvSpPr txBox="1"/>
          <p:nvPr/>
        </p:nvSpPr>
        <p:spPr>
          <a:xfrm>
            <a:off x="9290304"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11.6</a:t>
            </a:r>
            <a:endParaRPr lang="en-US" sz="900" dirty="0"/>
          </a:p>
        </p:txBody>
      </p:sp>
      <p:sp>
        <p:nvSpPr>
          <p:cNvPr id="253" name="Text 251"/>
          <p:cNvSpPr txBox="1"/>
          <p:nvPr/>
        </p:nvSpPr>
        <p:spPr>
          <a:xfrm>
            <a:off x="10012680" y="5585059"/>
            <a:ext cx="1600200" cy="221381"/>
          </a:xfrm>
          <a:prstGeom prst="rect">
            <a:avLst/>
          </a:prstGeom>
          <a:noFill/>
          <a:ln/>
        </p:spPr>
        <p:txBody>
          <a:bodyPr wrap="square" lIns="0" tIns="0" rIns="0" bIns="0" rtlCol="0" anchor="ctr"/>
          <a:lstStyle/>
          <a:p>
            <a:pPr indent="0" marL="0">
              <a:buNone/>
            </a:pPr>
            <a:endParaRPr lang="en-US" sz="700" dirty="0"/>
          </a:p>
        </p:txBody>
      </p:sp>
      <p:sp>
        <p:nvSpPr>
          <p:cNvPr id="254" name="Text 252"/>
          <p:cNvSpPr txBox="1"/>
          <p:nvPr/>
        </p:nvSpPr>
        <p:spPr>
          <a:xfrm>
            <a:off x="548640" y="5852160"/>
            <a:ext cx="11064240" cy="548640"/>
          </a:xfrm>
          <a:prstGeom prst="rect">
            <a:avLst/>
          </a:prstGeom>
          <a:noFill/>
          <a:ln/>
        </p:spPr>
        <p:txBody>
          <a:bodyPr wrap="square" lIns="0" tIns="0" rIns="0" bIns="0" rtlCol="0" anchor="t"/>
          <a:lstStyle/>
          <a:p>
            <a:pPr indent="0" marL="0">
              <a:buNone/>
            </a:pPr>
            <a:r>
              <a:rPr lang="en-US" sz="950" dirty="0">
                <a:solidFill>
                  <a:srgbClr val="A3A8B0"/>
                </a:solidFill>
                <a:latin typeface="Arial" pitchFamily="34" charset="0"/>
                <a:ea typeface="Arial" pitchFamily="34" charset="-122"/>
                <a:cs typeface="Arial" pitchFamily="34" charset="-120"/>
              </a:rPr>
              <a:t>Xanh/đỏ = tốt/xấu hơn PEG (IDSW, ID-off: ít hơn là tốt); gạch chân vàng = tốt nhất cột; “chủ yếu nhờ” = bỏ video/lần chói đó thì mất hơn nửa mức tăng. Dòng ★ chọn trên val, test chạy 1 lần. PEG-O và PEG-C fixed-lag không chạy test ở harness này (val loại); số test (guard tắt) ở slide PEG-O và PEG-C.</a:t>
            </a:r>
            <a:endParaRPr lang="en-US" sz="950" dirty="0"/>
          </a:p>
          <a:p>
            <a:pPr indent="0" marL="0">
              <a:buNone/>
            </a:pPr>
            <a:r>
              <a:rPr lang="en-US" sz="950" b="1" dirty="0">
                <a:solidFill>
                  <a:srgbClr val="F2A900"/>
                </a:solidFill>
                <a:latin typeface="Arial" pitchFamily="34" charset="0"/>
                <a:ea typeface="Arial" pitchFamily="34" charset="-122"/>
                <a:cs typeface="Arial" pitchFamily="34" charset="-120"/>
              </a:rPr>
              <a:t>Tốt nhất theo val (ΣΔ): ALL = PEG-C + Thạch (M1 cone)  (ΣΔ val +9.29)</a:t>
            </a:r>
            <a:endParaRPr lang="en-US" sz="950" dirty="0"/>
          </a:p>
        </p:txBody>
      </p:sp>
      <p:sp>
        <p:nvSpPr>
          <p:cNvPr id="255" name="Shape 25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6" name="Text 25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7" name="Text 25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val: từng thành phần và bản mạnh nhất</a:t>
            </a:r>
            <a:endParaRPr lang="en-US" sz="2600" dirty="0"/>
          </a:p>
        </p:txBody>
      </p:sp>
      <p:sp>
        <p:nvSpPr>
          <p:cNvPr id="4" name="Text 2"/>
          <p:cNvSpPr txBox="1"/>
          <p:nvPr/>
        </p:nvSpPr>
        <p:spPr>
          <a:xfrm>
            <a:off x="320040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188720"/>
            <a:ext cx="1463040" cy="384048"/>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600200"/>
            <a:ext cx="11091672" cy="203093"/>
          </a:xfrm>
          <a:prstGeom prst="rect">
            <a:avLst/>
          </a:prstGeom>
          <a:solidFill>
            <a:srgbClr val="22252B"/>
          </a:solidFill>
          <a:ln w="12700">
            <a:solidFill>
              <a:srgbClr val="22252B"/>
            </a:solidFill>
            <a:prstDash val="solid"/>
          </a:ln>
        </p:spPr>
      </p:sp>
      <p:sp>
        <p:nvSpPr>
          <p:cNvPr id="16" name="Text 14"/>
          <p:cNvSpPr txBox="1"/>
          <p:nvPr/>
        </p:nvSpPr>
        <p:spPr>
          <a:xfrm>
            <a:off x="640080" y="1600200"/>
            <a:ext cx="2606040" cy="221381"/>
          </a:xfrm>
          <a:prstGeom prst="rect">
            <a:avLst/>
          </a:prstGeom>
          <a:noFill/>
          <a:ln/>
        </p:spPr>
        <p:txBody>
          <a:bodyPr wrap="square" lIns="0" tIns="0" rIns="0" bIns="0" rtlCol="0" anchor="ctr"/>
          <a:lstStyle/>
          <a:p>
            <a:pPr indent="0" marL="0">
              <a:buNone/>
            </a:pPr>
            <a:r>
              <a:rPr lang="en-US" sz="900" b="1" dirty="0">
                <a:solidFill>
                  <a:srgbClr val="3987E5"/>
                </a:solidFill>
                <a:latin typeface="Arial" pitchFamily="34" charset="0"/>
                <a:ea typeface="Arial" pitchFamily="34" charset="-122"/>
                <a:cs typeface="Arial" pitchFamily="34" charset="-120"/>
              </a:rPr>
              <a:t>PEG</a:t>
            </a:r>
            <a:endParaRPr lang="en-US" sz="900" dirty="0"/>
          </a:p>
        </p:txBody>
      </p:sp>
      <p:sp>
        <p:nvSpPr>
          <p:cNvPr id="17" name="Text 15"/>
          <p:cNvSpPr txBox="1"/>
          <p:nvPr/>
        </p:nvSpPr>
        <p:spPr>
          <a:xfrm>
            <a:off x="3200400"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18" name="Text 16"/>
          <p:cNvSpPr txBox="1"/>
          <p:nvPr/>
        </p:nvSpPr>
        <p:spPr>
          <a:xfrm>
            <a:off x="3877056"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19" name="Text 17"/>
          <p:cNvSpPr txBox="1"/>
          <p:nvPr/>
        </p:nvSpPr>
        <p:spPr>
          <a:xfrm>
            <a:off x="4553712"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20" name="Text 18"/>
          <p:cNvSpPr txBox="1"/>
          <p:nvPr/>
        </p:nvSpPr>
        <p:spPr>
          <a:xfrm>
            <a:off x="5230368"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1" name="Text 19"/>
          <p:cNvSpPr txBox="1"/>
          <p:nvPr/>
        </p:nvSpPr>
        <p:spPr>
          <a:xfrm>
            <a:off x="5907024"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22" name="Text 20"/>
          <p:cNvSpPr txBox="1"/>
          <p:nvPr/>
        </p:nvSpPr>
        <p:spPr>
          <a:xfrm>
            <a:off x="6583680"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23" name="Text 21"/>
          <p:cNvSpPr txBox="1"/>
          <p:nvPr/>
        </p:nvSpPr>
        <p:spPr>
          <a:xfrm>
            <a:off x="7260336"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24" name="Text 22"/>
          <p:cNvSpPr txBox="1"/>
          <p:nvPr/>
        </p:nvSpPr>
        <p:spPr>
          <a:xfrm>
            <a:off x="7936992"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25" name="Text 23"/>
          <p:cNvSpPr txBox="1"/>
          <p:nvPr/>
        </p:nvSpPr>
        <p:spPr>
          <a:xfrm>
            <a:off x="8613648"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26" name="Text 24"/>
          <p:cNvSpPr txBox="1"/>
          <p:nvPr/>
        </p:nvSpPr>
        <p:spPr>
          <a:xfrm>
            <a:off x="9290304" y="1600200"/>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7" name="Text 25"/>
          <p:cNvSpPr txBox="1"/>
          <p:nvPr/>
        </p:nvSpPr>
        <p:spPr>
          <a:xfrm>
            <a:off x="10012680" y="1600200"/>
            <a:ext cx="1600200" cy="221381"/>
          </a:xfrm>
          <a:prstGeom prst="rect">
            <a:avLst/>
          </a:prstGeom>
          <a:noFill/>
          <a:ln/>
        </p:spPr>
        <p:txBody>
          <a:bodyPr wrap="square" lIns="0" tIns="0" rIns="0" bIns="0" rtlCol="0" anchor="ctr"/>
          <a:lstStyle/>
          <a:p>
            <a:pPr indent="0" marL="0">
              <a:buNone/>
            </a:pPr>
            <a:endParaRPr lang="en-US" sz="700" dirty="0"/>
          </a:p>
        </p:txBody>
      </p:sp>
      <p:sp>
        <p:nvSpPr>
          <p:cNvPr id="28" name="Text 26"/>
          <p:cNvSpPr txBox="1"/>
          <p:nvPr/>
        </p:nvSpPr>
        <p:spPr>
          <a:xfrm>
            <a:off x="640080" y="1821581"/>
            <a:ext cx="2606040" cy="221381"/>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PEG+ (của mình)</a:t>
            </a:r>
            <a:endParaRPr lang="en-US" sz="900" dirty="0"/>
          </a:p>
        </p:txBody>
      </p:sp>
      <p:sp>
        <p:nvSpPr>
          <p:cNvPr id="29" name="Text 27"/>
          <p:cNvSpPr txBox="1"/>
          <p:nvPr/>
        </p:nvSpPr>
        <p:spPr>
          <a:xfrm>
            <a:off x="3200400" y="182158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70.11</a:t>
            </a:r>
            <a:endParaRPr lang="en-US" sz="900" dirty="0"/>
          </a:p>
        </p:txBody>
      </p:sp>
      <p:sp>
        <p:nvSpPr>
          <p:cNvPr id="30" name="Text 28"/>
          <p:cNvSpPr txBox="1"/>
          <p:nvPr/>
        </p:nvSpPr>
        <p:spPr>
          <a:xfrm>
            <a:off x="3877056" y="182158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86.06</a:t>
            </a:r>
            <a:endParaRPr lang="en-US" sz="900" dirty="0"/>
          </a:p>
        </p:txBody>
      </p:sp>
      <p:sp>
        <p:nvSpPr>
          <p:cNvPr id="31" name="Text 29"/>
          <p:cNvSpPr txBox="1"/>
          <p:nvPr/>
        </p:nvSpPr>
        <p:spPr>
          <a:xfrm>
            <a:off x="4553712"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82.20</a:t>
            </a:r>
            <a:endParaRPr lang="en-US" sz="900" dirty="0"/>
          </a:p>
        </p:txBody>
      </p:sp>
      <p:sp>
        <p:nvSpPr>
          <p:cNvPr id="32" name="Text 30"/>
          <p:cNvSpPr txBox="1"/>
          <p:nvPr/>
        </p:nvSpPr>
        <p:spPr>
          <a:xfrm>
            <a:off x="5230368" y="182158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33" name="Text 31"/>
          <p:cNvSpPr txBox="1"/>
          <p:nvPr/>
        </p:nvSpPr>
        <p:spPr>
          <a:xfrm>
            <a:off x="5907024" y="182158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76.30</a:t>
            </a:r>
            <a:endParaRPr lang="en-US" sz="900" dirty="0"/>
          </a:p>
        </p:txBody>
      </p:sp>
      <p:sp>
        <p:nvSpPr>
          <p:cNvPr id="34" name="Text 32"/>
          <p:cNvSpPr txBox="1"/>
          <p:nvPr/>
        </p:nvSpPr>
        <p:spPr>
          <a:xfrm>
            <a:off x="6583680" y="182158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89.24</a:t>
            </a:r>
            <a:endParaRPr lang="en-US" sz="900" dirty="0"/>
          </a:p>
        </p:txBody>
      </p:sp>
      <p:sp>
        <p:nvSpPr>
          <p:cNvPr id="35" name="Text 33"/>
          <p:cNvSpPr txBox="1"/>
          <p:nvPr/>
        </p:nvSpPr>
        <p:spPr>
          <a:xfrm>
            <a:off x="7260336" y="1821581"/>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89.80</a:t>
            </a:r>
            <a:endParaRPr lang="en-US" sz="900" dirty="0"/>
          </a:p>
        </p:txBody>
      </p:sp>
      <p:sp>
        <p:nvSpPr>
          <p:cNvPr id="36" name="Text 34"/>
          <p:cNvSpPr txBox="1"/>
          <p:nvPr/>
        </p:nvSpPr>
        <p:spPr>
          <a:xfrm>
            <a:off x="7936992" y="182158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67.3</a:t>
            </a:r>
            <a:endParaRPr lang="en-US" sz="900" dirty="0"/>
          </a:p>
        </p:txBody>
      </p:sp>
      <p:sp>
        <p:nvSpPr>
          <p:cNvPr id="37" name="Text 35"/>
          <p:cNvSpPr txBox="1"/>
          <p:nvPr/>
        </p:nvSpPr>
        <p:spPr>
          <a:xfrm>
            <a:off x="8613648" y="182158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66.3</a:t>
            </a:r>
            <a:endParaRPr lang="en-US" sz="900" dirty="0"/>
          </a:p>
        </p:txBody>
      </p:sp>
      <p:sp>
        <p:nvSpPr>
          <p:cNvPr id="38" name="Text 36"/>
          <p:cNvSpPr txBox="1"/>
          <p:nvPr/>
        </p:nvSpPr>
        <p:spPr>
          <a:xfrm>
            <a:off x="9290304" y="182158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39" name="Text 37"/>
          <p:cNvSpPr txBox="1"/>
          <p:nvPr/>
        </p:nvSpPr>
        <p:spPr>
          <a:xfrm>
            <a:off x="10012680" y="1821581"/>
            <a:ext cx="1600200" cy="221381"/>
          </a:xfrm>
          <a:prstGeom prst="rect">
            <a:avLst/>
          </a:prstGeom>
          <a:noFill/>
          <a:ln/>
        </p:spPr>
        <p:txBody>
          <a:bodyPr wrap="square" lIns="0" tIns="0" rIns="0" bIns="0" rtlCol="0" anchor="ctr"/>
          <a:lstStyle/>
          <a:p>
            <a:pPr indent="0" marL="0">
              <a:buNone/>
            </a:pPr>
            <a:endParaRPr lang="en-US" sz="700" dirty="0"/>
          </a:p>
        </p:txBody>
      </p:sp>
      <p:sp>
        <p:nvSpPr>
          <p:cNvPr id="40" name="Shape 38"/>
          <p:cNvSpPr/>
          <p:nvPr/>
        </p:nvSpPr>
        <p:spPr>
          <a:xfrm>
            <a:off x="548640" y="2042962"/>
            <a:ext cx="11091672" cy="203093"/>
          </a:xfrm>
          <a:prstGeom prst="rect">
            <a:avLst/>
          </a:prstGeom>
          <a:solidFill>
            <a:srgbClr val="22252B"/>
          </a:solidFill>
          <a:ln w="12700">
            <a:solidFill>
              <a:srgbClr val="22252B"/>
            </a:solidFill>
            <a:prstDash val="solid"/>
          </a:ln>
        </p:spPr>
      </p:sp>
      <p:sp>
        <p:nvSpPr>
          <p:cNvPr id="41" name="Text 39"/>
          <p:cNvSpPr txBox="1"/>
          <p:nvPr/>
        </p:nvSpPr>
        <p:spPr>
          <a:xfrm>
            <a:off x="640080" y="2042962"/>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cone</a:t>
            </a:r>
            <a:endParaRPr lang="en-US" sz="900" dirty="0"/>
          </a:p>
        </p:txBody>
      </p:sp>
      <p:sp>
        <p:nvSpPr>
          <p:cNvPr id="42" name="Text 40"/>
          <p:cNvSpPr txBox="1"/>
          <p:nvPr/>
        </p:nvSpPr>
        <p:spPr>
          <a:xfrm>
            <a:off x="3200400" y="2042962"/>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70.66</a:t>
            </a:r>
            <a:endParaRPr lang="en-US" sz="900" dirty="0"/>
          </a:p>
        </p:txBody>
      </p:sp>
      <p:sp>
        <p:nvSpPr>
          <p:cNvPr id="43" name="Text 41"/>
          <p:cNvSpPr txBox="1"/>
          <p:nvPr/>
        </p:nvSpPr>
        <p:spPr>
          <a:xfrm>
            <a:off x="3877056" y="2042962"/>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86.93</a:t>
            </a:r>
            <a:endParaRPr lang="en-US" sz="900" dirty="0"/>
          </a:p>
        </p:txBody>
      </p:sp>
      <p:sp>
        <p:nvSpPr>
          <p:cNvPr id="44" name="Text 42"/>
          <p:cNvSpPr txBox="1"/>
          <p:nvPr/>
        </p:nvSpPr>
        <p:spPr>
          <a:xfrm>
            <a:off x="4553712"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82.03</a:t>
            </a:r>
            <a:endParaRPr lang="en-US" sz="900" dirty="0"/>
          </a:p>
        </p:txBody>
      </p:sp>
      <p:sp>
        <p:nvSpPr>
          <p:cNvPr id="45" name="Text 43"/>
          <p:cNvSpPr txBox="1"/>
          <p:nvPr/>
        </p:nvSpPr>
        <p:spPr>
          <a:xfrm>
            <a:off x="5230368" y="204296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46" name="Text 44"/>
          <p:cNvSpPr txBox="1"/>
          <p:nvPr/>
        </p:nvSpPr>
        <p:spPr>
          <a:xfrm>
            <a:off x="5907024"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77.56</a:t>
            </a:r>
            <a:endParaRPr lang="en-US" sz="900" dirty="0"/>
          </a:p>
        </p:txBody>
      </p:sp>
      <p:sp>
        <p:nvSpPr>
          <p:cNvPr id="47" name="Text 45"/>
          <p:cNvSpPr txBox="1"/>
          <p:nvPr/>
        </p:nvSpPr>
        <p:spPr>
          <a:xfrm>
            <a:off x="6583680" y="2042962"/>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91.20</a:t>
            </a:r>
            <a:endParaRPr lang="en-US" sz="900" dirty="0"/>
          </a:p>
        </p:txBody>
      </p:sp>
      <p:sp>
        <p:nvSpPr>
          <p:cNvPr id="48" name="Text 46"/>
          <p:cNvSpPr txBox="1"/>
          <p:nvPr/>
        </p:nvSpPr>
        <p:spPr>
          <a:xfrm>
            <a:off x="7260336"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89.76</a:t>
            </a:r>
            <a:endParaRPr lang="en-US" sz="900" dirty="0"/>
          </a:p>
        </p:txBody>
      </p:sp>
      <p:sp>
        <p:nvSpPr>
          <p:cNvPr id="49" name="Text 47"/>
          <p:cNvSpPr txBox="1"/>
          <p:nvPr/>
        </p:nvSpPr>
        <p:spPr>
          <a:xfrm>
            <a:off x="7936992"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50" name="Text 48"/>
          <p:cNvSpPr txBox="1"/>
          <p:nvPr/>
        </p:nvSpPr>
        <p:spPr>
          <a:xfrm>
            <a:off x="8613648"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51" name="Text 49"/>
          <p:cNvSpPr txBox="1"/>
          <p:nvPr/>
        </p:nvSpPr>
        <p:spPr>
          <a:xfrm>
            <a:off x="9290304" y="2042962"/>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52" name="Text 50"/>
          <p:cNvSpPr txBox="1"/>
          <p:nvPr/>
        </p:nvSpPr>
        <p:spPr>
          <a:xfrm>
            <a:off x="10012680" y="2042962"/>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156, T2: video 147</a:t>
            </a:r>
            <a:endParaRPr lang="en-US" sz="700" dirty="0"/>
          </a:p>
        </p:txBody>
      </p:sp>
      <p:sp>
        <p:nvSpPr>
          <p:cNvPr id="53" name="Text 51"/>
          <p:cNvSpPr txBox="1"/>
          <p:nvPr/>
        </p:nvSpPr>
        <p:spPr>
          <a:xfrm>
            <a:off x="640080" y="2264343"/>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hãm vận tốc</a:t>
            </a:r>
            <a:endParaRPr lang="en-US" sz="900" dirty="0"/>
          </a:p>
        </p:txBody>
      </p:sp>
      <p:sp>
        <p:nvSpPr>
          <p:cNvPr id="54" name="Text 52"/>
          <p:cNvSpPr txBox="1"/>
          <p:nvPr/>
        </p:nvSpPr>
        <p:spPr>
          <a:xfrm>
            <a:off x="3200400" y="2264343"/>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55" name="Text 53"/>
          <p:cNvSpPr txBox="1"/>
          <p:nvPr/>
        </p:nvSpPr>
        <p:spPr>
          <a:xfrm>
            <a:off x="3877056"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86.29</a:t>
            </a:r>
            <a:endParaRPr lang="en-US" sz="900" dirty="0"/>
          </a:p>
        </p:txBody>
      </p:sp>
      <p:sp>
        <p:nvSpPr>
          <p:cNvPr id="56" name="Text 54"/>
          <p:cNvSpPr txBox="1"/>
          <p:nvPr/>
        </p:nvSpPr>
        <p:spPr>
          <a:xfrm>
            <a:off x="4553712"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82.17</a:t>
            </a:r>
            <a:endParaRPr lang="en-US" sz="900" dirty="0"/>
          </a:p>
        </p:txBody>
      </p:sp>
      <p:sp>
        <p:nvSpPr>
          <p:cNvPr id="57" name="Text 55"/>
          <p:cNvSpPr txBox="1"/>
          <p:nvPr/>
        </p:nvSpPr>
        <p:spPr>
          <a:xfrm>
            <a:off x="5230368" y="2264343"/>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13</a:t>
            </a:r>
            <a:endParaRPr lang="en-US" sz="900" dirty="0"/>
          </a:p>
        </p:txBody>
      </p:sp>
      <p:sp>
        <p:nvSpPr>
          <p:cNvPr id="58" name="Text 56"/>
          <p:cNvSpPr txBox="1"/>
          <p:nvPr/>
        </p:nvSpPr>
        <p:spPr>
          <a:xfrm>
            <a:off x="5907024"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75.77</a:t>
            </a:r>
            <a:endParaRPr lang="en-US" sz="900" dirty="0"/>
          </a:p>
        </p:txBody>
      </p:sp>
      <p:sp>
        <p:nvSpPr>
          <p:cNvPr id="59" name="Text 57"/>
          <p:cNvSpPr txBox="1"/>
          <p:nvPr/>
        </p:nvSpPr>
        <p:spPr>
          <a:xfrm>
            <a:off x="6583680" y="2264343"/>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88.72</a:t>
            </a:r>
            <a:endParaRPr lang="en-US" sz="900" dirty="0"/>
          </a:p>
        </p:txBody>
      </p:sp>
      <p:sp>
        <p:nvSpPr>
          <p:cNvPr id="60" name="Text 58"/>
          <p:cNvSpPr txBox="1"/>
          <p:nvPr/>
        </p:nvSpPr>
        <p:spPr>
          <a:xfrm>
            <a:off x="7260336"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89.88</a:t>
            </a:r>
            <a:endParaRPr lang="en-US" sz="900" dirty="0"/>
          </a:p>
        </p:txBody>
      </p:sp>
      <p:sp>
        <p:nvSpPr>
          <p:cNvPr id="61" name="Text 59"/>
          <p:cNvSpPr txBox="1"/>
          <p:nvPr/>
        </p:nvSpPr>
        <p:spPr>
          <a:xfrm>
            <a:off x="7936992"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69.4</a:t>
            </a:r>
            <a:endParaRPr lang="en-US" sz="900" dirty="0"/>
          </a:p>
        </p:txBody>
      </p:sp>
      <p:sp>
        <p:nvSpPr>
          <p:cNvPr id="62" name="Text 60"/>
          <p:cNvSpPr txBox="1"/>
          <p:nvPr/>
        </p:nvSpPr>
        <p:spPr>
          <a:xfrm>
            <a:off x="8613648" y="2264343"/>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a:t>
            </a:r>
            <a:endParaRPr lang="en-US" sz="900" dirty="0"/>
          </a:p>
        </p:txBody>
      </p:sp>
      <p:sp>
        <p:nvSpPr>
          <p:cNvPr id="63" name="Text 61"/>
          <p:cNvSpPr txBox="1"/>
          <p:nvPr/>
        </p:nvSpPr>
        <p:spPr>
          <a:xfrm>
            <a:off x="9290304" y="2264343"/>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64" name="Text 62"/>
          <p:cNvSpPr txBox="1"/>
          <p:nvPr/>
        </p:nvSpPr>
        <p:spPr>
          <a:xfrm>
            <a:off x="10012680" y="2264343"/>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video 332</a:t>
            </a:r>
            <a:endParaRPr lang="en-US" sz="700" dirty="0"/>
          </a:p>
        </p:txBody>
      </p:sp>
      <p:sp>
        <p:nvSpPr>
          <p:cNvPr id="65" name="Shape 63"/>
          <p:cNvSpPr/>
          <p:nvPr/>
        </p:nvSpPr>
        <p:spPr>
          <a:xfrm>
            <a:off x="548640" y="2485724"/>
            <a:ext cx="11091672" cy="203093"/>
          </a:xfrm>
          <a:prstGeom prst="rect">
            <a:avLst/>
          </a:prstGeom>
          <a:solidFill>
            <a:srgbClr val="22252B"/>
          </a:solidFill>
          <a:ln w="12700">
            <a:solidFill>
              <a:srgbClr val="22252B"/>
            </a:solidFill>
            <a:prstDash val="solid"/>
          </a:ln>
        </p:spPr>
      </p:sp>
      <p:sp>
        <p:nvSpPr>
          <p:cNvPr id="66" name="Text 64"/>
          <p:cNvSpPr txBox="1"/>
          <p:nvPr/>
        </p:nvSpPr>
        <p:spPr>
          <a:xfrm>
            <a:off x="640080" y="2485724"/>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M3</a:t>
            </a:r>
            <a:endParaRPr lang="en-US" sz="900" dirty="0"/>
          </a:p>
        </p:txBody>
      </p:sp>
      <p:sp>
        <p:nvSpPr>
          <p:cNvPr id="67" name="Text 65"/>
          <p:cNvSpPr txBox="1"/>
          <p:nvPr/>
        </p:nvSpPr>
        <p:spPr>
          <a:xfrm>
            <a:off x="3200400"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70.28</a:t>
            </a:r>
            <a:endParaRPr lang="en-US" sz="900" dirty="0"/>
          </a:p>
        </p:txBody>
      </p:sp>
      <p:sp>
        <p:nvSpPr>
          <p:cNvPr id="68" name="Text 66"/>
          <p:cNvSpPr txBox="1"/>
          <p:nvPr/>
        </p:nvSpPr>
        <p:spPr>
          <a:xfrm>
            <a:off x="3877056"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86.45</a:t>
            </a:r>
            <a:endParaRPr lang="en-US" sz="900" dirty="0"/>
          </a:p>
        </p:txBody>
      </p:sp>
      <p:sp>
        <p:nvSpPr>
          <p:cNvPr id="69" name="Text 67"/>
          <p:cNvSpPr txBox="1"/>
          <p:nvPr/>
        </p:nvSpPr>
        <p:spPr>
          <a:xfrm>
            <a:off x="4553712" y="2485724"/>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82.28</a:t>
            </a:r>
            <a:endParaRPr lang="en-US" sz="900" dirty="0"/>
          </a:p>
        </p:txBody>
      </p:sp>
      <p:sp>
        <p:nvSpPr>
          <p:cNvPr id="70" name="Text 68"/>
          <p:cNvSpPr txBox="1"/>
          <p:nvPr/>
        </p:nvSpPr>
        <p:spPr>
          <a:xfrm>
            <a:off x="5230368"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71" name="Text 69"/>
          <p:cNvSpPr txBox="1"/>
          <p:nvPr/>
        </p:nvSpPr>
        <p:spPr>
          <a:xfrm>
            <a:off x="5907024"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72" name="Text 70"/>
          <p:cNvSpPr txBox="1"/>
          <p:nvPr/>
        </p:nvSpPr>
        <p:spPr>
          <a:xfrm>
            <a:off x="6583680"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89.20</a:t>
            </a:r>
            <a:endParaRPr lang="en-US" sz="900" dirty="0"/>
          </a:p>
        </p:txBody>
      </p:sp>
      <p:sp>
        <p:nvSpPr>
          <p:cNvPr id="73" name="Text 71"/>
          <p:cNvSpPr txBox="1"/>
          <p:nvPr/>
        </p:nvSpPr>
        <p:spPr>
          <a:xfrm>
            <a:off x="7260336"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89.76</a:t>
            </a:r>
            <a:endParaRPr lang="en-US" sz="900" dirty="0"/>
          </a:p>
        </p:txBody>
      </p:sp>
      <p:sp>
        <p:nvSpPr>
          <p:cNvPr id="74" name="Text 72"/>
          <p:cNvSpPr txBox="1"/>
          <p:nvPr/>
        </p:nvSpPr>
        <p:spPr>
          <a:xfrm>
            <a:off x="7936992"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75" name="Text 73"/>
          <p:cNvSpPr txBox="1"/>
          <p:nvPr/>
        </p:nvSpPr>
        <p:spPr>
          <a:xfrm>
            <a:off x="8613648"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76" name="Text 74"/>
          <p:cNvSpPr txBox="1"/>
          <p:nvPr/>
        </p:nvSpPr>
        <p:spPr>
          <a:xfrm>
            <a:off x="9290304" y="2485724"/>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77" name="Text 75"/>
          <p:cNvSpPr txBox="1"/>
          <p:nvPr/>
        </p:nvSpPr>
        <p:spPr>
          <a:xfrm>
            <a:off x="10012680" y="2485724"/>
            <a:ext cx="1600200" cy="221381"/>
          </a:xfrm>
          <a:prstGeom prst="rect">
            <a:avLst/>
          </a:prstGeom>
          <a:noFill/>
          <a:ln/>
        </p:spPr>
        <p:txBody>
          <a:bodyPr wrap="square" lIns="0" tIns="0" rIns="0" bIns="0" rtlCol="0" anchor="ctr"/>
          <a:lstStyle/>
          <a:p>
            <a:pPr indent="0" marL="0">
              <a:buNone/>
            </a:pPr>
            <a:endParaRPr lang="en-US" sz="700" dirty="0"/>
          </a:p>
        </p:txBody>
      </p:sp>
      <p:sp>
        <p:nvSpPr>
          <p:cNvPr id="78" name="Text 76"/>
          <p:cNvSpPr txBox="1"/>
          <p:nvPr/>
        </p:nvSpPr>
        <p:spPr>
          <a:xfrm>
            <a:off x="640080" y="2707105"/>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nở bất định</a:t>
            </a:r>
            <a:endParaRPr lang="en-US" sz="900" dirty="0"/>
          </a:p>
        </p:txBody>
      </p:sp>
      <p:sp>
        <p:nvSpPr>
          <p:cNvPr id="79" name="Text 77"/>
          <p:cNvSpPr txBox="1"/>
          <p:nvPr/>
        </p:nvSpPr>
        <p:spPr>
          <a:xfrm>
            <a:off x="3200400"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80" name="Text 78"/>
          <p:cNvSpPr txBox="1"/>
          <p:nvPr/>
        </p:nvSpPr>
        <p:spPr>
          <a:xfrm>
            <a:off x="3877056"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81" name="Text 79"/>
          <p:cNvSpPr txBox="1"/>
          <p:nvPr/>
        </p:nvSpPr>
        <p:spPr>
          <a:xfrm>
            <a:off x="4553712"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82" name="Text 80"/>
          <p:cNvSpPr txBox="1"/>
          <p:nvPr/>
        </p:nvSpPr>
        <p:spPr>
          <a:xfrm>
            <a:off x="5230368"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83" name="Text 81"/>
          <p:cNvSpPr txBox="1"/>
          <p:nvPr/>
        </p:nvSpPr>
        <p:spPr>
          <a:xfrm>
            <a:off x="5907024"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84" name="Text 82"/>
          <p:cNvSpPr txBox="1"/>
          <p:nvPr/>
        </p:nvSpPr>
        <p:spPr>
          <a:xfrm>
            <a:off x="6583680"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85" name="Text 83"/>
          <p:cNvSpPr txBox="1"/>
          <p:nvPr/>
        </p:nvSpPr>
        <p:spPr>
          <a:xfrm>
            <a:off x="7260336"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86" name="Text 84"/>
          <p:cNvSpPr txBox="1"/>
          <p:nvPr/>
        </p:nvSpPr>
        <p:spPr>
          <a:xfrm>
            <a:off x="7936992"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87" name="Text 85"/>
          <p:cNvSpPr txBox="1"/>
          <p:nvPr/>
        </p:nvSpPr>
        <p:spPr>
          <a:xfrm>
            <a:off x="8613648"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88" name="Text 86"/>
          <p:cNvSpPr txBox="1"/>
          <p:nvPr/>
        </p:nvSpPr>
        <p:spPr>
          <a:xfrm>
            <a:off x="9290304" y="2707105"/>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89" name="Text 87"/>
          <p:cNvSpPr txBox="1"/>
          <p:nvPr/>
        </p:nvSpPr>
        <p:spPr>
          <a:xfrm>
            <a:off x="10012680" y="2707105"/>
            <a:ext cx="1600200" cy="221381"/>
          </a:xfrm>
          <a:prstGeom prst="rect">
            <a:avLst/>
          </a:prstGeom>
          <a:noFill/>
          <a:ln/>
        </p:spPr>
        <p:txBody>
          <a:bodyPr wrap="square" lIns="0" tIns="0" rIns="0" bIns="0" rtlCol="0" anchor="ctr"/>
          <a:lstStyle/>
          <a:p>
            <a:pPr indent="0" marL="0">
              <a:buNone/>
            </a:pPr>
            <a:endParaRPr lang="en-US" sz="700" dirty="0"/>
          </a:p>
        </p:txBody>
      </p:sp>
      <p:sp>
        <p:nvSpPr>
          <p:cNvPr id="90" name="Shape 88"/>
          <p:cNvSpPr/>
          <p:nvPr/>
        </p:nvSpPr>
        <p:spPr>
          <a:xfrm>
            <a:off x="548640" y="2928486"/>
            <a:ext cx="11091672" cy="203093"/>
          </a:xfrm>
          <a:prstGeom prst="rect">
            <a:avLst/>
          </a:prstGeom>
          <a:solidFill>
            <a:srgbClr val="22252B"/>
          </a:solidFill>
          <a:ln w="12700">
            <a:solidFill>
              <a:srgbClr val="22252B"/>
            </a:solidFill>
            <a:prstDash val="solid"/>
          </a:ln>
        </p:spPr>
      </p:sp>
      <p:sp>
        <p:nvSpPr>
          <p:cNvPr id="91" name="Text 89"/>
          <p:cNvSpPr txBox="1"/>
          <p:nvPr/>
        </p:nvSpPr>
        <p:spPr>
          <a:xfrm>
            <a:off x="640080" y="2928486"/>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M2</a:t>
            </a:r>
            <a:endParaRPr lang="en-US" sz="900" dirty="0"/>
          </a:p>
        </p:txBody>
      </p:sp>
      <p:sp>
        <p:nvSpPr>
          <p:cNvPr id="92" name="Text 90"/>
          <p:cNvSpPr txBox="1"/>
          <p:nvPr/>
        </p:nvSpPr>
        <p:spPr>
          <a:xfrm>
            <a:off x="3200400"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93" name="Text 91"/>
          <p:cNvSpPr txBox="1"/>
          <p:nvPr/>
        </p:nvSpPr>
        <p:spPr>
          <a:xfrm>
            <a:off x="3877056"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94" name="Text 92"/>
          <p:cNvSpPr txBox="1"/>
          <p:nvPr/>
        </p:nvSpPr>
        <p:spPr>
          <a:xfrm>
            <a:off x="4553712"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95" name="Text 93"/>
          <p:cNvSpPr txBox="1"/>
          <p:nvPr/>
        </p:nvSpPr>
        <p:spPr>
          <a:xfrm>
            <a:off x="5230368"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96" name="Text 94"/>
          <p:cNvSpPr txBox="1"/>
          <p:nvPr/>
        </p:nvSpPr>
        <p:spPr>
          <a:xfrm>
            <a:off x="5907024"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97" name="Text 95"/>
          <p:cNvSpPr txBox="1"/>
          <p:nvPr/>
        </p:nvSpPr>
        <p:spPr>
          <a:xfrm>
            <a:off x="6583680"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98" name="Text 96"/>
          <p:cNvSpPr txBox="1"/>
          <p:nvPr/>
        </p:nvSpPr>
        <p:spPr>
          <a:xfrm>
            <a:off x="7260336"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99" name="Text 97"/>
          <p:cNvSpPr txBox="1"/>
          <p:nvPr/>
        </p:nvSpPr>
        <p:spPr>
          <a:xfrm>
            <a:off x="7936992"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100" name="Text 98"/>
          <p:cNvSpPr txBox="1"/>
          <p:nvPr/>
        </p:nvSpPr>
        <p:spPr>
          <a:xfrm>
            <a:off x="8613648"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01" name="Text 99"/>
          <p:cNvSpPr txBox="1"/>
          <p:nvPr/>
        </p:nvSpPr>
        <p:spPr>
          <a:xfrm>
            <a:off x="9290304" y="292848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02" name="Text 100"/>
          <p:cNvSpPr txBox="1"/>
          <p:nvPr/>
        </p:nvSpPr>
        <p:spPr>
          <a:xfrm>
            <a:off x="10012680" y="2928486"/>
            <a:ext cx="1600200" cy="221381"/>
          </a:xfrm>
          <a:prstGeom prst="rect">
            <a:avLst/>
          </a:prstGeom>
          <a:noFill/>
          <a:ln/>
        </p:spPr>
        <p:txBody>
          <a:bodyPr wrap="square" lIns="0" tIns="0" rIns="0" bIns="0" rtlCol="0" anchor="ctr"/>
          <a:lstStyle/>
          <a:p>
            <a:pPr indent="0" marL="0">
              <a:buNone/>
            </a:pPr>
            <a:endParaRPr lang="en-US" sz="700" dirty="0"/>
          </a:p>
        </p:txBody>
      </p:sp>
      <p:sp>
        <p:nvSpPr>
          <p:cNvPr id="103" name="Text 101"/>
          <p:cNvSpPr txBox="1"/>
          <p:nvPr/>
        </p:nvSpPr>
        <p:spPr>
          <a:xfrm>
            <a:off x="640080" y="3149867"/>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M4</a:t>
            </a:r>
            <a:endParaRPr lang="en-US" sz="900" dirty="0"/>
          </a:p>
        </p:txBody>
      </p:sp>
      <p:sp>
        <p:nvSpPr>
          <p:cNvPr id="104" name="Text 102"/>
          <p:cNvSpPr txBox="1"/>
          <p:nvPr/>
        </p:nvSpPr>
        <p:spPr>
          <a:xfrm>
            <a:off x="3200400"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105" name="Text 103"/>
          <p:cNvSpPr txBox="1"/>
          <p:nvPr/>
        </p:nvSpPr>
        <p:spPr>
          <a:xfrm>
            <a:off x="3877056"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106" name="Text 104"/>
          <p:cNvSpPr txBox="1"/>
          <p:nvPr/>
        </p:nvSpPr>
        <p:spPr>
          <a:xfrm>
            <a:off x="4553712"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107" name="Text 105"/>
          <p:cNvSpPr txBox="1"/>
          <p:nvPr/>
        </p:nvSpPr>
        <p:spPr>
          <a:xfrm>
            <a:off x="5230368"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108" name="Text 106"/>
          <p:cNvSpPr txBox="1"/>
          <p:nvPr/>
        </p:nvSpPr>
        <p:spPr>
          <a:xfrm>
            <a:off x="5907024"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109" name="Text 107"/>
          <p:cNvSpPr txBox="1"/>
          <p:nvPr/>
        </p:nvSpPr>
        <p:spPr>
          <a:xfrm>
            <a:off x="6583680"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110" name="Text 108"/>
          <p:cNvSpPr txBox="1"/>
          <p:nvPr/>
        </p:nvSpPr>
        <p:spPr>
          <a:xfrm>
            <a:off x="7260336"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111" name="Text 109"/>
          <p:cNvSpPr txBox="1"/>
          <p:nvPr/>
        </p:nvSpPr>
        <p:spPr>
          <a:xfrm>
            <a:off x="7936992"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112" name="Text 110"/>
          <p:cNvSpPr txBox="1"/>
          <p:nvPr/>
        </p:nvSpPr>
        <p:spPr>
          <a:xfrm>
            <a:off x="8613648"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13" name="Text 111"/>
          <p:cNvSpPr txBox="1"/>
          <p:nvPr/>
        </p:nvSpPr>
        <p:spPr>
          <a:xfrm>
            <a:off x="9290304" y="314986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14" name="Text 112"/>
          <p:cNvSpPr txBox="1"/>
          <p:nvPr/>
        </p:nvSpPr>
        <p:spPr>
          <a:xfrm>
            <a:off x="10012680" y="3149867"/>
            <a:ext cx="1600200" cy="221381"/>
          </a:xfrm>
          <a:prstGeom prst="rect">
            <a:avLst/>
          </a:prstGeom>
          <a:noFill/>
          <a:ln/>
        </p:spPr>
        <p:txBody>
          <a:bodyPr wrap="square" lIns="0" tIns="0" rIns="0" bIns="0" rtlCol="0" anchor="ctr"/>
          <a:lstStyle/>
          <a:p>
            <a:pPr indent="0" marL="0">
              <a:buNone/>
            </a:pPr>
            <a:endParaRPr lang="en-US" sz="700" dirty="0"/>
          </a:p>
        </p:txBody>
      </p:sp>
      <p:sp>
        <p:nvSpPr>
          <p:cNvPr id="115" name="Shape 113"/>
          <p:cNvSpPr/>
          <p:nvPr/>
        </p:nvSpPr>
        <p:spPr>
          <a:xfrm>
            <a:off x="548640" y="3371248"/>
            <a:ext cx="11091672" cy="203093"/>
          </a:xfrm>
          <a:prstGeom prst="rect">
            <a:avLst/>
          </a:prstGeom>
          <a:solidFill>
            <a:srgbClr val="22252B"/>
          </a:solidFill>
          <a:ln w="12700">
            <a:solidFill>
              <a:srgbClr val="22252B"/>
            </a:solidFill>
            <a:prstDash val="solid"/>
          </a:ln>
        </p:spPr>
      </p:sp>
      <p:sp>
        <p:nvSpPr>
          <p:cNvPr id="116" name="Text 114"/>
          <p:cNvSpPr txBox="1"/>
          <p:nvPr/>
        </p:nvSpPr>
        <p:spPr>
          <a:xfrm>
            <a:off x="640080" y="3371248"/>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M5</a:t>
            </a:r>
            <a:endParaRPr lang="en-US" sz="900" dirty="0"/>
          </a:p>
        </p:txBody>
      </p:sp>
      <p:sp>
        <p:nvSpPr>
          <p:cNvPr id="117" name="Text 115"/>
          <p:cNvSpPr txBox="1"/>
          <p:nvPr/>
        </p:nvSpPr>
        <p:spPr>
          <a:xfrm>
            <a:off x="3200400"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70.26</a:t>
            </a:r>
            <a:endParaRPr lang="en-US" sz="900" dirty="0"/>
          </a:p>
        </p:txBody>
      </p:sp>
      <p:sp>
        <p:nvSpPr>
          <p:cNvPr id="118" name="Text 116"/>
          <p:cNvSpPr txBox="1"/>
          <p:nvPr/>
        </p:nvSpPr>
        <p:spPr>
          <a:xfrm>
            <a:off x="3877056" y="337124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86.41</a:t>
            </a:r>
            <a:endParaRPr lang="en-US" sz="900" dirty="0"/>
          </a:p>
        </p:txBody>
      </p:sp>
      <p:sp>
        <p:nvSpPr>
          <p:cNvPr id="119" name="Text 117"/>
          <p:cNvSpPr txBox="1"/>
          <p:nvPr/>
        </p:nvSpPr>
        <p:spPr>
          <a:xfrm>
            <a:off x="4553712" y="337124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82.17</a:t>
            </a:r>
            <a:endParaRPr lang="en-US" sz="900" dirty="0"/>
          </a:p>
        </p:txBody>
      </p:sp>
      <p:sp>
        <p:nvSpPr>
          <p:cNvPr id="120" name="Text 118"/>
          <p:cNvSpPr txBox="1"/>
          <p:nvPr/>
        </p:nvSpPr>
        <p:spPr>
          <a:xfrm>
            <a:off x="5230368"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121" name="Text 119"/>
          <p:cNvSpPr txBox="1"/>
          <p:nvPr/>
        </p:nvSpPr>
        <p:spPr>
          <a:xfrm>
            <a:off x="5907024" y="337124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76.18</a:t>
            </a:r>
            <a:endParaRPr lang="en-US" sz="900" dirty="0"/>
          </a:p>
        </p:txBody>
      </p:sp>
      <p:sp>
        <p:nvSpPr>
          <p:cNvPr id="122" name="Text 120"/>
          <p:cNvSpPr txBox="1"/>
          <p:nvPr/>
        </p:nvSpPr>
        <p:spPr>
          <a:xfrm>
            <a:off x="6583680"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89.16</a:t>
            </a:r>
            <a:endParaRPr lang="en-US" sz="900" dirty="0"/>
          </a:p>
        </p:txBody>
      </p:sp>
      <p:sp>
        <p:nvSpPr>
          <p:cNvPr id="123" name="Text 121"/>
          <p:cNvSpPr txBox="1"/>
          <p:nvPr/>
        </p:nvSpPr>
        <p:spPr>
          <a:xfrm>
            <a:off x="7260336" y="337124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89.66</a:t>
            </a:r>
            <a:endParaRPr lang="en-US" sz="900" dirty="0"/>
          </a:p>
        </p:txBody>
      </p:sp>
      <p:sp>
        <p:nvSpPr>
          <p:cNvPr id="124" name="Text 122"/>
          <p:cNvSpPr txBox="1"/>
          <p:nvPr/>
        </p:nvSpPr>
        <p:spPr>
          <a:xfrm>
            <a:off x="7936992" y="337124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67.4</a:t>
            </a:r>
            <a:endParaRPr lang="en-US" sz="900" dirty="0"/>
          </a:p>
        </p:txBody>
      </p:sp>
      <p:sp>
        <p:nvSpPr>
          <p:cNvPr id="125" name="Text 123"/>
          <p:cNvSpPr txBox="1"/>
          <p:nvPr/>
        </p:nvSpPr>
        <p:spPr>
          <a:xfrm>
            <a:off x="8613648"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26" name="Text 124"/>
          <p:cNvSpPr txBox="1"/>
          <p:nvPr/>
        </p:nvSpPr>
        <p:spPr>
          <a:xfrm>
            <a:off x="9290304" y="337124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27" name="Text 125"/>
          <p:cNvSpPr txBox="1"/>
          <p:nvPr/>
        </p:nvSpPr>
        <p:spPr>
          <a:xfrm>
            <a:off x="10012680" y="3371248"/>
            <a:ext cx="1600200" cy="221381"/>
          </a:xfrm>
          <a:prstGeom prst="rect">
            <a:avLst/>
          </a:prstGeom>
          <a:noFill/>
          <a:ln/>
        </p:spPr>
        <p:txBody>
          <a:bodyPr wrap="square" lIns="0" tIns="0" rIns="0" bIns="0" rtlCol="0" anchor="ctr"/>
          <a:lstStyle/>
          <a:p>
            <a:pPr indent="0" marL="0">
              <a:buNone/>
            </a:pPr>
            <a:endParaRPr lang="en-US" sz="700" dirty="0"/>
          </a:p>
        </p:txBody>
      </p:sp>
      <p:sp>
        <p:nvSpPr>
          <p:cNvPr id="128" name="Text 126"/>
          <p:cNvSpPr txBox="1"/>
          <p:nvPr/>
        </p:nvSpPr>
        <p:spPr>
          <a:xfrm>
            <a:off x="640080" y="3592629"/>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đổi-ID viết lại</a:t>
            </a:r>
            <a:endParaRPr lang="en-US" sz="900" dirty="0"/>
          </a:p>
        </p:txBody>
      </p:sp>
      <p:sp>
        <p:nvSpPr>
          <p:cNvPr id="129" name="Text 127"/>
          <p:cNvSpPr txBox="1"/>
          <p:nvPr/>
        </p:nvSpPr>
        <p:spPr>
          <a:xfrm>
            <a:off x="3200400"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69.98</a:t>
            </a:r>
            <a:endParaRPr lang="en-US" sz="900" dirty="0"/>
          </a:p>
        </p:txBody>
      </p:sp>
      <p:sp>
        <p:nvSpPr>
          <p:cNvPr id="130" name="Text 128"/>
          <p:cNvSpPr txBox="1"/>
          <p:nvPr/>
        </p:nvSpPr>
        <p:spPr>
          <a:xfrm>
            <a:off x="3877056"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85.76</a:t>
            </a:r>
            <a:endParaRPr lang="en-US" sz="900" dirty="0"/>
          </a:p>
        </p:txBody>
      </p:sp>
      <p:sp>
        <p:nvSpPr>
          <p:cNvPr id="131" name="Text 129"/>
          <p:cNvSpPr txBox="1"/>
          <p:nvPr/>
        </p:nvSpPr>
        <p:spPr>
          <a:xfrm>
            <a:off x="4553712"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82.00</a:t>
            </a:r>
            <a:endParaRPr lang="en-US" sz="900" dirty="0"/>
          </a:p>
        </p:txBody>
      </p:sp>
      <p:sp>
        <p:nvSpPr>
          <p:cNvPr id="132" name="Text 130"/>
          <p:cNvSpPr txBox="1"/>
          <p:nvPr/>
        </p:nvSpPr>
        <p:spPr>
          <a:xfrm>
            <a:off x="5230368" y="359262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28</a:t>
            </a:r>
            <a:endParaRPr lang="en-US" sz="900" dirty="0"/>
          </a:p>
        </p:txBody>
      </p:sp>
      <p:sp>
        <p:nvSpPr>
          <p:cNvPr id="133" name="Text 131"/>
          <p:cNvSpPr txBox="1"/>
          <p:nvPr/>
        </p:nvSpPr>
        <p:spPr>
          <a:xfrm>
            <a:off x="5907024"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134" name="Text 132"/>
          <p:cNvSpPr txBox="1"/>
          <p:nvPr/>
        </p:nvSpPr>
        <p:spPr>
          <a:xfrm>
            <a:off x="6583680"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135" name="Text 133"/>
          <p:cNvSpPr txBox="1"/>
          <p:nvPr/>
        </p:nvSpPr>
        <p:spPr>
          <a:xfrm>
            <a:off x="7260336"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136" name="Text 134"/>
          <p:cNvSpPr txBox="1"/>
          <p:nvPr/>
        </p:nvSpPr>
        <p:spPr>
          <a:xfrm>
            <a:off x="7936992"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137" name="Text 135"/>
          <p:cNvSpPr txBox="1"/>
          <p:nvPr/>
        </p:nvSpPr>
        <p:spPr>
          <a:xfrm>
            <a:off x="8613648"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38" name="Text 136"/>
          <p:cNvSpPr txBox="1"/>
          <p:nvPr/>
        </p:nvSpPr>
        <p:spPr>
          <a:xfrm>
            <a:off x="9290304" y="359262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39" name="Text 137"/>
          <p:cNvSpPr txBox="1"/>
          <p:nvPr/>
        </p:nvSpPr>
        <p:spPr>
          <a:xfrm>
            <a:off x="10012680" y="3592629"/>
            <a:ext cx="1600200" cy="221381"/>
          </a:xfrm>
          <a:prstGeom prst="rect">
            <a:avLst/>
          </a:prstGeom>
          <a:noFill/>
          <a:ln/>
        </p:spPr>
        <p:txBody>
          <a:bodyPr wrap="square" lIns="0" tIns="0" rIns="0" bIns="0" rtlCol="0" anchor="ctr"/>
          <a:lstStyle/>
          <a:p>
            <a:pPr indent="0" marL="0">
              <a:buNone/>
            </a:pPr>
            <a:endParaRPr lang="en-US" sz="700" dirty="0"/>
          </a:p>
        </p:txBody>
      </p:sp>
      <p:sp>
        <p:nvSpPr>
          <p:cNvPr id="140" name="Shape 138"/>
          <p:cNvSpPr/>
          <p:nvPr/>
        </p:nvSpPr>
        <p:spPr>
          <a:xfrm>
            <a:off x="548640" y="3814011"/>
            <a:ext cx="11091672" cy="203093"/>
          </a:xfrm>
          <a:prstGeom prst="rect">
            <a:avLst/>
          </a:prstGeom>
          <a:solidFill>
            <a:srgbClr val="22252B"/>
          </a:solidFill>
          <a:ln w="12700">
            <a:solidFill>
              <a:srgbClr val="22252B"/>
            </a:solidFill>
            <a:prstDash val="solid"/>
          </a:ln>
        </p:spPr>
      </p:sp>
      <p:sp>
        <p:nvSpPr>
          <p:cNvPr id="141" name="Text 139"/>
          <p:cNvSpPr txBox="1"/>
          <p:nvPr/>
        </p:nvSpPr>
        <p:spPr>
          <a:xfrm>
            <a:off x="640080" y="3814011"/>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M6</a:t>
            </a:r>
            <a:endParaRPr lang="en-US" sz="900" dirty="0"/>
          </a:p>
        </p:txBody>
      </p:sp>
      <p:sp>
        <p:nvSpPr>
          <p:cNvPr id="142" name="Text 140"/>
          <p:cNvSpPr txBox="1"/>
          <p:nvPr/>
        </p:nvSpPr>
        <p:spPr>
          <a:xfrm>
            <a:off x="3200400"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70.14</a:t>
            </a:r>
            <a:endParaRPr lang="en-US" sz="900" dirty="0"/>
          </a:p>
        </p:txBody>
      </p:sp>
      <p:sp>
        <p:nvSpPr>
          <p:cNvPr id="143" name="Text 141"/>
          <p:cNvSpPr txBox="1"/>
          <p:nvPr/>
        </p:nvSpPr>
        <p:spPr>
          <a:xfrm>
            <a:off x="3877056"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85.82</a:t>
            </a:r>
            <a:endParaRPr lang="en-US" sz="900" dirty="0"/>
          </a:p>
        </p:txBody>
      </p:sp>
      <p:sp>
        <p:nvSpPr>
          <p:cNvPr id="144" name="Text 142"/>
          <p:cNvSpPr txBox="1"/>
          <p:nvPr/>
        </p:nvSpPr>
        <p:spPr>
          <a:xfrm>
            <a:off x="4553712"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81.60</a:t>
            </a:r>
            <a:endParaRPr lang="en-US" sz="900" dirty="0"/>
          </a:p>
        </p:txBody>
      </p:sp>
      <p:sp>
        <p:nvSpPr>
          <p:cNvPr id="145" name="Text 143"/>
          <p:cNvSpPr txBox="1"/>
          <p:nvPr/>
        </p:nvSpPr>
        <p:spPr>
          <a:xfrm>
            <a:off x="5230368"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18</a:t>
            </a:r>
            <a:endParaRPr lang="en-US" sz="900" dirty="0"/>
          </a:p>
        </p:txBody>
      </p:sp>
      <p:sp>
        <p:nvSpPr>
          <p:cNvPr id="146" name="Text 144"/>
          <p:cNvSpPr txBox="1"/>
          <p:nvPr/>
        </p:nvSpPr>
        <p:spPr>
          <a:xfrm>
            <a:off x="5907024"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75.52</a:t>
            </a:r>
            <a:endParaRPr lang="en-US" sz="900" dirty="0"/>
          </a:p>
        </p:txBody>
      </p:sp>
      <p:sp>
        <p:nvSpPr>
          <p:cNvPr id="147" name="Text 145"/>
          <p:cNvSpPr txBox="1"/>
          <p:nvPr/>
        </p:nvSpPr>
        <p:spPr>
          <a:xfrm>
            <a:off x="6583680"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87.92</a:t>
            </a:r>
            <a:endParaRPr lang="en-US" sz="900" dirty="0"/>
          </a:p>
        </p:txBody>
      </p:sp>
      <p:sp>
        <p:nvSpPr>
          <p:cNvPr id="148" name="Text 146"/>
          <p:cNvSpPr txBox="1"/>
          <p:nvPr/>
        </p:nvSpPr>
        <p:spPr>
          <a:xfrm>
            <a:off x="7260336" y="381401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89.72</a:t>
            </a:r>
            <a:endParaRPr lang="en-US" sz="900" dirty="0"/>
          </a:p>
        </p:txBody>
      </p:sp>
      <p:sp>
        <p:nvSpPr>
          <p:cNvPr id="149" name="Text 147"/>
          <p:cNvSpPr txBox="1"/>
          <p:nvPr/>
        </p:nvSpPr>
        <p:spPr>
          <a:xfrm>
            <a:off x="7936992"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66.9</a:t>
            </a:r>
            <a:endParaRPr lang="en-US" sz="900" dirty="0"/>
          </a:p>
        </p:txBody>
      </p:sp>
      <p:sp>
        <p:nvSpPr>
          <p:cNvPr id="150" name="Text 148"/>
          <p:cNvSpPr txBox="1"/>
          <p:nvPr/>
        </p:nvSpPr>
        <p:spPr>
          <a:xfrm>
            <a:off x="8613648" y="3814011"/>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64.2</a:t>
            </a:r>
            <a:endParaRPr lang="en-US" sz="900" dirty="0"/>
          </a:p>
        </p:txBody>
      </p:sp>
      <p:sp>
        <p:nvSpPr>
          <p:cNvPr id="151" name="Text 149"/>
          <p:cNvSpPr txBox="1"/>
          <p:nvPr/>
        </p:nvSpPr>
        <p:spPr>
          <a:xfrm>
            <a:off x="9290304" y="3814011"/>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52" name="Text 150"/>
          <p:cNvSpPr txBox="1"/>
          <p:nvPr/>
        </p:nvSpPr>
        <p:spPr>
          <a:xfrm>
            <a:off x="10012680" y="3814011"/>
            <a:ext cx="1600200" cy="221381"/>
          </a:xfrm>
          <a:prstGeom prst="rect">
            <a:avLst/>
          </a:prstGeom>
          <a:noFill/>
          <a:ln/>
        </p:spPr>
        <p:txBody>
          <a:bodyPr wrap="square" lIns="0" tIns="0" rIns="0" bIns="0" rtlCol="0" anchor="ctr"/>
          <a:lstStyle/>
          <a:p>
            <a:pPr indent="0" marL="0">
              <a:buNone/>
            </a:pPr>
            <a:endParaRPr lang="en-US" sz="700" dirty="0"/>
          </a:p>
        </p:txBody>
      </p:sp>
      <p:sp>
        <p:nvSpPr>
          <p:cNvPr id="153" name="Text 151"/>
          <p:cNvSpPr txBox="1"/>
          <p:nvPr/>
        </p:nvSpPr>
        <p:spPr>
          <a:xfrm>
            <a:off x="640080" y="4035392"/>
            <a:ext cx="2606040" cy="221381"/>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Thạch full+M6 (tham số của Thạch)</a:t>
            </a:r>
            <a:endParaRPr lang="en-US" sz="900" dirty="0"/>
          </a:p>
        </p:txBody>
      </p:sp>
      <p:sp>
        <p:nvSpPr>
          <p:cNvPr id="154" name="Text 152"/>
          <p:cNvSpPr txBox="1"/>
          <p:nvPr/>
        </p:nvSpPr>
        <p:spPr>
          <a:xfrm>
            <a:off x="3200400"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69.85</a:t>
            </a:r>
            <a:endParaRPr lang="en-US" sz="900" dirty="0"/>
          </a:p>
        </p:txBody>
      </p:sp>
      <p:sp>
        <p:nvSpPr>
          <p:cNvPr id="155" name="Text 153"/>
          <p:cNvSpPr txBox="1"/>
          <p:nvPr/>
        </p:nvSpPr>
        <p:spPr>
          <a:xfrm>
            <a:off x="3877056"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85.37</a:t>
            </a:r>
            <a:endParaRPr lang="en-US" sz="900" dirty="0"/>
          </a:p>
        </p:txBody>
      </p:sp>
      <p:sp>
        <p:nvSpPr>
          <p:cNvPr id="156" name="Text 154"/>
          <p:cNvSpPr txBox="1"/>
          <p:nvPr/>
        </p:nvSpPr>
        <p:spPr>
          <a:xfrm>
            <a:off x="4553712"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81.75</a:t>
            </a:r>
            <a:endParaRPr lang="en-US" sz="900" dirty="0"/>
          </a:p>
        </p:txBody>
      </p:sp>
      <p:sp>
        <p:nvSpPr>
          <p:cNvPr id="157" name="Text 155"/>
          <p:cNvSpPr txBox="1"/>
          <p:nvPr/>
        </p:nvSpPr>
        <p:spPr>
          <a:xfrm>
            <a:off x="5230368"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48</a:t>
            </a:r>
            <a:endParaRPr lang="en-US" sz="900" dirty="0"/>
          </a:p>
        </p:txBody>
      </p:sp>
      <p:sp>
        <p:nvSpPr>
          <p:cNvPr id="158" name="Text 156"/>
          <p:cNvSpPr txBox="1"/>
          <p:nvPr/>
        </p:nvSpPr>
        <p:spPr>
          <a:xfrm>
            <a:off x="5907024"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73.16</a:t>
            </a:r>
            <a:endParaRPr lang="en-US" sz="900" dirty="0"/>
          </a:p>
        </p:txBody>
      </p:sp>
      <p:sp>
        <p:nvSpPr>
          <p:cNvPr id="159" name="Text 157"/>
          <p:cNvSpPr txBox="1"/>
          <p:nvPr/>
        </p:nvSpPr>
        <p:spPr>
          <a:xfrm>
            <a:off x="6583680"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85.30</a:t>
            </a:r>
            <a:endParaRPr lang="en-US" sz="900" dirty="0"/>
          </a:p>
        </p:txBody>
      </p:sp>
      <p:sp>
        <p:nvSpPr>
          <p:cNvPr id="160" name="Text 158"/>
          <p:cNvSpPr txBox="1"/>
          <p:nvPr/>
        </p:nvSpPr>
        <p:spPr>
          <a:xfrm>
            <a:off x="7260336"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86.62</a:t>
            </a:r>
            <a:endParaRPr lang="en-US" sz="900" dirty="0"/>
          </a:p>
        </p:txBody>
      </p:sp>
      <p:sp>
        <p:nvSpPr>
          <p:cNvPr id="161" name="Text 159"/>
          <p:cNvSpPr txBox="1"/>
          <p:nvPr/>
        </p:nvSpPr>
        <p:spPr>
          <a:xfrm>
            <a:off x="7936992"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37.1</a:t>
            </a:r>
            <a:endParaRPr lang="en-US" sz="900" dirty="0"/>
          </a:p>
        </p:txBody>
      </p:sp>
      <p:sp>
        <p:nvSpPr>
          <p:cNvPr id="162" name="Text 160"/>
          <p:cNvSpPr txBox="1"/>
          <p:nvPr/>
        </p:nvSpPr>
        <p:spPr>
          <a:xfrm>
            <a:off x="8613648"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32.6</a:t>
            </a:r>
            <a:endParaRPr lang="en-US" sz="900" dirty="0"/>
          </a:p>
        </p:txBody>
      </p:sp>
      <p:sp>
        <p:nvSpPr>
          <p:cNvPr id="163" name="Text 161"/>
          <p:cNvSpPr txBox="1"/>
          <p:nvPr/>
        </p:nvSpPr>
        <p:spPr>
          <a:xfrm>
            <a:off x="9290304" y="4035392"/>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21.9</a:t>
            </a:r>
            <a:endParaRPr lang="en-US" sz="900" dirty="0"/>
          </a:p>
        </p:txBody>
      </p:sp>
      <p:sp>
        <p:nvSpPr>
          <p:cNvPr id="164" name="Text 162"/>
          <p:cNvSpPr txBox="1"/>
          <p:nvPr/>
        </p:nvSpPr>
        <p:spPr>
          <a:xfrm>
            <a:off x="10012680" y="4035392"/>
            <a:ext cx="1600200" cy="221381"/>
          </a:xfrm>
          <a:prstGeom prst="rect">
            <a:avLst/>
          </a:prstGeom>
          <a:noFill/>
          <a:ln/>
        </p:spPr>
        <p:txBody>
          <a:bodyPr wrap="square" lIns="0" tIns="0" rIns="0" bIns="0" rtlCol="0" anchor="ctr"/>
          <a:lstStyle/>
          <a:p>
            <a:pPr indent="0" marL="0">
              <a:buNone/>
            </a:pPr>
            <a:endParaRPr lang="en-US" sz="700" dirty="0"/>
          </a:p>
        </p:txBody>
      </p:sp>
      <p:sp>
        <p:nvSpPr>
          <p:cNvPr id="165" name="Shape 163"/>
          <p:cNvSpPr/>
          <p:nvPr/>
        </p:nvSpPr>
        <p:spPr>
          <a:xfrm>
            <a:off x="548640" y="4256773"/>
            <a:ext cx="11091672" cy="203093"/>
          </a:xfrm>
          <a:prstGeom prst="rect">
            <a:avLst/>
          </a:prstGeom>
          <a:solidFill>
            <a:srgbClr val="2B2F36"/>
          </a:solidFill>
          <a:ln w="12700">
            <a:solidFill>
              <a:srgbClr val="F2A900"/>
            </a:solidFill>
            <a:prstDash val="solid"/>
          </a:ln>
        </p:spPr>
      </p:sp>
      <p:sp>
        <p:nvSpPr>
          <p:cNvPr id="166" name="Text 164"/>
          <p:cNvSpPr txBox="1"/>
          <p:nvPr/>
        </p:nvSpPr>
        <p:spPr>
          <a:xfrm>
            <a:off x="640080" y="4256773"/>
            <a:ext cx="2606040" cy="221381"/>
          </a:xfrm>
          <a:prstGeom prst="rect">
            <a:avLst/>
          </a:prstGeom>
          <a:noFill/>
          <a:ln/>
        </p:spPr>
        <p:txBody>
          <a:bodyPr wrap="square" lIns="0" tIns="0" rIns="0" bIns="0" rtlCol="0" anchor="ctr"/>
          <a:lstStyle/>
          <a:p>
            <a:pPr indent="0" marL="0">
              <a:buNone/>
            </a:pPr>
            <a:r>
              <a:rPr lang="en-US" sz="900" b="1" dirty="0">
                <a:solidFill>
                  <a:srgbClr val="F2A900"/>
                </a:solidFill>
                <a:latin typeface="Arial" pitchFamily="34" charset="0"/>
                <a:ea typeface="Arial" pitchFamily="34" charset="-122"/>
                <a:cs typeface="Arial" pitchFamily="34" charset="-120"/>
              </a:rPr>
              <a:t>★ Mạnh nhất: cone + hãm vận tốc</a:t>
            </a:r>
            <a:endParaRPr lang="en-US" sz="900" dirty="0"/>
          </a:p>
        </p:txBody>
      </p:sp>
      <p:sp>
        <p:nvSpPr>
          <p:cNvPr id="167" name="Text 165"/>
          <p:cNvSpPr txBox="1"/>
          <p:nvPr/>
        </p:nvSpPr>
        <p:spPr>
          <a:xfrm>
            <a:off x="3200400"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70.63</a:t>
            </a:r>
            <a:endParaRPr lang="en-US" sz="900" dirty="0"/>
          </a:p>
        </p:txBody>
      </p:sp>
      <p:sp>
        <p:nvSpPr>
          <p:cNvPr id="168" name="Text 166"/>
          <p:cNvSpPr txBox="1"/>
          <p:nvPr/>
        </p:nvSpPr>
        <p:spPr>
          <a:xfrm>
            <a:off x="3877056"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86.87</a:t>
            </a:r>
            <a:endParaRPr lang="en-US" sz="900" dirty="0"/>
          </a:p>
        </p:txBody>
      </p:sp>
      <p:sp>
        <p:nvSpPr>
          <p:cNvPr id="169" name="Text 167"/>
          <p:cNvSpPr txBox="1"/>
          <p:nvPr/>
        </p:nvSpPr>
        <p:spPr>
          <a:xfrm>
            <a:off x="4553712"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82.14</a:t>
            </a:r>
            <a:endParaRPr lang="en-US" sz="900" dirty="0"/>
          </a:p>
        </p:txBody>
      </p:sp>
      <p:sp>
        <p:nvSpPr>
          <p:cNvPr id="170" name="Text 168"/>
          <p:cNvSpPr txBox="1"/>
          <p:nvPr/>
        </p:nvSpPr>
        <p:spPr>
          <a:xfrm>
            <a:off x="5230368"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14</a:t>
            </a:r>
            <a:endParaRPr lang="en-US" sz="900" dirty="0"/>
          </a:p>
        </p:txBody>
      </p:sp>
      <p:sp>
        <p:nvSpPr>
          <p:cNvPr id="171" name="Text 169"/>
          <p:cNvSpPr txBox="1"/>
          <p:nvPr/>
        </p:nvSpPr>
        <p:spPr>
          <a:xfrm>
            <a:off x="5907024"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77.09</a:t>
            </a:r>
            <a:endParaRPr lang="en-US" sz="900" dirty="0"/>
          </a:p>
        </p:txBody>
      </p:sp>
      <p:sp>
        <p:nvSpPr>
          <p:cNvPr id="172" name="Text 170"/>
          <p:cNvSpPr txBox="1"/>
          <p:nvPr/>
        </p:nvSpPr>
        <p:spPr>
          <a:xfrm>
            <a:off x="6583680"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90.71</a:t>
            </a:r>
            <a:endParaRPr lang="en-US" sz="900" dirty="0"/>
          </a:p>
        </p:txBody>
      </p:sp>
      <p:sp>
        <p:nvSpPr>
          <p:cNvPr id="173" name="Text 171"/>
          <p:cNvSpPr txBox="1"/>
          <p:nvPr/>
        </p:nvSpPr>
        <p:spPr>
          <a:xfrm>
            <a:off x="7260336"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89.94</a:t>
            </a:r>
            <a:endParaRPr lang="en-US" sz="900" dirty="0"/>
          </a:p>
        </p:txBody>
      </p:sp>
      <p:sp>
        <p:nvSpPr>
          <p:cNvPr id="174" name="Text 172"/>
          <p:cNvSpPr txBox="1"/>
          <p:nvPr/>
        </p:nvSpPr>
        <p:spPr>
          <a:xfrm>
            <a:off x="7936992"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69.4</a:t>
            </a:r>
            <a:endParaRPr lang="en-US" sz="900" dirty="0"/>
          </a:p>
        </p:txBody>
      </p:sp>
      <p:sp>
        <p:nvSpPr>
          <p:cNvPr id="175" name="Text 173"/>
          <p:cNvSpPr txBox="1"/>
          <p:nvPr/>
        </p:nvSpPr>
        <p:spPr>
          <a:xfrm>
            <a:off x="8613648" y="4256773"/>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68.8</a:t>
            </a:r>
            <a:endParaRPr lang="en-US" sz="900" dirty="0"/>
          </a:p>
        </p:txBody>
      </p:sp>
      <p:sp>
        <p:nvSpPr>
          <p:cNvPr id="176" name="Text 174"/>
          <p:cNvSpPr txBox="1"/>
          <p:nvPr/>
        </p:nvSpPr>
        <p:spPr>
          <a:xfrm>
            <a:off x="9290304" y="4256773"/>
            <a:ext cx="676656" cy="221381"/>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10.0</a:t>
            </a:r>
            <a:endParaRPr lang="en-US" sz="900" dirty="0"/>
          </a:p>
        </p:txBody>
      </p:sp>
      <p:sp>
        <p:nvSpPr>
          <p:cNvPr id="177" name="Text 175"/>
          <p:cNvSpPr txBox="1"/>
          <p:nvPr/>
        </p:nvSpPr>
        <p:spPr>
          <a:xfrm>
            <a:off x="10012680" y="4256773"/>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156, T2: video 147, T3: video 332</a:t>
            </a:r>
            <a:endParaRPr lang="en-US" sz="700" dirty="0"/>
          </a:p>
        </p:txBody>
      </p:sp>
      <p:sp>
        <p:nvSpPr>
          <p:cNvPr id="178" name="Shape 176"/>
          <p:cNvSpPr/>
          <p:nvPr/>
        </p:nvSpPr>
        <p:spPr>
          <a:xfrm>
            <a:off x="548640" y="4478154"/>
            <a:ext cx="11091672" cy="203093"/>
          </a:xfrm>
          <a:prstGeom prst="rect">
            <a:avLst/>
          </a:prstGeom>
          <a:solidFill>
            <a:srgbClr val="2B2F36"/>
          </a:solidFill>
          <a:ln w="12700">
            <a:solidFill>
              <a:srgbClr val="F2A900"/>
            </a:solidFill>
            <a:prstDash val="solid"/>
          </a:ln>
        </p:spPr>
      </p:sp>
      <p:sp>
        <p:nvSpPr>
          <p:cNvPr id="179" name="Text 177"/>
          <p:cNvSpPr txBox="1"/>
          <p:nvPr/>
        </p:nvSpPr>
        <p:spPr>
          <a:xfrm>
            <a:off x="640080" y="4478154"/>
            <a:ext cx="2606040" cy="221381"/>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 PEG+ (nguyên lý) + cone</a:t>
            </a:r>
            <a:endParaRPr lang="en-US" sz="900" dirty="0"/>
          </a:p>
        </p:txBody>
      </p:sp>
      <p:sp>
        <p:nvSpPr>
          <p:cNvPr id="180" name="Text 178"/>
          <p:cNvSpPr txBox="1"/>
          <p:nvPr/>
        </p:nvSpPr>
        <p:spPr>
          <a:xfrm>
            <a:off x="3200400"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70.54</a:t>
            </a:r>
            <a:endParaRPr lang="en-US" sz="900" dirty="0"/>
          </a:p>
        </p:txBody>
      </p:sp>
      <p:sp>
        <p:nvSpPr>
          <p:cNvPr id="181" name="Text 179"/>
          <p:cNvSpPr txBox="1"/>
          <p:nvPr/>
        </p:nvSpPr>
        <p:spPr>
          <a:xfrm>
            <a:off x="3877056"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86.64</a:t>
            </a:r>
            <a:endParaRPr lang="en-US" sz="900" dirty="0"/>
          </a:p>
        </p:txBody>
      </p:sp>
      <p:sp>
        <p:nvSpPr>
          <p:cNvPr id="182" name="Text 180"/>
          <p:cNvSpPr txBox="1"/>
          <p:nvPr/>
        </p:nvSpPr>
        <p:spPr>
          <a:xfrm>
            <a:off x="4553712"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82.16</a:t>
            </a:r>
            <a:endParaRPr lang="en-US" sz="900" dirty="0"/>
          </a:p>
        </p:txBody>
      </p:sp>
      <p:sp>
        <p:nvSpPr>
          <p:cNvPr id="183" name="Text 181"/>
          <p:cNvSpPr txBox="1"/>
          <p:nvPr/>
        </p:nvSpPr>
        <p:spPr>
          <a:xfrm>
            <a:off x="5230368" y="4478154"/>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18</a:t>
            </a:r>
            <a:endParaRPr lang="en-US" sz="900" dirty="0"/>
          </a:p>
        </p:txBody>
      </p:sp>
      <p:sp>
        <p:nvSpPr>
          <p:cNvPr id="184" name="Text 182"/>
          <p:cNvSpPr txBox="1"/>
          <p:nvPr/>
        </p:nvSpPr>
        <p:spPr>
          <a:xfrm>
            <a:off x="5907024" y="4478154"/>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77.63</a:t>
            </a:r>
            <a:endParaRPr lang="en-US" sz="900" dirty="0"/>
          </a:p>
        </p:txBody>
      </p:sp>
      <p:sp>
        <p:nvSpPr>
          <p:cNvPr id="185" name="Text 183"/>
          <p:cNvSpPr txBox="1"/>
          <p:nvPr/>
        </p:nvSpPr>
        <p:spPr>
          <a:xfrm>
            <a:off x="6583680" y="4478154"/>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91.24</a:t>
            </a:r>
            <a:endParaRPr lang="en-US" sz="900" dirty="0"/>
          </a:p>
        </p:txBody>
      </p:sp>
      <p:sp>
        <p:nvSpPr>
          <p:cNvPr id="186" name="Text 184"/>
          <p:cNvSpPr txBox="1"/>
          <p:nvPr/>
        </p:nvSpPr>
        <p:spPr>
          <a:xfrm>
            <a:off x="7260336" y="4478154"/>
            <a:ext cx="676656" cy="221381"/>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89.84</a:t>
            </a:r>
            <a:endParaRPr lang="en-US" sz="900" dirty="0"/>
          </a:p>
        </p:txBody>
      </p:sp>
      <p:sp>
        <p:nvSpPr>
          <p:cNvPr id="187" name="Text 185"/>
          <p:cNvSpPr txBox="1"/>
          <p:nvPr/>
        </p:nvSpPr>
        <p:spPr>
          <a:xfrm>
            <a:off x="7936992" y="4478154"/>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67.3</a:t>
            </a:r>
            <a:endParaRPr lang="en-US" sz="900" dirty="0"/>
          </a:p>
        </p:txBody>
      </p:sp>
      <p:sp>
        <p:nvSpPr>
          <p:cNvPr id="188" name="Text 186"/>
          <p:cNvSpPr txBox="1"/>
          <p:nvPr/>
        </p:nvSpPr>
        <p:spPr>
          <a:xfrm>
            <a:off x="8613648" y="4478154"/>
            <a:ext cx="676656" cy="221381"/>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66.3</a:t>
            </a:r>
            <a:endParaRPr lang="en-US" sz="900" dirty="0"/>
          </a:p>
        </p:txBody>
      </p:sp>
      <p:sp>
        <p:nvSpPr>
          <p:cNvPr id="189" name="Text 187"/>
          <p:cNvSpPr txBox="1"/>
          <p:nvPr/>
        </p:nvSpPr>
        <p:spPr>
          <a:xfrm>
            <a:off x="9290304" y="4478154"/>
            <a:ext cx="676656" cy="221381"/>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10.0</a:t>
            </a:r>
            <a:endParaRPr lang="en-US" sz="900" dirty="0"/>
          </a:p>
        </p:txBody>
      </p:sp>
      <p:sp>
        <p:nvSpPr>
          <p:cNvPr id="190" name="Text 188"/>
          <p:cNvSpPr txBox="1"/>
          <p:nvPr/>
        </p:nvSpPr>
        <p:spPr>
          <a:xfrm>
            <a:off x="10012680" y="4478154"/>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147</a:t>
            </a:r>
            <a:endParaRPr lang="en-US" sz="700" dirty="0"/>
          </a:p>
        </p:txBody>
      </p:sp>
      <p:sp>
        <p:nvSpPr>
          <p:cNvPr id="191" name="Shape 189"/>
          <p:cNvSpPr/>
          <p:nvPr/>
        </p:nvSpPr>
        <p:spPr>
          <a:xfrm>
            <a:off x="548640" y="4699535"/>
            <a:ext cx="11091672" cy="203093"/>
          </a:xfrm>
          <a:prstGeom prst="rect">
            <a:avLst/>
          </a:prstGeom>
          <a:solidFill>
            <a:srgbClr val="22252B"/>
          </a:solidFill>
          <a:ln w="12700">
            <a:solidFill>
              <a:srgbClr val="22252B"/>
            </a:solidFill>
            <a:prstDash val="solid"/>
          </a:ln>
        </p:spPr>
      </p:sp>
      <p:sp>
        <p:nvSpPr>
          <p:cNvPr id="192" name="Text 190"/>
          <p:cNvSpPr txBox="1"/>
          <p:nvPr/>
        </p:nvSpPr>
        <p:spPr>
          <a:xfrm>
            <a:off x="640080" y="4699535"/>
            <a:ext cx="2606040" cy="221381"/>
          </a:xfrm>
          <a:prstGeom prst="rect">
            <a:avLst/>
          </a:prstGeom>
          <a:noFill/>
          <a:ln/>
        </p:spPr>
        <p:txBody>
          <a:bodyPr wrap="square" lIns="0" tIns="0" rIns="0" bIns="0" rtlCol="0" anchor="ctr"/>
          <a:lstStyle/>
          <a:p>
            <a:pPr indent="0" marL="0">
              <a:buNone/>
            </a:pPr>
            <a:r>
              <a:rPr lang="en-US" sz="900" b="1" dirty="0">
                <a:solidFill>
                  <a:srgbClr val="E8833A"/>
                </a:solidFill>
                <a:latin typeface="Arial" pitchFamily="34" charset="0"/>
                <a:ea typeface="Arial" pitchFamily="34" charset="-122"/>
                <a:cs typeface="Arial" pitchFamily="34" charset="-120"/>
              </a:rPr>
              <a:t>PEG-O (τ .08 γ 4, val loại)</a:t>
            </a:r>
            <a:endParaRPr lang="en-US" sz="900" dirty="0"/>
          </a:p>
        </p:txBody>
      </p:sp>
      <p:sp>
        <p:nvSpPr>
          <p:cNvPr id="193" name="Text 191"/>
          <p:cNvSpPr txBox="1"/>
          <p:nvPr/>
        </p:nvSpPr>
        <p:spPr>
          <a:xfrm>
            <a:off x="3200400"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70.11</a:t>
            </a:r>
            <a:endParaRPr lang="en-US" sz="900" dirty="0"/>
          </a:p>
        </p:txBody>
      </p:sp>
      <p:sp>
        <p:nvSpPr>
          <p:cNvPr id="194" name="Text 192"/>
          <p:cNvSpPr txBox="1"/>
          <p:nvPr/>
        </p:nvSpPr>
        <p:spPr>
          <a:xfrm>
            <a:off x="3877056"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86.06</a:t>
            </a:r>
            <a:endParaRPr lang="en-US" sz="900" dirty="0"/>
          </a:p>
        </p:txBody>
      </p:sp>
      <p:sp>
        <p:nvSpPr>
          <p:cNvPr id="195" name="Text 193"/>
          <p:cNvSpPr txBox="1"/>
          <p:nvPr/>
        </p:nvSpPr>
        <p:spPr>
          <a:xfrm>
            <a:off x="4553712" y="4699535"/>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82.20</a:t>
            </a:r>
            <a:endParaRPr lang="en-US" sz="900" dirty="0"/>
          </a:p>
        </p:txBody>
      </p:sp>
      <p:sp>
        <p:nvSpPr>
          <p:cNvPr id="196" name="Text 194"/>
          <p:cNvSpPr txBox="1"/>
          <p:nvPr/>
        </p:nvSpPr>
        <p:spPr>
          <a:xfrm>
            <a:off x="5230368"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197" name="Text 195"/>
          <p:cNvSpPr txBox="1"/>
          <p:nvPr/>
        </p:nvSpPr>
        <p:spPr>
          <a:xfrm>
            <a:off x="5907024"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74.75</a:t>
            </a:r>
            <a:endParaRPr lang="en-US" sz="900" dirty="0"/>
          </a:p>
        </p:txBody>
      </p:sp>
      <p:sp>
        <p:nvSpPr>
          <p:cNvPr id="198" name="Text 196"/>
          <p:cNvSpPr txBox="1"/>
          <p:nvPr/>
        </p:nvSpPr>
        <p:spPr>
          <a:xfrm>
            <a:off x="6583680"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87.11</a:t>
            </a:r>
            <a:endParaRPr lang="en-US" sz="900" dirty="0"/>
          </a:p>
        </p:txBody>
      </p:sp>
      <p:sp>
        <p:nvSpPr>
          <p:cNvPr id="199" name="Text 197"/>
          <p:cNvSpPr txBox="1"/>
          <p:nvPr/>
        </p:nvSpPr>
        <p:spPr>
          <a:xfrm>
            <a:off x="7260336"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88.02</a:t>
            </a:r>
            <a:endParaRPr lang="en-US" sz="900" dirty="0"/>
          </a:p>
        </p:txBody>
      </p:sp>
      <p:sp>
        <p:nvSpPr>
          <p:cNvPr id="200" name="Text 198"/>
          <p:cNvSpPr txBox="1"/>
          <p:nvPr/>
        </p:nvSpPr>
        <p:spPr>
          <a:xfrm>
            <a:off x="7936992"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53.8</a:t>
            </a:r>
            <a:endParaRPr lang="en-US" sz="900" dirty="0"/>
          </a:p>
        </p:txBody>
      </p:sp>
      <p:sp>
        <p:nvSpPr>
          <p:cNvPr id="201" name="Text 199"/>
          <p:cNvSpPr txBox="1"/>
          <p:nvPr/>
        </p:nvSpPr>
        <p:spPr>
          <a:xfrm>
            <a:off x="8613648"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46.5</a:t>
            </a:r>
            <a:endParaRPr lang="en-US" sz="900" dirty="0"/>
          </a:p>
        </p:txBody>
      </p:sp>
      <p:sp>
        <p:nvSpPr>
          <p:cNvPr id="202" name="Text 200"/>
          <p:cNvSpPr txBox="1"/>
          <p:nvPr/>
        </p:nvSpPr>
        <p:spPr>
          <a:xfrm>
            <a:off x="9290304" y="4699535"/>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34.2</a:t>
            </a:r>
            <a:endParaRPr lang="en-US" sz="900" dirty="0"/>
          </a:p>
        </p:txBody>
      </p:sp>
      <p:sp>
        <p:nvSpPr>
          <p:cNvPr id="203" name="Text 201"/>
          <p:cNvSpPr txBox="1"/>
          <p:nvPr/>
        </p:nvSpPr>
        <p:spPr>
          <a:xfrm>
            <a:off x="10012680" y="4699535"/>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T3 −13.8: 5 ep. tệ hơn</a:t>
            </a:r>
            <a:endParaRPr lang="en-US" sz="700" dirty="0"/>
          </a:p>
        </p:txBody>
      </p:sp>
      <p:sp>
        <p:nvSpPr>
          <p:cNvPr id="204" name="Text 202"/>
          <p:cNvSpPr txBox="1"/>
          <p:nvPr/>
        </p:nvSpPr>
        <p:spPr>
          <a:xfrm>
            <a:off x="640080" y="4920916"/>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online (V K40 t2, val chọn)</a:t>
            </a:r>
            <a:endParaRPr lang="en-US" sz="900" dirty="0"/>
          </a:p>
        </p:txBody>
      </p:sp>
      <p:sp>
        <p:nvSpPr>
          <p:cNvPr id="205" name="Text 203"/>
          <p:cNvSpPr txBox="1"/>
          <p:nvPr/>
        </p:nvSpPr>
        <p:spPr>
          <a:xfrm>
            <a:off x="3200400" y="4920916"/>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69.67</a:t>
            </a:r>
            <a:endParaRPr lang="en-US" sz="900" dirty="0"/>
          </a:p>
        </p:txBody>
      </p:sp>
      <p:sp>
        <p:nvSpPr>
          <p:cNvPr id="206" name="Text 204"/>
          <p:cNvSpPr txBox="1"/>
          <p:nvPr/>
        </p:nvSpPr>
        <p:spPr>
          <a:xfrm>
            <a:off x="3877056" y="4920916"/>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84.96</a:t>
            </a:r>
            <a:endParaRPr lang="en-US" sz="900" dirty="0"/>
          </a:p>
        </p:txBody>
      </p:sp>
      <p:sp>
        <p:nvSpPr>
          <p:cNvPr id="207" name="Text 205"/>
          <p:cNvSpPr txBox="1"/>
          <p:nvPr/>
        </p:nvSpPr>
        <p:spPr>
          <a:xfrm>
            <a:off x="4553712"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82.78</a:t>
            </a:r>
            <a:endParaRPr lang="en-US" sz="900" dirty="0"/>
          </a:p>
        </p:txBody>
      </p:sp>
      <p:sp>
        <p:nvSpPr>
          <p:cNvPr id="208" name="Text 206"/>
          <p:cNvSpPr txBox="1"/>
          <p:nvPr/>
        </p:nvSpPr>
        <p:spPr>
          <a:xfrm>
            <a:off x="5230368" y="4920916"/>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209" name="Text 207"/>
          <p:cNvSpPr txBox="1"/>
          <p:nvPr/>
        </p:nvSpPr>
        <p:spPr>
          <a:xfrm>
            <a:off x="5907024" y="492091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76.20</a:t>
            </a:r>
            <a:endParaRPr lang="en-US" sz="900" dirty="0"/>
          </a:p>
        </p:txBody>
      </p:sp>
      <p:sp>
        <p:nvSpPr>
          <p:cNvPr id="210" name="Text 208"/>
          <p:cNvSpPr txBox="1"/>
          <p:nvPr/>
        </p:nvSpPr>
        <p:spPr>
          <a:xfrm>
            <a:off x="6583680" y="4920916"/>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88.63</a:t>
            </a:r>
            <a:endParaRPr lang="en-US" sz="900" dirty="0"/>
          </a:p>
        </p:txBody>
      </p:sp>
      <p:sp>
        <p:nvSpPr>
          <p:cNvPr id="211" name="Text 209"/>
          <p:cNvSpPr txBox="1"/>
          <p:nvPr/>
        </p:nvSpPr>
        <p:spPr>
          <a:xfrm>
            <a:off x="7260336"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91.27</a:t>
            </a:r>
            <a:endParaRPr lang="en-US" sz="900" dirty="0"/>
          </a:p>
        </p:txBody>
      </p:sp>
      <p:sp>
        <p:nvSpPr>
          <p:cNvPr id="212" name="Text 210"/>
          <p:cNvSpPr txBox="1"/>
          <p:nvPr/>
        </p:nvSpPr>
        <p:spPr>
          <a:xfrm>
            <a:off x="7936992"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13" name="Text 211"/>
          <p:cNvSpPr txBox="1"/>
          <p:nvPr/>
        </p:nvSpPr>
        <p:spPr>
          <a:xfrm>
            <a:off x="8613648" y="4920916"/>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14" name="Text 212"/>
          <p:cNvSpPr txBox="1"/>
          <p:nvPr/>
        </p:nvSpPr>
        <p:spPr>
          <a:xfrm>
            <a:off x="9290304" y="4920916"/>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15" name="Text 213"/>
          <p:cNvSpPr txBox="1"/>
          <p:nvPr/>
        </p:nvSpPr>
        <p:spPr>
          <a:xfrm>
            <a:off x="10012680" y="4920916"/>
            <a:ext cx="1600200" cy="221381"/>
          </a:xfrm>
          <a:prstGeom prst="rect">
            <a:avLst/>
          </a:prstGeom>
          <a:noFill/>
          <a:ln/>
        </p:spPr>
        <p:txBody>
          <a:bodyPr wrap="square" lIns="0" tIns="0" rIns="0" bIns="0" rtlCol="0" anchor="ctr"/>
          <a:lstStyle/>
          <a:p>
            <a:pPr indent="0" marL="0">
              <a:buNone/>
            </a:pPr>
            <a:endParaRPr lang="en-US" sz="700" dirty="0"/>
          </a:p>
        </p:txBody>
      </p:sp>
      <p:sp>
        <p:nvSpPr>
          <p:cNvPr id="216" name="Shape 214"/>
          <p:cNvSpPr/>
          <p:nvPr/>
        </p:nvSpPr>
        <p:spPr>
          <a:xfrm>
            <a:off x="548640" y="5142297"/>
            <a:ext cx="11091672" cy="203093"/>
          </a:xfrm>
          <a:prstGeom prst="rect">
            <a:avLst/>
          </a:prstGeom>
          <a:solidFill>
            <a:srgbClr val="22252B"/>
          </a:solidFill>
          <a:ln w="12700">
            <a:solidFill>
              <a:srgbClr val="22252B"/>
            </a:solidFill>
            <a:prstDash val="solid"/>
          </a:ln>
        </p:spPr>
      </p:sp>
      <p:sp>
        <p:nvSpPr>
          <p:cNvPr id="217" name="Text 215"/>
          <p:cNvSpPr txBox="1"/>
          <p:nvPr/>
        </p:nvSpPr>
        <p:spPr>
          <a:xfrm>
            <a:off x="640080" y="5142297"/>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fixed-lag 90 (B hidden, val loại)</a:t>
            </a:r>
            <a:endParaRPr lang="en-US" sz="900" dirty="0"/>
          </a:p>
        </p:txBody>
      </p:sp>
      <p:sp>
        <p:nvSpPr>
          <p:cNvPr id="218" name="Text 216"/>
          <p:cNvSpPr txBox="1"/>
          <p:nvPr/>
        </p:nvSpPr>
        <p:spPr>
          <a:xfrm>
            <a:off x="3200400" y="5142297"/>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69.70</a:t>
            </a:r>
            <a:endParaRPr lang="en-US" sz="900" dirty="0"/>
          </a:p>
        </p:txBody>
      </p:sp>
      <p:sp>
        <p:nvSpPr>
          <p:cNvPr id="219" name="Text 217"/>
          <p:cNvSpPr txBox="1"/>
          <p:nvPr/>
        </p:nvSpPr>
        <p:spPr>
          <a:xfrm>
            <a:off x="3877056" y="5142297"/>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85.00</a:t>
            </a:r>
            <a:endParaRPr lang="en-US" sz="900" dirty="0"/>
          </a:p>
        </p:txBody>
      </p:sp>
      <p:sp>
        <p:nvSpPr>
          <p:cNvPr id="220" name="Text 218"/>
          <p:cNvSpPr txBox="1"/>
          <p:nvPr/>
        </p:nvSpPr>
        <p:spPr>
          <a:xfrm>
            <a:off x="4553712" y="5142297"/>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82.85</a:t>
            </a:r>
            <a:endParaRPr lang="en-US" sz="900" dirty="0"/>
          </a:p>
        </p:txBody>
      </p:sp>
      <p:sp>
        <p:nvSpPr>
          <p:cNvPr id="221" name="Text 219"/>
          <p:cNvSpPr txBox="1"/>
          <p:nvPr/>
        </p:nvSpPr>
        <p:spPr>
          <a:xfrm>
            <a:off x="5230368" y="5142297"/>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222" name="Text 220"/>
          <p:cNvSpPr txBox="1"/>
          <p:nvPr/>
        </p:nvSpPr>
        <p:spPr>
          <a:xfrm>
            <a:off x="5907024" y="514229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76.20</a:t>
            </a:r>
            <a:endParaRPr lang="en-US" sz="900" dirty="0"/>
          </a:p>
        </p:txBody>
      </p:sp>
      <p:sp>
        <p:nvSpPr>
          <p:cNvPr id="223" name="Text 221"/>
          <p:cNvSpPr txBox="1"/>
          <p:nvPr/>
        </p:nvSpPr>
        <p:spPr>
          <a:xfrm>
            <a:off x="6583680" y="5142297"/>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88.63</a:t>
            </a:r>
            <a:endParaRPr lang="en-US" sz="900" dirty="0"/>
          </a:p>
        </p:txBody>
      </p:sp>
      <p:sp>
        <p:nvSpPr>
          <p:cNvPr id="224" name="Text 222"/>
          <p:cNvSpPr txBox="1"/>
          <p:nvPr/>
        </p:nvSpPr>
        <p:spPr>
          <a:xfrm>
            <a:off x="7260336" y="5142297"/>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91.27</a:t>
            </a:r>
            <a:endParaRPr lang="en-US" sz="900" dirty="0"/>
          </a:p>
        </p:txBody>
      </p:sp>
      <p:sp>
        <p:nvSpPr>
          <p:cNvPr id="225" name="Text 223"/>
          <p:cNvSpPr txBox="1"/>
          <p:nvPr/>
        </p:nvSpPr>
        <p:spPr>
          <a:xfrm>
            <a:off x="7936992" y="5142297"/>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26" name="Text 224"/>
          <p:cNvSpPr txBox="1"/>
          <p:nvPr/>
        </p:nvSpPr>
        <p:spPr>
          <a:xfrm>
            <a:off x="8613648" y="5142297"/>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27" name="Text 225"/>
          <p:cNvSpPr txBox="1"/>
          <p:nvPr/>
        </p:nvSpPr>
        <p:spPr>
          <a:xfrm>
            <a:off x="9290304" y="5142297"/>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28" name="Text 226"/>
          <p:cNvSpPr txBox="1"/>
          <p:nvPr/>
        </p:nvSpPr>
        <p:spPr>
          <a:xfrm>
            <a:off x="10012680" y="5142297"/>
            <a:ext cx="1600200" cy="221381"/>
          </a:xfrm>
          <a:prstGeom prst="rect">
            <a:avLst/>
          </a:prstGeom>
          <a:noFill/>
          <a:ln/>
        </p:spPr>
        <p:txBody>
          <a:bodyPr wrap="square" lIns="0" tIns="0" rIns="0" bIns="0" rtlCol="0" anchor="ctr"/>
          <a:lstStyle/>
          <a:p>
            <a:pPr indent="0" marL="0">
              <a:buNone/>
            </a:pPr>
            <a:endParaRPr lang="en-US" sz="700" dirty="0"/>
          </a:p>
        </p:txBody>
      </p:sp>
      <p:sp>
        <p:nvSpPr>
          <p:cNvPr id="229" name="Text 227"/>
          <p:cNvSpPr txBox="1"/>
          <p:nvPr/>
        </p:nvSpPr>
        <p:spPr>
          <a:xfrm>
            <a:off x="640080" y="5363678"/>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mạnh nhất (+ S k 1.0)</a:t>
            </a:r>
            <a:endParaRPr lang="en-US" sz="900" dirty="0"/>
          </a:p>
        </p:txBody>
      </p:sp>
      <p:sp>
        <p:nvSpPr>
          <p:cNvPr id="230" name="Text 228"/>
          <p:cNvSpPr txBox="1"/>
          <p:nvPr/>
        </p:nvSpPr>
        <p:spPr>
          <a:xfrm>
            <a:off x="3200400" y="536367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69.67</a:t>
            </a:r>
            <a:endParaRPr lang="en-US" sz="900" dirty="0"/>
          </a:p>
        </p:txBody>
      </p:sp>
      <p:sp>
        <p:nvSpPr>
          <p:cNvPr id="231" name="Text 229"/>
          <p:cNvSpPr txBox="1"/>
          <p:nvPr/>
        </p:nvSpPr>
        <p:spPr>
          <a:xfrm>
            <a:off x="3877056" y="536367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84.96</a:t>
            </a:r>
            <a:endParaRPr lang="en-US" sz="900" dirty="0"/>
          </a:p>
        </p:txBody>
      </p:sp>
      <p:sp>
        <p:nvSpPr>
          <p:cNvPr id="232" name="Text 230"/>
          <p:cNvSpPr txBox="1"/>
          <p:nvPr/>
        </p:nvSpPr>
        <p:spPr>
          <a:xfrm>
            <a:off x="4553712"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82.78</a:t>
            </a:r>
            <a:endParaRPr lang="en-US" sz="900" dirty="0"/>
          </a:p>
        </p:txBody>
      </p:sp>
      <p:sp>
        <p:nvSpPr>
          <p:cNvPr id="233" name="Text 231"/>
          <p:cNvSpPr txBox="1"/>
          <p:nvPr/>
        </p:nvSpPr>
        <p:spPr>
          <a:xfrm>
            <a:off x="5230368" y="5363678"/>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234" name="Text 232"/>
          <p:cNvSpPr txBox="1"/>
          <p:nvPr/>
        </p:nvSpPr>
        <p:spPr>
          <a:xfrm>
            <a:off x="5907024"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77.50</a:t>
            </a:r>
            <a:endParaRPr lang="en-US" sz="900" dirty="0"/>
          </a:p>
        </p:txBody>
      </p:sp>
      <p:sp>
        <p:nvSpPr>
          <p:cNvPr id="235" name="Text 233"/>
          <p:cNvSpPr txBox="1"/>
          <p:nvPr/>
        </p:nvSpPr>
        <p:spPr>
          <a:xfrm>
            <a:off x="6583680"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90.24</a:t>
            </a:r>
            <a:endParaRPr lang="en-US" sz="900" dirty="0"/>
          </a:p>
        </p:txBody>
      </p:sp>
      <p:sp>
        <p:nvSpPr>
          <p:cNvPr id="236" name="Text 234"/>
          <p:cNvSpPr txBox="1"/>
          <p:nvPr/>
        </p:nvSpPr>
        <p:spPr>
          <a:xfrm>
            <a:off x="7260336"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91.36</a:t>
            </a:r>
            <a:endParaRPr lang="en-US" sz="900" dirty="0"/>
          </a:p>
        </p:txBody>
      </p:sp>
      <p:sp>
        <p:nvSpPr>
          <p:cNvPr id="237" name="Text 235"/>
          <p:cNvSpPr txBox="1"/>
          <p:nvPr/>
        </p:nvSpPr>
        <p:spPr>
          <a:xfrm>
            <a:off x="7936992"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38" name="Text 236"/>
          <p:cNvSpPr txBox="1"/>
          <p:nvPr/>
        </p:nvSpPr>
        <p:spPr>
          <a:xfrm>
            <a:off x="8613648" y="5363678"/>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39" name="Text 237"/>
          <p:cNvSpPr txBox="1"/>
          <p:nvPr/>
        </p:nvSpPr>
        <p:spPr>
          <a:xfrm>
            <a:off x="9290304" y="5363678"/>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40" name="Text 238"/>
          <p:cNvSpPr txBox="1"/>
          <p:nvPr/>
        </p:nvSpPr>
        <p:spPr>
          <a:xfrm>
            <a:off x="10012680" y="5363678"/>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147</a:t>
            </a:r>
            <a:endParaRPr lang="en-US" sz="700" dirty="0"/>
          </a:p>
        </p:txBody>
      </p:sp>
      <p:sp>
        <p:nvSpPr>
          <p:cNvPr id="241" name="Shape 239"/>
          <p:cNvSpPr/>
          <p:nvPr/>
        </p:nvSpPr>
        <p:spPr>
          <a:xfrm>
            <a:off x="548640" y="5585059"/>
            <a:ext cx="11091672" cy="203093"/>
          </a:xfrm>
          <a:prstGeom prst="rect">
            <a:avLst/>
          </a:prstGeom>
          <a:solidFill>
            <a:srgbClr val="22252B"/>
          </a:solidFill>
          <a:ln w="12700">
            <a:solidFill>
              <a:srgbClr val="22252B"/>
            </a:solidFill>
            <a:prstDash val="solid"/>
          </a:ln>
        </p:spPr>
      </p:sp>
      <p:sp>
        <p:nvSpPr>
          <p:cNvPr id="242" name="Text 240"/>
          <p:cNvSpPr txBox="1"/>
          <p:nvPr/>
        </p:nvSpPr>
        <p:spPr>
          <a:xfrm>
            <a:off x="640080" y="5585059"/>
            <a:ext cx="2606040" cy="221381"/>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ALL = PEG-C + Thạch (M1 cone)</a:t>
            </a:r>
            <a:endParaRPr lang="en-US" sz="900" dirty="0"/>
          </a:p>
        </p:txBody>
      </p:sp>
      <p:sp>
        <p:nvSpPr>
          <p:cNvPr id="243" name="Text 241"/>
          <p:cNvSpPr txBox="1"/>
          <p:nvPr/>
        </p:nvSpPr>
        <p:spPr>
          <a:xfrm>
            <a:off x="3200400" y="558505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70.09</a:t>
            </a:r>
            <a:endParaRPr lang="en-US" sz="900" dirty="0"/>
          </a:p>
        </p:txBody>
      </p:sp>
      <p:sp>
        <p:nvSpPr>
          <p:cNvPr id="244" name="Text 242"/>
          <p:cNvSpPr txBox="1"/>
          <p:nvPr/>
        </p:nvSpPr>
        <p:spPr>
          <a:xfrm>
            <a:off x="3877056" y="558505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85.55</a:t>
            </a:r>
            <a:endParaRPr lang="en-US" sz="900" dirty="0"/>
          </a:p>
        </p:txBody>
      </p:sp>
      <p:sp>
        <p:nvSpPr>
          <p:cNvPr id="245" name="Text 243"/>
          <p:cNvSpPr txBox="1"/>
          <p:nvPr/>
        </p:nvSpPr>
        <p:spPr>
          <a:xfrm>
            <a:off x="4553712"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82.75</a:t>
            </a:r>
            <a:endParaRPr lang="en-US" sz="900" dirty="0"/>
          </a:p>
        </p:txBody>
      </p:sp>
      <p:sp>
        <p:nvSpPr>
          <p:cNvPr id="246" name="Text 244"/>
          <p:cNvSpPr txBox="1"/>
          <p:nvPr/>
        </p:nvSpPr>
        <p:spPr>
          <a:xfrm>
            <a:off x="5230368" y="5585059"/>
            <a:ext cx="676656" cy="221381"/>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247" name="Text 245"/>
          <p:cNvSpPr txBox="1"/>
          <p:nvPr/>
        </p:nvSpPr>
        <p:spPr>
          <a:xfrm>
            <a:off x="5907024"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77.49</a:t>
            </a:r>
            <a:endParaRPr lang="en-US" sz="900" dirty="0"/>
          </a:p>
        </p:txBody>
      </p:sp>
      <p:sp>
        <p:nvSpPr>
          <p:cNvPr id="248" name="Text 246"/>
          <p:cNvSpPr txBox="1"/>
          <p:nvPr/>
        </p:nvSpPr>
        <p:spPr>
          <a:xfrm>
            <a:off x="6583680"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90.25</a:t>
            </a:r>
            <a:endParaRPr lang="en-US" sz="900" dirty="0"/>
          </a:p>
        </p:txBody>
      </p:sp>
      <p:sp>
        <p:nvSpPr>
          <p:cNvPr id="249" name="Text 247"/>
          <p:cNvSpPr txBox="1"/>
          <p:nvPr/>
        </p:nvSpPr>
        <p:spPr>
          <a:xfrm>
            <a:off x="7260336" y="5585059"/>
            <a:ext cx="676656" cy="221381"/>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91.38</a:t>
            </a:r>
            <a:endParaRPr lang="en-US" sz="900" dirty="0"/>
          </a:p>
        </p:txBody>
      </p:sp>
      <p:sp>
        <p:nvSpPr>
          <p:cNvPr id="250" name="Text 248"/>
          <p:cNvSpPr txBox="1"/>
          <p:nvPr/>
        </p:nvSpPr>
        <p:spPr>
          <a:xfrm>
            <a:off x="7936992"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51" name="Text 249"/>
          <p:cNvSpPr txBox="1"/>
          <p:nvPr/>
        </p:nvSpPr>
        <p:spPr>
          <a:xfrm>
            <a:off x="8613648" y="5585059"/>
            <a:ext cx="676656" cy="221381"/>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52" name="Text 250"/>
          <p:cNvSpPr txBox="1"/>
          <p:nvPr/>
        </p:nvSpPr>
        <p:spPr>
          <a:xfrm>
            <a:off x="9290304" y="5585059"/>
            <a:ext cx="676656" cy="221381"/>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53" name="Text 251"/>
          <p:cNvSpPr txBox="1"/>
          <p:nvPr/>
        </p:nvSpPr>
        <p:spPr>
          <a:xfrm>
            <a:off x="10012680" y="5585059"/>
            <a:ext cx="1600200" cy="221381"/>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147</a:t>
            </a:r>
            <a:endParaRPr lang="en-US" sz="700" dirty="0"/>
          </a:p>
        </p:txBody>
      </p:sp>
      <p:sp>
        <p:nvSpPr>
          <p:cNvPr id="254" name="Text 252"/>
          <p:cNvSpPr txBox="1"/>
          <p:nvPr/>
        </p:nvSpPr>
        <p:spPr>
          <a:xfrm>
            <a:off x="548640" y="5852160"/>
            <a:ext cx="11064240" cy="548640"/>
          </a:xfrm>
          <a:prstGeom prst="rect">
            <a:avLst/>
          </a:prstGeom>
          <a:noFill/>
          <a:ln/>
        </p:spPr>
        <p:txBody>
          <a:bodyPr wrap="square" lIns="0" tIns="0" rIns="0" bIns="0" rtlCol="0" anchor="t"/>
          <a:lstStyle/>
          <a:p>
            <a:pPr indent="0" marL="0">
              <a:buNone/>
            </a:pPr>
            <a:r>
              <a:rPr lang="en-US" sz="950" dirty="0">
                <a:solidFill>
                  <a:srgbClr val="A3A8B0"/>
                </a:solidFill>
                <a:latin typeface="Arial" pitchFamily="34" charset="0"/>
                <a:ea typeface="Arial" pitchFamily="34" charset="-122"/>
                <a:cs typeface="Arial" pitchFamily="34" charset="-120"/>
              </a:rPr>
              <a:t>Xanh/đỏ = tốt/xấu hơn PEG (IDSW, ID-off: ít hơn là tốt); gạch chân vàng = tốt nhất cột; “chủ yếu nhờ” = bỏ video/lần chói đó thì mất hơn nửa mức tăng. Dòng ★ chọn trên val, test chạy 1 lần.</a:t>
            </a:r>
            <a:endParaRPr lang="en-US" sz="950" dirty="0"/>
          </a:p>
          <a:p>
            <a:pPr indent="0" marL="0">
              <a:buNone/>
            </a:pPr>
            <a:r>
              <a:rPr lang="en-US" sz="950" b="1" dirty="0">
                <a:solidFill>
                  <a:srgbClr val="F2A900"/>
                </a:solidFill>
                <a:latin typeface="Arial" pitchFamily="34" charset="0"/>
                <a:ea typeface="Arial" pitchFamily="34" charset="-122"/>
                <a:cs typeface="Arial" pitchFamily="34" charset="-120"/>
              </a:rPr>
              <a:t>Tốt nhất theo val (ΣΔ): ALL = PEG-C + Thạch (M1 cone)  (ΣΔ val +9.29)</a:t>
            </a:r>
            <a:endParaRPr lang="en-US" sz="950" dirty="0"/>
          </a:p>
        </p:txBody>
      </p:sp>
      <p:sp>
        <p:nvSpPr>
          <p:cNvPr id="255" name="Shape 25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6" name="Text 25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7" name="Text 25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THUẬT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PEG-O: dùng chính vùng chói để đo box dời bao xa</a:t>
            </a:r>
            <a:endParaRPr lang="en-US" sz="3000" dirty="0"/>
          </a:p>
        </p:txBody>
      </p:sp>
      <p:sp>
        <p:nvSpPr>
          <p:cNvPr id="4" name="Shape 2"/>
          <p:cNvSpPr/>
          <p:nvPr/>
        </p:nvSpPr>
        <p:spPr>
          <a:xfrm>
            <a:off x="548640" y="1463040"/>
            <a:ext cx="5669280" cy="3063240"/>
          </a:xfrm>
          <a:prstGeom prst="roundRect">
            <a:avLst>
              <a:gd name="adj" fmla="val 3582"/>
            </a:avLst>
          </a:prstGeom>
          <a:solidFill>
            <a:srgbClr val="22252B"/>
          </a:solidFill>
          <a:ln w="12700">
            <a:solidFill>
              <a:srgbClr val="22252B"/>
            </a:solidFill>
            <a:prstDash val="solid"/>
          </a:ln>
        </p:spPr>
      </p:sp>
      <p:sp>
        <p:nvSpPr>
          <p:cNvPr id="5" name="Text 3"/>
          <p:cNvSpPr txBox="1"/>
          <p:nvPr/>
        </p:nvSpPr>
        <p:spPr>
          <a:xfrm>
            <a:off x="777240" y="1600200"/>
            <a:ext cx="5257800" cy="2880360"/>
          </a:xfrm>
          <a:prstGeom prst="rect">
            <a:avLst/>
          </a:prstGeom>
          <a:noFill/>
          <a:ln/>
        </p:spPr>
        <p:txBody>
          <a:bodyPr wrap="square" lIns="0" tIns="0" rIns="0" bIns="0" rtlCol="0" anchor="t"/>
          <a:lstStyle/>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①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Mô hình: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tâm đĩa chói b_t gắn cứng với người ⇒ c_t − c_anchor = b_t − b_anchor (không cần biết đèn ở đâu trên người)</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②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Lọc đĩa: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s(c) = |Ω ∩ D(c, ρ)| / |D(ρ)|, ρ = √(diện tích/π); b_t = argmax s trong cửa sổ 2× box</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③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Độ nhọn: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k = min(kx, ky), kx = s(b) − ½[s(b+Δx) + s(b−Δx)]; chỉ tin khi k ≥ τ (đỉnh phẳng ⇒ không cập nhật)</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④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Cập nhật: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z = c_anchor + (b_t − b_anchor); gain tâm = 1/(1 + γ·τ/k); kích thước giữ nguyên (PEG+)</a:t>
            </a:r>
            <a:endParaRPr lang="en-US" sz="1400" dirty="0"/>
          </a:p>
        </p:txBody>
      </p:sp>
      <p:sp>
        <p:nvSpPr>
          <p:cNvPr id="6" name="Shape 4"/>
          <p:cNvSpPr/>
          <p:nvPr/>
        </p:nvSpPr>
        <p:spPr>
          <a:xfrm>
            <a:off x="6446520" y="1508760"/>
            <a:ext cx="1554480" cy="2011680"/>
          </a:xfrm>
          <a:prstGeom prst="roundRect">
            <a:avLst>
              <a:gd name="adj" fmla="val 7059"/>
            </a:avLst>
          </a:prstGeom>
          <a:solidFill>
            <a:srgbClr val="2B2F36"/>
          </a:solidFill>
          <a:ln w="12700">
            <a:solidFill>
              <a:srgbClr val="2B2F36"/>
            </a:solidFill>
            <a:prstDash val="solid"/>
          </a:ln>
        </p:spPr>
      </p:sp>
      <p:sp>
        <p:nvSpPr>
          <p:cNvPr id="7" name="Shape 5"/>
          <p:cNvSpPr/>
          <p:nvPr/>
        </p:nvSpPr>
        <p:spPr>
          <a:xfrm>
            <a:off x="8275320" y="1508760"/>
            <a:ext cx="1554480" cy="2011680"/>
          </a:xfrm>
          <a:prstGeom prst="roundRect">
            <a:avLst>
              <a:gd name="adj" fmla="val 7059"/>
            </a:avLst>
          </a:prstGeom>
          <a:solidFill>
            <a:srgbClr val="2B2F36"/>
          </a:solidFill>
          <a:ln w="12700">
            <a:solidFill>
              <a:srgbClr val="2B2F36"/>
            </a:solidFill>
            <a:prstDash val="solid"/>
          </a:ln>
        </p:spPr>
      </p:sp>
      <p:sp>
        <p:nvSpPr>
          <p:cNvPr id="8" name="Shape 6"/>
          <p:cNvSpPr/>
          <p:nvPr/>
        </p:nvSpPr>
        <p:spPr>
          <a:xfrm>
            <a:off x="10104120" y="1508760"/>
            <a:ext cx="1554480" cy="2011680"/>
          </a:xfrm>
          <a:prstGeom prst="roundRect">
            <a:avLst>
              <a:gd name="adj" fmla="val 7059"/>
            </a:avLst>
          </a:prstGeom>
          <a:solidFill>
            <a:srgbClr val="2B2F36"/>
          </a:solidFill>
          <a:ln w="12700">
            <a:solidFill>
              <a:srgbClr val="2B2F36"/>
            </a:solidFill>
            <a:prstDash val="solid"/>
          </a:ln>
        </p:spPr>
      </p:sp>
      <p:sp>
        <p:nvSpPr>
          <p:cNvPr id="9" name="Shape 7"/>
          <p:cNvSpPr/>
          <p:nvPr/>
        </p:nvSpPr>
        <p:spPr>
          <a:xfrm>
            <a:off x="6702552" y="1783080"/>
            <a:ext cx="1051560" cy="1051560"/>
          </a:xfrm>
          <a:prstGeom prst="ellipse">
            <a:avLst/>
          </a:prstGeom>
          <a:solidFill>
            <a:srgbClr val="FFFFFF">
              <a:alpha val="38000"/>
            </a:srgbClr>
          </a:solidFill>
          <a:ln w="12700">
            <a:solidFill>
              <a:srgbClr val="FFFFFF">
                <a:alpha val="60000"/>
              </a:srgbClr>
            </a:solidFill>
            <a:prstDash val="solid"/>
          </a:ln>
        </p:spPr>
      </p:sp>
      <p:sp>
        <p:nvSpPr>
          <p:cNvPr id="10" name="Shape 8"/>
          <p:cNvSpPr/>
          <p:nvPr/>
        </p:nvSpPr>
        <p:spPr>
          <a:xfrm>
            <a:off x="6949440" y="2075688"/>
            <a:ext cx="566928" cy="1097280"/>
          </a:xfrm>
          <a:prstGeom prst="rect">
            <a:avLst/>
          </a:prstGeom>
          <a:solidFill>
            <a:srgbClr val="FFFFFF">
              <a:alpha val="0"/>
            </a:srgbClr>
          </a:solidFill>
          <a:ln w="25400">
            <a:solidFill>
              <a:srgbClr val="2DE0E0"/>
            </a:solidFill>
            <a:prstDash val="solid"/>
          </a:ln>
        </p:spPr>
      </p:sp>
      <p:sp>
        <p:nvSpPr>
          <p:cNvPr id="11" name="Shape 9"/>
          <p:cNvSpPr/>
          <p:nvPr/>
        </p:nvSpPr>
        <p:spPr>
          <a:xfrm>
            <a:off x="8321040" y="1783080"/>
            <a:ext cx="1463040" cy="1463040"/>
          </a:xfrm>
          <a:prstGeom prst="ellipse">
            <a:avLst/>
          </a:prstGeom>
          <a:solidFill>
            <a:srgbClr val="E8833A">
              <a:alpha val="12000"/>
            </a:srgbClr>
          </a:solidFill>
          <a:ln w="12700">
            <a:solidFill>
              <a:srgbClr val="E8833A">
                <a:alpha val="0"/>
              </a:srgbClr>
            </a:solidFill>
            <a:prstDash val="solid"/>
          </a:ln>
        </p:spPr>
      </p:sp>
      <p:sp>
        <p:nvSpPr>
          <p:cNvPr id="12" name="Shape 10"/>
          <p:cNvSpPr/>
          <p:nvPr/>
        </p:nvSpPr>
        <p:spPr>
          <a:xfrm>
            <a:off x="8522208" y="1984248"/>
            <a:ext cx="1060704" cy="1060704"/>
          </a:xfrm>
          <a:prstGeom prst="ellipse">
            <a:avLst/>
          </a:prstGeom>
          <a:solidFill>
            <a:srgbClr val="E8833A">
              <a:alpha val="30000"/>
            </a:srgbClr>
          </a:solidFill>
          <a:ln w="12700">
            <a:solidFill>
              <a:srgbClr val="E8833A">
                <a:alpha val="0"/>
              </a:srgbClr>
            </a:solidFill>
            <a:prstDash val="solid"/>
          </a:ln>
        </p:spPr>
      </p:sp>
      <p:sp>
        <p:nvSpPr>
          <p:cNvPr id="13" name="Shape 11"/>
          <p:cNvSpPr/>
          <p:nvPr/>
        </p:nvSpPr>
        <p:spPr>
          <a:xfrm>
            <a:off x="8741664" y="2203704"/>
            <a:ext cx="621792" cy="621792"/>
          </a:xfrm>
          <a:prstGeom prst="ellipse">
            <a:avLst/>
          </a:prstGeom>
          <a:solidFill>
            <a:srgbClr val="E8833A">
              <a:alpha val="60000"/>
            </a:srgbClr>
          </a:solidFill>
          <a:ln w="12700">
            <a:solidFill>
              <a:srgbClr val="E8833A">
                <a:alpha val="0"/>
              </a:srgbClr>
            </a:solidFill>
            <a:prstDash val="solid"/>
          </a:ln>
        </p:spPr>
      </p:sp>
      <p:sp>
        <p:nvSpPr>
          <p:cNvPr id="14" name="Shape 12"/>
          <p:cNvSpPr/>
          <p:nvPr/>
        </p:nvSpPr>
        <p:spPr>
          <a:xfrm>
            <a:off x="8906256" y="2514600"/>
            <a:ext cx="292608" cy="0"/>
          </a:xfrm>
          <a:prstGeom prst="line">
            <a:avLst/>
          </a:prstGeom>
          <a:noFill/>
          <a:ln w="28575">
            <a:solidFill>
              <a:srgbClr val="FFFFFF"/>
            </a:solidFill>
            <a:prstDash val="solid"/>
          </a:ln>
        </p:spPr>
      </p:sp>
      <p:sp>
        <p:nvSpPr>
          <p:cNvPr id="15" name="Shape 13"/>
          <p:cNvSpPr/>
          <p:nvPr/>
        </p:nvSpPr>
        <p:spPr>
          <a:xfrm>
            <a:off x="9052560" y="2368296"/>
            <a:ext cx="0" cy="292608"/>
          </a:xfrm>
          <a:prstGeom prst="line">
            <a:avLst/>
          </a:prstGeom>
          <a:noFill/>
          <a:ln w="28575">
            <a:solidFill>
              <a:srgbClr val="FFFFFF"/>
            </a:solidFill>
            <a:prstDash val="solid"/>
          </a:ln>
        </p:spPr>
      </p:sp>
      <p:sp>
        <p:nvSpPr>
          <p:cNvPr id="16" name="Shape 14"/>
          <p:cNvSpPr/>
          <p:nvPr/>
        </p:nvSpPr>
        <p:spPr>
          <a:xfrm>
            <a:off x="9418320" y="2468880"/>
            <a:ext cx="91440" cy="91440"/>
          </a:xfrm>
          <a:prstGeom prst="ellipse">
            <a:avLst/>
          </a:prstGeom>
          <a:solidFill>
            <a:srgbClr val="7CFC00"/>
          </a:solidFill>
          <a:ln w="12700">
            <a:solidFill>
              <a:srgbClr val="7CFC00"/>
            </a:solidFill>
            <a:prstDash val="solid"/>
          </a:ln>
        </p:spPr>
      </p:sp>
      <p:sp>
        <p:nvSpPr>
          <p:cNvPr id="17" name="Shape 15"/>
          <p:cNvSpPr/>
          <p:nvPr/>
        </p:nvSpPr>
        <p:spPr>
          <a:xfrm>
            <a:off x="8595360" y="2468880"/>
            <a:ext cx="91440" cy="91440"/>
          </a:xfrm>
          <a:prstGeom prst="ellipse">
            <a:avLst/>
          </a:prstGeom>
          <a:solidFill>
            <a:srgbClr val="7CFC00"/>
          </a:solidFill>
          <a:ln w="12700">
            <a:solidFill>
              <a:srgbClr val="7CFC00"/>
            </a:solidFill>
            <a:prstDash val="solid"/>
          </a:ln>
        </p:spPr>
      </p:sp>
      <p:sp>
        <p:nvSpPr>
          <p:cNvPr id="18" name="Shape 16"/>
          <p:cNvSpPr/>
          <p:nvPr/>
        </p:nvSpPr>
        <p:spPr>
          <a:xfrm>
            <a:off x="9006840" y="2880360"/>
            <a:ext cx="91440" cy="91440"/>
          </a:xfrm>
          <a:prstGeom prst="ellipse">
            <a:avLst/>
          </a:prstGeom>
          <a:solidFill>
            <a:srgbClr val="7CFC00"/>
          </a:solidFill>
          <a:ln w="12700">
            <a:solidFill>
              <a:srgbClr val="7CFC00"/>
            </a:solidFill>
            <a:prstDash val="solid"/>
          </a:ln>
        </p:spPr>
      </p:sp>
      <p:sp>
        <p:nvSpPr>
          <p:cNvPr id="19" name="Shape 17"/>
          <p:cNvSpPr/>
          <p:nvPr/>
        </p:nvSpPr>
        <p:spPr>
          <a:xfrm>
            <a:off x="9006840" y="2057400"/>
            <a:ext cx="91440" cy="91440"/>
          </a:xfrm>
          <a:prstGeom prst="ellipse">
            <a:avLst/>
          </a:prstGeom>
          <a:solidFill>
            <a:srgbClr val="7CFC00"/>
          </a:solidFill>
          <a:ln w="12700">
            <a:solidFill>
              <a:srgbClr val="7CFC00"/>
            </a:solidFill>
            <a:prstDash val="solid"/>
          </a:ln>
        </p:spPr>
      </p:sp>
      <p:sp>
        <p:nvSpPr>
          <p:cNvPr id="20" name="Shape 18"/>
          <p:cNvSpPr/>
          <p:nvPr/>
        </p:nvSpPr>
        <p:spPr>
          <a:xfrm>
            <a:off x="10378440" y="2377440"/>
            <a:ext cx="566928" cy="914400"/>
          </a:xfrm>
          <a:prstGeom prst="rect">
            <a:avLst/>
          </a:prstGeom>
          <a:solidFill>
            <a:srgbClr val="FFFFFF">
              <a:alpha val="0"/>
            </a:srgbClr>
          </a:solidFill>
          <a:ln w="22225">
            <a:solidFill>
              <a:srgbClr val="A3A8B0"/>
            </a:solidFill>
            <a:prstDash val="dash"/>
          </a:ln>
        </p:spPr>
      </p:sp>
      <p:sp>
        <p:nvSpPr>
          <p:cNvPr id="21" name="Shape 19"/>
          <p:cNvSpPr/>
          <p:nvPr/>
        </p:nvSpPr>
        <p:spPr>
          <a:xfrm>
            <a:off x="10853928" y="2011680"/>
            <a:ext cx="566928" cy="914400"/>
          </a:xfrm>
          <a:prstGeom prst="rect">
            <a:avLst/>
          </a:prstGeom>
          <a:solidFill>
            <a:srgbClr val="FFFFFF">
              <a:alpha val="0"/>
            </a:srgbClr>
          </a:solidFill>
          <a:ln w="28575">
            <a:solidFill>
              <a:srgbClr val="2DE0E0"/>
            </a:solidFill>
            <a:prstDash val="solid"/>
          </a:ln>
        </p:spPr>
      </p:sp>
      <p:sp>
        <p:nvSpPr>
          <p:cNvPr id="22" name="Shape 20"/>
          <p:cNvSpPr/>
          <p:nvPr/>
        </p:nvSpPr>
        <p:spPr>
          <a:xfrm flipV="1">
            <a:off x="10661904" y="2468880"/>
            <a:ext cx="475488" cy="365760"/>
          </a:xfrm>
          <a:prstGeom prst="line">
            <a:avLst/>
          </a:prstGeom>
          <a:noFill/>
          <a:ln w="28575">
            <a:solidFill>
              <a:srgbClr val="F2A900"/>
            </a:solidFill>
            <a:prstDash val="solid"/>
            <a:tailEnd type="triangle"/>
          </a:ln>
        </p:spPr>
      </p:sp>
      <p:sp>
        <p:nvSpPr>
          <p:cNvPr id="23" name="Text 21"/>
          <p:cNvSpPr txBox="1"/>
          <p:nvPr/>
        </p:nvSpPr>
        <p:spPr>
          <a:xfrm>
            <a:off x="10287000" y="1892808"/>
            <a:ext cx="365760" cy="274320"/>
          </a:xfrm>
          <a:prstGeom prst="rect">
            <a:avLst/>
          </a:prstGeom>
          <a:noFill/>
          <a:ln/>
        </p:spPr>
        <p:txBody>
          <a:bodyPr wrap="square" lIns="0" tIns="0" rIns="0" bIns="0" rtlCol="0" anchor="t"/>
          <a:lstStyle/>
          <a:p>
            <a:pPr indent="0" marL="0">
              <a:buNone/>
            </a:pPr>
            <a:r>
              <a:rPr lang="en-US" sz="1400" b="1" dirty="0">
                <a:solidFill>
                  <a:srgbClr val="F2A900"/>
                </a:solidFill>
                <a:latin typeface="Arial" pitchFamily="34" charset="0"/>
                <a:ea typeface="Arial" pitchFamily="34" charset="-122"/>
                <a:cs typeface="Arial" pitchFamily="34" charset="-120"/>
              </a:rPr>
              <a:t>Δb</a:t>
            </a:r>
            <a:endParaRPr lang="en-US" sz="1400" dirty="0"/>
          </a:p>
        </p:txBody>
      </p:sp>
      <p:sp>
        <p:nvSpPr>
          <p:cNvPr id="24" name="Shape 22"/>
          <p:cNvSpPr/>
          <p:nvPr/>
        </p:nvSpPr>
        <p:spPr>
          <a:xfrm>
            <a:off x="8028432" y="2514600"/>
            <a:ext cx="219456" cy="0"/>
          </a:xfrm>
          <a:prstGeom prst="line">
            <a:avLst/>
          </a:prstGeom>
          <a:noFill/>
          <a:ln w="25400">
            <a:solidFill>
              <a:srgbClr val="F2A900"/>
            </a:solidFill>
            <a:prstDash val="solid"/>
            <a:tailEnd type="triangle"/>
          </a:ln>
        </p:spPr>
      </p:sp>
      <p:sp>
        <p:nvSpPr>
          <p:cNvPr id="25" name="Shape 23"/>
          <p:cNvSpPr/>
          <p:nvPr/>
        </p:nvSpPr>
        <p:spPr>
          <a:xfrm>
            <a:off x="9857232" y="2514600"/>
            <a:ext cx="219456" cy="0"/>
          </a:xfrm>
          <a:prstGeom prst="line">
            <a:avLst/>
          </a:prstGeom>
          <a:noFill/>
          <a:ln w="25400">
            <a:solidFill>
              <a:srgbClr val="F2A900"/>
            </a:solidFill>
            <a:prstDash val="solid"/>
            <a:tailEnd type="triangle"/>
          </a:ln>
        </p:spPr>
      </p:sp>
      <p:sp>
        <p:nvSpPr>
          <p:cNvPr id="26" name="Text 24"/>
          <p:cNvSpPr txBox="1"/>
          <p:nvPr/>
        </p:nvSpPr>
        <p:spPr>
          <a:xfrm>
            <a:off x="64465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1: đĩa chói Ω trong box dự đoán</a:t>
            </a:r>
            <a:endParaRPr lang="en-US" sz="1100" dirty="0"/>
          </a:p>
        </p:txBody>
      </p:sp>
      <p:sp>
        <p:nvSpPr>
          <p:cNvPr id="27" name="Text 25"/>
          <p:cNvSpPr txBox="1"/>
          <p:nvPr/>
        </p:nvSpPr>
        <p:spPr>
          <a:xfrm>
            <a:off x="82753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2: điểm số lọc đĩa; đỉnh (+) và 4 điểm đo độ nhọn k</a:t>
            </a:r>
            <a:endParaRPr lang="en-US" sz="1100" dirty="0"/>
          </a:p>
        </p:txBody>
      </p:sp>
      <p:sp>
        <p:nvSpPr>
          <p:cNvPr id="28" name="Text 26"/>
          <p:cNvSpPr txBox="1"/>
          <p:nvPr/>
        </p:nvSpPr>
        <p:spPr>
          <a:xfrm>
            <a:off x="101041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3: box dời đúng Δb (độ dời của tâm đĩa)</a:t>
            </a:r>
            <a:endParaRPr lang="en-US" sz="1100" dirty="0"/>
          </a:p>
        </p:txBody>
      </p:sp>
      <p:sp>
        <p:nvSpPr>
          <p:cNvPr id="29" name="Text 27"/>
          <p:cNvSpPr txBox="1"/>
          <p:nvPr/>
        </p:nvSpPr>
        <p:spPr>
          <a:xfrm>
            <a:off x="1920240" y="4663440"/>
            <a:ext cx="3246120" cy="274320"/>
          </a:xfrm>
          <a:prstGeom prst="rect">
            <a:avLst/>
          </a:prstGeom>
          <a:noFill/>
          <a:ln/>
        </p:spPr>
        <p:txBody>
          <a:bodyPr wrap="square" lIns="0" tIns="0" rIns="0" bIns="0" rtlCol="0" anchor="ctr"/>
          <a:lstStyle/>
          <a:p>
            <a:pPr algn="ctr" indent="0" marL="0">
              <a:buNone/>
            </a:pPr>
            <a:r>
              <a:rPr lang="en-US" sz="1300" b="1" dirty="0">
                <a:solidFill>
                  <a:srgbClr val="E86BB0"/>
                </a:solidFill>
                <a:latin typeface="Arial" pitchFamily="34" charset="0"/>
                <a:ea typeface="Arial" pitchFamily="34" charset="-122"/>
                <a:cs typeface="Arial" pitchFamily="34" charset="-120"/>
              </a:rPr>
              <a:t>B / M5 (neo đèn)</a:t>
            </a:r>
            <a:endParaRPr lang="en-US" sz="1300" dirty="0"/>
          </a:p>
        </p:txBody>
      </p:sp>
      <p:sp>
        <p:nvSpPr>
          <p:cNvPr id="30" name="Text 28"/>
          <p:cNvSpPr txBox="1"/>
          <p:nvPr/>
        </p:nvSpPr>
        <p:spPr>
          <a:xfrm>
            <a:off x="5166360" y="4663440"/>
            <a:ext cx="3246120" cy="274320"/>
          </a:xfrm>
          <a:prstGeom prst="rect">
            <a:avLst/>
          </a:prstGeom>
          <a:noFill/>
          <a:ln/>
        </p:spPr>
        <p:txBody>
          <a:bodyPr wrap="square" lIns="0" tIns="0" rIns="0" bIns="0" rtlCol="0" anchor="ctr"/>
          <a:lstStyle/>
          <a:p>
            <a:pPr algn="ctr" indent="0" marL="0">
              <a:buNone/>
            </a:pPr>
            <a:r>
              <a:rPr lang="en-US" sz="1300" b="1" dirty="0">
                <a:solidFill>
                  <a:srgbClr val="9B6EE8"/>
                </a:solidFill>
                <a:latin typeface="Arial" pitchFamily="34" charset="0"/>
                <a:ea typeface="Arial" pitchFamily="34" charset="-122"/>
                <a:cs typeface="Arial" pitchFamily="34" charset="-120"/>
              </a:rPr>
              <a:t>M1 hãm</a:t>
            </a:r>
            <a:endParaRPr lang="en-US" sz="1300" dirty="0"/>
          </a:p>
        </p:txBody>
      </p:sp>
      <p:sp>
        <p:nvSpPr>
          <p:cNvPr id="31" name="Text 29"/>
          <p:cNvSpPr txBox="1"/>
          <p:nvPr/>
        </p:nvSpPr>
        <p:spPr>
          <a:xfrm>
            <a:off x="8412480" y="4663440"/>
            <a:ext cx="3246120" cy="274320"/>
          </a:xfrm>
          <a:prstGeom prst="rect">
            <a:avLst/>
          </a:prstGeom>
          <a:noFill/>
          <a:ln/>
        </p:spPr>
        <p:txBody>
          <a:bodyPr wrap="square" lIns="0" tIns="0" rIns="0" bIns="0" rtlCol="0" anchor="ctr"/>
          <a:lstStyle/>
          <a:p>
            <a:pPr algn="ctr" indent="0" marL="0">
              <a:buNone/>
            </a:pPr>
            <a:r>
              <a:rPr lang="en-US" sz="1300" b="1" dirty="0">
                <a:solidFill>
                  <a:srgbClr val="E8833A"/>
                </a:solidFill>
                <a:latin typeface="Arial" pitchFamily="34" charset="0"/>
                <a:ea typeface="Arial" pitchFamily="34" charset="-122"/>
                <a:cs typeface="Arial" pitchFamily="34" charset="-120"/>
              </a:rPr>
              <a:t>PEG-O</a:t>
            </a:r>
            <a:endParaRPr lang="en-US" sz="1300" dirty="0"/>
          </a:p>
        </p:txBody>
      </p:sp>
      <p:sp>
        <p:nvSpPr>
          <p:cNvPr id="32" name="Shape 30"/>
          <p:cNvSpPr/>
          <p:nvPr/>
        </p:nvSpPr>
        <p:spPr>
          <a:xfrm>
            <a:off x="548640" y="4965192"/>
            <a:ext cx="11091672" cy="301752"/>
          </a:xfrm>
          <a:prstGeom prst="rect">
            <a:avLst/>
          </a:prstGeom>
          <a:solidFill>
            <a:srgbClr val="22252B"/>
          </a:solidFill>
          <a:ln w="12700">
            <a:solidFill>
              <a:srgbClr val="22252B"/>
            </a:solidFill>
            <a:prstDash val="solid"/>
          </a:ln>
        </p:spPr>
      </p:sp>
      <p:sp>
        <p:nvSpPr>
          <p:cNvPr id="33" name="Text 31"/>
          <p:cNvSpPr txBox="1"/>
          <p:nvPr/>
        </p:nvSpPr>
        <p:spPr>
          <a:xfrm>
            <a:off x="640080" y="4965192"/>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đo gì</a:t>
            </a:r>
            <a:endParaRPr lang="en-US" sz="1200" dirty="0"/>
          </a:p>
        </p:txBody>
      </p:sp>
      <p:sp>
        <p:nvSpPr>
          <p:cNvPr id="34" name="Text 32"/>
          <p:cNvSpPr txBox="1"/>
          <p:nvPr/>
        </p:nvSpPr>
        <p:spPr>
          <a:xfrm>
            <a:off x="2011680" y="4965192"/>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lõi đèn nhỏ</a:t>
            </a:r>
            <a:endParaRPr lang="en-US" sz="1200" dirty="0"/>
          </a:p>
        </p:txBody>
      </p:sp>
      <p:sp>
        <p:nvSpPr>
          <p:cNvPr id="35" name="Text 33"/>
          <p:cNvSpPr txBox="1"/>
          <p:nvPr/>
        </p:nvSpPr>
        <p:spPr>
          <a:xfrm>
            <a:off x="5257800" y="4965192"/>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không đo (vận tốc đóng băng)</a:t>
            </a:r>
            <a:endParaRPr lang="en-US" sz="1200" dirty="0"/>
          </a:p>
        </p:txBody>
      </p:sp>
      <p:sp>
        <p:nvSpPr>
          <p:cNvPr id="36" name="Text 34"/>
          <p:cNvSpPr txBox="1"/>
          <p:nvPr/>
        </p:nvSpPr>
        <p:spPr>
          <a:xfrm>
            <a:off x="8503920" y="4965192"/>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đĩa chói, đúng bán kính ρ</a:t>
            </a:r>
            <a:endParaRPr lang="en-US" sz="1200" dirty="0"/>
          </a:p>
        </p:txBody>
      </p:sp>
      <p:sp>
        <p:nvSpPr>
          <p:cNvPr id="37" name="Shape 35"/>
          <p:cNvSpPr/>
          <p:nvPr/>
        </p:nvSpPr>
        <p:spPr>
          <a:xfrm>
            <a:off x="548640" y="5294376"/>
            <a:ext cx="11091672" cy="301752"/>
          </a:xfrm>
          <a:prstGeom prst="rect">
            <a:avLst/>
          </a:prstGeom>
          <a:solidFill>
            <a:srgbClr val="2B2F36"/>
          </a:solidFill>
          <a:ln w="12700">
            <a:solidFill>
              <a:srgbClr val="2B2F36"/>
            </a:solidFill>
            <a:prstDash val="solid"/>
          </a:ln>
        </p:spPr>
      </p:sp>
      <p:sp>
        <p:nvSpPr>
          <p:cNvPr id="38" name="Text 36"/>
          <p:cNvSpPr txBox="1"/>
          <p:nvPr/>
        </p:nvSpPr>
        <p:spPr>
          <a:xfrm>
            <a:off x="640080" y="5294376"/>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người ở đâu</a:t>
            </a:r>
            <a:endParaRPr lang="en-US" sz="1200" dirty="0"/>
          </a:p>
        </p:txBody>
      </p:sp>
      <p:sp>
        <p:nvSpPr>
          <p:cNvPr id="39" name="Text 37"/>
          <p:cNvSpPr txBox="1"/>
          <p:nvPr/>
        </p:nvSpPr>
        <p:spPr>
          <a:xfrm>
            <a:off x="2011680" y="5294376"/>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 định đèn cách tâm 0.35h</a:t>
            </a:r>
            <a:endParaRPr lang="en-US" sz="1200" dirty="0"/>
          </a:p>
        </p:txBody>
      </p:sp>
      <p:sp>
        <p:nvSpPr>
          <p:cNvPr id="40" name="Text 38"/>
          <p:cNvSpPr txBox="1"/>
          <p:nvPr/>
        </p:nvSpPr>
        <p:spPr>
          <a:xfrm>
            <a:off x="5257800" y="5294376"/>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box cũ</a:t>
            </a:r>
            <a:endParaRPr lang="en-US" sz="1200" dirty="0"/>
          </a:p>
        </p:txBody>
      </p:sp>
      <p:sp>
        <p:nvSpPr>
          <p:cNvPr id="41" name="Text 39"/>
          <p:cNvSpPr txBox="1"/>
          <p:nvPr/>
        </p:nvSpPr>
        <p:spPr>
          <a:xfrm>
            <a:off x="8503920" y="5294376"/>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độ dời của tâm đĩa, không cần offset</a:t>
            </a:r>
            <a:endParaRPr lang="en-US" sz="1200" dirty="0"/>
          </a:p>
        </p:txBody>
      </p:sp>
      <p:sp>
        <p:nvSpPr>
          <p:cNvPr id="42" name="Shape 40"/>
          <p:cNvSpPr/>
          <p:nvPr/>
        </p:nvSpPr>
        <p:spPr>
          <a:xfrm>
            <a:off x="548640" y="5623560"/>
            <a:ext cx="11091672" cy="301752"/>
          </a:xfrm>
          <a:prstGeom prst="rect">
            <a:avLst/>
          </a:prstGeom>
          <a:solidFill>
            <a:srgbClr val="22252B"/>
          </a:solidFill>
          <a:ln w="12700">
            <a:solidFill>
              <a:srgbClr val="22252B"/>
            </a:solidFill>
            <a:prstDash val="solid"/>
          </a:ln>
        </p:spPr>
      </p:sp>
      <p:sp>
        <p:nvSpPr>
          <p:cNvPr id="43" name="Text 41"/>
          <p:cNvSpPr txBox="1"/>
          <p:nvPr/>
        </p:nvSpPr>
        <p:spPr>
          <a:xfrm>
            <a:off x="640080" y="5623560"/>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khi nào tin</a:t>
            </a:r>
            <a:endParaRPr lang="en-US" sz="1200" dirty="0"/>
          </a:p>
        </p:txBody>
      </p:sp>
      <p:sp>
        <p:nvSpPr>
          <p:cNvPr id="44" name="Text 42"/>
          <p:cNvSpPr txBox="1"/>
          <p:nvPr/>
        </p:nvSpPr>
        <p:spPr>
          <a:xfrm>
            <a:off x="2011680" y="5623560"/>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luôn tin</a:t>
            </a:r>
            <a:endParaRPr lang="en-US" sz="1200" dirty="0"/>
          </a:p>
        </p:txBody>
      </p:sp>
      <p:sp>
        <p:nvSpPr>
          <p:cNvPr id="45" name="Text 43"/>
          <p:cNvSpPr txBox="1"/>
          <p:nvPr/>
        </p:nvSpPr>
        <p:spPr>
          <a:xfrm>
            <a:off x="5257800" y="5623560"/>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luôn</a:t>
            </a:r>
            <a:endParaRPr lang="en-US" sz="1200" dirty="0"/>
          </a:p>
        </p:txBody>
      </p:sp>
      <p:sp>
        <p:nvSpPr>
          <p:cNvPr id="46" name="Text 44"/>
          <p:cNvSpPr txBox="1"/>
          <p:nvPr/>
        </p:nvSpPr>
        <p:spPr>
          <a:xfrm>
            <a:off x="8503920" y="5623560"/>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độ nhọn đỉnh k ≥ τ</a:t>
            </a:r>
            <a:endParaRPr lang="en-US" sz="1200" dirty="0"/>
          </a:p>
        </p:txBody>
      </p:sp>
      <p:sp>
        <p:nvSpPr>
          <p:cNvPr id="47" name="Shape 45"/>
          <p:cNvSpPr/>
          <p:nvPr/>
        </p:nvSpPr>
        <p:spPr>
          <a:xfrm>
            <a:off x="548640" y="5952744"/>
            <a:ext cx="11091672" cy="301752"/>
          </a:xfrm>
          <a:prstGeom prst="rect">
            <a:avLst/>
          </a:prstGeom>
          <a:solidFill>
            <a:srgbClr val="2B2F36"/>
          </a:solidFill>
          <a:ln w="12700">
            <a:solidFill>
              <a:srgbClr val="2B2F36"/>
            </a:solidFill>
            <a:prstDash val="solid"/>
          </a:ln>
        </p:spPr>
      </p:sp>
      <p:sp>
        <p:nvSpPr>
          <p:cNvPr id="48" name="Text 46"/>
          <p:cNvSpPr txBox="1"/>
          <p:nvPr/>
        </p:nvSpPr>
        <p:spPr>
          <a:xfrm>
            <a:off x="640080" y="5952744"/>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khi sai</a:t>
            </a:r>
            <a:endParaRPr lang="en-US" sz="1200" dirty="0"/>
          </a:p>
        </p:txBody>
      </p:sp>
      <p:sp>
        <p:nvSpPr>
          <p:cNvPr id="49" name="Text 47"/>
          <p:cNvSpPr txBox="1"/>
          <p:nvPr/>
        </p:nvSpPr>
        <p:spPr>
          <a:xfrm>
            <a:off x="2011680" y="5952744"/>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kéo box lệch người</a:t>
            </a:r>
            <a:endParaRPr lang="en-US" sz="1200" dirty="0"/>
          </a:p>
        </p:txBody>
      </p:sp>
      <p:sp>
        <p:nvSpPr>
          <p:cNvPr id="50" name="Text 48"/>
          <p:cNvSpPr txBox="1"/>
          <p:nvPr/>
        </p:nvSpPr>
        <p:spPr>
          <a:xfrm>
            <a:off x="5257800" y="5952744"/>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box trễ sau người</a:t>
            </a:r>
            <a:endParaRPr lang="en-US" sz="1200" dirty="0"/>
          </a:p>
        </p:txBody>
      </p:sp>
      <p:sp>
        <p:nvSpPr>
          <p:cNvPr id="51" name="Text 49"/>
          <p:cNvSpPr txBox="1"/>
          <p:nvPr/>
        </p:nvSpPr>
        <p:spPr>
          <a:xfrm>
            <a:off x="8503920" y="5952744"/>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đĩa đổi hình ⇒ box trôi (xem slide sau)</a:t>
            </a:r>
            <a:endParaRPr lang="en-US" sz="1200" dirty="0"/>
          </a:p>
        </p:txBody>
      </p:sp>
      <p:sp>
        <p:nvSpPr>
          <p:cNvPr id="52" name="Shape 5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3" name="Text 5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4" name="Text 5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KẾT QUẢ</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PEG-O trên val và test: không qua</a:t>
            </a:r>
            <a:endParaRPr lang="en-US" sz="3000" dirty="0"/>
          </a:p>
        </p:txBody>
      </p:sp>
      <p:sp>
        <p:nvSpPr>
          <p:cNvPr id="4" name="Shape 2"/>
          <p:cNvSpPr/>
          <p:nvPr/>
        </p:nvSpPr>
        <p:spPr>
          <a:xfrm>
            <a:off x="548640" y="1463040"/>
            <a:ext cx="6400800" cy="1965960"/>
          </a:xfrm>
          <a:prstGeom prst="roundRect">
            <a:avLst>
              <a:gd name="adj" fmla="val 5581"/>
            </a:avLst>
          </a:prstGeom>
          <a:solidFill>
            <a:srgbClr val="22252B"/>
          </a:solidFill>
          <a:ln w="12700">
            <a:solidFill>
              <a:srgbClr val="22252B"/>
            </a:solidFill>
            <a:prstDash val="solid"/>
          </a:ln>
        </p:spPr>
      </p:sp>
      <p:sp>
        <p:nvSpPr>
          <p:cNvPr id="5" name="Text 3"/>
          <p:cNvSpPr txBox="1"/>
          <p:nvPr/>
        </p:nvSpPr>
        <p:spPr>
          <a:xfrm>
            <a:off x="777240" y="1536192"/>
            <a:ext cx="27432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Δ so với PEG+:</a:t>
            </a:r>
            <a:endParaRPr lang="en-US" sz="1300" dirty="0"/>
          </a:p>
        </p:txBody>
      </p:sp>
      <p:sp>
        <p:nvSpPr>
          <p:cNvPr id="6" name="Text 4"/>
          <p:cNvSpPr txBox="1"/>
          <p:nvPr/>
        </p:nvSpPr>
        <p:spPr>
          <a:xfrm>
            <a:off x="288036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7" name="Text 5"/>
          <p:cNvSpPr txBox="1"/>
          <p:nvPr/>
        </p:nvSpPr>
        <p:spPr>
          <a:xfrm>
            <a:off x="420624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8" name="Text 6"/>
          <p:cNvSpPr txBox="1"/>
          <p:nvPr/>
        </p:nvSpPr>
        <p:spPr>
          <a:xfrm>
            <a:off x="562356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9" name="Text 7"/>
          <p:cNvSpPr txBox="1"/>
          <p:nvPr/>
        </p:nvSpPr>
        <p:spPr>
          <a:xfrm>
            <a:off x="777240" y="2103120"/>
            <a:ext cx="2103120" cy="566928"/>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val</a:t>
            </a:r>
            <a:endParaRPr lang="en-US" sz="1600" dirty="0"/>
          </a:p>
          <a:p>
            <a:pPr indent="0" marL="0">
              <a:buNone/>
            </a:pPr>
            <a:r>
              <a:rPr lang="en-US" sz="900" dirty="0">
                <a:solidFill>
                  <a:srgbClr val="A3A8B0"/>
                </a:solidFill>
                <a:latin typeface="Arial" pitchFamily="34" charset="0"/>
                <a:ea typeface="Arial" pitchFamily="34" charset="-122"/>
                <a:cs typeface="Arial" pitchFamily="34" charset="-120"/>
              </a:rPr>
              <a:t>harness của Thạch, guard bật · O[8] vs S0+P</a:t>
            </a:r>
            <a:endParaRPr lang="en-US" sz="1600" dirty="0"/>
          </a:p>
        </p:txBody>
      </p:sp>
      <p:sp>
        <p:nvSpPr>
          <p:cNvPr id="10" name="Text 8"/>
          <p:cNvSpPr txBox="1"/>
          <p:nvPr/>
        </p:nvSpPr>
        <p:spPr>
          <a:xfrm>
            <a:off x="2880360" y="2103120"/>
            <a:ext cx="1325880" cy="502920"/>
          </a:xfrm>
          <a:prstGeom prst="rect">
            <a:avLst/>
          </a:prstGeom>
          <a:noFill/>
          <a:ln/>
        </p:spPr>
        <p:txBody>
          <a:bodyPr wrap="square" lIns="0" tIns="0" rIns="0" bIns="0" rtlCol="0" anchor="ctr"/>
          <a:lstStyle/>
          <a:p>
            <a:pPr algn="ctr" indent="0" marL="0">
              <a:buNone/>
            </a:pPr>
            <a:r>
              <a:rPr lang="en-US" sz="2000" b="1" dirty="0">
                <a:solidFill>
                  <a:srgbClr val="A3A8B0"/>
                </a:solidFill>
                <a:latin typeface="Arial" pitchFamily="34" charset="0"/>
                <a:ea typeface="Arial" pitchFamily="34" charset="-122"/>
                <a:cs typeface="Arial" pitchFamily="34" charset="-120"/>
              </a:rPr>
              <a:t>±0.00</a:t>
            </a:r>
            <a:endParaRPr lang="en-US" sz="2000" dirty="0"/>
          </a:p>
        </p:txBody>
      </p:sp>
      <p:sp>
        <p:nvSpPr>
          <p:cNvPr id="11" name="Text 9"/>
          <p:cNvSpPr txBox="1"/>
          <p:nvPr/>
        </p:nvSpPr>
        <p:spPr>
          <a:xfrm>
            <a:off x="4206240" y="210312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−1.55</a:t>
            </a:r>
            <a:endParaRPr lang="en-US" sz="2000" dirty="0"/>
          </a:p>
        </p:txBody>
      </p:sp>
      <p:sp>
        <p:nvSpPr>
          <p:cNvPr id="12" name="Text 10"/>
          <p:cNvSpPr txBox="1"/>
          <p:nvPr/>
        </p:nvSpPr>
        <p:spPr>
          <a:xfrm>
            <a:off x="5623560" y="210312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−13.5</a:t>
            </a:r>
            <a:endParaRPr lang="en-US" sz="2000" dirty="0"/>
          </a:p>
        </p:txBody>
      </p:sp>
      <p:sp>
        <p:nvSpPr>
          <p:cNvPr id="13" name="Text 11"/>
          <p:cNvSpPr txBox="1"/>
          <p:nvPr/>
        </p:nvSpPr>
        <p:spPr>
          <a:xfrm>
            <a:off x="777240" y="2743200"/>
            <a:ext cx="2103120" cy="566928"/>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test</a:t>
            </a:r>
            <a:endParaRPr lang="en-US" sz="1600" dirty="0"/>
          </a:p>
          <a:p>
            <a:pPr indent="0" marL="0">
              <a:buNone/>
            </a:pPr>
            <a:r>
              <a:rPr lang="en-US" sz="900" dirty="0">
                <a:solidFill>
                  <a:srgbClr val="A3A8B0"/>
                </a:solidFill>
                <a:latin typeface="Arial" pitchFamily="34" charset="0"/>
                <a:ea typeface="Arial" pitchFamily="34" charset="-122"/>
                <a:cs typeface="Arial" pitchFamily="34" charset="-120"/>
              </a:rPr>
              <a:t>repo của mình, guard tắt (paper) · pego vs PEG+</a:t>
            </a:r>
            <a:endParaRPr lang="en-US" sz="1600" dirty="0"/>
          </a:p>
        </p:txBody>
      </p:sp>
      <p:sp>
        <p:nvSpPr>
          <p:cNvPr id="14" name="Text 12"/>
          <p:cNvSpPr txBox="1"/>
          <p:nvPr/>
        </p:nvSpPr>
        <p:spPr>
          <a:xfrm>
            <a:off x="288036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−0.08</a:t>
            </a:r>
            <a:endParaRPr lang="en-US" sz="2000" dirty="0"/>
          </a:p>
        </p:txBody>
      </p:sp>
      <p:sp>
        <p:nvSpPr>
          <p:cNvPr id="15" name="Text 13"/>
          <p:cNvSpPr txBox="1"/>
          <p:nvPr/>
        </p:nvSpPr>
        <p:spPr>
          <a:xfrm>
            <a:off x="420624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−0.81</a:t>
            </a:r>
            <a:endParaRPr lang="en-US" sz="2000" dirty="0"/>
          </a:p>
        </p:txBody>
      </p:sp>
      <p:sp>
        <p:nvSpPr>
          <p:cNvPr id="16" name="Text 14"/>
          <p:cNvSpPr txBox="1"/>
          <p:nvPr/>
        </p:nvSpPr>
        <p:spPr>
          <a:xfrm>
            <a:off x="562356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−8.6</a:t>
            </a:r>
            <a:endParaRPr lang="en-US" sz="2000" dirty="0"/>
          </a:p>
        </p:txBody>
      </p:sp>
      <p:sp>
        <p:nvSpPr>
          <p:cNvPr id="17" name="Shape 15"/>
          <p:cNvSpPr/>
          <p:nvPr/>
        </p:nvSpPr>
        <p:spPr>
          <a:xfrm>
            <a:off x="548640" y="3566160"/>
            <a:ext cx="6400800" cy="1783080"/>
          </a:xfrm>
          <a:prstGeom prst="roundRect">
            <a:avLst>
              <a:gd name="adj" fmla="val 6154"/>
            </a:avLst>
          </a:prstGeom>
          <a:solidFill>
            <a:srgbClr val="2B2F36"/>
          </a:solidFill>
          <a:ln w="12700">
            <a:solidFill>
              <a:srgbClr val="2B2F36"/>
            </a:solidFill>
            <a:prstDash val="solid"/>
          </a:ln>
        </p:spPr>
      </p:sp>
      <p:sp>
        <p:nvSpPr>
          <p:cNvPr id="18" name="Text 16"/>
          <p:cNvSpPr txBox="1"/>
          <p:nvPr/>
        </p:nvSpPr>
        <p:spPr>
          <a:xfrm>
            <a:off x="777240" y="3621024"/>
            <a:ext cx="5943600" cy="274320"/>
          </a:xfrm>
          <a:prstGeom prst="rect">
            <a:avLst/>
          </a:prstGeom>
          <a:noFill/>
          <a:ln/>
        </p:spPr>
        <p:txBody>
          <a:bodyPr wrap="square" lIns="0" tIns="0" rIns="0" bIns="0" rtlCol="0" anchor="t"/>
          <a:lstStyle/>
          <a:p>
            <a:pPr indent="0" marL="0">
              <a:buNone/>
            </a:pPr>
            <a:r>
              <a:rPr lang="en-US" sz="1300" b="1" dirty="0">
                <a:solidFill>
                  <a:srgbClr val="E8833A"/>
                </a:solidFill>
                <a:latin typeface="Arial" pitchFamily="34" charset="0"/>
                <a:ea typeface="Arial" pitchFamily="34" charset="-122"/>
                <a:cs typeface="Arial" pitchFamily="34" charset="-120"/>
              </a:rPr>
              <a:t>Từng lần chói (T3), PEG-O so với PEG+</a:t>
            </a:r>
            <a:endParaRPr lang="en-US" sz="1300" dirty="0"/>
          </a:p>
        </p:txBody>
      </p:sp>
      <p:sp>
        <p:nvSpPr>
          <p:cNvPr id="19" name="Text 17"/>
          <p:cNvSpPr txBox="1"/>
          <p:nvPr/>
        </p:nvSpPr>
        <p:spPr>
          <a:xfrm>
            <a:off x="777240" y="39502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test (30 ep.)  </a:t>
            </a:r>
            <a:pPr indent="0" marL="0">
              <a:buNone/>
            </a:pPr>
            <a:r>
              <a:rPr lang="en-US" sz="1400" b="1" dirty="0">
                <a:solidFill>
                  <a:srgbClr val="F2A900"/>
                </a:solidFill>
                <a:latin typeface="Arial" pitchFamily="34" charset="0"/>
                <a:ea typeface="Arial" pitchFamily="34" charset="-122"/>
                <a:cs typeface="Arial" pitchFamily="34" charset="-120"/>
              </a:rPr>
              <a:t>Δ −8.6 [−19.8, +1.0]</a:t>
            </a:r>
            <a:pPr indent="0" marL="0">
              <a:buNone/>
            </a:pPr>
            <a:r>
              <a:rPr lang="en-US" sz="1400" dirty="0">
                <a:solidFill>
                  <a:srgbClr val="A3A8B0"/>
                </a:solidFill>
                <a:latin typeface="Arial" pitchFamily="34" charset="0"/>
                <a:ea typeface="Arial" pitchFamily="34" charset="-122"/>
                <a:cs typeface="Arial" pitchFamily="34" charset="-120"/>
              </a:rPr>
              <a:t>   6 tốt hơn / 5 tệ hơn / 19 như nhau</a:t>
            </a:r>
            <a:endParaRPr lang="en-US" sz="1400" dirty="0"/>
          </a:p>
        </p:txBody>
      </p:sp>
      <p:sp>
        <p:nvSpPr>
          <p:cNvPr id="20" name="Text 18"/>
          <p:cNvSpPr txBox="1"/>
          <p:nvPr/>
        </p:nvSpPr>
        <p:spPr>
          <a:xfrm>
            <a:off x="777240" y="44074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val (18 ep.)  </a:t>
            </a:r>
            <a:pPr indent="0" marL="0">
              <a:buNone/>
            </a:pPr>
            <a:r>
              <a:rPr lang="en-US" sz="1400" b="1" dirty="0">
                <a:solidFill>
                  <a:srgbClr val="E66767"/>
                </a:solidFill>
                <a:latin typeface="Arial" pitchFamily="34" charset="0"/>
                <a:ea typeface="Arial" pitchFamily="34" charset="-122"/>
                <a:cs typeface="Arial" pitchFamily="34" charset="-120"/>
              </a:rPr>
              <a:t>Δ −13.5 [−29.0, −0.8]</a:t>
            </a:r>
            <a:pPr indent="0" marL="0">
              <a:buNone/>
            </a:pPr>
            <a:r>
              <a:rPr lang="en-US" sz="1400" dirty="0">
                <a:solidFill>
                  <a:srgbClr val="A3A8B0"/>
                </a:solidFill>
                <a:latin typeface="Arial" pitchFamily="34" charset="0"/>
                <a:ea typeface="Arial" pitchFamily="34" charset="-122"/>
                <a:cs typeface="Arial" pitchFamily="34" charset="-120"/>
              </a:rPr>
              <a:t>   3 tốt hơn / 5 tệ hơn / 10 như nhau</a:t>
            </a:r>
            <a:endParaRPr lang="en-US" sz="1400" dirty="0"/>
          </a:p>
        </p:txBody>
      </p:sp>
      <p:sp>
        <p:nvSpPr>
          <p:cNvPr id="21" name="Text 19"/>
          <p:cNvSpPr txBox="1"/>
          <p:nvPr/>
        </p:nvSpPr>
        <p:spPr>
          <a:xfrm>
            <a:off x="777240" y="48646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gộp (48 ep.)  </a:t>
            </a:r>
            <a:pPr indent="0" marL="0">
              <a:buNone/>
            </a:pPr>
            <a:r>
              <a:rPr lang="en-US" sz="1400" b="1" dirty="0">
                <a:solidFill>
                  <a:srgbClr val="E66767"/>
                </a:solidFill>
                <a:latin typeface="Arial" pitchFamily="34" charset="0"/>
                <a:ea typeface="Arial" pitchFamily="34" charset="-122"/>
                <a:cs typeface="Arial" pitchFamily="34" charset="-120"/>
              </a:rPr>
              <a:t>Δ −10.6 [−19.5, −2.7]</a:t>
            </a:r>
            <a:pPr indent="0" marL="0">
              <a:buNone/>
            </a:pPr>
            <a:r>
              <a:rPr lang="en-US" sz="1400" dirty="0">
                <a:solidFill>
                  <a:srgbClr val="A3A8B0"/>
                </a:solidFill>
                <a:latin typeface="Arial" pitchFamily="34" charset="0"/>
                <a:ea typeface="Arial" pitchFamily="34" charset="-122"/>
                <a:cs typeface="Arial" pitchFamily="34" charset="-120"/>
              </a:rPr>
              <a:t>   9 tốt hơn / 10 tệ hơn / 29 như nhau</a:t>
            </a:r>
            <a:endParaRPr lang="en-US" sz="1400" dirty="0"/>
          </a:p>
        </p:txBody>
      </p:sp>
      <p:sp>
        <p:nvSpPr>
          <p:cNvPr id="22" name="Shape 20"/>
          <p:cNvSpPr/>
          <p:nvPr/>
        </p:nvSpPr>
        <p:spPr>
          <a:xfrm>
            <a:off x="7178040" y="1463040"/>
            <a:ext cx="4462272" cy="3840480"/>
          </a:xfrm>
          <a:prstGeom prst="roundRect">
            <a:avLst>
              <a:gd name="adj" fmla="val 2857"/>
            </a:avLst>
          </a:prstGeom>
          <a:solidFill>
            <a:srgbClr val="22252B"/>
          </a:solidFill>
          <a:ln w="12700">
            <a:solidFill>
              <a:srgbClr val="22252B"/>
            </a:solidFill>
            <a:prstDash val="solid"/>
          </a:ln>
        </p:spPr>
      </p:sp>
      <p:sp>
        <p:nvSpPr>
          <p:cNvPr id="23" name="Text 21"/>
          <p:cNvSpPr txBox="1"/>
          <p:nvPr/>
        </p:nvSpPr>
        <p:spPr>
          <a:xfrm>
            <a:off x="7360920" y="1536192"/>
            <a:ext cx="4114800" cy="457200"/>
          </a:xfrm>
          <a:prstGeom prst="rect">
            <a:avLst/>
          </a:prstGeom>
          <a:noFill/>
          <a:ln/>
        </p:spPr>
        <p:txBody>
          <a:bodyPr wrap="square" lIns="0" tIns="0" rIns="0" bIns="0" rtlCol="0" anchor="t"/>
          <a:lstStyle/>
          <a:p>
            <a:pPr indent="0" marL="0">
              <a:buNone/>
            </a:pPr>
            <a:r>
              <a:rPr lang="en-US" sz="1400" b="1" dirty="0">
                <a:solidFill>
                  <a:srgbClr val="F2F2F2"/>
                </a:solidFill>
                <a:latin typeface="Arial" pitchFamily="34" charset="0"/>
                <a:ea typeface="Arial" pitchFamily="34" charset="-122"/>
                <a:cs typeface="Arial" pitchFamily="34" charset="-120"/>
              </a:rPr>
              <a:t>Val ΔT3 theo (τ, γ): mọi điểm đều thua</a:t>
            </a:r>
            <a:endParaRPr lang="en-US" sz="1400" dirty="0"/>
          </a:p>
        </p:txBody>
      </p:sp>
      <p:sp>
        <p:nvSpPr>
          <p:cNvPr id="24" name="Text 22"/>
          <p:cNvSpPr txBox="1"/>
          <p:nvPr/>
        </p:nvSpPr>
        <p:spPr>
          <a:xfrm>
            <a:off x="822960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0.25</a:t>
            </a:r>
            <a:endParaRPr lang="en-US" sz="1200" dirty="0"/>
          </a:p>
        </p:txBody>
      </p:sp>
      <p:sp>
        <p:nvSpPr>
          <p:cNvPr id="25" name="Text 23"/>
          <p:cNvSpPr txBox="1"/>
          <p:nvPr/>
        </p:nvSpPr>
        <p:spPr>
          <a:xfrm>
            <a:off x="928116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1</a:t>
            </a:r>
            <a:endParaRPr lang="en-US" sz="1200" dirty="0"/>
          </a:p>
        </p:txBody>
      </p:sp>
      <p:sp>
        <p:nvSpPr>
          <p:cNvPr id="26" name="Text 24"/>
          <p:cNvSpPr txBox="1"/>
          <p:nvPr/>
        </p:nvSpPr>
        <p:spPr>
          <a:xfrm>
            <a:off x="1033272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4</a:t>
            </a:r>
            <a:endParaRPr lang="en-US" sz="1200" dirty="0"/>
          </a:p>
        </p:txBody>
      </p:sp>
      <p:sp>
        <p:nvSpPr>
          <p:cNvPr id="27" name="Text 25"/>
          <p:cNvSpPr txBox="1"/>
          <p:nvPr/>
        </p:nvSpPr>
        <p:spPr>
          <a:xfrm>
            <a:off x="7360920" y="242316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0.04</a:t>
            </a:r>
            <a:endParaRPr lang="en-US" sz="1200" dirty="0"/>
          </a:p>
        </p:txBody>
      </p:sp>
      <p:sp>
        <p:nvSpPr>
          <p:cNvPr id="28" name="Shape 26"/>
          <p:cNvSpPr/>
          <p:nvPr/>
        </p:nvSpPr>
        <p:spPr>
          <a:xfrm>
            <a:off x="8257032" y="2423160"/>
            <a:ext cx="996696" cy="676656"/>
          </a:xfrm>
          <a:prstGeom prst="rect">
            <a:avLst/>
          </a:prstGeom>
          <a:solidFill>
            <a:srgbClr val="E66767">
              <a:alpha val="95000"/>
            </a:srgbClr>
          </a:solidFill>
          <a:ln w="12700">
            <a:solidFill>
              <a:srgbClr val="E66767">
                <a:alpha val="40000"/>
              </a:srgbClr>
            </a:solidFill>
            <a:prstDash val="solid"/>
          </a:ln>
        </p:spPr>
      </p:sp>
      <p:sp>
        <p:nvSpPr>
          <p:cNvPr id="29" name="Text 27"/>
          <p:cNvSpPr txBox="1"/>
          <p:nvPr/>
        </p:nvSpPr>
        <p:spPr>
          <a:xfrm>
            <a:off x="822960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−41.2</a:t>
            </a:r>
            <a:endParaRPr lang="en-US" sz="1700" dirty="0"/>
          </a:p>
        </p:txBody>
      </p:sp>
      <p:sp>
        <p:nvSpPr>
          <p:cNvPr id="30" name="Shape 28"/>
          <p:cNvSpPr/>
          <p:nvPr/>
        </p:nvSpPr>
        <p:spPr>
          <a:xfrm>
            <a:off x="9308592" y="2423160"/>
            <a:ext cx="996696" cy="676656"/>
          </a:xfrm>
          <a:prstGeom prst="rect">
            <a:avLst/>
          </a:prstGeom>
          <a:solidFill>
            <a:srgbClr val="E66767">
              <a:alpha val="84000"/>
            </a:srgbClr>
          </a:solidFill>
          <a:ln w="12700">
            <a:solidFill>
              <a:srgbClr val="E66767">
                <a:alpha val="40000"/>
              </a:srgbClr>
            </a:solidFill>
            <a:prstDash val="solid"/>
          </a:ln>
        </p:spPr>
      </p:sp>
      <p:sp>
        <p:nvSpPr>
          <p:cNvPr id="31" name="Text 29"/>
          <p:cNvSpPr txBox="1"/>
          <p:nvPr/>
        </p:nvSpPr>
        <p:spPr>
          <a:xfrm>
            <a:off x="928116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−34.6</a:t>
            </a:r>
            <a:endParaRPr lang="en-US" sz="1700" dirty="0"/>
          </a:p>
        </p:txBody>
      </p:sp>
      <p:sp>
        <p:nvSpPr>
          <p:cNvPr id="32" name="Shape 30"/>
          <p:cNvSpPr/>
          <p:nvPr/>
        </p:nvSpPr>
        <p:spPr>
          <a:xfrm>
            <a:off x="10360152" y="2423160"/>
            <a:ext cx="996696" cy="676656"/>
          </a:xfrm>
          <a:prstGeom prst="rect">
            <a:avLst/>
          </a:prstGeom>
          <a:solidFill>
            <a:srgbClr val="E66767">
              <a:alpha val="64000"/>
            </a:srgbClr>
          </a:solidFill>
          <a:ln w="12700">
            <a:solidFill>
              <a:srgbClr val="E66767">
                <a:alpha val="40000"/>
              </a:srgbClr>
            </a:solidFill>
            <a:prstDash val="solid"/>
          </a:ln>
        </p:spPr>
      </p:sp>
      <p:sp>
        <p:nvSpPr>
          <p:cNvPr id="33" name="Text 31"/>
          <p:cNvSpPr txBox="1"/>
          <p:nvPr/>
        </p:nvSpPr>
        <p:spPr>
          <a:xfrm>
            <a:off x="1033272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−22.8</a:t>
            </a:r>
            <a:endParaRPr lang="en-US" sz="1700" dirty="0"/>
          </a:p>
        </p:txBody>
      </p:sp>
      <p:sp>
        <p:nvSpPr>
          <p:cNvPr id="34" name="Text 32"/>
          <p:cNvSpPr txBox="1"/>
          <p:nvPr/>
        </p:nvSpPr>
        <p:spPr>
          <a:xfrm>
            <a:off x="7360920" y="315468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0.06</a:t>
            </a:r>
            <a:endParaRPr lang="en-US" sz="1200" dirty="0"/>
          </a:p>
        </p:txBody>
      </p:sp>
      <p:sp>
        <p:nvSpPr>
          <p:cNvPr id="35" name="Shape 33"/>
          <p:cNvSpPr/>
          <p:nvPr/>
        </p:nvSpPr>
        <p:spPr>
          <a:xfrm>
            <a:off x="8257032" y="3154680"/>
            <a:ext cx="996696" cy="676656"/>
          </a:xfrm>
          <a:prstGeom prst="rect">
            <a:avLst/>
          </a:prstGeom>
          <a:solidFill>
            <a:srgbClr val="E66767">
              <a:alpha val="75000"/>
            </a:srgbClr>
          </a:solidFill>
          <a:ln w="12700">
            <a:solidFill>
              <a:srgbClr val="E66767">
                <a:alpha val="40000"/>
              </a:srgbClr>
            </a:solidFill>
            <a:prstDash val="solid"/>
          </a:ln>
        </p:spPr>
      </p:sp>
      <p:sp>
        <p:nvSpPr>
          <p:cNvPr id="36" name="Text 34"/>
          <p:cNvSpPr txBox="1"/>
          <p:nvPr/>
        </p:nvSpPr>
        <p:spPr>
          <a:xfrm>
            <a:off x="822960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−29.3</a:t>
            </a:r>
            <a:endParaRPr lang="en-US" sz="1700" dirty="0"/>
          </a:p>
        </p:txBody>
      </p:sp>
      <p:sp>
        <p:nvSpPr>
          <p:cNvPr id="37" name="Shape 35"/>
          <p:cNvSpPr/>
          <p:nvPr/>
        </p:nvSpPr>
        <p:spPr>
          <a:xfrm>
            <a:off x="9308592" y="3154680"/>
            <a:ext cx="996696" cy="676656"/>
          </a:xfrm>
          <a:prstGeom prst="rect">
            <a:avLst/>
          </a:prstGeom>
          <a:solidFill>
            <a:srgbClr val="E66767">
              <a:alpha val="67000"/>
            </a:srgbClr>
          </a:solidFill>
          <a:ln w="12700">
            <a:solidFill>
              <a:srgbClr val="E66767">
                <a:alpha val="40000"/>
              </a:srgbClr>
            </a:solidFill>
            <a:prstDash val="solid"/>
          </a:ln>
        </p:spPr>
      </p:sp>
      <p:sp>
        <p:nvSpPr>
          <p:cNvPr id="38" name="Text 36"/>
          <p:cNvSpPr txBox="1"/>
          <p:nvPr/>
        </p:nvSpPr>
        <p:spPr>
          <a:xfrm>
            <a:off x="928116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−24.9</a:t>
            </a:r>
            <a:endParaRPr lang="en-US" sz="1700" dirty="0"/>
          </a:p>
        </p:txBody>
      </p:sp>
      <p:sp>
        <p:nvSpPr>
          <p:cNvPr id="39" name="Shape 37"/>
          <p:cNvSpPr/>
          <p:nvPr/>
        </p:nvSpPr>
        <p:spPr>
          <a:xfrm>
            <a:off x="10360152" y="3154680"/>
            <a:ext cx="996696" cy="676656"/>
          </a:xfrm>
          <a:prstGeom prst="rect">
            <a:avLst/>
          </a:prstGeom>
          <a:solidFill>
            <a:srgbClr val="E66767">
              <a:alpha val="65000"/>
            </a:srgbClr>
          </a:solidFill>
          <a:ln w="12700">
            <a:solidFill>
              <a:srgbClr val="E66767">
                <a:alpha val="40000"/>
              </a:srgbClr>
            </a:solidFill>
            <a:prstDash val="solid"/>
          </a:ln>
        </p:spPr>
      </p:sp>
      <p:sp>
        <p:nvSpPr>
          <p:cNvPr id="40" name="Text 38"/>
          <p:cNvSpPr txBox="1"/>
          <p:nvPr/>
        </p:nvSpPr>
        <p:spPr>
          <a:xfrm>
            <a:off x="1033272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−23.3</a:t>
            </a:r>
            <a:endParaRPr lang="en-US" sz="1700" dirty="0"/>
          </a:p>
        </p:txBody>
      </p:sp>
      <p:sp>
        <p:nvSpPr>
          <p:cNvPr id="41" name="Text 39"/>
          <p:cNvSpPr txBox="1"/>
          <p:nvPr/>
        </p:nvSpPr>
        <p:spPr>
          <a:xfrm>
            <a:off x="7360920" y="388620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0.08</a:t>
            </a:r>
            <a:endParaRPr lang="en-US" sz="1200" dirty="0"/>
          </a:p>
        </p:txBody>
      </p:sp>
      <p:sp>
        <p:nvSpPr>
          <p:cNvPr id="42" name="Shape 40"/>
          <p:cNvSpPr/>
          <p:nvPr/>
        </p:nvSpPr>
        <p:spPr>
          <a:xfrm>
            <a:off x="8257032" y="3886200"/>
            <a:ext cx="996696" cy="676656"/>
          </a:xfrm>
          <a:prstGeom prst="rect">
            <a:avLst/>
          </a:prstGeom>
          <a:solidFill>
            <a:srgbClr val="E66767">
              <a:alpha val="72000"/>
            </a:srgbClr>
          </a:solidFill>
          <a:ln w="12700">
            <a:solidFill>
              <a:srgbClr val="E66767">
                <a:alpha val="40000"/>
              </a:srgbClr>
            </a:solidFill>
            <a:prstDash val="solid"/>
          </a:ln>
        </p:spPr>
      </p:sp>
      <p:sp>
        <p:nvSpPr>
          <p:cNvPr id="43" name="Text 41"/>
          <p:cNvSpPr txBox="1"/>
          <p:nvPr/>
        </p:nvSpPr>
        <p:spPr>
          <a:xfrm>
            <a:off x="822960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−27.5</a:t>
            </a:r>
            <a:endParaRPr lang="en-US" sz="1700" dirty="0"/>
          </a:p>
        </p:txBody>
      </p:sp>
      <p:sp>
        <p:nvSpPr>
          <p:cNvPr id="44" name="Shape 42"/>
          <p:cNvSpPr/>
          <p:nvPr/>
        </p:nvSpPr>
        <p:spPr>
          <a:xfrm>
            <a:off x="9308592" y="3886200"/>
            <a:ext cx="996696" cy="676656"/>
          </a:xfrm>
          <a:prstGeom prst="rect">
            <a:avLst/>
          </a:prstGeom>
          <a:solidFill>
            <a:srgbClr val="E66767">
              <a:alpha val="63000"/>
            </a:srgbClr>
          </a:solidFill>
          <a:ln w="12700">
            <a:solidFill>
              <a:srgbClr val="E66767">
                <a:alpha val="40000"/>
              </a:srgbClr>
            </a:solidFill>
            <a:prstDash val="solid"/>
          </a:ln>
        </p:spPr>
      </p:sp>
      <p:sp>
        <p:nvSpPr>
          <p:cNvPr id="45" name="Text 43"/>
          <p:cNvSpPr txBox="1"/>
          <p:nvPr/>
        </p:nvSpPr>
        <p:spPr>
          <a:xfrm>
            <a:off x="928116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−22.1</a:t>
            </a:r>
            <a:endParaRPr lang="en-US" sz="1700" dirty="0"/>
          </a:p>
        </p:txBody>
      </p:sp>
      <p:sp>
        <p:nvSpPr>
          <p:cNvPr id="46" name="Shape 44"/>
          <p:cNvSpPr/>
          <p:nvPr/>
        </p:nvSpPr>
        <p:spPr>
          <a:xfrm>
            <a:off x="10360152" y="3886200"/>
            <a:ext cx="996696" cy="676656"/>
          </a:xfrm>
          <a:prstGeom prst="rect">
            <a:avLst/>
          </a:prstGeom>
          <a:solidFill>
            <a:srgbClr val="E66767">
              <a:alpha val="48000"/>
            </a:srgbClr>
          </a:solidFill>
          <a:ln w="12700">
            <a:solidFill>
              <a:srgbClr val="E66767">
                <a:alpha val="40000"/>
              </a:srgbClr>
            </a:solidFill>
            <a:prstDash val="solid"/>
          </a:ln>
        </p:spPr>
      </p:sp>
      <p:sp>
        <p:nvSpPr>
          <p:cNvPr id="47" name="Text 45"/>
          <p:cNvSpPr txBox="1"/>
          <p:nvPr/>
        </p:nvSpPr>
        <p:spPr>
          <a:xfrm>
            <a:off x="1033272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−13.5</a:t>
            </a:r>
            <a:endParaRPr lang="en-US" sz="1700" dirty="0"/>
          </a:p>
        </p:txBody>
      </p:sp>
      <p:sp>
        <p:nvSpPr>
          <p:cNvPr id="48" name="Text 46"/>
          <p:cNvSpPr txBox="1"/>
          <p:nvPr/>
        </p:nvSpPr>
        <p:spPr>
          <a:xfrm>
            <a:off x="7360920" y="4663440"/>
            <a:ext cx="4114800" cy="594360"/>
          </a:xfrm>
          <a:prstGeom prst="rect">
            <a:avLst/>
          </a:prstGeom>
          <a:noFill/>
          <a:ln/>
        </p:spPr>
        <p:txBody>
          <a:bodyPr wrap="square" lIns="0" tIns="0" rIns="0" bIns="0" rtlCol="0" anchor="t"/>
          <a:lstStyle/>
          <a:p>
            <a:pPr indent="0" marL="0">
              <a:buNone/>
            </a:pPr>
            <a:r>
              <a:rPr lang="en-US" sz="1050" dirty="0">
                <a:solidFill>
                  <a:srgbClr val="A3A8B0"/>
                </a:solidFill>
                <a:latin typeface="Arial" pitchFamily="34" charset="0"/>
                <a:ea typeface="Arial" pitchFamily="34" charset="-122"/>
                <a:cs typeface="Arial" pitchFamily="34" charset="-120"/>
              </a:rPr>
              <a:t>ΔT3 Rcv@.5 so với S0+P trên val (harness của Thạch, guard bật). Không điểm nào đạt ngưỡng + 0.5 của luật chốt trước; cạnh T1, T2 cũng không tăng.</a:t>
            </a:r>
            <a:endParaRPr lang="en-US" sz="1050" dirty="0"/>
          </a:p>
        </p:txBody>
      </p:sp>
      <p:sp>
        <p:nvSpPr>
          <p:cNvPr id="49" name="Shape 47"/>
          <p:cNvSpPr/>
          <p:nvPr/>
        </p:nvSpPr>
        <p:spPr>
          <a:xfrm>
            <a:off x="548640" y="5486400"/>
            <a:ext cx="11091672" cy="777240"/>
          </a:xfrm>
          <a:prstGeom prst="roundRect">
            <a:avLst>
              <a:gd name="adj" fmla="val 14118"/>
            </a:avLst>
          </a:prstGeom>
          <a:solidFill>
            <a:srgbClr val="2B2F36"/>
          </a:solidFill>
          <a:ln w="12700">
            <a:solidFill>
              <a:srgbClr val="2B2F36"/>
            </a:solidFill>
            <a:prstDash val="solid"/>
          </a:ln>
        </p:spPr>
      </p:sp>
      <p:sp>
        <p:nvSpPr>
          <p:cNvPr id="50" name="Shape 48"/>
          <p:cNvSpPr/>
          <p:nvPr/>
        </p:nvSpPr>
        <p:spPr>
          <a:xfrm>
            <a:off x="548640" y="5486400"/>
            <a:ext cx="91440" cy="777240"/>
          </a:xfrm>
          <a:prstGeom prst="rect">
            <a:avLst/>
          </a:prstGeom>
          <a:solidFill>
            <a:srgbClr val="F2A900"/>
          </a:solidFill>
          <a:ln w="12700">
            <a:solidFill>
              <a:srgbClr val="F2A900"/>
            </a:solidFill>
            <a:prstDash val="solid"/>
          </a:ln>
        </p:spPr>
      </p:sp>
      <p:sp>
        <p:nvSpPr>
          <p:cNvPr id="51" name="Text 49"/>
          <p:cNvSpPr txBox="1"/>
          <p:nvPr/>
        </p:nvSpPr>
        <p:spPr>
          <a:xfrm>
            <a:off x="822960" y="5486400"/>
            <a:ext cx="10698480" cy="77724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Luật chốt trước: không điểm nào qua ⇒ giữ PEG+. Test chạy 1 lần ở điểm val tốt nhất (τ .08, γ 4) để báo cáo.</a:t>
            </a:r>
            <a:endParaRPr lang="en-US" sz="1600" dirty="0"/>
          </a:p>
        </p:txBody>
      </p:sp>
      <p:sp>
        <p:nvSpPr>
          <p:cNvPr id="52" name="Shape 5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3" name="Text 5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4" name="Text 5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CƠ CHẾ</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thua: đĩa chói không cứng</a:t>
            </a:r>
            <a:endParaRPr lang="en-US" sz="3000" dirty="0"/>
          </a:p>
        </p:txBody>
      </p:sp>
      <p:pic>
        <p:nvPicPr>
          <p:cNvPr id="4" name="Image 0" descr="D:\PROJECT\PEG\results\peg_o\figures\135_19q_strip.png">    </p:cNvPr>
          <p:cNvPicPr>
            <a:picLocks noChangeAspect="1"/>
          </p:cNvPicPr>
          <p:nvPr/>
        </p:nvPicPr>
        <p:blipFill>
          <a:blip r:embed="rId1"/>
          <a:stretch>
            <a:fillRect/>
          </a:stretch>
        </p:blipFill>
        <p:spPr>
          <a:xfrm>
            <a:off x="548640" y="1325880"/>
            <a:ext cx="5486400" cy="3972189"/>
          </a:xfrm>
          <a:prstGeom prst="rect">
            <a:avLst/>
          </a:prstGeom>
        </p:spPr>
      </p:pic>
      <p:pic>
        <p:nvPicPr>
          <p:cNvPr id="5" name="Image 1" descr="D:\PROJECT\PEG\results\peg_o\figures\187_66q_strip.png">    </p:cNvPr>
          <p:cNvPicPr>
            <a:picLocks noChangeAspect="1"/>
          </p:cNvPicPr>
          <p:nvPr/>
        </p:nvPicPr>
        <p:blipFill>
          <a:blip r:embed="rId2"/>
          <a:stretch>
            <a:fillRect/>
          </a:stretch>
        </p:blipFill>
        <p:spPr>
          <a:xfrm>
            <a:off x="6153912" y="1325880"/>
            <a:ext cx="5486400" cy="2640162"/>
          </a:xfrm>
          <a:prstGeom prst="rect">
            <a:avLst/>
          </a:prstGeom>
        </p:spPr>
      </p:pic>
      <p:sp>
        <p:nvSpPr>
          <p:cNvPr id="6" name="Text 2"/>
          <p:cNvSpPr txBox="1"/>
          <p:nvPr/>
        </p:nvSpPr>
        <p:spPr>
          <a:xfrm>
            <a:off x="548640" y="5371221"/>
            <a:ext cx="5486400" cy="548640"/>
          </a:xfrm>
          <a:prstGeom prst="rect">
            <a:avLst/>
          </a:prstGeom>
          <a:noFill/>
          <a:ln/>
        </p:spPr>
        <p:txBody>
          <a:bodyPr wrap="square" lIns="0" tIns="0" rIns="0" bIns="0" rtlCol="0" anchor="t"/>
          <a:lstStyle/>
          <a:p>
            <a:pPr indent="0" marL="0">
              <a:buNone/>
            </a:pPr>
            <a:r>
              <a:rPr lang="en-US" sz="1200" b="1" dirty="0">
                <a:solidFill>
                  <a:srgbClr val="19A35F"/>
                </a:solidFill>
                <a:latin typeface="Arial" pitchFamily="34" charset="0"/>
                <a:ea typeface="Arial" pitchFamily="34" charset="-122"/>
                <a:cs typeface="Arial" pitchFamily="34" charset="-120"/>
              </a:rPr>
              <a:t>135 (test): </a:t>
            </a:r>
            <a:pPr indent="0" marL="0">
              <a:buNone/>
            </a:pPr>
            <a:r>
              <a:rPr lang="en-US" sz="1200" dirty="0">
                <a:solidFill>
                  <a:srgbClr val="A3A8B0"/>
                </a:solidFill>
                <a:latin typeface="Arial" pitchFamily="34" charset="0"/>
                <a:ea typeface="Arial" pitchFamily="34" charset="-122"/>
                <a:cs typeface="Arial" pitchFamily="34" charset="-120"/>
              </a:rPr>
              <a:t>người đi 111 px, box 264 px → τ .06 γ 1 bám theo (41/43 frame); τ .08 γ 4 chỉ 11/43</a:t>
            </a:r>
            <a:endParaRPr lang="en-US" sz="1200" dirty="0"/>
          </a:p>
        </p:txBody>
      </p:sp>
      <p:sp>
        <p:nvSpPr>
          <p:cNvPr id="7" name="Text 3"/>
          <p:cNvSpPr txBox="1"/>
          <p:nvPr/>
        </p:nvSpPr>
        <p:spPr>
          <a:xfrm>
            <a:off x="6153912" y="4039194"/>
            <a:ext cx="5486400" cy="548640"/>
          </a:xfrm>
          <a:prstGeom prst="rect">
            <a:avLst/>
          </a:prstGeom>
          <a:noFill/>
          <a:ln/>
        </p:spPr>
        <p:txBody>
          <a:bodyPr wrap="square" lIns="0" tIns="0" rIns="0" bIns="0" rtlCol="0" anchor="t"/>
          <a:lstStyle/>
          <a:p>
            <a:pPr indent="0" marL="0">
              <a:buNone/>
            </a:pPr>
            <a:r>
              <a:rPr lang="en-US" sz="1200" b="1" dirty="0">
                <a:solidFill>
                  <a:srgbClr val="E66767"/>
                </a:solidFill>
                <a:latin typeface="Arial" pitchFamily="34" charset="0"/>
                <a:ea typeface="Arial" pitchFamily="34" charset="-122"/>
                <a:cs typeface="Arial" pitchFamily="34" charset="-120"/>
              </a:rPr>
              <a:t>187 (val): </a:t>
            </a:r>
            <a:pPr indent="0" marL="0">
              <a:buNone/>
            </a:pPr>
            <a:r>
              <a:rPr lang="en-US" sz="1200" dirty="0">
                <a:solidFill>
                  <a:srgbClr val="A3A8B0"/>
                </a:solidFill>
                <a:latin typeface="Arial" pitchFamily="34" charset="0"/>
                <a:ea typeface="Arial" pitchFamily="34" charset="-122"/>
                <a:cs typeface="Arial" pitchFamily="34" charset="-120"/>
              </a:rPr>
              <a:t>người đứng yên (đi 17 px), box rộng 30 px → đỉnh lọc trôi 10–20 px khi chói tăng/giảm → mất box</a:t>
            </a:r>
            <a:endParaRPr lang="en-US" sz="1200" dirty="0"/>
          </a:p>
        </p:txBody>
      </p:sp>
      <p:sp>
        <p:nvSpPr>
          <p:cNvPr id="8" name="Text 4"/>
          <p:cNvSpPr txBox="1"/>
          <p:nvPr/>
        </p:nvSpPr>
        <p:spPr>
          <a:xfrm>
            <a:off x="6153912" y="4624410"/>
            <a:ext cx="5486400" cy="173067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Estimator offline (anchor = GT) cũng thua trên val: sai số tâm 9–19 px so với box đứng yên 6–13 px (box rộng 28–34 px).</a:t>
            </a:r>
            <a:endParaRPr lang="en-US" sz="1300" dirty="0"/>
          </a:p>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Tracker: |z − c| median 9.7 px so với bề rộng box 41 px; gain 0.50–0.71; 216 update, 0 anchor cũ (không phải lỗi code).</a:t>
            </a:r>
            <a:endParaRPr lang="en-US" sz="1300" dirty="0"/>
          </a:p>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Anchor lấy lúc chói đang tăng; vận tốc bị bơm vào Kalman nên box tiếp tục trôi.</a:t>
            </a:r>
            <a:endParaRPr lang="en-US" sz="1300" dirty="0"/>
          </a:p>
        </p:txBody>
      </p:sp>
      <p:sp>
        <p:nvSpPr>
          <p:cNvPr id="9" name="Shape 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0"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1"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PEG-C · ORACLE</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Coast chưa được thiết kế</a:t>
            </a:r>
            <a:endParaRPr lang="en-US" sz="3000" dirty="0"/>
          </a:p>
        </p:txBody>
      </p:sp>
      <p:sp>
        <p:nvSpPr>
          <p:cNvPr id="4" name="Shape 2"/>
          <p:cNvSpPr/>
          <p:nvPr/>
        </p:nvSpPr>
        <p:spPr>
          <a:xfrm>
            <a:off x="548640" y="1417320"/>
            <a:ext cx="5074920" cy="3794760"/>
          </a:xfrm>
          <a:prstGeom prst="roundRect">
            <a:avLst>
              <a:gd name="adj" fmla="val 2892"/>
            </a:avLst>
          </a:prstGeom>
          <a:solidFill>
            <a:srgbClr val="22252B"/>
          </a:solidFill>
          <a:ln w="12700">
            <a:solidFill>
              <a:srgbClr val="22252B"/>
            </a:solidFill>
            <a:prstDash val="solid"/>
          </a:ln>
        </p:spPr>
      </p:sp>
      <p:sp>
        <p:nvSpPr>
          <p:cNvPr id="5" name="Text 3"/>
          <p:cNvSpPr txBox="1"/>
          <p:nvPr/>
        </p:nvSpPr>
        <p:spPr>
          <a:xfrm>
            <a:off x="685800" y="1481328"/>
            <a:ext cx="4846320" cy="457200"/>
          </a:xfrm>
          <a:prstGeom prst="rect">
            <a:avLst/>
          </a:prstGeom>
          <a:noFill/>
          <a:ln/>
        </p:spPr>
        <p:txBody>
          <a:bodyPr wrap="square" lIns="0" tIns="0" rIns="0" bIns="0" rtlCol="0" anchor="t"/>
          <a:lstStyle/>
          <a:p>
            <a:pPr indent="0" marL="0">
              <a:buNone/>
            </a:pPr>
            <a:r>
              <a:rPr lang="en-US" sz="1200" b="1" dirty="0">
                <a:solidFill>
                  <a:srgbClr val="A3A8B0"/>
                </a:solidFill>
                <a:latin typeface="Arial" pitchFamily="34" charset="0"/>
                <a:ea typeface="Arial" pitchFamily="34" charset="-122"/>
                <a:cs typeface="Arial" pitchFamily="34" charset="-120"/>
              </a:rPr>
              <a:t>Rcv@.5 nếu coast bằng vận tốc đoán từ quá khứ (43 lần chói có track)</a:t>
            </a:r>
            <a:endParaRPr lang="en-US" sz="1200" dirty="0"/>
          </a:p>
        </p:txBody>
      </p:sp>
      <p:sp>
        <p:nvSpPr>
          <p:cNvPr id="6" name="Text 4"/>
          <p:cNvSpPr txBox="1"/>
          <p:nvPr/>
        </p:nvSpPr>
        <p:spPr>
          <a:xfrm>
            <a:off x="2743200" y="1938528"/>
            <a:ext cx="868680" cy="27432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test</a:t>
            </a:r>
            <a:endParaRPr lang="en-US" sz="1200" dirty="0"/>
          </a:p>
        </p:txBody>
      </p:sp>
      <p:sp>
        <p:nvSpPr>
          <p:cNvPr id="7" name="Text 5"/>
          <p:cNvSpPr txBox="1"/>
          <p:nvPr/>
        </p:nvSpPr>
        <p:spPr>
          <a:xfrm>
            <a:off x="3611880" y="1938528"/>
            <a:ext cx="868680" cy="27432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val</a:t>
            </a:r>
            <a:endParaRPr lang="en-US" sz="1200" dirty="0"/>
          </a:p>
        </p:txBody>
      </p:sp>
      <p:sp>
        <p:nvSpPr>
          <p:cNvPr id="8" name="Text 6"/>
          <p:cNvSpPr txBox="1"/>
          <p:nvPr/>
        </p:nvSpPr>
        <p:spPr>
          <a:xfrm>
            <a:off x="4480560" y="1938528"/>
            <a:ext cx="868680" cy="27432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gộp</a:t>
            </a:r>
            <a:endParaRPr lang="en-US" sz="1200" dirty="0"/>
          </a:p>
        </p:txBody>
      </p:sp>
      <p:sp>
        <p:nvSpPr>
          <p:cNvPr id="9" name="Shape 7"/>
          <p:cNvSpPr/>
          <p:nvPr/>
        </p:nvSpPr>
        <p:spPr>
          <a:xfrm>
            <a:off x="640080" y="2240280"/>
            <a:ext cx="4892040" cy="338328"/>
          </a:xfrm>
          <a:prstGeom prst="rect">
            <a:avLst/>
          </a:prstGeom>
          <a:solidFill>
            <a:srgbClr val="2B2F36"/>
          </a:solidFill>
          <a:ln w="12700">
            <a:solidFill>
              <a:srgbClr val="2B2F36"/>
            </a:solidFill>
            <a:prstDash val="solid"/>
          </a:ln>
        </p:spPr>
      </p:sp>
      <p:sp>
        <p:nvSpPr>
          <p:cNvPr id="10" name="Text 8"/>
          <p:cNvSpPr txBox="1"/>
          <p:nvPr/>
        </p:nvSpPr>
        <p:spPr>
          <a:xfrm>
            <a:off x="731520" y="2240280"/>
            <a:ext cx="2011680" cy="338328"/>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đứng yên (frozen)</a:t>
            </a:r>
            <a:endParaRPr lang="en-US" sz="1200" dirty="0"/>
          </a:p>
        </p:txBody>
      </p:sp>
      <p:sp>
        <p:nvSpPr>
          <p:cNvPr id="11" name="Text 9"/>
          <p:cNvSpPr txBox="1"/>
          <p:nvPr/>
        </p:nvSpPr>
        <p:spPr>
          <a:xfrm>
            <a:off x="2743200" y="224028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71.4</a:t>
            </a:r>
            <a:endParaRPr lang="en-US" sz="1400" dirty="0"/>
          </a:p>
        </p:txBody>
      </p:sp>
      <p:sp>
        <p:nvSpPr>
          <p:cNvPr id="12" name="Text 10"/>
          <p:cNvSpPr txBox="1"/>
          <p:nvPr/>
        </p:nvSpPr>
        <p:spPr>
          <a:xfrm>
            <a:off x="3611880" y="224028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75.3</a:t>
            </a:r>
            <a:endParaRPr lang="en-US" sz="1400" dirty="0"/>
          </a:p>
        </p:txBody>
      </p:sp>
      <p:sp>
        <p:nvSpPr>
          <p:cNvPr id="13" name="Text 11"/>
          <p:cNvSpPr txBox="1"/>
          <p:nvPr/>
        </p:nvSpPr>
        <p:spPr>
          <a:xfrm>
            <a:off x="4480560" y="2240280"/>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72.9</a:t>
            </a:r>
            <a:endParaRPr lang="en-US" sz="1400" dirty="0"/>
          </a:p>
        </p:txBody>
      </p:sp>
      <p:sp>
        <p:nvSpPr>
          <p:cNvPr id="14" name="Text 12"/>
          <p:cNvSpPr txBox="1"/>
          <p:nvPr/>
        </p:nvSpPr>
        <p:spPr>
          <a:xfrm>
            <a:off x="731520" y="2601468"/>
            <a:ext cx="2011680" cy="338328"/>
          </a:xfrm>
          <a:prstGeom prst="rect">
            <a:avLst/>
          </a:prstGeom>
          <a:noFill/>
          <a:ln/>
        </p:spPr>
        <p:txBody>
          <a:bodyPr wrap="square" lIns="0" tIns="0" rIns="0" bIns="0" rtlCol="0" anchor="ctr"/>
          <a:lstStyle/>
          <a:p>
            <a:pPr indent="0" marL="0">
              <a:buNone/>
            </a:pPr>
            <a:r>
              <a:rPr lang="en-US" sz="1200" dirty="0">
                <a:solidFill>
                  <a:srgbClr val="E66767"/>
                </a:solidFill>
                <a:latin typeface="Arial" pitchFamily="34" charset="0"/>
                <a:ea typeface="Arial" pitchFamily="34" charset="-122"/>
                <a:cs typeface="Arial" pitchFamily="34" charset="-120"/>
              </a:rPr>
              <a:t>vận tốc 5 khung (b5)</a:t>
            </a:r>
            <a:endParaRPr lang="en-US" sz="1200" dirty="0"/>
          </a:p>
        </p:txBody>
      </p:sp>
      <p:sp>
        <p:nvSpPr>
          <p:cNvPr id="15" name="Text 13"/>
          <p:cNvSpPr txBox="1"/>
          <p:nvPr/>
        </p:nvSpPr>
        <p:spPr>
          <a:xfrm>
            <a:off x="2743200" y="2601468"/>
            <a:ext cx="868680" cy="338328"/>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65.2</a:t>
            </a:r>
            <a:endParaRPr lang="en-US" sz="1400" dirty="0"/>
          </a:p>
        </p:txBody>
      </p:sp>
      <p:sp>
        <p:nvSpPr>
          <p:cNvPr id="16" name="Text 14"/>
          <p:cNvSpPr txBox="1"/>
          <p:nvPr/>
        </p:nvSpPr>
        <p:spPr>
          <a:xfrm>
            <a:off x="3611880" y="2601468"/>
            <a:ext cx="868680" cy="338328"/>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59.2</a:t>
            </a:r>
            <a:endParaRPr lang="en-US" sz="1400" dirty="0"/>
          </a:p>
        </p:txBody>
      </p:sp>
      <p:sp>
        <p:nvSpPr>
          <p:cNvPr id="17" name="Text 15"/>
          <p:cNvSpPr txBox="1"/>
          <p:nvPr/>
        </p:nvSpPr>
        <p:spPr>
          <a:xfrm>
            <a:off x="4480560" y="2601468"/>
            <a:ext cx="868680" cy="338328"/>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62.9</a:t>
            </a:r>
            <a:endParaRPr lang="en-US" sz="1400" dirty="0"/>
          </a:p>
        </p:txBody>
      </p:sp>
      <p:sp>
        <p:nvSpPr>
          <p:cNvPr id="18" name="Shape 16"/>
          <p:cNvSpPr/>
          <p:nvPr/>
        </p:nvSpPr>
        <p:spPr>
          <a:xfrm>
            <a:off x="640080" y="2962656"/>
            <a:ext cx="4892040" cy="338328"/>
          </a:xfrm>
          <a:prstGeom prst="rect">
            <a:avLst/>
          </a:prstGeom>
          <a:solidFill>
            <a:srgbClr val="2B2F36"/>
          </a:solidFill>
          <a:ln w="12700">
            <a:solidFill>
              <a:srgbClr val="2B2F36"/>
            </a:solidFill>
            <a:prstDash val="solid"/>
          </a:ln>
        </p:spPr>
      </p:sp>
      <p:sp>
        <p:nvSpPr>
          <p:cNvPr id="19" name="Text 17"/>
          <p:cNvSpPr txBox="1"/>
          <p:nvPr/>
        </p:nvSpPr>
        <p:spPr>
          <a:xfrm>
            <a:off x="731520" y="2962656"/>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vận tốc 20 khung (b20)</a:t>
            </a:r>
            <a:endParaRPr lang="en-US" sz="1200" dirty="0"/>
          </a:p>
        </p:txBody>
      </p:sp>
      <p:sp>
        <p:nvSpPr>
          <p:cNvPr id="20" name="Text 18"/>
          <p:cNvSpPr txBox="1"/>
          <p:nvPr/>
        </p:nvSpPr>
        <p:spPr>
          <a:xfrm>
            <a:off x="2743200" y="2962656"/>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87.9</a:t>
            </a:r>
            <a:endParaRPr lang="en-US" sz="1400" dirty="0"/>
          </a:p>
        </p:txBody>
      </p:sp>
      <p:sp>
        <p:nvSpPr>
          <p:cNvPr id="21" name="Text 19"/>
          <p:cNvSpPr txBox="1"/>
          <p:nvPr/>
        </p:nvSpPr>
        <p:spPr>
          <a:xfrm>
            <a:off x="3611880" y="2962656"/>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81.6</a:t>
            </a:r>
            <a:endParaRPr lang="en-US" sz="1400" dirty="0"/>
          </a:p>
        </p:txBody>
      </p:sp>
      <p:sp>
        <p:nvSpPr>
          <p:cNvPr id="22" name="Text 20"/>
          <p:cNvSpPr txBox="1"/>
          <p:nvPr/>
        </p:nvSpPr>
        <p:spPr>
          <a:xfrm>
            <a:off x="4480560" y="2962656"/>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85.5</a:t>
            </a:r>
            <a:endParaRPr lang="en-US" sz="1400" dirty="0"/>
          </a:p>
        </p:txBody>
      </p:sp>
      <p:sp>
        <p:nvSpPr>
          <p:cNvPr id="23" name="Text 21"/>
          <p:cNvSpPr txBox="1"/>
          <p:nvPr/>
        </p:nvSpPr>
        <p:spPr>
          <a:xfrm>
            <a:off x="731520" y="3323844"/>
            <a:ext cx="2011680" cy="338328"/>
          </a:xfrm>
          <a:prstGeom prst="rect">
            <a:avLst/>
          </a:prstGeom>
          <a:noFill/>
          <a:ln/>
        </p:spPr>
        <p:txBody>
          <a:bodyPr wrap="square" lIns="0" tIns="0" rIns="0" bIns="0" rtlCol="0" anchor="ctr"/>
          <a:lstStyle/>
          <a:p>
            <a:pPr indent="0" marL="0">
              <a:buNone/>
            </a:pPr>
            <a:r>
              <a:rPr lang="en-US" sz="1200" b="1" dirty="0">
                <a:solidFill>
                  <a:srgbClr val="1B9AA6"/>
                </a:solidFill>
                <a:latin typeface="Arial" pitchFamily="34" charset="0"/>
                <a:ea typeface="Arial" pitchFamily="34" charset="-122"/>
                <a:cs typeface="Arial" pitchFamily="34" charset="-120"/>
              </a:rPr>
              <a:t>vận tốc 40 khung (b40)</a:t>
            </a:r>
            <a:endParaRPr lang="en-US" sz="1200" dirty="0"/>
          </a:p>
        </p:txBody>
      </p:sp>
      <p:sp>
        <p:nvSpPr>
          <p:cNvPr id="24" name="Text 22"/>
          <p:cNvSpPr txBox="1"/>
          <p:nvPr/>
        </p:nvSpPr>
        <p:spPr>
          <a:xfrm>
            <a:off x="2743200" y="3323844"/>
            <a:ext cx="868680" cy="338328"/>
          </a:xfrm>
          <a:prstGeom prst="rect">
            <a:avLst/>
          </a:prstGeom>
          <a:noFill/>
          <a:ln/>
        </p:spPr>
        <p:txBody>
          <a:bodyPr wrap="square" lIns="0" tIns="0" rIns="0" bIns="0" rtlCol="0" anchor="ctr"/>
          <a:lstStyle/>
          <a:p>
            <a:pPr algn="ctr" indent="0" marL="0">
              <a:buNone/>
            </a:pPr>
            <a:r>
              <a:rPr lang="en-US" sz="1400" b="1" dirty="0">
                <a:solidFill>
                  <a:srgbClr val="1B9AA6"/>
                </a:solidFill>
                <a:latin typeface="Arial" pitchFamily="34" charset="0"/>
                <a:ea typeface="Arial" pitchFamily="34" charset="-122"/>
                <a:cs typeface="Arial" pitchFamily="34" charset="-120"/>
              </a:rPr>
              <a:t>88.5</a:t>
            </a:r>
            <a:endParaRPr lang="en-US" sz="1400" dirty="0"/>
          </a:p>
        </p:txBody>
      </p:sp>
      <p:sp>
        <p:nvSpPr>
          <p:cNvPr id="25" name="Text 23"/>
          <p:cNvSpPr txBox="1"/>
          <p:nvPr/>
        </p:nvSpPr>
        <p:spPr>
          <a:xfrm>
            <a:off x="3611880" y="3323844"/>
            <a:ext cx="868680" cy="338328"/>
          </a:xfrm>
          <a:prstGeom prst="rect">
            <a:avLst/>
          </a:prstGeom>
          <a:noFill/>
          <a:ln/>
        </p:spPr>
        <p:txBody>
          <a:bodyPr wrap="square" lIns="0" tIns="0" rIns="0" bIns="0" rtlCol="0" anchor="ctr"/>
          <a:lstStyle/>
          <a:p>
            <a:pPr algn="ctr" indent="0" marL="0">
              <a:buNone/>
            </a:pPr>
            <a:r>
              <a:rPr lang="en-US" sz="1400" b="1" dirty="0">
                <a:solidFill>
                  <a:srgbClr val="1B9AA6"/>
                </a:solidFill>
                <a:latin typeface="Arial" pitchFamily="34" charset="0"/>
                <a:ea typeface="Arial" pitchFamily="34" charset="-122"/>
                <a:cs typeface="Arial" pitchFamily="34" charset="-120"/>
              </a:rPr>
              <a:t>86.6</a:t>
            </a:r>
            <a:endParaRPr lang="en-US" sz="1400" dirty="0"/>
          </a:p>
        </p:txBody>
      </p:sp>
      <p:sp>
        <p:nvSpPr>
          <p:cNvPr id="26" name="Text 24"/>
          <p:cNvSpPr txBox="1"/>
          <p:nvPr/>
        </p:nvSpPr>
        <p:spPr>
          <a:xfrm>
            <a:off x="4480560" y="3323844"/>
            <a:ext cx="868680" cy="338328"/>
          </a:xfrm>
          <a:prstGeom prst="rect">
            <a:avLst/>
          </a:prstGeom>
          <a:noFill/>
          <a:ln/>
        </p:spPr>
        <p:txBody>
          <a:bodyPr wrap="square" lIns="0" tIns="0" rIns="0" bIns="0" rtlCol="0" anchor="ctr"/>
          <a:lstStyle/>
          <a:p>
            <a:pPr algn="ctr" indent="0" marL="0">
              <a:buNone/>
            </a:pPr>
            <a:r>
              <a:rPr lang="en-US" sz="1400" b="1" dirty="0">
                <a:solidFill>
                  <a:srgbClr val="1B9AA6"/>
                </a:solidFill>
                <a:latin typeface="Arial" pitchFamily="34" charset="0"/>
                <a:ea typeface="Arial" pitchFamily="34" charset="-122"/>
                <a:cs typeface="Arial" pitchFamily="34" charset="-120"/>
              </a:rPr>
              <a:t>87.8</a:t>
            </a:r>
            <a:endParaRPr lang="en-US" sz="1400" dirty="0"/>
          </a:p>
        </p:txBody>
      </p:sp>
      <p:sp>
        <p:nvSpPr>
          <p:cNvPr id="27" name="Shape 25"/>
          <p:cNvSpPr/>
          <p:nvPr/>
        </p:nvSpPr>
        <p:spPr>
          <a:xfrm>
            <a:off x="640080" y="3685032"/>
            <a:ext cx="4892040" cy="338328"/>
          </a:xfrm>
          <a:prstGeom prst="rect">
            <a:avLst/>
          </a:prstGeom>
          <a:solidFill>
            <a:srgbClr val="2B2F36"/>
          </a:solidFill>
          <a:ln w="12700">
            <a:solidFill>
              <a:srgbClr val="2B2F36"/>
            </a:solidFill>
            <a:prstDash val="solid"/>
          </a:ln>
        </p:spPr>
      </p:sp>
      <p:sp>
        <p:nvSpPr>
          <p:cNvPr id="28" name="Text 26"/>
          <p:cNvSpPr txBox="1"/>
          <p:nvPr/>
        </p:nvSpPr>
        <p:spPr>
          <a:xfrm>
            <a:off x="731520" y="3685032"/>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40 khung từ GT (g40)</a:t>
            </a:r>
            <a:endParaRPr lang="en-US" sz="1200" dirty="0"/>
          </a:p>
        </p:txBody>
      </p:sp>
      <p:sp>
        <p:nvSpPr>
          <p:cNvPr id="29" name="Text 27"/>
          <p:cNvSpPr txBox="1"/>
          <p:nvPr/>
        </p:nvSpPr>
        <p:spPr>
          <a:xfrm>
            <a:off x="2743200" y="3685032"/>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88.8</a:t>
            </a:r>
            <a:endParaRPr lang="en-US" sz="1400" dirty="0"/>
          </a:p>
        </p:txBody>
      </p:sp>
      <p:sp>
        <p:nvSpPr>
          <p:cNvPr id="30" name="Text 28"/>
          <p:cNvSpPr txBox="1"/>
          <p:nvPr/>
        </p:nvSpPr>
        <p:spPr>
          <a:xfrm>
            <a:off x="3611880" y="3685032"/>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94.6</a:t>
            </a:r>
            <a:endParaRPr lang="en-US" sz="1400" dirty="0"/>
          </a:p>
        </p:txBody>
      </p:sp>
      <p:sp>
        <p:nvSpPr>
          <p:cNvPr id="31" name="Text 29"/>
          <p:cNvSpPr txBox="1"/>
          <p:nvPr/>
        </p:nvSpPr>
        <p:spPr>
          <a:xfrm>
            <a:off x="4480560" y="3685032"/>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91.0</a:t>
            </a:r>
            <a:endParaRPr lang="en-US" sz="1400" dirty="0"/>
          </a:p>
        </p:txBody>
      </p:sp>
      <p:sp>
        <p:nvSpPr>
          <p:cNvPr id="32" name="Text 30"/>
          <p:cNvSpPr txBox="1"/>
          <p:nvPr/>
        </p:nvSpPr>
        <p:spPr>
          <a:xfrm>
            <a:off x="731520" y="4046220"/>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vận tốc thật (GT, oracle)</a:t>
            </a:r>
            <a:endParaRPr lang="en-US" sz="1200" dirty="0"/>
          </a:p>
        </p:txBody>
      </p:sp>
      <p:sp>
        <p:nvSpPr>
          <p:cNvPr id="33" name="Text 31"/>
          <p:cNvSpPr txBox="1"/>
          <p:nvPr/>
        </p:nvSpPr>
        <p:spPr>
          <a:xfrm>
            <a:off x="2743200" y="404622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98.2</a:t>
            </a:r>
            <a:endParaRPr lang="en-US" sz="1400" dirty="0"/>
          </a:p>
        </p:txBody>
      </p:sp>
      <p:sp>
        <p:nvSpPr>
          <p:cNvPr id="34" name="Text 32"/>
          <p:cNvSpPr txBox="1"/>
          <p:nvPr/>
        </p:nvSpPr>
        <p:spPr>
          <a:xfrm>
            <a:off x="3611880" y="404622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92.4</a:t>
            </a:r>
            <a:endParaRPr lang="en-US" sz="1400" dirty="0"/>
          </a:p>
        </p:txBody>
      </p:sp>
      <p:sp>
        <p:nvSpPr>
          <p:cNvPr id="35" name="Text 33"/>
          <p:cNvSpPr txBox="1"/>
          <p:nvPr/>
        </p:nvSpPr>
        <p:spPr>
          <a:xfrm>
            <a:off x="4480560" y="4046220"/>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96.0</a:t>
            </a:r>
            <a:endParaRPr lang="en-US" sz="1400" dirty="0"/>
          </a:p>
        </p:txBody>
      </p:sp>
      <p:sp>
        <p:nvSpPr>
          <p:cNvPr id="36" name="Shape 34"/>
          <p:cNvSpPr/>
          <p:nvPr/>
        </p:nvSpPr>
        <p:spPr>
          <a:xfrm>
            <a:off x="640080" y="4407408"/>
            <a:ext cx="4892040" cy="338328"/>
          </a:xfrm>
          <a:prstGeom prst="rect">
            <a:avLst/>
          </a:prstGeom>
          <a:solidFill>
            <a:srgbClr val="2B2F36"/>
          </a:solidFill>
          <a:ln w="12700">
            <a:solidFill>
              <a:srgbClr val="2B2F36"/>
            </a:solidFill>
            <a:prstDash val="solid"/>
          </a:ln>
        </p:spPr>
      </p:sp>
      <p:sp>
        <p:nvSpPr>
          <p:cNvPr id="37" name="Text 35"/>
          <p:cNvSpPr txBox="1"/>
          <p:nvPr/>
        </p:nvSpPr>
        <p:spPr>
          <a:xfrm>
            <a:off x="731520" y="4407408"/>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tâm thật (GT, oracle)</a:t>
            </a:r>
            <a:endParaRPr lang="en-US" sz="1200" dirty="0"/>
          </a:p>
        </p:txBody>
      </p:sp>
      <p:sp>
        <p:nvSpPr>
          <p:cNvPr id="38" name="Text 36"/>
          <p:cNvSpPr txBox="1"/>
          <p:nvPr/>
        </p:nvSpPr>
        <p:spPr>
          <a:xfrm>
            <a:off x="2743200" y="4407408"/>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99.9</a:t>
            </a:r>
            <a:endParaRPr lang="en-US" sz="1400" dirty="0"/>
          </a:p>
        </p:txBody>
      </p:sp>
      <p:sp>
        <p:nvSpPr>
          <p:cNvPr id="39" name="Text 37"/>
          <p:cNvSpPr txBox="1"/>
          <p:nvPr/>
        </p:nvSpPr>
        <p:spPr>
          <a:xfrm>
            <a:off x="3611880" y="4407408"/>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100.0</a:t>
            </a:r>
            <a:endParaRPr lang="en-US" sz="1400" dirty="0"/>
          </a:p>
        </p:txBody>
      </p:sp>
      <p:sp>
        <p:nvSpPr>
          <p:cNvPr id="40" name="Text 38"/>
          <p:cNvSpPr txBox="1"/>
          <p:nvPr/>
        </p:nvSpPr>
        <p:spPr>
          <a:xfrm>
            <a:off x="4480560" y="4407408"/>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99.9</a:t>
            </a:r>
            <a:endParaRPr lang="en-US" sz="1400" dirty="0"/>
          </a:p>
        </p:txBody>
      </p:sp>
      <p:sp>
        <p:nvSpPr>
          <p:cNvPr id="41" name="Text 39"/>
          <p:cNvSpPr txBox="1"/>
          <p:nvPr/>
        </p:nvSpPr>
        <p:spPr>
          <a:xfrm>
            <a:off x="731520" y="4768596"/>
            <a:ext cx="2011680" cy="338328"/>
          </a:xfrm>
          <a:prstGeom prst="rect">
            <a:avLst/>
          </a:prstGeom>
          <a:noFill/>
          <a:ln/>
        </p:spPr>
        <p:txBody>
          <a:bodyPr wrap="square" lIns="0" tIns="0" rIns="0" bIns="0" rtlCol="0" anchor="ctr"/>
          <a:lstStyle/>
          <a:p>
            <a:pPr indent="0" marL="0">
              <a:buNone/>
            </a:pPr>
            <a:r>
              <a:rPr lang="en-US" sz="1200" b="1" dirty="0">
                <a:solidFill>
                  <a:srgbClr val="19A35F"/>
                </a:solidFill>
                <a:latin typeface="Arial" pitchFamily="34" charset="0"/>
                <a:ea typeface="Arial" pitchFamily="34" charset="-122"/>
                <a:cs typeface="Arial" pitchFamily="34" charset="-120"/>
              </a:rPr>
              <a:t>PEG+ thực tế</a:t>
            </a:r>
            <a:endParaRPr lang="en-US" sz="1200" dirty="0"/>
          </a:p>
        </p:txBody>
      </p:sp>
      <p:sp>
        <p:nvSpPr>
          <p:cNvPr id="42" name="Text 40"/>
          <p:cNvSpPr txBox="1"/>
          <p:nvPr/>
        </p:nvSpPr>
        <p:spPr>
          <a:xfrm>
            <a:off x="2743200" y="4768596"/>
            <a:ext cx="868680" cy="338328"/>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88.0</a:t>
            </a:r>
            <a:endParaRPr lang="en-US" sz="1400" dirty="0"/>
          </a:p>
        </p:txBody>
      </p:sp>
      <p:sp>
        <p:nvSpPr>
          <p:cNvPr id="43" name="Text 41"/>
          <p:cNvSpPr txBox="1"/>
          <p:nvPr/>
        </p:nvSpPr>
        <p:spPr>
          <a:xfrm>
            <a:off x="3611880" y="4768596"/>
            <a:ext cx="868680" cy="338328"/>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77.9</a:t>
            </a:r>
            <a:endParaRPr lang="en-US" sz="1400" dirty="0"/>
          </a:p>
        </p:txBody>
      </p:sp>
      <p:sp>
        <p:nvSpPr>
          <p:cNvPr id="44" name="Text 42"/>
          <p:cNvSpPr txBox="1"/>
          <p:nvPr/>
        </p:nvSpPr>
        <p:spPr>
          <a:xfrm>
            <a:off x="4480560" y="4768596"/>
            <a:ext cx="868680" cy="338328"/>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84.2</a:t>
            </a:r>
            <a:endParaRPr lang="en-US" sz="1400" dirty="0"/>
          </a:p>
        </p:txBody>
      </p:sp>
      <p:pic>
        <p:nvPicPr>
          <p:cNvPr id="45" name="Image 0" descr="D:\PROJECT\PEG\results\peg_c\figures\slope_noise.png">    </p:cNvPr>
          <p:cNvPicPr>
            <a:picLocks noChangeAspect="1"/>
          </p:cNvPicPr>
          <p:nvPr/>
        </p:nvPicPr>
        <p:blipFill>
          <a:blip r:embed="rId1"/>
          <a:stretch>
            <a:fillRect/>
          </a:stretch>
        </p:blipFill>
        <p:spPr>
          <a:xfrm>
            <a:off x="5922210" y="1417320"/>
            <a:ext cx="5556613" cy="3794760"/>
          </a:xfrm>
          <a:prstGeom prst="rect">
            <a:avLst/>
          </a:prstGeom>
        </p:spPr>
      </p:pic>
      <p:sp>
        <p:nvSpPr>
          <p:cNvPr id="46" name="Shape 43"/>
          <p:cNvSpPr/>
          <p:nvPr/>
        </p:nvSpPr>
        <p:spPr>
          <a:xfrm>
            <a:off x="548640" y="5349240"/>
            <a:ext cx="11091672" cy="914400"/>
          </a:xfrm>
          <a:prstGeom prst="roundRect">
            <a:avLst>
              <a:gd name="adj" fmla="val 12000"/>
            </a:avLst>
          </a:prstGeom>
          <a:solidFill>
            <a:srgbClr val="2B2F36"/>
          </a:solidFill>
          <a:ln w="12700">
            <a:solidFill>
              <a:srgbClr val="2B2F36"/>
            </a:solidFill>
            <a:prstDash val="solid"/>
          </a:ln>
        </p:spPr>
      </p:sp>
      <p:sp>
        <p:nvSpPr>
          <p:cNvPr id="47" name="Shape 44"/>
          <p:cNvSpPr/>
          <p:nvPr/>
        </p:nvSpPr>
        <p:spPr>
          <a:xfrm>
            <a:off x="548640" y="5349240"/>
            <a:ext cx="91440" cy="914400"/>
          </a:xfrm>
          <a:prstGeom prst="rect">
            <a:avLst/>
          </a:prstGeom>
          <a:solidFill>
            <a:srgbClr val="F2A900"/>
          </a:solidFill>
          <a:ln w="12700">
            <a:solidFill>
              <a:srgbClr val="F2A900"/>
            </a:solidFill>
            <a:prstDash val="solid"/>
          </a:ln>
        </p:spPr>
      </p:sp>
      <p:sp>
        <p:nvSpPr>
          <p:cNvPr id="48" name="Text 45"/>
          <p:cNvSpPr txBox="1"/>
          <p:nvPr/>
        </p:nvSpPr>
        <p:spPr>
          <a:xfrm>
            <a:off x="822960" y="5349240"/>
            <a:ext cx="10698480" cy="91440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Đi bộ dự đoán được từ cửa sổ quá khứ dài; 5 khung chỉ là nhiễu.</a:t>
            </a:r>
            <a:endParaRPr lang="en-US" sz="1600" dirty="0"/>
          </a:p>
          <a:p>
            <a:pPr indent="0" marL="0">
              <a:buNone/>
            </a:pPr>
            <a:r>
              <a:rPr lang="en-US" sz="1250" dirty="0">
                <a:solidFill>
                  <a:srgbClr val="A3A8B0"/>
                </a:solidFill>
                <a:latin typeface="Arial" pitchFamily="34" charset="0"/>
                <a:ea typeface="Arial" pitchFamily="34" charset="-122"/>
                <a:cs typeface="Arial" pitchFamily="34" charset="-120"/>
              </a:rPr>
              <a:t>σ = 2.21 px: sàn nhiễu rơi nhanh theo K, nhưng sai số vận tốc dừng ở 0.28–0.33 px/frame (54–63% tốc độ thật 0.52): giới hạn là mô hình vận tốc không đổi, không phải nhiễu.</a:t>
            </a:r>
            <a:endParaRPr lang="en-US" sz="1600" dirty="0"/>
          </a:p>
        </p:txBody>
      </p:sp>
      <p:sp>
        <p:nvSpPr>
          <p:cNvPr id="49" name="Shape 46"/>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0" name="Text 4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1" name="Text 4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PEG-C · THUẬT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PEG-C: PEG quyết định có giữ, PEG-C thiết kế giữ thế nào</a:t>
            </a:r>
            <a:endParaRPr lang="en-US" sz="2600" dirty="0"/>
          </a:p>
        </p:txBody>
      </p:sp>
      <p:sp>
        <p:nvSpPr>
          <p:cNvPr id="4" name="Shape 2"/>
          <p:cNvSpPr/>
          <p:nvPr/>
        </p:nvSpPr>
        <p:spPr>
          <a:xfrm>
            <a:off x="548640" y="1417320"/>
            <a:ext cx="11091672" cy="1737360"/>
          </a:xfrm>
          <a:prstGeom prst="roundRect">
            <a:avLst>
              <a:gd name="adj" fmla="val 6316"/>
            </a:avLst>
          </a:prstGeom>
          <a:solidFill>
            <a:srgbClr val="2B2F36"/>
          </a:solidFill>
          <a:ln w="12700">
            <a:solidFill>
              <a:srgbClr val="2B2F36"/>
            </a:solidFill>
            <a:prstDash val="solid"/>
          </a:ln>
        </p:spPr>
      </p:sp>
      <p:sp>
        <p:nvSpPr>
          <p:cNvPr id="5" name="Shape 3"/>
          <p:cNvSpPr/>
          <p:nvPr/>
        </p:nvSpPr>
        <p:spPr>
          <a:xfrm>
            <a:off x="4800600" y="1508760"/>
            <a:ext cx="3657600" cy="1280160"/>
          </a:xfrm>
          <a:prstGeom prst="rect">
            <a:avLst/>
          </a:prstGeom>
          <a:solidFill>
            <a:srgbClr val="FFFFFF">
              <a:alpha val="12000"/>
            </a:srgbClr>
          </a:solidFill>
          <a:ln w="12700">
            <a:solidFill>
              <a:srgbClr val="FFFFFF">
                <a:alpha val="30000"/>
              </a:srgbClr>
            </a:solidFill>
            <a:prstDash val="solid"/>
          </a:ln>
        </p:spPr>
      </p:sp>
      <p:sp>
        <p:nvSpPr>
          <p:cNvPr id="6" name="Text 4"/>
          <p:cNvSpPr txBox="1"/>
          <p:nvPr/>
        </p:nvSpPr>
        <p:spPr>
          <a:xfrm>
            <a:off x="4800600" y="1536192"/>
            <a:ext cx="3657600" cy="27432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chói: không có detection, cổng φ ≥ h arm</a:t>
            </a:r>
            <a:endParaRPr lang="en-US" sz="1100" dirty="0"/>
          </a:p>
        </p:txBody>
      </p:sp>
      <p:sp>
        <p:nvSpPr>
          <p:cNvPr id="7" name="Shape 5"/>
          <p:cNvSpPr/>
          <p:nvPr/>
        </p:nvSpPr>
        <p:spPr>
          <a:xfrm>
            <a:off x="1042416" y="2487168"/>
            <a:ext cx="109728" cy="109728"/>
          </a:xfrm>
          <a:prstGeom prst="ellipse">
            <a:avLst/>
          </a:prstGeom>
          <a:solidFill>
            <a:srgbClr val="1B9AA6"/>
          </a:solidFill>
          <a:ln w="12700">
            <a:solidFill>
              <a:srgbClr val="1B9AA6"/>
            </a:solidFill>
            <a:prstDash val="solid"/>
          </a:ln>
        </p:spPr>
      </p:sp>
      <p:sp>
        <p:nvSpPr>
          <p:cNvPr id="8" name="Shape 6"/>
          <p:cNvSpPr/>
          <p:nvPr/>
        </p:nvSpPr>
        <p:spPr>
          <a:xfrm>
            <a:off x="1499616" y="2432304"/>
            <a:ext cx="109728" cy="109728"/>
          </a:xfrm>
          <a:prstGeom prst="ellipse">
            <a:avLst/>
          </a:prstGeom>
          <a:solidFill>
            <a:srgbClr val="1B9AA6"/>
          </a:solidFill>
          <a:ln w="12700">
            <a:solidFill>
              <a:srgbClr val="1B9AA6"/>
            </a:solidFill>
            <a:prstDash val="solid"/>
          </a:ln>
        </p:spPr>
      </p:sp>
      <p:sp>
        <p:nvSpPr>
          <p:cNvPr id="9" name="Shape 7"/>
          <p:cNvSpPr/>
          <p:nvPr/>
        </p:nvSpPr>
        <p:spPr>
          <a:xfrm>
            <a:off x="1956816" y="2377440"/>
            <a:ext cx="109728" cy="109728"/>
          </a:xfrm>
          <a:prstGeom prst="ellipse">
            <a:avLst/>
          </a:prstGeom>
          <a:solidFill>
            <a:srgbClr val="1B9AA6"/>
          </a:solidFill>
          <a:ln w="12700">
            <a:solidFill>
              <a:srgbClr val="1B9AA6"/>
            </a:solidFill>
            <a:prstDash val="solid"/>
          </a:ln>
        </p:spPr>
      </p:sp>
      <p:sp>
        <p:nvSpPr>
          <p:cNvPr id="10" name="Shape 8"/>
          <p:cNvSpPr/>
          <p:nvPr/>
        </p:nvSpPr>
        <p:spPr>
          <a:xfrm>
            <a:off x="2414016" y="2322576"/>
            <a:ext cx="109728" cy="109728"/>
          </a:xfrm>
          <a:prstGeom prst="ellipse">
            <a:avLst/>
          </a:prstGeom>
          <a:solidFill>
            <a:srgbClr val="1B9AA6"/>
          </a:solidFill>
          <a:ln w="12700">
            <a:solidFill>
              <a:srgbClr val="1B9AA6"/>
            </a:solidFill>
            <a:prstDash val="solid"/>
          </a:ln>
        </p:spPr>
      </p:sp>
      <p:sp>
        <p:nvSpPr>
          <p:cNvPr id="11" name="Shape 9"/>
          <p:cNvSpPr/>
          <p:nvPr/>
        </p:nvSpPr>
        <p:spPr>
          <a:xfrm>
            <a:off x="2871216" y="2267712"/>
            <a:ext cx="109728" cy="109728"/>
          </a:xfrm>
          <a:prstGeom prst="ellipse">
            <a:avLst/>
          </a:prstGeom>
          <a:solidFill>
            <a:srgbClr val="1B9AA6"/>
          </a:solidFill>
          <a:ln w="12700">
            <a:solidFill>
              <a:srgbClr val="1B9AA6"/>
            </a:solidFill>
            <a:prstDash val="solid"/>
          </a:ln>
        </p:spPr>
      </p:sp>
      <p:sp>
        <p:nvSpPr>
          <p:cNvPr id="12" name="Shape 10"/>
          <p:cNvSpPr/>
          <p:nvPr/>
        </p:nvSpPr>
        <p:spPr>
          <a:xfrm>
            <a:off x="3328416" y="2212848"/>
            <a:ext cx="109728" cy="109728"/>
          </a:xfrm>
          <a:prstGeom prst="ellipse">
            <a:avLst/>
          </a:prstGeom>
          <a:solidFill>
            <a:srgbClr val="1B9AA6"/>
          </a:solidFill>
          <a:ln w="12700">
            <a:solidFill>
              <a:srgbClr val="1B9AA6"/>
            </a:solidFill>
            <a:prstDash val="solid"/>
          </a:ln>
        </p:spPr>
      </p:sp>
      <p:sp>
        <p:nvSpPr>
          <p:cNvPr id="13" name="Shape 11"/>
          <p:cNvSpPr/>
          <p:nvPr/>
        </p:nvSpPr>
        <p:spPr>
          <a:xfrm>
            <a:off x="3785616" y="2157984"/>
            <a:ext cx="109728" cy="109728"/>
          </a:xfrm>
          <a:prstGeom prst="ellipse">
            <a:avLst/>
          </a:prstGeom>
          <a:solidFill>
            <a:srgbClr val="1B9AA6"/>
          </a:solidFill>
          <a:ln w="12700">
            <a:solidFill>
              <a:srgbClr val="1B9AA6"/>
            </a:solidFill>
            <a:prstDash val="solid"/>
          </a:ln>
        </p:spPr>
      </p:sp>
      <p:sp>
        <p:nvSpPr>
          <p:cNvPr id="14" name="Shape 12"/>
          <p:cNvSpPr/>
          <p:nvPr/>
        </p:nvSpPr>
        <p:spPr>
          <a:xfrm>
            <a:off x="4242816" y="2103120"/>
            <a:ext cx="109728" cy="109728"/>
          </a:xfrm>
          <a:prstGeom prst="ellipse">
            <a:avLst/>
          </a:prstGeom>
          <a:solidFill>
            <a:srgbClr val="1B9AA6"/>
          </a:solidFill>
          <a:ln w="12700">
            <a:solidFill>
              <a:srgbClr val="1B9AA6"/>
            </a:solidFill>
            <a:prstDash val="solid"/>
          </a:ln>
        </p:spPr>
      </p:sp>
      <p:sp>
        <p:nvSpPr>
          <p:cNvPr id="15" name="Shape 13"/>
          <p:cNvSpPr/>
          <p:nvPr/>
        </p:nvSpPr>
        <p:spPr>
          <a:xfrm flipV="1">
            <a:off x="1097280" y="2157984"/>
            <a:ext cx="3200400" cy="384048"/>
          </a:xfrm>
          <a:prstGeom prst="line">
            <a:avLst/>
          </a:prstGeom>
          <a:noFill/>
          <a:ln w="19050">
            <a:solidFill>
              <a:srgbClr val="1B9AA6"/>
            </a:solidFill>
            <a:prstDash val="solid"/>
          </a:ln>
        </p:spPr>
      </p:sp>
      <p:sp>
        <p:nvSpPr>
          <p:cNvPr id="16" name="Shape 14"/>
          <p:cNvSpPr/>
          <p:nvPr/>
        </p:nvSpPr>
        <p:spPr>
          <a:xfrm flipV="1">
            <a:off x="4297680" y="1691640"/>
            <a:ext cx="4114800" cy="466344"/>
          </a:xfrm>
          <a:prstGeom prst="line">
            <a:avLst/>
          </a:prstGeom>
          <a:noFill/>
          <a:ln w="28575">
            <a:solidFill>
              <a:srgbClr val="F2A900"/>
            </a:solidFill>
            <a:prstDash val="dash"/>
            <a:tailEnd type="triangle"/>
          </a:ln>
        </p:spPr>
      </p:sp>
      <p:sp>
        <p:nvSpPr>
          <p:cNvPr id="17" name="Text 15"/>
          <p:cNvSpPr txBox="1"/>
          <p:nvPr/>
        </p:nvSpPr>
        <p:spPr>
          <a:xfrm>
            <a:off x="8595360" y="1572768"/>
            <a:ext cx="2651760" cy="274320"/>
          </a:xfrm>
          <a:prstGeom prst="rect">
            <a:avLst/>
          </a:prstGeom>
          <a:noFill/>
          <a:ln/>
        </p:spPr>
        <p:txBody>
          <a:bodyPr wrap="square" lIns="0" tIns="0" rIns="0" bIns="0" rtlCol="0" anchor="t"/>
          <a:lstStyle/>
          <a:p>
            <a:pPr indent="0" marL="0">
              <a:buNone/>
            </a:pPr>
            <a:r>
              <a:rPr lang="en-US" sz="1050" dirty="0">
                <a:solidFill>
                  <a:srgbClr val="F2A900"/>
                </a:solidFill>
                <a:latin typeface="Arial" pitchFamily="34" charset="0"/>
                <a:ea typeface="Arial" pitchFamily="34" charset="-122"/>
                <a:cs typeface="Arial" pitchFamily="34" charset="-120"/>
              </a:rPr>
              <a:t>coast: x_t = x_0 + v·t</a:t>
            </a:r>
            <a:endParaRPr lang="en-US" sz="1050" dirty="0"/>
          </a:p>
        </p:txBody>
      </p:sp>
      <p:sp>
        <p:nvSpPr>
          <p:cNvPr id="18" name="Shape 16"/>
          <p:cNvSpPr/>
          <p:nvPr/>
        </p:nvSpPr>
        <p:spPr>
          <a:xfrm>
            <a:off x="8933688" y="2532888"/>
            <a:ext cx="146304" cy="146304"/>
          </a:xfrm>
          <a:prstGeom prst="ellipse">
            <a:avLst/>
          </a:prstGeom>
          <a:solidFill>
            <a:srgbClr val="19A35F"/>
          </a:solidFill>
          <a:ln w="12700">
            <a:solidFill>
              <a:srgbClr val="19A35F"/>
            </a:solidFill>
            <a:prstDash val="solid"/>
          </a:ln>
        </p:spPr>
      </p:sp>
      <p:sp>
        <p:nvSpPr>
          <p:cNvPr id="19" name="Shape 17"/>
          <p:cNvSpPr/>
          <p:nvPr/>
        </p:nvSpPr>
        <p:spPr>
          <a:xfrm>
            <a:off x="4297680" y="2157984"/>
            <a:ext cx="4709160" cy="448056"/>
          </a:xfrm>
          <a:prstGeom prst="line">
            <a:avLst/>
          </a:prstGeom>
          <a:noFill/>
          <a:ln w="28575">
            <a:solidFill>
              <a:srgbClr val="19A35F"/>
            </a:solidFill>
            <a:prstDash val="solid"/>
          </a:ln>
        </p:spPr>
      </p:sp>
      <p:sp>
        <p:nvSpPr>
          <p:cNvPr id="20" name="Text 18"/>
          <p:cNvSpPr txBox="1"/>
          <p:nvPr/>
        </p:nvSpPr>
        <p:spPr>
          <a:xfrm>
            <a:off x="868680" y="1554480"/>
            <a:ext cx="3566160" cy="502920"/>
          </a:xfrm>
          <a:prstGeom prst="rect">
            <a:avLst/>
          </a:prstGeom>
          <a:noFill/>
          <a:ln/>
        </p:spPr>
        <p:txBody>
          <a:bodyPr wrap="square" lIns="0" tIns="0" rIns="0" bIns="0" rtlCol="0" anchor="t"/>
          <a:lstStyle/>
          <a:p>
            <a:pPr indent="0" marL="0">
              <a:buNone/>
            </a:pPr>
            <a:r>
              <a:rPr lang="en-US" sz="1100" b="1" dirty="0">
                <a:solidFill>
                  <a:srgbClr val="1B9AA6"/>
                </a:solidFill>
                <a:latin typeface="Arial" pitchFamily="34" charset="0"/>
                <a:ea typeface="Arial" pitchFamily="34" charset="-122"/>
                <a:cs typeface="Arial" pitchFamily="34" charset="-120"/>
              </a:rPr>
              <a:t>V: độ dốc OLS của K tâm</a:t>
            </a:r>
            <a:endParaRPr lang="en-US" sz="1100" dirty="0"/>
          </a:p>
          <a:p>
            <a:pPr indent="0" marL="0">
              <a:buNone/>
            </a:pPr>
            <a:r>
              <a:rPr lang="en-US" sz="1100" b="1" dirty="0">
                <a:solidFill>
                  <a:srgbClr val="1B9AA6"/>
                </a:solidFill>
                <a:latin typeface="Arial" pitchFamily="34" charset="0"/>
                <a:ea typeface="Arial" pitchFamily="34" charset="-122"/>
                <a:cs typeface="Arial" pitchFamily="34" charset="-120"/>
              </a:rPr>
              <a:t>detection gần nhất</a:t>
            </a:r>
            <a:endParaRPr lang="en-US" sz="1100" dirty="0"/>
          </a:p>
        </p:txBody>
      </p:sp>
      <p:sp>
        <p:nvSpPr>
          <p:cNvPr id="21" name="Text 19"/>
          <p:cNvSpPr txBox="1"/>
          <p:nvPr/>
        </p:nvSpPr>
        <p:spPr>
          <a:xfrm>
            <a:off x="4846320" y="2834640"/>
            <a:ext cx="4206240" cy="274320"/>
          </a:xfrm>
          <a:prstGeom prst="rect">
            <a:avLst/>
          </a:prstGeom>
          <a:noFill/>
          <a:ln/>
        </p:spPr>
        <p:txBody>
          <a:bodyPr wrap="square" lIns="0" tIns="0" rIns="0" bIns="0" rtlCol="0" anchor="t"/>
          <a:lstStyle/>
          <a:p>
            <a:pPr indent="0" marL="0">
              <a:buNone/>
            </a:pPr>
            <a:r>
              <a:rPr lang="en-US" sz="1100" b="1" dirty="0">
                <a:solidFill>
                  <a:srgbClr val="19A35F"/>
                </a:solidFill>
                <a:latin typeface="Arial" pitchFamily="34" charset="0"/>
                <a:ea typeface="Arial" pitchFamily="34" charset="-122"/>
                <a:cs typeface="Arial" pitchFamily="34" charset="-120"/>
              </a:rPr>
              <a:t>B: đường thẳng giữa hai detection (fixed-lag)</a:t>
            </a:r>
            <a:endParaRPr lang="en-US" sz="1100" dirty="0"/>
          </a:p>
        </p:txBody>
      </p:sp>
      <p:sp>
        <p:nvSpPr>
          <p:cNvPr id="22" name="Text 20"/>
          <p:cNvSpPr txBox="1"/>
          <p:nvPr/>
        </p:nvSpPr>
        <p:spPr>
          <a:xfrm>
            <a:off x="9235440" y="2240280"/>
            <a:ext cx="2331720" cy="548640"/>
          </a:xfrm>
          <a:prstGeom prst="rect">
            <a:avLst/>
          </a:prstGeom>
          <a:noFill/>
          <a:ln/>
        </p:spPr>
        <p:txBody>
          <a:bodyPr wrap="square" lIns="0" tIns="0" rIns="0" bIns="0" rtlCol="0" anchor="t"/>
          <a:lstStyle/>
          <a:p>
            <a:pPr indent="0" marL="0">
              <a:buNone/>
            </a:pPr>
            <a:r>
              <a:rPr lang="en-US" sz="1100" b="1" dirty="0">
                <a:solidFill>
                  <a:srgbClr val="F2A900"/>
                </a:solidFill>
                <a:latin typeface="Arial" pitchFamily="34" charset="0"/>
                <a:ea typeface="Arial" pitchFamily="34" charset="-122"/>
                <a:cs typeface="Arial" pitchFamily="34" charset="-120"/>
              </a:rPr>
              <a:t>S: detection này sắp sinh ID mới ⇒</a:t>
            </a:r>
            <a:endParaRPr lang="en-US" sz="1100" dirty="0"/>
          </a:p>
          <a:p>
            <a:pPr indent="0" marL="0">
              <a:buNone/>
            </a:pPr>
            <a:r>
              <a:rPr lang="en-US" sz="1100" b="1" dirty="0">
                <a:solidFill>
                  <a:srgbClr val="F2A900"/>
                </a:solidFill>
                <a:latin typeface="Arial" pitchFamily="34" charset="0"/>
                <a:ea typeface="Arial" pitchFamily="34" charset="-122"/>
                <a:cs typeface="Arial" pitchFamily="34" charset="-120"/>
              </a:rPr>
              <a:t>nối lại vào track vừa cháy</a:t>
            </a:r>
            <a:endParaRPr lang="en-US" sz="1100" dirty="0"/>
          </a:p>
        </p:txBody>
      </p:sp>
      <p:sp>
        <p:nvSpPr>
          <p:cNvPr id="23" name="Text 21"/>
          <p:cNvSpPr txBox="1"/>
          <p:nvPr/>
        </p:nvSpPr>
        <p:spPr>
          <a:xfrm>
            <a:off x="640080" y="3291840"/>
            <a:ext cx="548640" cy="274320"/>
          </a:xfrm>
          <a:prstGeom prst="rect">
            <a:avLst/>
          </a:prstGeom>
          <a:noFill/>
          <a:ln/>
        </p:spPr>
        <p:txBody>
          <a:bodyPr wrap="square" lIns="0" tIns="0" rIns="0" bIns="0" rtlCol="0" anchor="t"/>
          <a:lstStyle/>
          <a:p>
            <a:pPr indent="0" marL="0">
              <a:buNone/>
            </a:pPr>
            <a:endParaRPr lang="en-US" sz="1100" dirty="0"/>
          </a:p>
        </p:txBody>
      </p:sp>
      <p:sp>
        <p:nvSpPr>
          <p:cNvPr id="24" name="Text 22"/>
          <p:cNvSpPr txBox="1"/>
          <p:nvPr/>
        </p:nvSpPr>
        <p:spPr>
          <a:xfrm>
            <a:off x="1234440" y="3291840"/>
            <a:ext cx="1188720" cy="274320"/>
          </a:xfrm>
          <a:prstGeom prst="rect">
            <a:avLst/>
          </a:prstGeom>
          <a:noFill/>
          <a:ln/>
        </p:spPr>
        <p:txBody>
          <a:bodyPr wrap="square" lIns="0" tIns="0" rIns="0" bIns="0" rtlCol="0" anchor="t"/>
          <a:lstStyle/>
          <a:p>
            <a:pPr indent="0" marL="0">
              <a:buNone/>
            </a:pPr>
            <a:r>
              <a:rPr lang="en-US" sz="1100" b="1" dirty="0">
                <a:solidFill>
                  <a:srgbClr val="A3A8B0"/>
                </a:solidFill>
                <a:latin typeface="Arial" pitchFamily="34" charset="0"/>
                <a:ea typeface="Arial" pitchFamily="34" charset="-122"/>
                <a:cs typeface="Arial" pitchFamily="34" charset="-120"/>
              </a:rPr>
              <a:t>loại</a:t>
            </a:r>
            <a:endParaRPr lang="en-US" sz="1100" dirty="0"/>
          </a:p>
        </p:txBody>
      </p:sp>
      <p:sp>
        <p:nvSpPr>
          <p:cNvPr id="25" name="Text 23"/>
          <p:cNvSpPr txBox="1"/>
          <p:nvPr/>
        </p:nvSpPr>
        <p:spPr>
          <a:xfrm>
            <a:off x="2514600" y="3291840"/>
            <a:ext cx="5669280" cy="274320"/>
          </a:xfrm>
          <a:prstGeom prst="rect">
            <a:avLst/>
          </a:prstGeom>
          <a:noFill/>
          <a:ln/>
        </p:spPr>
        <p:txBody>
          <a:bodyPr wrap="square" lIns="0" tIns="0" rIns="0" bIns="0" rtlCol="0" anchor="t"/>
          <a:lstStyle/>
          <a:p>
            <a:pPr indent="0" marL="0">
              <a:buNone/>
            </a:pPr>
            <a:r>
              <a:rPr lang="en-US" sz="1100" b="1" dirty="0">
                <a:solidFill>
                  <a:srgbClr val="A3A8B0"/>
                </a:solidFill>
                <a:latin typeface="Arial" pitchFamily="34" charset="0"/>
                <a:ea typeface="Arial" pitchFamily="34" charset="-122"/>
                <a:cs typeface="Arial" pitchFamily="34" charset="-120"/>
              </a:rPr>
              <a:t>làm gì (một núm mỗi thành phần)</a:t>
            </a:r>
            <a:endParaRPr lang="en-US" sz="1100" dirty="0"/>
          </a:p>
        </p:txBody>
      </p:sp>
      <p:sp>
        <p:nvSpPr>
          <p:cNvPr id="26" name="Text 24"/>
          <p:cNvSpPr txBox="1"/>
          <p:nvPr/>
        </p:nvSpPr>
        <p:spPr>
          <a:xfrm>
            <a:off x="8229600" y="3291840"/>
            <a:ext cx="3291840" cy="274320"/>
          </a:xfrm>
          <a:prstGeom prst="rect">
            <a:avLst/>
          </a:prstGeom>
          <a:noFill/>
          <a:ln/>
        </p:spPr>
        <p:txBody>
          <a:bodyPr wrap="square" lIns="0" tIns="0" rIns="0" bIns="0" rtlCol="0" anchor="t"/>
          <a:lstStyle/>
          <a:p>
            <a:pPr indent="0" marL="0">
              <a:buNone/>
            </a:pPr>
            <a:r>
              <a:rPr lang="en-US" sz="1100" b="1" dirty="0">
                <a:solidFill>
                  <a:srgbClr val="A3A8B0"/>
                </a:solidFill>
                <a:latin typeface="Arial" pitchFamily="34" charset="0"/>
                <a:ea typeface="Arial" pitchFamily="34" charset="-122"/>
                <a:cs typeface="Arial" pitchFamily="34" charset="-120"/>
              </a:rPr>
              <a:t>lưới val chọn</a:t>
            </a:r>
            <a:endParaRPr lang="en-US" sz="1100" dirty="0"/>
          </a:p>
        </p:txBody>
      </p:sp>
      <p:sp>
        <p:nvSpPr>
          <p:cNvPr id="27" name="Shape 25"/>
          <p:cNvSpPr/>
          <p:nvPr/>
        </p:nvSpPr>
        <p:spPr>
          <a:xfrm>
            <a:off x="548640" y="3584448"/>
            <a:ext cx="11091672" cy="374904"/>
          </a:xfrm>
          <a:prstGeom prst="rect">
            <a:avLst/>
          </a:prstGeom>
          <a:solidFill>
            <a:srgbClr val="22252B"/>
          </a:solidFill>
          <a:ln w="12700">
            <a:solidFill>
              <a:srgbClr val="22252B"/>
            </a:solidFill>
            <a:prstDash val="solid"/>
          </a:ln>
        </p:spPr>
      </p:sp>
      <p:sp>
        <p:nvSpPr>
          <p:cNvPr id="28" name="Text 26"/>
          <p:cNvSpPr txBox="1"/>
          <p:nvPr/>
        </p:nvSpPr>
        <p:spPr>
          <a:xfrm>
            <a:off x="640080" y="3584448"/>
            <a:ext cx="548640" cy="374904"/>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V</a:t>
            </a:r>
            <a:endParaRPr lang="en-US" sz="1600" dirty="0"/>
          </a:p>
        </p:txBody>
      </p:sp>
      <p:sp>
        <p:nvSpPr>
          <p:cNvPr id="29" name="Text 27"/>
          <p:cNvSpPr txBox="1"/>
          <p:nvPr/>
        </p:nvSpPr>
        <p:spPr>
          <a:xfrm>
            <a:off x="1234440" y="3584448"/>
            <a:ext cx="1188720" cy="374904"/>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online</a:t>
            </a:r>
            <a:endParaRPr lang="en-US" sz="1200" dirty="0"/>
          </a:p>
        </p:txBody>
      </p:sp>
      <p:sp>
        <p:nvSpPr>
          <p:cNvPr id="30" name="Text 28"/>
          <p:cNvSpPr txBox="1"/>
          <p:nvPr/>
        </p:nvSpPr>
        <p:spPr>
          <a:xfrm>
            <a:off x="2514600" y="3584448"/>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vận tốc lúc vào coast = OLS trên K tâm detection gần nhất; trục |v| ≤ t·SE về 0</a:t>
            </a:r>
            <a:endParaRPr lang="en-US" sz="1100" dirty="0"/>
          </a:p>
        </p:txBody>
      </p:sp>
      <p:sp>
        <p:nvSpPr>
          <p:cNvPr id="31" name="Text 29"/>
          <p:cNvSpPr txBox="1"/>
          <p:nvPr/>
        </p:nvSpPr>
        <p:spPr>
          <a:xfrm>
            <a:off x="8229600" y="3584448"/>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K 20/t0 · 20/t2 · 40/t0 · 40/t2</a:t>
            </a:r>
            <a:endParaRPr lang="en-US" sz="1100" dirty="0"/>
          </a:p>
        </p:txBody>
      </p:sp>
      <p:sp>
        <p:nvSpPr>
          <p:cNvPr id="32" name="Shape 30"/>
          <p:cNvSpPr/>
          <p:nvPr/>
        </p:nvSpPr>
        <p:spPr>
          <a:xfrm>
            <a:off x="548640" y="3986784"/>
            <a:ext cx="11091672" cy="374904"/>
          </a:xfrm>
          <a:prstGeom prst="rect">
            <a:avLst/>
          </a:prstGeom>
          <a:solidFill>
            <a:srgbClr val="2B2F36"/>
          </a:solidFill>
          <a:ln w="12700">
            <a:solidFill>
              <a:srgbClr val="2B2F36"/>
            </a:solidFill>
            <a:prstDash val="solid"/>
          </a:ln>
        </p:spPr>
      </p:sp>
      <p:sp>
        <p:nvSpPr>
          <p:cNvPr id="33" name="Text 31"/>
          <p:cNvSpPr txBox="1"/>
          <p:nvPr/>
        </p:nvSpPr>
        <p:spPr>
          <a:xfrm>
            <a:off x="640080" y="3986784"/>
            <a:ext cx="548640" cy="374904"/>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C</a:t>
            </a:r>
            <a:endParaRPr lang="en-US" sz="1600" dirty="0"/>
          </a:p>
        </p:txBody>
      </p:sp>
      <p:sp>
        <p:nvSpPr>
          <p:cNvPr id="34" name="Text 32"/>
          <p:cNvSpPr txBox="1"/>
          <p:nvPr/>
        </p:nvSpPr>
        <p:spPr>
          <a:xfrm>
            <a:off x="1234440" y="3986784"/>
            <a:ext cx="1188720" cy="374904"/>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online</a:t>
            </a:r>
            <a:endParaRPr lang="en-US" sz="1200" dirty="0"/>
          </a:p>
        </p:txBody>
      </p:sp>
      <p:sp>
        <p:nvSpPr>
          <p:cNvPr id="35" name="Text 33"/>
          <p:cNvSpPr txBox="1"/>
          <p:nvPr/>
        </p:nvSpPr>
        <p:spPr>
          <a:xfrm>
            <a:off x="2514600" y="3986784"/>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trần nhân quả: cổng chỉ arm khi gap ≤ N</a:t>
            </a:r>
            <a:endParaRPr lang="en-US" sz="1100" dirty="0"/>
          </a:p>
        </p:txBody>
      </p:sp>
      <p:sp>
        <p:nvSpPr>
          <p:cNvPr id="36" name="Text 34"/>
          <p:cNvSpPr txBox="1"/>
          <p:nvPr/>
        </p:nvSpPr>
        <p:spPr>
          <a:xfrm>
            <a:off x="8229600" y="3986784"/>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cap 48 · cap 90</a:t>
            </a:r>
            <a:endParaRPr lang="en-US" sz="1100" dirty="0"/>
          </a:p>
        </p:txBody>
      </p:sp>
      <p:sp>
        <p:nvSpPr>
          <p:cNvPr id="37" name="Shape 35"/>
          <p:cNvSpPr/>
          <p:nvPr/>
        </p:nvSpPr>
        <p:spPr>
          <a:xfrm>
            <a:off x="548640" y="4389120"/>
            <a:ext cx="11091672" cy="374904"/>
          </a:xfrm>
          <a:prstGeom prst="rect">
            <a:avLst/>
          </a:prstGeom>
          <a:solidFill>
            <a:srgbClr val="22252B"/>
          </a:solidFill>
          <a:ln w="12700">
            <a:solidFill>
              <a:srgbClr val="22252B"/>
            </a:solidFill>
            <a:prstDash val="solid"/>
          </a:ln>
        </p:spPr>
      </p:sp>
      <p:sp>
        <p:nvSpPr>
          <p:cNvPr id="38" name="Text 36"/>
          <p:cNvSpPr txBox="1"/>
          <p:nvPr/>
        </p:nvSpPr>
        <p:spPr>
          <a:xfrm>
            <a:off x="640080" y="4389120"/>
            <a:ext cx="548640" cy="374904"/>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S</a:t>
            </a:r>
            <a:endParaRPr lang="en-US" sz="1600" dirty="0"/>
          </a:p>
        </p:txBody>
      </p:sp>
      <p:sp>
        <p:nvSpPr>
          <p:cNvPr id="39" name="Text 37"/>
          <p:cNvSpPr txBox="1"/>
          <p:nvPr/>
        </p:nvSpPr>
        <p:spPr>
          <a:xfrm>
            <a:off x="1234440" y="4389120"/>
            <a:ext cx="1188720" cy="374904"/>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online</a:t>
            </a:r>
            <a:endParaRPr lang="en-US" sz="1200" dirty="0"/>
          </a:p>
        </p:txBody>
      </p:sp>
      <p:sp>
        <p:nvSpPr>
          <p:cNvPr id="40" name="Text 38"/>
          <p:cNvSpPr txBox="1"/>
          <p:nvPr/>
        </p:nvSpPr>
        <p:spPr>
          <a:xfrm>
            <a:off x="2514600" y="4389120"/>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burn-exit stitch: detection sắp sinh ID mới nối lại track vừa cháy (1:1)</a:t>
            </a:r>
            <a:endParaRPr lang="en-US" sz="1100" dirty="0"/>
          </a:p>
        </p:txBody>
      </p:sp>
      <p:sp>
        <p:nvSpPr>
          <p:cNvPr id="41" name="Text 39"/>
          <p:cNvSpPr txBox="1"/>
          <p:nvPr/>
        </p:nvSpPr>
        <p:spPr>
          <a:xfrm>
            <a:off x="8229600" y="4389120"/>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stitch k 1.0 · stitch k 1.5</a:t>
            </a:r>
            <a:endParaRPr lang="en-US" sz="1100" dirty="0"/>
          </a:p>
        </p:txBody>
      </p:sp>
      <p:sp>
        <p:nvSpPr>
          <p:cNvPr id="42" name="Shape 40"/>
          <p:cNvSpPr/>
          <p:nvPr/>
        </p:nvSpPr>
        <p:spPr>
          <a:xfrm>
            <a:off x="548640" y="4791456"/>
            <a:ext cx="11091672" cy="374904"/>
          </a:xfrm>
          <a:prstGeom prst="rect">
            <a:avLst/>
          </a:prstGeom>
          <a:solidFill>
            <a:srgbClr val="2B2F36"/>
          </a:solidFill>
          <a:ln w="12700">
            <a:solidFill>
              <a:srgbClr val="2B2F36"/>
            </a:solidFill>
            <a:prstDash val="solid"/>
          </a:ln>
        </p:spPr>
      </p:sp>
      <p:sp>
        <p:nvSpPr>
          <p:cNvPr id="43" name="Text 41"/>
          <p:cNvSpPr txBox="1"/>
          <p:nvPr/>
        </p:nvSpPr>
        <p:spPr>
          <a:xfrm>
            <a:off x="640080" y="4791456"/>
            <a:ext cx="548640" cy="374904"/>
          </a:xfrm>
          <a:prstGeom prst="rect">
            <a:avLst/>
          </a:prstGeom>
          <a:noFill/>
          <a:ln/>
        </p:spPr>
        <p:txBody>
          <a:bodyPr wrap="square" lIns="0" tIns="0" rIns="0" bIns="0" rtlCol="0" anchor="ctr"/>
          <a:lstStyle/>
          <a:p>
            <a:pPr indent="0" marL="0">
              <a:buNone/>
            </a:pPr>
            <a:r>
              <a:rPr lang="en-US" sz="1600" b="1" dirty="0">
                <a:solidFill>
                  <a:srgbClr val="E86BB0"/>
                </a:solidFill>
                <a:latin typeface="Arial" pitchFamily="34" charset="0"/>
                <a:ea typeface="Arial" pitchFamily="34" charset="-122"/>
                <a:cs typeface="Arial" pitchFamily="34" charset="-120"/>
              </a:rPr>
              <a:t>B</a:t>
            </a:r>
            <a:endParaRPr lang="en-US" sz="1600" dirty="0"/>
          </a:p>
        </p:txBody>
      </p:sp>
      <p:sp>
        <p:nvSpPr>
          <p:cNvPr id="44" name="Text 42"/>
          <p:cNvSpPr txBox="1"/>
          <p:nvPr/>
        </p:nvSpPr>
        <p:spPr>
          <a:xfrm>
            <a:off x="1234440" y="4791456"/>
            <a:ext cx="1188720" cy="374904"/>
          </a:xfrm>
          <a:prstGeom prst="rect">
            <a:avLst/>
          </a:prstGeom>
          <a:noFill/>
          <a:ln/>
        </p:spPr>
        <p:txBody>
          <a:bodyPr wrap="square" lIns="0" tIns="0" rIns="0" bIns="0" rtlCol="0" anchor="ctr"/>
          <a:lstStyle/>
          <a:p>
            <a:pPr indent="0" marL="0">
              <a:buNone/>
            </a:pPr>
            <a:r>
              <a:rPr lang="en-US" sz="1200" b="1" dirty="0">
                <a:solidFill>
                  <a:srgbClr val="E86BB0"/>
                </a:solidFill>
                <a:latin typeface="Arial" pitchFamily="34" charset="0"/>
                <a:ea typeface="Arial" pitchFamily="34" charset="-122"/>
                <a:cs typeface="Arial" pitchFamily="34" charset="-120"/>
              </a:rPr>
              <a:t>fixed-lag</a:t>
            </a:r>
            <a:endParaRPr lang="en-US" sz="1200" dirty="0"/>
          </a:p>
        </p:txBody>
      </p:sp>
      <p:sp>
        <p:nvSpPr>
          <p:cNvPr id="45" name="Text 43"/>
          <p:cNvSpPr txBox="1"/>
          <p:nvPr/>
        </p:nvSpPr>
        <p:spPr>
          <a:xfrm>
            <a:off x="2514600" y="4791456"/>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backfill: đường thẳng giữa hai detection (hidden: chỉ thêm hàng thiếu; all: thay luôn)</a:t>
            </a:r>
            <a:endParaRPr lang="en-US" sz="1100" dirty="0"/>
          </a:p>
        </p:txBody>
      </p:sp>
      <p:sp>
        <p:nvSpPr>
          <p:cNvPr id="46" name="Text 44"/>
          <p:cNvSpPr txBox="1"/>
          <p:nvPr/>
        </p:nvSpPr>
        <p:spPr>
          <a:xfrm>
            <a:off x="8229600" y="4791456"/>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L45 hidden · L45 all · L90 hidden · L90 all</a:t>
            </a:r>
            <a:endParaRPr lang="en-US" sz="1100" dirty="0"/>
          </a:p>
        </p:txBody>
      </p:sp>
      <p:sp>
        <p:nvSpPr>
          <p:cNvPr id="47" name="Shape 45"/>
          <p:cNvSpPr/>
          <p:nvPr/>
        </p:nvSpPr>
        <p:spPr>
          <a:xfrm>
            <a:off x="548640" y="5193792"/>
            <a:ext cx="11091672" cy="374904"/>
          </a:xfrm>
          <a:prstGeom prst="rect">
            <a:avLst/>
          </a:prstGeom>
          <a:solidFill>
            <a:srgbClr val="22252B"/>
          </a:solidFill>
          <a:ln w="12700">
            <a:solidFill>
              <a:srgbClr val="22252B"/>
            </a:solidFill>
            <a:prstDash val="solid"/>
          </a:ln>
        </p:spPr>
      </p:sp>
      <p:sp>
        <p:nvSpPr>
          <p:cNvPr id="48" name="Text 46"/>
          <p:cNvSpPr txBox="1"/>
          <p:nvPr/>
        </p:nvSpPr>
        <p:spPr>
          <a:xfrm>
            <a:off x="640080" y="5193792"/>
            <a:ext cx="548640" cy="374904"/>
          </a:xfrm>
          <a:prstGeom prst="rect">
            <a:avLst/>
          </a:prstGeom>
          <a:noFill/>
          <a:ln/>
        </p:spPr>
        <p:txBody>
          <a:bodyPr wrap="square" lIns="0" tIns="0" rIns="0" bIns="0" rtlCol="0" anchor="ctr"/>
          <a:lstStyle/>
          <a:p>
            <a:pPr indent="0" marL="0">
              <a:buNone/>
            </a:pPr>
            <a:r>
              <a:rPr lang="en-US" sz="1600" b="1" dirty="0">
                <a:solidFill>
                  <a:srgbClr val="E86BB0"/>
                </a:solidFill>
                <a:latin typeface="Arial" pitchFamily="34" charset="0"/>
                <a:ea typeface="Arial" pitchFamily="34" charset="-122"/>
                <a:cs typeface="Arial" pitchFamily="34" charset="-120"/>
              </a:rPr>
              <a:t>BB</a:t>
            </a:r>
            <a:endParaRPr lang="en-US" sz="1600" dirty="0"/>
          </a:p>
        </p:txBody>
      </p:sp>
      <p:sp>
        <p:nvSpPr>
          <p:cNvPr id="49" name="Text 47"/>
          <p:cNvSpPr txBox="1"/>
          <p:nvPr/>
        </p:nvSpPr>
        <p:spPr>
          <a:xfrm>
            <a:off x="1234440" y="5193792"/>
            <a:ext cx="1188720" cy="374904"/>
          </a:xfrm>
          <a:prstGeom prst="rect">
            <a:avLst/>
          </a:prstGeom>
          <a:noFill/>
          <a:ln/>
        </p:spPr>
        <p:txBody>
          <a:bodyPr wrap="square" lIns="0" tIns="0" rIns="0" bIns="0" rtlCol="0" anchor="ctr"/>
          <a:lstStyle/>
          <a:p>
            <a:pPr indent="0" marL="0">
              <a:buNone/>
            </a:pPr>
            <a:r>
              <a:rPr lang="en-US" sz="1200" b="1" dirty="0">
                <a:solidFill>
                  <a:srgbClr val="E86BB0"/>
                </a:solidFill>
                <a:latin typeface="Arial" pitchFamily="34" charset="0"/>
                <a:ea typeface="Arial" pitchFamily="34" charset="-122"/>
                <a:cs typeface="Arial" pitchFamily="34" charset="-120"/>
              </a:rPr>
              <a:t>fixed-lag</a:t>
            </a:r>
            <a:endParaRPr lang="en-US" sz="1200" dirty="0"/>
          </a:p>
        </p:txBody>
      </p:sp>
      <p:sp>
        <p:nvSpPr>
          <p:cNvPr id="50" name="Text 48"/>
          <p:cNvSpPr txBox="1"/>
          <p:nvPr/>
        </p:nvSpPr>
        <p:spPr>
          <a:xfrm>
            <a:off x="2514600" y="5193792"/>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backward birth: track cháy ngay lúc sinh được thêm hàng ngược về trước</a:t>
            </a:r>
            <a:endParaRPr lang="en-US" sz="1100" dirty="0"/>
          </a:p>
        </p:txBody>
      </p:sp>
      <p:sp>
        <p:nvSpPr>
          <p:cNvPr id="51" name="Text 49"/>
          <p:cNvSpPr txBox="1"/>
          <p:nvPr/>
        </p:nvSpPr>
        <p:spPr>
          <a:xfrm>
            <a:off x="8229600" y="5193792"/>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backward birth</a:t>
            </a:r>
            <a:endParaRPr lang="en-US" sz="1100" dirty="0"/>
          </a:p>
        </p:txBody>
      </p:sp>
      <p:sp>
        <p:nvSpPr>
          <p:cNvPr id="52" name="Shape 50"/>
          <p:cNvSpPr/>
          <p:nvPr/>
        </p:nvSpPr>
        <p:spPr>
          <a:xfrm>
            <a:off x="548640" y="5705856"/>
            <a:ext cx="11091672" cy="621792"/>
          </a:xfrm>
          <a:prstGeom prst="roundRect">
            <a:avLst>
              <a:gd name="adj" fmla="val 17647"/>
            </a:avLst>
          </a:prstGeom>
          <a:solidFill>
            <a:srgbClr val="2B2F36"/>
          </a:solidFill>
          <a:ln w="12700">
            <a:solidFill>
              <a:srgbClr val="2B2F36"/>
            </a:solidFill>
            <a:prstDash val="solid"/>
          </a:ln>
        </p:spPr>
      </p:sp>
      <p:sp>
        <p:nvSpPr>
          <p:cNvPr id="53" name="Shape 51"/>
          <p:cNvSpPr/>
          <p:nvPr/>
        </p:nvSpPr>
        <p:spPr>
          <a:xfrm>
            <a:off x="548640" y="5705856"/>
            <a:ext cx="91440" cy="621792"/>
          </a:xfrm>
          <a:prstGeom prst="rect">
            <a:avLst/>
          </a:prstGeom>
          <a:solidFill>
            <a:srgbClr val="F2A900"/>
          </a:solidFill>
          <a:ln w="12700">
            <a:solidFill>
              <a:srgbClr val="F2A900"/>
            </a:solidFill>
            <a:prstDash val="solid"/>
          </a:ln>
        </p:spPr>
      </p:sp>
      <p:sp>
        <p:nvSpPr>
          <p:cNvPr id="54" name="Text 52"/>
          <p:cNvSpPr txBox="1"/>
          <p:nvPr/>
        </p:nvSpPr>
        <p:spPr>
          <a:xfrm>
            <a:off x="822960" y="5705856"/>
            <a:ext cx="10698480" cy="621792"/>
          </a:xfrm>
          <a:prstGeom prst="rect">
            <a:avLst/>
          </a:prstGeom>
          <a:noFill/>
          <a:ln/>
        </p:spPr>
        <p:txBody>
          <a:bodyPr wrap="square" lIns="0" tIns="0" rIns="0" bIns="0" rtlCol="0" anchor="ctr"/>
          <a:lstStyle/>
          <a:p>
            <a:pPr indent="0" marL="0">
              <a:buNone/>
            </a:pPr>
            <a:r>
              <a:rPr lang="en-US" sz="1350" b="1" dirty="0">
                <a:solidFill>
                  <a:srgbClr val="F2A900"/>
                </a:solidFill>
                <a:latin typeface="Arial" pitchFamily="34" charset="0"/>
                <a:ea typeface="Arial" pitchFamily="34" charset="-122"/>
                <a:cs typeface="Arial" pitchFamily="34" charset="-120"/>
              </a:rPr>
              <a:t>Lưu ý rò rỉ: </a:t>
            </a:r>
            <a:pPr indent="0" marL="0">
              <a:buNone/>
            </a:pPr>
            <a:r>
              <a:rPr lang="en-US" sz="1350" dirty="0">
                <a:solidFill>
                  <a:srgbClr val="F2F2F2"/>
                </a:solidFill>
                <a:latin typeface="Arial" pitchFamily="34" charset="0"/>
                <a:ea typeface="Arial" pitchFamily="34" charset="-122"/>
                <a:cs typeface="Arial" pitchFamily="34" charset="-120"/>
              </a:rPr>
              <a:t>PEG-C chỉ đọc cổng φ ≥ h như PEG, không đọc hình đĩa chói (synth đặt đĩa theo GT box). Hàng fixed-lag trễ ≤ L khung nên không phải online và luôn được báo riêng.</a:t>
            </a:r>
            <a:endParaRPr lang="en-US" sz="1350" dirty="0"/>
          </a:p>
        </p:txBody>
      </p:sp>
      <p:sp>
        <p:nvSpPr>
          <p:cNvPr id="55" name="Shape 5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6" name="Text 5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7" name="Text 5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PEG-C · KẾT QUẢ</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PEG-C trên val và test: val nhận V, test không xác nhận</a:t>
            </a:r>
            <a:endParaRPr lang="en-US" sz="2600" dirty="0"/>
          </a:p>
        </p:txBody>
      </p:sp>
      <p:sp>
        <p:nvSpPr>
          <p:cNvPr id="4" name="Shape 2"/>
          <p:cNvSpPr/>
          <p:nvPr/>
        </p:nvSpPr>
        <p:spPr>
          <a:xfrm>
            <a:off x="548640" y="1417320"/>
            <a:ext cx="6583680" cy="2468880"/>
          </a:xfrm>
          <a:prstGeom prst="roundRect">
            <a:avLst>
              <a:gd name="adj" fmla="val 4444"/>
            </a:avLst>
          </a:prstGeom>
          <a:solidFill>
            <a:srgbClr val="22252B"/>
          </a:solidFill>
          <a:ln w="12700">
            <a:solidFill>
              <a:srgbClr val="22252B"/>
            </a:solidFill>
            <a:prstDash val="solid"/>
          </a:ln>
        </p:spPr>
      </p:sp>
      <p:sp>
        <p:nvSpPr>
          <p:cNvPr id="5" name="Text 3"/>
          <p:cNvSpPr txBox="1"/>
          <p:nvPr/>
        </p:nvSpPr>
        <p:spPr>
          <a:xfrm>
            <a:off x="777240" y="1463040"/>
            <a:ext cx="27432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Δ so với PEG+:</a:t>
            </a:r>
            <a:endParaRPr lang="en-US" sz="1300" dirty="0"/>
          </a:p>
        </p:txBody>
      </p:sp>
      <p:sp>
        <p:nvSpPr>
          <p:cNvPr id="6" name="Text 4"/>
          <p:cNvSpPr txBox="1"/>
          <p:nvPr/>
        </p:nvSpPr>
        <p:spPr>
          <a:xfrm>
            <a:off x="2834640"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T1 HOTA</a:t>
            </a:r>
            <a:endParaRPr lang="en-US" sz="1100" dirty="0"/>
          </a:p>
        </p:txBody>
      </p:sp>
      <p:sp>
        <p:nvSpPr>
          <p:cNvPr id="7" name="Text 5"/>
          <p:cNvSpPr txBox="1"/>
          <p:nvPr/>
        </p:nvSpPr>
        <p:spPr>
          <a:xfrm>
            <a:off x="3858768"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T1 IDF1</a:t>
            </a:r>
            <a:endParaRPr lang="en-US" sz="1100" dirty="0"/>
          </a:p>
        </p:txBody>
      </p:sp>
      <p:sp>
        <p:nvSpPr>
          <p:cNvPr id="8" name="Text 6"/>
          <p:cNvSpPr txBox="1"/>
          <p:nvPr/>
        </p:nvSpPr>
        <p:spPr>
          <a:xfrm>
            <a:off x="4882896"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T2 HOTA</a:t>
            </a:r>
            <a:endParaRPr lang="en-US" sz="1100" dirty="0"/>
          </a:p>
        </p:txBody>
      </p:sp>
      <p:sp>
        <p:nvSpPr>
          <p:cNvPr id="9" name="Text 7"/>
          <p:cNvSpPr txBox="1"/>
          <p:nvPr/>
        </p:nvSpPr>
        <p:spPr>
          <a:xfrm>
            <a:off x="5907024"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T3 Rcv@.5</a:t>
            </a:r>
            <a:endParaRPr lang="en-US" sz="1100" dirty="0"/>
          </a:p>
        </p:txBody>
      </p:sp>
      <p:sp>
        <p:nvSpPr>
          <p:cNvPr id="10" name="Text 8"/>
          <p:cNvSpPr txBox="1"/>
          <p:nvPr/>
        </p:nvSpPr>
        <p:spPr>
          <a:xfrm>
            <a:off x="777240" y="2011680"/>
            <a:ext cx="2331720" cy="5029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val</a:t>
            </a:r>
            <a:endParaRPr lang="en-US" sz="1600" dirty="0"/>
          </a:p>
          <a:p>
            <a:pPr indent="0" marL="0">
              <a:buNone/>
            </a:pPr>
            <a:r>
              <a:rPr lang="en-US" sz="850" dirty="0">
                <a:solidFill>
                  <a:srgbClr val="A3A8B0"/>
                </a:solidFill>
                <a:latin typeface="Arial" pitchFamily="34" charset="0"/>
                <a:ea typeface="Arial" pitchFamily="34" charset="-122"/>
                <a:cs typeface="Arial" pitchFamily="34" charset="-120"/>
              </a:rPr>
              <a:t>harness Thạch, guard bật</a:t>
            </a:r>
            <a:endParaRPr lang="en-US" sz="1600" dirty="0"/>
          </a:p>
        </p:txBody>
      </p:sp>
      <p:sp>
        <p:nvSpPr>
          <p:cNvPr id="11" name="Text 9"/>
          <p:cNvSpPr txBox="1"/>
          <p:nvPr/>
        </p:nvSpPr>
        <p:spPr>
          <a:xfrm>
            <a:off x="2834640" y="2011680"/>
            <a:ext cx="1024128" cy="502920"/>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−0.44</a:t>
            </a:r>
            <a:endParaRPr lang="en-US" sz="1900" dirty="0"/>
          </a:p>
        </p:txBody>
      </p:sp>
      <p:sp>
        <p:nvSpPr>
          <p:cNvPr id="12" name="Text 10"/>
          <p:cNvSpPr txBox="1"/>
          <p:nvPr/>
        </p:nvSpPr>
        <p:spPr>
          <a:xfrm>
            <a:off x="3858768" y="2011680"/>
            <a:ext cx="1024128" cy="502920"/>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−1.10</a:t>
            </a:r>
            <a:endParaRPr lang="en-US" sz="1900" dirty="0"/>
          </a:p>
        </p:txBody>
      </p:sp>
      <p:sp>
        <p:nvSpPr>
          <p:cNvPr id="13" name="Text 11"/>
          <p:cNvSpPr txBox="1"/>
          <p:nvPr/>
        </p:nvSpPr>
        <p:spPr>
          <a:xfrm>
            <a:off x="4882896" y="2011680"/>
            <a:ext cx="1024128" cy="502920"/>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−0.10</a:t>
            </a:r>
            <a:endParaRPr lang="en-US" sz="1900" dirty="0"/>
          </a:p>
        </p:txBody>
      </p:sp>
      <p:sp>
        <p:nvSpPr>
          <p:cNvPr id="14" name="Text 12"/>
          <p:cNvSpPr txBox="1"/>
          <p:nvPr/>
        </p:nvSpPr>
        <p:spPr>
          <a:xfrm>
            <a:off x="5907024" y="2011680"/>
            <a:ext cx="1024128" cy="502920"/>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a:t>
            </a:r>
            <a:endParaRPr lang="en-US" sz="1900" dirty="0"/>
          </a:p>
        </p:txBody>
      </p:sp>
      <p:sp>
        <p:nvSpPr>
          <p:cNvPr id="15" name="Text 13"/>
          <p:cNvSpPr txBox="1"/>
          <p:nvPr/>
        </p:nvSpPr>
        <p:spPr>
          <a:xfrm>
            <a:off x="777240" y="2542032"/>
            <a:ext cx="2331720" cy="5029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test</a:t>
            </a:r>
            <a:endParaRPr lang="en-US" sz="1600" dirty="0"/>
          </a:p>
          <a:p>
            <a:pPr indent="0" marL="0">
              <a:buNone/>
            </a:pPr>
            <a:r>
              <a:rPr lang="en-US" sz="850" dirty="0">
                <a:solidFill>
                  <a:srgbClr val="A3A8B0"/>
                </a:solidFill>
                <a:latin typeface="Arial" pitchFamily="34" charset="0"/>
                <a:ea typeface="Arial" pitchFamily="34" charset="-122"/>
                <a:cs typeface="Arial" pitchFamily="34" charset="-120"/>
              </a:rPr>
              <a:t>repo mình, guard tắt (paper)</a:t>
            </a:r>
            <a:endParaRPr lang="en-US" sz="1600" dirty="0"/>
          </a:p>
        </p:txBody>
      </p:sp>
      <p:sp>
        <p:nvSpPr>
          <p:cNvPr id="16" name="Text 14"/>
          <p:cNvSpPr txBox="1"/>
          <p:nvPr/>
        </p:nvSpPr>
        <p:spPr>
          <a:xfrm>
            <a:off x="2834640" y="2542032"/>
            <a:ext cx="1024128" cy="502920"/>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+0.26</a:t>
            </a:r>
            <a:endParaRPr lang="en-US" sz="1900" dirty="0"/>
          </a:p>
        </p:txBody>
      </p:sp>
      <p:sp>
        <p:nvSpPr>
          <p:cNvPr id="17" name="Text 15"/>
          <p:cNvSpPr txBox="1"/>
          <p:nvPr/>
        </p:nvSpPr>
        <p:spPr>
          <a:xfrm>
            <a:off x="3858768" y="2542032"/>
            <a:ext cx="1024128" cy="502920"/>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+1.00</a:t>
            </a:r>
            <a:endParaRPr lang="en-US" sz="1900" dirty="0"/>
          </a:p>
        </p:txBody>
      </p:sp>
      <p:sp>
        <p:nvSpPr>
          <p:cNvPr id="18" name="Text 16"/>
          <p:cNvSpPr txBox="1"/>
          <p:nvPr/>
        </p:nvSpPr>
        <p:spPr>
          <a:xfrm>
            <a:off x="4882896" y="2542032"/>
            <a:ext cx="1024128" cy="502920"/>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−1.39</a:t>
            </a:r>
            <a:endParaRPr lang="en-US" sz="1900" dirty="0"/>
          </a:p>
        </p:txBody>
      </p:sp>
      <p:sp>
        <p:nvSpPr>
          <p:cNvPr id="19" name="Text 17"/>
          <p:cNvSpPr txBox="1"/>
          <p:nvPr/>
        </p:nvSpPr>
        <p:spPr>
          <a:xfrm>
            <a:off x="5907024" y="2542032"/>
            <a:ext cx="1024128" cy="502920"/>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−1.7</a:t>
            </a:r>
            <a:endParaRPr lang="en-US" sz="1900" dirty="0"/>
          </a:p>
        </p:txBody>
      </p:sp>
      <p:sp>
        <p:nvSpPr>
          <p:cNvPr id="20" name="Text 18"/>
          <p:cNvSpPr txBox="1"/>
          <p:nvPr/>
        </p:nvSpPr>
        <p:spPr>
          <a:xfrm>
            <a:off x="777240" y="3072384"/>
            <a:ext cx="2331720" cy="457200"/>
          </a:xfrm>
          <a:prstGeom prst="rect">
            <a:avLst/>
          </a:prstGeom>
          <a:noFill/>
          <a:ln/>
        </p:spPr>
        <p:txBody>
          <a:bodyPr wrap="square" lIns="0" tIns="0" rIns="0" bIns="0" rtlCol="0" anchor="ctr"/>
          <a:lstStyle/>
          <a:p>
            <a:pPr indent="0" marL="0">
              <a:buNone/>
            </a:pPr>
            <a:r>
              <a:rPr lang="en-US" sz="1300" b="1" dirty="0">
                <a:solidFill>
                  <a:srgbClr val="E86BB0"/>
                </a:solidFill>
                <a:latin typeface="Arial" pitchFamily="34" charset="0"/>
                <a:ea typeface="Arial" pitchFamily="34" charset="-122"/>
                <a:cs typeface="Arial" pitchFamily="34" charset="-120"/>
              </a:rPr>
              <a:t>fixed-lag 90</a:t>
            </a:r>
            <a:endParaRPr lang="en-US" sz="1600" dirty="0"/>
          </a:p>
          <a:p>
            <a:pPr indent="0" marL="0">
              <a:buNone/>
            </a:pPr>
            <a:r>
              <a:rPr lang="en-US" sz="850" dirty="0">
                <a:solidFill>
                  <a:srgbClr val="A3A8B0"/>
                </a:solidFill>
                <a:latin typeface="Arial" pitchFamily="34" charset="0"/>
                <a:ea typeface="Arial" pitchFamily="34" charset="-122"/>
                <a:cs typeface="Arial" pitchFamily="34" charset="-120"/>
              </a:rPr>
              <a:t>không được val chọn · test, guard tắt</a:t>
            </a:r>
            <a:endParaRPr lang="en-US" sz="1600" dirty="0"/>
          </a:p>
        </p:txBody>
      </p:sp>
      <p:sp>
        <p:nvSpPr>
          <p:cNvPr id="21" name="Text 19"/>
          <p:cNvSpPr txBox="1"/>
          <p:nvPr/>
        </p:nvSpPr>
        <p:spPr>
          <a:xfrm>
            <a:off x="2834640" y="3072384"/>
            <a:ext cx="1024128" cy="457200"/>
          </a:xfrm>
          <a:prstGeom prst="rect">
            <a:avLst/>
          </a:prstGeom>
          <a:noFill/>
          <a:ln/>
        </p:spPr>
        <p:txBody>
          <a:bodyPr wrap="square" lIns="0" tIns="0" rIns="0" bIns="0" rtlCol="0" anchor="ctr"/>
          <a:lstStyle/>
          <a:p>
            <a:pPr algn="ctr" indent="0" marL="0">
              <a:buNone/>
            </a:pPr>
            <a:r>
              <a:rPr lang="en-US" sz="1600" b="1" dirty="0">
                <a:solidFill>
                  <a:srgbClr val="19A35F"/>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3858768" y="3072384"/>
            <a:ext cx="1024128" cy="457200"/>
          </a:xfrm>
          <a:prstGeom prst="rect">
            <a:avLst/>
          </a:prstGeom>
          <a:noFill/>
          <a:ln/>
        </p:spPr>
        <p:txBody>
          <a:bodyPr wrap="square" lIns="0" tIns="0" rIns="0" bIns="0" rtlCol="0" anchor="ctr"/>
          <a:lstStyle/>
          <a:p>
            <a:pPr algn="ctr" indent="0" marL="0">
              <a:buNone/>
            </a:pPr>
            <a:r>
              <a:rPr lang="en-US" sz="1600" b="1" dirty="0">
                <a:solidFill>
                  <a:srgbClr val="19A35F"/>
                </a:solidFill>
                <a:latin typeface="Arial" pitchFamily="34" charset="0"/>
                <a:ea typeface="Arial" pitchFamily="34" charset="-122"/>
                <a:cs typeface="Arial" pitchFamily="34" charset="-120"/>
              </a:rPr>
              <a:t>+0.99</a:t>
            </a:r>
            <a:endParaRPr lang="en-US" sz="1600" dirty="0"/>
          </a:p>
        </p:txBody>
      </p:sp>
      <p:sp>
        <p:nvSpPr>
          <p:cNvPr id="23" name="Text 21"/>
          <p:cNvSpPr txBox="1"/>
          <p:nvPr/>
        </p:nvSpPr>
        <p:spPr>
          <a:xfrm>
            <a:off x="4882896" y="3072384"/>
            <a:ext cx="1024128" cy="45720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−1.50</a:t>
            </a:r>
            <a:endParaRPr lang="en-US" sz="1600" dirty="0"/>
          </a:p>
        </p:txBody>
      </p:sp>
      <p:sp>
        <p:nvSpPr>
          <p:cNvPr id="24" name="Text 22"/>
          <p:cNvSpPr txBox="1"/>
          <p:nvPr/>
        </p:nvSpPr>
        <p:spPr>
          <a:xfrm>
            <a:off x="5907024" y="3072384"/>
            <a:ext cx="1024128" cy="45720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−1.7</a:t>
            </a:r>
            <a:endParaRPr lang="en-US" sz="1600" dirty="0"/>
          </a:p>
        </p:txBody>
      </p:sp>
      <p:sp>
        <p:nvSpPr>
          <p:cNvPr id="25" name="Text 23"/>
          <p:cNvSpPr txBox="1"/>
          <p:nvPr/>
        </p:nvSpPr>
        <p:spPr>
          <a:xfrm>
            <a:off x="777240" y="3593592"/>
            <a:ext cx="6217920" cy="274320"/>
          </a:xfrm>
          <a:prstGeom prst="rect">
            <a:avLst/>
          </a:prstGeom>
          <a:noFill/>
          <a:ln/>
        </p:spPr>
        <p:txBody>
          <a:bodyPr wrap="square" lIns="0" tIns="0" rIns="0" bIns="0" rtlCol="0" anchor="t"/>
          <a:lstStyle/>
          <a:p>
            <a:pPr indent="0" marL="0">
              <a:buNone/>
            </a:pPr>
            <a:r>
              <a:rPr lang="en-US" sz="1000" dirty="0">
                <a:solidFill>
                  <a:srgbClr val="A3A8B0"/>
                </a:solidFill>
                <a:latin typeface="Arial" pitchFamily="34" charset="0"/>
                <a:ea typeface="Arial" pitchFamily="34" charset="-122"/>
                <a:cs typeface="Arial" pitchFamily="34" charset="-120"/>
              </a:rPr>
              <a:t>Fixed-lag (B hidden) trùng online ở T3: B không thêm hàng nào vì cổng đã phát box cho gần như mọi khung.</a:t>
            </a:r>
            <a:endParaRPr lang="en-US" sz="1000" dirty="0"/>
          </a:p>
        </p:txBody>
      </p:sp>
      <p:sp>
        <p:nvSpPr>
          <p:cNvPr id="26" name="Shape 24"/>
          <p:cNvSpPr/>
          <p:nvPr/>
        </p:nvSpPr>
        <p:spPr>
          <a:xfrm>
            <a:off x="7269480" y="1417320"/>
            <a:ext cx="4370832" cy="2468880"/>
          </a:xfrm>
          <a:prstGeom prst="roundRect">
            <a:avLst>
              <a:gd name="adj" fmla="val 4444"/>
            </a:avLst>
          </a:prstGeom>
          <a:solidFill>
            <a:srgbClr val="2B2F36"/>
          </a:solidFill>
          <a:ln w="12700">
            <a:solidFill>
              <a:srgbClr val="2B2F36"/>
            </a:solidFill>
            <a:prstDash val="solid"/>
          </a:ln>
        </p:spPr>
      </p:sp>
      <p:sp>
        <p:nvSpPr>
          <p:cNvPr id="27" name="Text 25"/>
          <p:cNvSpPr txBox="1"/>
          <p:nvPr/>
        </p:nvSpPr>
        <p:spPr>
          <a:xfrm>
            <a:off x="7452360" y="1463040"/>
            <a:ext cx="4114800" cy="274320"/>
          </a:xfrm>
          <a:prstGeom prst="rect">
            <a:avLst/>
          </a:prstGeom>
          <a:noFill/>
          <a:ln/>
        </p:spPr>
        <p:txBody>
          <a:bodyPr wrap="square" lIns="0" tIns="0" rIns="0" bIns="0" rtlCol="0" anchor="t"/>
          <a:lstStyle/>
          <a:p>
            <a:pPr indent="0" marL="0">
              <a:buNone/>
            </a:pPr>
            <a:r>
              <a:rPr lang="en-US" sz="1250" b="1" dirty="0">
                <a:solidFill>
                  <a:srgbClr val="1B9AA6"/>
                </a:solidFill>
                <a:latin typeface="Arial" pitchFamily="34" charset="0"/>
                <a:ea typeface="Arial" pitchFamily="34" charset="-122"/>
                <a:cs typeface="Arial" pitchFamily="34" charset="-120"/>
              </a:rPr>
              <a:t>Từng lần chói (T3), PEG-C so với PEG+</a:t>
            </a:r>
            <a:endParaRPr lang="en-US" sz="1250" dirty="0"/>
          </a:p>
        </p:txBody>
      </p:sp>
      <p:sp>
        <p:nvSpPr>
          <p:cNvPr id="28" name="Text 26"/>
          <p:cNvSpPr txBox="1"/>
          <p:nvPr/>
        </p:nvSpPr>
        <p:spPr>
          <a:xfrm>
            <a:off x="7452360" y="1828800"/>
            <a:ext cx="4069080" cy="6400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test (30 ep.)  </a:t>
            </a:r>
            <a:pPr indent="0" marL="0">
              <a:buNone/>
            </a:pPr>
            <a:r>
              <a:rPr lang="en-US" sz="1400" b="1" dirty="0">
                <a:solidFill>
                  <a:srgbClr val="F2A900"/>
                </a:solidFill>
                <a:latin typeface="Arial" pitchFamily="34" charset="0"/>
                <a:ea typeface="Arial" pitchFamily="34" charset="-122"/>
                <a:cs typeface="Arial" pitchFamily="34" charset="-120"/>
              </a:rPr>
              <a:t>Δ −1.8 [−7.7, +3.6]</a:t>
            </a:r>
            <a:endParaRPr lang="en-US" sz="1400" dirty="0"/>
          </a:p>
          <a:p>
            <a:pPr indent="0" marL="0">
              <a:buNone/>
            </a:pPr>
            <a:r>
              <a:rPr lang="en-US" sz="1100" dirty="0">
                <a:solidFill>
                  <a:srgbClr val="A3A8B0"/>
                </a:solidFill>
                <a:latin typeface="Arial" pitchFamily="34" charset="0"/>
                <a:ea typeface="Arial" pitchFamily="34" charset="-122"/>
                <a:cs typeface="Arial" pitchFamily="34" charset="-120"/>
              </a:rPr>
              <a:t>4 tốt hơn / 5 tệ hơn / 21 như nhau</a:t>
            </a:r>
            <a:endParaRPr lang="en-US" sz="1400" dirty="0"/>
          </a:p>
        </p:txBody>
      </p:sp>
      <p:sp>
        <p:nvSpPr>
          <p:cNvPr id="29" name="Text 27"/>
          <p:cNvSpPr txBox="1"/>
          <p:nvPr/>
        </p:nvSpPr>
        <p:spPr>
          <a:xfrm>
            <a:off x="7452360" y="2514600"/>
            <a:ext cx="4069080" cy="6400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val (18 ep.)  </a:t>
            </a:r>
            <a:pPr indent="0" marL="0">
              <a:buNone/>
            </a:pPr>
            <a:r>
              <a:rPr lang="en-US" sz="1400" b="1" dirty="0">
                <a:solidFill>
                  <a:srgbClr val="19A35F"/>
                </a:solidFill>
                <a:latin typeface="Arial" pitchFamily="34" charset="0"/>
                <a:ea typeface="Arial" pitchFamily="34" charset="-122"/>
                <a:cs typeface="Arial" pitchFamily="34" charset="-120"/>
              </a:rPr>
              <a:t>Δ +8.6 [+3.0, +15.7]</a:t>
            </a:r>
            <a:endParaRPr lang="en-US" sz="1400" dirty="0"/>
          </a:p>
          <a:p>
            <a:pPr indent="0" marL="0">
              <a:buNone/>
            </a:pPr>
            <a:r>
              <a:rPr lang="en-US" sz="1100" dirty="0">
                <a:solidFill>
                  <a:srgbClr val="A3A8B0"/>
                </a:solidFill>
                <a:latin typeface="Arial" pitchFamily="34" charset="0"/>
                <a:ea typeface="Arial" pitchFamily="34" charset="-122"/>
                <a:cs typeface="Arial" pitchFamily="34" charset="-120"/>
              </a:rPr>
              <a:t>9 tốt hơn / 1 tệ hơn / 8 như nhau</a:t>
            </a:r>
            <a:endParaRPr lang="en-US" sz="1400" dirty="0"/>
          </a:p>
        </p:txBody>
      </p:sp>
      <p:sp>
        <p:nvSpPr>
          <p:cNvPr id="30" name="Text 28"/>
          <p:cNvSpPr txBox="1"/>
          <p:nvPr/>
        </p:nvSpPr>
        <p:spPr>
          <a:xfrm>
            <a:off x="7452360" y="3200400"/>
            <a:ext cx="4069080" cy="6400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gộp (48 ep.)  </a:t>
            </a:r>
            <a:pPr indent="0" marL="0">
              <a:buNone/>
            </a:pPr>
            <a:r>
              <a:rPr lang="en-US" sz="1400" b="1" dirty="0">
                <a:solidFill>
                  <a:srgbClr val="F2A900"/>
                </a:solidFill>
                <a:latin typeface="Arial" pitchFamily="34" charset="0"/>
                <a:ea typeface="Arial" pitchFamily="34" charset="-122"/>
                <a:cs typeface="Arial" pitchFamily="34" charset="-120"/>
              </a:rPr>
              <a:t>Δ +2.4 [−2.1, +6.8]</a:t>
            </a:r>
            <a:endParaRPr lang="en-US" sz="1400" dirty="0"/>
          </a:p>
          <a:p>
            <a:pPr indent="0" marL="0">
              <a:buNone/>
            </a:pPr>
            <a:r>
              <a:rPr lang="en-US" sz="1100" dirty="0">
                <a:solidFill>
                  <a:srgbClr val="A3A8B0"/>
                </a:solidFill>
                <a:latin typeface="Arial" pitchFamily="34" charset="0"/>
                <a:ea typeface="Arial" pitchFamily="34" charset="-122"/>
                <a:cs typeface="Arial" pitchFamily="34" charset="-120"/>
              </a:rPr>
              <a:t>13 tốt hơn / 6 tệ hơn / 29 như nhau</a:t>
            </a:r>
            <a:endParaRPr lang="en-US" sz="1400" dirty="0"/>
          </a:p>
        </p:txBody>
      </p:sp>
      <p:pic>
        <p:nvPicPr>
          <p:cNvPr id="31" name="Image 0" descr="D:\PROJECT\PEG\results\peg_c\figures\187_66q_strip.png">    </p:cNvPr>
          <p:cNvPicPr>
            <a:picLocks noChangeAspect="1"/>
          </p:cNvPicPr>
          <p:nvPr/>
        </p:nvPicPr>
        <p:blipFill>
          <a:blip r:embed="rId1"/>
          <a:stretch>
            <a:fillRect/>
          </a:stretch>
        </p:blipFill>
        <p:spPr>
          <a:xfrm>
            <a:off x="548640" y="4023360"/>
            <a:ext cx="3115580" cy="1828800"/>
          </a:xfrm>
          <a:prstGeom prst="rect">
            <a:avLst/>
          </a:prstGeom>
        </p:spPr>
      </p:pic>
      <p:pic>
        <p:nvPicPr>
          <p:cNvPr id="32" name="Image 1" descr="D:\PROJECT\PEG\results\peg_c\figures\211_88q_strip.png">    </p:cNvPr>
          <p:cNvPicPr>
            <a:picLocks noChangeAspect="1"/>
          </p:cNvPicPr>
          <p:nvPr/>
        </p:nvPicPr>
        <p:blipFill>
          <a:blip r:embed="rId2"/>
          <a:stretch>
            <a:fillRect/>
          </a:stretch>
        </p:blipFill>
        <p:spPr>
          <a:xfrm>
            <a:off x="4434840" y="4023360"/>
            <a:ext cx="3115580" cy="1828800"/>
          </a:xfrm>
          <a:prstGeom prst="rect">
            <a:avLst/>
          </a:prstGeom>
        </p:spPr>
      </p:pic>
      <p:sp>
        <p:nvSpPr>
          <p:cNvPr id="33" name="Text 29"/>
          <p:cNvSpPr txBox="1"/>
          <p:nvPr/>
        </p:nvSpPr>
        <p:spPr>
          <a:xfrm>
            <a:off x="548640" y="5888736"/>
            <a:ext cx="3749040" cy="274320"/>
          </a:xfrm>
          <a:prstGeom prst="rect">
            <a:avLst/>
          </a:prstGeom>
          <a:noFill/>
          <a:ln/>
        </p:spPr>
        <p:txBody>
          <a:bodyPr wrap="square" lIns="0" tIns="0" rIns="0" bIns="0" rtlCol="0" anchor="t"/>
          <a:lstStyle/>
          <a:p>
            <a:pPr indent="0" marL="0">
              <a:buNone/>
            </a:pPr>
            <a:r>
              <a:rPr lang="en-US" sz="1100" b="1" dirty="0">
                <a:solidFill>
                  <a:srgbClr val="19A35F"/>
                </a:solidFill>
                <a:latin typeface="Arial" pitchFamily="34" charset="0"/>
                <a:ea typeface="Arial" pitchFamily="34" charset="-122"/>
                <a:cs typeface="Arial" pitchFamily="34" charset="-120"/>
              </a:rPr>
              <a:t>187 (val): </a:t>
            </a:r>
            <a:pPr indent="0" marL="0">
              <a:buNone/>
            </a:pPr>
            <a:r>
              <a:rPr lang="en-US" sz="1100" dirty="0">
                <a:solidFill>
                  <a:srgbClr val="A3A8B0"/>
                </a:solidFill>
                <a:latin typeface="Arial" pitchFamily="34" charset="0"/>
                <a:ea typeface="Arial" pitchFamily="34" charset="-122"/>
                <a:cs typeface="Arial" pitchFamily="34" charset="-120"/>
              </a:rPr>
              <a:t>19 → 35 / 35 frame</a:t>
            </a:r>
            <a:endParaRPr lang="en-US" sz="1100" dirty="0"/>
          </a:p>
        </p:txBody>
      </p:sp>
      <p:sp>
        <p:nvSpPr>
          <p:cNvPr id="34" name="Text 30"/>
          <p:cNvSpPr txBox="1"/>
          <p:nvPr/>
        </p:nvSpPr>
        <p:spPr>
          <a:xfrm>
            <a:off x="4434840" y="5888736"/>
            <a:ext cx="3749040" cy="274320"/>
          </a:xfrm>
          <a:prstGeom prst="rect">
            <a:avLst/>
          </a:prstGeom>
          <a:noFill/>
          <a:ln/>
        </p:spPr>
        <p:txBody>
          <a:bodyPr wrap="square" lIns="0" tIns="0" rIns="0" bIns="0" rtlCol="0" anchor="t"/>
          <a:lstStyle/>
          <a:p>
            <a:pPr indent="0" marL="0">
              <a:buNone/>
            </a:pPr>
            <a:r>
              <a:rPr lang="en-US" sz="1100" b="1" dirty="0">
                <a:solidFill>
                  <a:srgbClr val="E66767"/>
                </a:solidFill>
                <a:latin typeface="Arial" pitchFamily="34" charset="0"/>
                <a:ea typeface="Arial" pitchFamily="34" charset="-122"/>
                <a:cs typeface="Arial" pitchFamily="34" charset="-120"/>
              </a:rPr>
              <a:t>211 (test): </a:t>
            </a:r>
            <a:pPr indent="0" marL="0">
              <a:buNone/>
            </a:pPr>
            <a:r>
              <a:rPr lang="en-US" sz="1100" dirty="0">
                <a:solidFill>
                  <a:srgbClr val="A3A8B0"/>
                </a:solidFill>
                <a:latin typeface="Arial" pitchFamily="34" charset="0"/>
                <a:ea typeface="Arial" pitchFamily="34" charset="-122"/>
                <a:cs typeface="Arial" pitchFamily="34" charset="-120"/>
              </a:rPr>
              <a:t>25 → 13 / 25 frame</a:t>
            </a:r>
            <a:endParaRPr lang="en-US" sz="1100" dirty="0"/>
          </a:p>
        </p:txBody>
      </p:sp>
      <p:sp>
        <p:nvSpPr>
          <p:cNvPr id="35" name="Shape 31"/>
          <p:cNvSpPr/>
          <p:nvPr/>
        </p:nvSpPr>
        <p:spPr>
          <a:xfrm>
            <a:off x="8321040" y="4023360"/>
            <a:ext cx="3319272" cy="2240280"/>
          </a:xfrm>
          <a:prstGeom prst="roundRect">
            <a:avLst>
              <a:gd name="adj" fmla="val 4898"/>
            </a:avLst>
          </a:prstGeom>
          <a:solidFill>
            <a:srgbClr val="2B2F36"/>
          </a:solidFill>
          <a:ln w="12700">
            <a:solidFill>
              <a:srgbClr val="2B2F36"/>
            </a:solidFill>
            <a:prstDash val="solid"/>
          </a:ln>
        </p:spPr>
      </p:sp>
      <p:sp>
        <p:nvSpPr>
          <p:cNvPr id="36" name="Text 32"/>
          <p:cNvSpPr txBox="1"/>
          <p:nvPr/>
        </p:nvSpPr>
        <p:spPr>
          <a:xfrm>
            <a:off x="8503920" y="4069080"/>
            <a:ext cx="3017520" cy="274320"/>
          </a:xfrm>
          <a:prstGeom prst="rect">
            <a:avLst/>
          </a:prstGeom>
          <a:noFill/>
          <a:ln/>
        </p:spPr>
        <p:txBody>
          <a:bodyPr wrap="square" lIns="0" tIns="0" rIns="0" bIns="0" rtlCol="0" anchor="t"/>
          <a:lstStyle/>
          <a:p>
            <a:pPr indent="0" marL="0">
              <a:buNone/>
            </a:pPr>
            <a:r>
              <a:rPr lang="en-US" sz="1300" b="1" dirty="0">
                <a:solidFill>
                  <a:srgbClr val="F2A900"/>
                </a:solidFill>
                <a:latin typeface="Arial" pitchFamily="34" charset="0"/>
                <a:ea typeface="Arial" pitchFamily="34" charset="-122"/>
                <a:cs typeface="Arial" pitchFamily="34" charset="-120"/>
              </a:rPr>
              <a:t>Vì sao test thua</a:t>
            </a:r>
            <a:endParaRPr lang="en-US" sz="1300" dirty="0"/>
          </a:p>
        </p:txBody>
      </p:sp>
      <p:sp>
        <p:nvSpPr>
          <p:cNvPr id="37" name="Text 33"/>
          <p:cNvSpPr txBox="1"/>
          <p:nvPr/>
        </p:nvSpPr>
        <p:spPr>
          <a:xfrm>
            <a:off x="8503920" y="4370832"/>
            <a:ext cx="3017520" cy="1828800"/>
          </a:xfrm>
          <a:prstGeom prst="rect">
            <a:avLst/>
          </a:prstGeom>
          <a:noFill/>
          <a:ln/>
        </p:spPr>
        <p:txBody>
          <a:bodyPr wrap="square" lIns="0" tIns="0" rIns="0" bIns="0" rtlCol="0" anchor="t"/>
          <a:lstStyle/>
          <a:p>
            <a:pPr indent="0" marL="0">
              <a:buNone/>
            </a:pPr>
            <a:r>
              <a:rPr lang="en-US" sz="1200" dirty="0">
                <a:solidFill>
                  <a:srgbClr val="F2F2F2"/>
                </a:solidFill>
                <a:latin typeface="Arial" pitchFamily="34" charset="0"/>
                <a:ea typeface="Arial" pitchFamily="34" charset="-122"/>
                <a:cs typeface="Arial" pitchFamily="34" charset="-120"/>
              </a:rPr>
              <a:t>Nền dài lỗi thời khi người đổi nhịp, hoặc cửa sổ bắc qua một khoảng trống trước đó. Ở 176 và 211 vận tốc Kalman sẵn có gần vận tốc thật hơn OLS 40 khung; ở 187 (val) OLS thắng. Mỗi burn là một lần coast liên tục nên vận tốc chỉ được ước lượng một lần, lúc vào coast.</a:t>
            </a:r>
            <a:endParaRPr lang="en-US" sz="1200" dirty="0"/>
          </a:p>
        </p:txBody>
      </p:sp>
      <p:sp>
        <p:nvSpPr>
          <p:cNvPr id="38" name="Shape 34"/>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39" name="Text 35"/>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0" name="Text 36"/>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417320"/>
            <a:ext cx="5486400" cy="4754880"/>
          </a:xfrm>
          <a:prstGeom prst="roundRect">
            <a:avLst>
              <a:gd name="adj" fmla="val 2308"/>
            </a:avLst>
          </a:prstGeom>
          <a:solidFill>
            <a:srgbClr val="22252B"/>
          </a:solidFill>
          <a:ln w="12700">
            <a:solidFill>
              <a:srgbClr val="22252B"/>
            </a:solidFill>
            <a:prstDash val="solid"/>
          </a:ln>
        </p:spPr>
      </p:sp>
      <p:sp>
        <p:nvSpPr>
          <p:cNvPr id="5" name="Text 3"/>
          <p:cNvSpPr txBox="1"/>
          <p:nvPr/>
        </p:nvSpPr>
        <p:spPr>
          <a:xfrm>
            <a:off x="822960" y="1481328"/>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1920240"/>
            <a:ext cx="4983480" cy="4206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PEG-F v1: tái hiện được; cùng cấu hình chỉ +0.49 HOTA (2 lần đổi ID).</a:t>
            </a:r>
            <a:endParaRPr lang="en-US" sz="1400" dirty="0"/>
          </a:p>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PEG-F v2: Table I đúng 14/14 nhưng chọn trên test; chọn lại và tune lại trên val → giữ PEG.</a:t>
            </a:r>
            <a:endParaRPr lang="en-US" sz="1400" dirty="0"/>
          </a:p>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v2: M1 × M5 làm Table III sụt (76.2 → 53.6 test): box trượt ngang.</a:t>
            </a:r>
            <a:endParaRPr lang="en-US" sz="1400" dirty="0"/>
          </a:p>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PEG+: Rcv test +5.6, val −0.4; PEG+ + cone tốt nhất: 68.44 · 63.14 · 83.1.</a:t>
            </a:r>
            <a:endParaRPr lang="en-US" sz="1400" dirty="0"/>
          </a:p>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PEG-O (đo bằng vùng chói): đúng ở 135 (người đi xa) nhưng val −13.5, test −8.6 Rcv vs PEG+ → không nhận; đĩa chói không cứng.</a:t>
            </a:r>
            <a:endParaRPr lang="en-US" sz="1400" dirty="0"/>
          </a:p>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PEG-C (thiết kế coast): val +8.6 Rcv, test −1.8 [−7.7, +3.6]; chỉ T1 IDF1 +1.0 trên test (val −1.1: chưa chắc).</a:t>
            </a:r>
            <a:endParaRPr lang="en-US" sz="1400" dirty="0"/>
          </a:p>
          <a:p>
            <a:pPr marL="342900" indent="-342900">
              <a:spcAft>
                <a:spcPts val="500"/>
              </a:spcAft>
              <a:buSzPct val="100000"/>
              <a:buChar char="•"/>
            </a:pPr>
            <a:r>
              <a:rPr lang="en-US" sz="1400" dirty="0">
                <a:solidFill>
                  <a:srgbClr val="F2F2F2"/>
                </a:solidFill>
                <a:latin typeface="Arial" pitchFamily="34" charset="0"/>
                <a:ea typeface="Arial" pitchFamily="34" charset="-122"/>
                <a:cs typeface="Arial" pitchFamily="34" charset="-120"/>
              </a:rPr>
              <a:t>Luôn đo đủ 3 bảng, chọn trên val, báo test 1 lần.</a:t>
            </a:r>
            <a:endParaRPr lang="en-US" sz="1400" dirty="0"/>
          </a:p>
        </p:txBody>
      </p:sp>
      <p:sp>
        <p:nvSpPr>
          <p:cNvPr id="7" name="Shape 5"/>
          <p:cNvSpPr/>
          <p:nvPr/>
        </p:nvSpPr>
        <p:spPr>
          <a:xfrm>
            <a:off x="6199632" y="1417320"/>
            <a:ext cx="5440680" cy="4754880"/>
          </a:xfrm>
          <a:prstGeom prst="roundRect">
            <a:avLst>
              <a:gd name="adj" fmla="val 2308"/>
            </a:avLst>
          </a:prstGeom>
          <a:solidFill>
            <a:srgbClr val="2B2F36"/>
          </a:solidFill>
          <a:ln w="12700">
            <a:solidFill>
              <a:srgbClr val="2B2F36"/>
            </a:solidFill>
            <a:prstDash val="solid"/>
          </a:ln>
        </p:spPr>
      </p:sp>
      <p:sp>
        <p:nvSpPr>
          <p:cNvPr id="8" name="Text 6"/>
          <p:cNvSpPr txBox="1"/>
          <p:nvPr/>
        </p:nvSpPr>
        <p:spPr>
          <a:xfrm>
            <a:off x="6473952" y="1481328"/>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1920240"/>
            <a:ext cx="4937760" cy="420624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Thêm dữ liệu val: hiện 1–2 video quyết định mọi mức tăng</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Vận tốc coast: sàn sai số là mô hình vận tốc không đổi (≈ 0.28 px/frame), không phải nhiễu; cần cách ước lượng biết người đổi nhịp</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Đo vị trí từ vùng chói chỉ khi đĩa đã ổn định và box đủ lớn so với nhiễu ~10 px</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M6 (tone-map): thử lại khi val có nhiều ca chói quanh người hơn</a:t>
            </a:r>
            <a:endParaRPr lang="en-US" sz="16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2026-10-20T12:43:54Z</dcterms:created>
  <dcterms:modified xsi:type="dcterms:W3CDTF">2026-10-20T12:43:54Z</dcterms:modified>
</cp:coreProperties>
</file>