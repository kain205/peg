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và các bạn. Nhóm mình có hai người, và hôm nay bọn mình trình bày về cùng một bài toán: theo dõi công nhân trong hầm mỏ khi đèn trên mũ làm chói camera. Bài báo gốc tên là “Burnt, Not Gone”, và có một tracker tên PEG. Mình là người thứ nhất, mình nói về PEG-F, năm cải tiến của mình cho PEG, và cách bọn mình kiểm chứng xem chúng có thật sự tốt không. Bạn mình là người thứ hai, sẽ nói về PEG+, một cải tiến khác, rồi nói về chuyện ghép hai bên lại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hầm mỏ, công nhân đội đèn trên mũ. Khi họ quay về phía camera, đèn làm cháy sáng cả vùng ảnh, như các tấm ảnh bên phải: người gần như biến mất. Lúc đó detector, tức là mô hình tìm người trong ảnh, không thấy ai, nên tracker mất cái box và có thể mất luôn số ID của người đó. Tracker là phần nối các box qua từng frame để mỗi người giữ một ID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PEG xử lý đúng lúc detector mất người. Nó đo vùng box dự đoán xem bao nhiêu phần trăm điểm ảnh bị cháy trắng, gọi là φ. Nếu φ từ 0.4 trở lên thì người vẫn ở đó, chỉ bị chói, nên giữ box. Việc tự đoán vị trí khi không có detector gọi là coast. Nếu φ thấp thì người đã đi, bỏ box. Ý hay của PEG là dùng chính ánh sáng gây lỗi làm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cải tiến gì, bọn mình phải chắc là chạy lại được số của paper. Bọn mình dùng đúng weights mà tác giả gửi, không train lại, và chạy ba bảng kết quả. Table I là video thật, Table II là video có thêm chói giả, và Table III chỉ đo những người đang bị chói. Có mấy điểm số chính. HOTA, IDF1 và MOTA là các điểm tổng quát đo chất lượng tracking, càng cao càng tốt. Rcv@.5 là phần trăm số frame của người bị chói mà box của mình vẫn chồng lên người, với độ trùng IoU trên 0.5. Kết quả của bọn mình lệch paper không quá 0.1 điểm, nghĩa là tái hiện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PEG-F là năm cải tiến của mình cho tracker. M1 là chuyển động thích nghi, gồm hai nửa mà sau này bọn mình tách ra: M1-damp hãm vận tốc của hai người đứng gần nhau, còn M1-swap thêm các phép thử để sửa lại những lần đổi nhầm ID. M2 nhận lại người bằng màu áo. M3 đổi ngưỡng chói và thời gian giữ box tùy tình huống. M4 cất track bị mất vào một pool để track mới nhận lại ID cũ. M5 kéo box về phía đèn trên mũ. Tất cả chỉ sửa tracker, không đụng vào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báo PEG-F đạt HOTA 68.82 và IDF1 84.42, cao hơn paper là 68.20 và 82.30. Nhưng bọn mình không tin ngay mà kiểm tra ba cách. Một, chấm lại file kết quả mình nộp bằng evaluator của nhóm: ra đúng. Hai, chạy lại nguyên code gốc trên GPU của nhóm, chạy thật cả detector, khoảng 4.3 frame mỗi giây: vẫn đúng số đó. Ba, đưa các method vào repo chung và chạy bằng cache, tức là kết quả detector lưu sẵn: giống từng chữ số. Vậy claim là thật. Nhưng còn một câu hỏi: so với cái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một chỗ không công bằng. Số 68.20 của paper chạy với guard tắt. Guard là lớp bảo vệ không cho tracker tạo ID mới từ vầng sáng chói. Code PEG-F của mình chạy với guard bật, nên phải so với PEG cũng guard bật: PEG đó được 68.33 HOTA và 82.68 IDF1. So như vậy PEG-F hơn +0.49 HOTA và +1.74 IDF1. Và IDSW, tức là số lần tracker đổi ID của một người sang ID khác, tăng từ 15 lên 27; IDSW càng ít càng tốt. Mức tăng có thật, nhưng nhỏ hơn con số ban đầu và có cái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tăng đó đến từ đâu? Hình là độ chênh HOTA của từng video, PEG-F trừ PEG, cùng guard bật. Chỉ hai video lệch đáng kể: video 129 tăng +23.5, video 176 giảm −19.9. Mình soi từng video thì mỗi video chỉ là một lần tracker đổi ID giữa hai công nhân đứng sát nhau: ở 129 PEG-F sửa được một lần, ở 176 PEG-F gây ra một lần mới. Các video còn lại chênh tối đa 4.0 điểm. Nên Table I một mình rất dễ bị lệch bởi một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video 129, hai công nhân A và B đi sát nhau. Hàng trên là PEG, hàng dưới là PEG-F; màu vàng là ID một, xanh lơ là ID hai, khung trắng là người thật. Ở frame 330 cả hai đều đúng. Khi hai người đi chéo qua nhau, cả hai tracker đổi nhầm, nhưng PEG giữ nhầm đến hết video, còn PEG-F đổi lại ở frame 339. Bí quyết là phép thử chiều cao nhất quán của M1-swap: A thấp, B cao, tracker so chiều cao box với chiều cao quen thuộc của từng track, và nếu đổi lại ID làm chiều cao khớp hơn thì đổi lại. Nên ở frame 420 và 560, PEG-F vẫn đúng, còn PEG thì ngược.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Giờ thêm từng method vào PEG, mỗi lần một cái. Số to là độ thay đổi so với PEG; xanh là tốt hơn, đỏ là xấu hơn; với IDSW thì ít hơn mới tốt. M1-swap tăng HOTA +0.50 và IDF1 +2.05 ở Table I, nhưng IDSW tăng từ 17 lên 36. M1-damp làm hỏng: MOTA của Table II giảm −2.98, Rcv@.5 của Table III giảm từ 76.6 xuống 66.4. M3 tốt nhẹ, MOTA của Table II +0.82. M2, M4, M5 gần như không đổi. Tức là chỉ hai trong năm method có tác dụng thật: M1-swap và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M2 và M4 không làm gì? Bọn mình đếm bên trong tracker. M2 chỉ đổi ID khi màu áo của người kia giống hơn một khoảng đủ lớn, phải trên 0.25, nhưng thực tế lớn nhất chỉ 0.052; ở phép thử đổi chéo cần 0.15 mà chỉ đạt 0.096. Lý do: công nhân mặc đồ bảo hộ giống hệt nhau nên màu HSV không phân biệt được. Vì vậy M2 chưa bao giờ đổi một quyết định nào. M4 còn tệ hơn: trong 81 lần sinh track mới, chỉ 1 lần pool có người để nhận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chi phí, trên cùng GPU GTX 1650, chạy thật cả pipeline: detector, h_psi và tracker. FPS là số frame xử lý mỗi giây. PEG đạt 4.4 FPS, code PEG-F đạt 4.3 FPS, gần như bằng nhau vì detector chiếm gần hết thời gian. Paper ghi 26.4 FPS vì dùng GPU RTX 5070 Ti mạnh hơn. Vậy PEG-F không tốn thêm gì đáng kể, nhưng chỉ hai method đáng giữ. Mình chuyển sang bạn mình, người nói về 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là người thứ hai, mình nói về PEG+. Sau khi tái hiện PEG, mình xem từng ca PEG thất bại và thấy một lỗi lạ: PEG biết người đang bị chói và vẫn giữ box, nhưng cái box nhỏ dần qua từng frame, như hàng trên của hình, cho đến khi không còn trùng người. Khung vàng là người thật, khung xanh dương là box của PEG. Mình đếm lại: trong các ca thất bại ở Table III, 9/12 là do box trôi chứ không phải do gate bật sai, và 33% số frame coast có box nhỏ hơn 30% kích thước ban đầu. Nguyên nhân là Kalman filter, bộ lọc đoán vị trí, nhớ cả vận tốc đổi kích thước. Khi coast, PEG hãm vận tốc di chuyển nhưng quên hãm vận tốc diện tích. Mình đặt vận tốc diện tích bằng không, khoảng hai dòng code, và đó là PEG+, hàng dưới màu xanh lá. Kết quả: Rcv@.5, phần trăm frame mà box vẫn trùng người bị chói, tăng từ 76.6 lên 82.2, +5.6 điểm. Mình không train lại detector, chỉ sửa tracker, nên so PEG với PEG+ là công bằng: hai bên chỉ khác đúng hai dòng code này. Hình là cùng một người, cùng một đoạn video, cùng lúc bị chói, nên bạn nhìn thấy trực tiếp sự khác nhau giữa hai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Bọn mình thử ghép PEG-F với PEG+. Hình có bốn bảng nhỏ, mỗi bảng một thang riêng, trục không bắt đầu từ không để nhìn rõ chênh lệch. Xanh dương là PEG, xanh lá là PEG+, tím là PEG-F, cam là ghép cả hai; cột gạch chéo là một cách ghép có chọn lọc, mình nói ở slide sau. Ở Table I, video thật, ghép cả hai cho kết quả tốt nhất: HOTA 70.03 và IDF1 86.94. Nhưng ở Table II, video có chói giả, MOTA chỉ 71.54, thấp hơn cả PEG là 73.26. Và ở Table III, Rcv@.5 chỉ còn 68.4, trong khi PEG+ một mình đạt 82.2. Tức là cái lợi của PEG+ đã bị mất đi khi ghép với PEG-F. Câu hỏi là vì sao. Bài học đầu tiên ở đây: mỗi bảng đo một thứ khác nhau, nên một cách ghép chỉ tốt ở một bảng thì chưa thể gọi là tốt. Table I chủ yếu hỏi tracker có giữ đúng ID giữa nhiều người không, còn Table III hỏi tracker có giữ được người đang bị chói hay không, và đó chính là chỗ PEG+ sinh ra để làm. Còn một điều phải nói thật: ghép cả hai cao hơn PEG-F 1.20 HOTA ở Table I, nhưng gần như toàn bộ phần đó đến từ một video, video 176: có PEG+ thì lần đổi ID mà PEG-F gây ra ở đó không xảy ra nữa, HOTA của video này từ 45.68 lên 65.53. Đó là một tương tác tình cờ giữa hai thay đổi, PEG+ không được thiết kế để sửa lỗi ID, nên con số 70.03 không nên coi là chắc chắn.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Mình tách M1 làm hai nửa và tìm ra thủ phạm: M1-damp, nửa hãm vận tốc. Luật của nó là: mỗi frame, nếu hai người đứng gần nhau thì nhân vận tốc của họ với 0.88. Vấn đề là người đang bị chói cũng đang coast, tức là box chỉ chạy theo vận tốc đoán. Vận tốc bị hãm thì box đứng lại, trong khi người vẫn đi tiếp. Hình là video 183, người số 240, từ frame 448 đến 482. Khung xanh lá là người thật. Hàng trên là PEG, box đi theo người. Hàng dưới là PEG cộng M1-damp, box đỏ đứng lại, và độ trùng IoU tụt từ 0.84 xuống 0.22. Đếm lại: trong 35 frame bị chói của người này, số frame box còn trùng người giảm từ 35 xuống 15. Trên cả ba mươi lần chói, số frame được phủ giảm từ 651 xuống 564 trên tổng 850. Vậy cái làm hỏng Table III chính là M1-damp, không phải M1-swap. Nửa còn lại, M1-swap, không làm Table III đổi một chút nào: Rcv@.5 vẫn giữ nguyên. Và M1-damp cũng là thứ gây ra lần đổi ID mới ở video 176 mà bạn mình đã nói ở phần trước, nên nó có hại ở cả hai nơi. Mình đoán hãm vận tốc có thể hợp lý khi hai người đi sát nhau và cả hai đều đang được nhìn thấy; còn khi một người bị chói và đang coast thì việc hãm làm box đứng lại, và đó là hướng sửa mình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các thí nghiệm, mình thử ghép có chọn lọc: lấy PEG+, thêm M1-swap, thêm M3 và bỏ M1-damp. Kết quả là không bảng nào kém PEG+. Table I: HOTA 68.81, IDF1 84.56. Table II: MOTA 73.90. Table III: Rcv@.5 vẫn 82.2. Nhưng có hai điều phải nói thẳng. Một là IDSW tăng từ 17 lên 36. Mình giải thích hai chỉ số này: IDF1 đo việc giữ đúng ID trong thời gian dài; IDSW đếm số lần đổi ID, mỗi lần có thể rất ngắn. Nên IDF1 tăng mà IDSW cũng tăng là có thể: tracker đổi ID thêm vài lần ngắn, nhưng phần lớn thời gian vẫn đúng người. Hai là bọn mình chọn tổ hợp này sau khi đã nhìn kết quả trên tập test, nên số đẹp hơn thực tế. Vì vậy phải kiểm tra lại trên tập val, là phần dữ liệu chưa dùng để chọn. Ở slide sau mình làm đúng việc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sửa chỗ rò rỉ, bọn mình chọn lại trên tập val, là phần dữ liệu chưa dùng để chọn gì. Val có mười bảy video thật, chín video chói giả và 18 lần chói. Luật được viết ra và đưa lên git trước khi chạy val, để không ai có thể chỉnh luật sau khi đã thấy số. Luật như sau: bắt đầu từ PEG, mỗi vòng thử thêm từng thành phần. Một thành phần được nhận nếu không bảng nào tụt quá 0.5 điểm và tổng mức tăng của ba bảng lớn hơn 0.5. Bảng bên phải là vòng một. Điều đầu tiên đáng chú ý: PEG+ trên val gần như không làm gì, Table III còn tụt −0.3. M1-swap và M3 gần như bằng không. Thành phần duy nhất vượt ngưỡng là M1-damp, tổng +0.96, chính là thứ mà ở slide trước mình đã thấy làm hỏng Table III trên test. Vòng hai không thêm được gì nữa. Vậy theo đúng luật, config được chọn là PEG cộng M1-damp.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khi chạy test đúng một lần. Mỗi chỉ số có hai cột, test và val; số nhỏ bên dưới là chênh lệch so với PEG trên cùng tập. Hàng thứ hai là config chọn trên val, PEG cộng M1-damp. Trên test nó thua PEG ở cả ba bảng: Table I HOTA 67.38 so với 68.19, Table II 57.84 so với 61.70, Table III Rcv 66.4 so với 76.6. Hàng cuối là tổ hợp bọn mình chọn trên test lúc trước. Trên test nó đẹp, nhưng trên val nó gần như bằng PEG: Table III 67.3 so với 67.6. PEG+ cũng vậy: trên test tăng +5.6 Rcv, trên val −0.4. Nói cách khác, cái gì tốt trên tập này thì không tốt trên tập kia. Bạn mình nghi ngờ đúng: phần tăng trên test của tổ hợp chọn lọc là do chọn trên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val và test lại ngược nhau? Mình đếm lại theo từng lần chói. M1-damp được chọn trên val nhờ đúng một lần chói, ở video 332: số frame box còn trùng người tăng từ 3 lên 13. Trên val, một frame chỉ đáng 0.18 điểm, nên chỉ một lần chói đó cũng đủ vượt ngưỡng 0.5. Trên test, M1-damp làm 9 lần chói tệ hơn và mất 87 frame. PEG+ thì ngược lại: trên test tăng +5.6, trên val −0.4. Lý do là val có ít trường hợp box co lại khi coast; lỗi của PEG trên val chủ yếu là người chưa bao giờ được track, có 3 lần chói gần như không phủ được frame nào, và khóa kích thước box không cứu được những ca đó. M1-swap trên val không cải thiện Table I mà IDSW còn tăng từ 15 lên 22. Nếu gộp cả bốn mươi tám lần chói của val và test, PEG+ tăng +3.2 với khoảng tin cậy chín mươi lăm phần trăm từ +0.1 đến +7.3, tức là chỉ vừa đủ khác không; còn M1-damp giảm 5.6 điểm và chắc chắn có hại. Bài học là luật của bọn mình đặt ngưỡng quá thấp so với độ nhiễu của một tập nhỏ như vậy. Bọn mình không sửa luật sau khi đã thấy test, vì như thế lại là chọn trên test lần nữa; lần sau mình sẽ chỉ nhận một thành phần khi khoảng tin cậy không chứa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trước, Thạch sửa lại PEG-F và gửi bản mới, gọi là PEG-F v2. Giờ có sáu method. Ba cái mới là M1, M2 và M6: M1 viết lại hoàn toàn thành một vùng bất định nở rộng khi mất người; M2 không chỉ dùng màu áo nữa mà lấy thêm đặc trưng từ chính detector; và M6 là method mới, xử lý ảnh trước khi đưa vào detector. M3, M4, M5 giữ như cũ. Thạch báo trên Table I, tập test, cấu hình đầy đủ cộng M6 đạt HOTA 70.03 và IDF1 87.03. Mình chạy lại cả mười bốn cấu hình trong bảng của Thạch và ra đúng từng con số. Nhưng Thạch chỉ báo Table I trên test, nên mình đo thêm hai bảng còn lại và tập val, đúng như cách mình đã kiểm chứng ở phần trước. Trước hết mình giải thích từng method, mỗi method một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của Thạch giải quyết tình huống này: người bị chói vài chục frame, trong lúc đó họ có thể rẽ, đứng lại hoặc lùi, nên box dự đoán không còn trùng với người khi họ hiện ra lại, và tracker sinh ID mới. Cách làm có hai phần. Phần một: mỗi frame không thấy người, Kalman filter tăng độ bất định về vị trí, mỗi frame cộng thêm khoảng ba phần trăm chiều cao người, tối đa ba mươi frame. Hình bên phải cho thấy vùng này nở rộng theo thời gian, như một cái nón. Phần hai: những detection chưa được ai nhận sẽ được thử với các track đã mất từ hai frame trở lên. Nếu detection nằm trong vùng chín mươi chín phần trăm, theo một trong hai giả thuyết là đi tiếp với vận tốc cũ hoặc đứng lại chỗ cũ, thì gán lại ID cũ. Có thêm vài chặn để tránh gán nhầm: không xa quá sức đi bộ, chiều cao không lệch quá, và không đè lên người đang được track. Ngoài ra M1 vẫn kèm phần hãm vận tốc khi hai người gần nhau, và giờ Thạch chỉ áp cho track đang coast. Trên cả tập test, cone chỉ khớp lại 10 lần. Kết quả bật riêng M1 ở dải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là phần nhận lại người. Bản cũ chỉ so màu áo, mà công nhân mặc đồ bảo hộ giống nhau, nên nó không bao giờ đổi được quyết định nào. Bản mới lấy thêm đặc trưng từ chính detector: feature map ở tầng P4, cắt theo box của người và chia làm nửa trên, nửa dưới, nên không cần thêm mạng nào. Thạch trừ đi trung bình của cả video để bỏ phần giống nhau chung, rồi ghép với màu: độ giống bằng bảy mươi phần trăm feature cộng ba mươi phần trăm màu. Mỗi người giữ tối đa mười mẫu, gọi là gallery, lấy năm frame một lần và chỉ lấy khi người rõ, chưa bị chói và không chen với ai. Khi bị chói thì gallery đóng băng. Dấu vân tay này được dùng ở bốn chỗ: khi hai track giành một detection, khi xét đổi ID của một cặp, để lọc cone của M1, và để hồi sinh ID ở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giữ nguyên như bản cũ. Vấn đề nó nhắm tới là đèn chiếu lên tường: vùng box cũng trắng, nên PEG tưởng người vẫn ở đó và giữ box ma. Cách làm: khi đã mất detection quá ba frame, ngưỡng h tăng sáu phần trăm mỗi frame, từ 0.4 tới tối đa 0.65, như hình bên trái; càng mất lâu càng cần bằng chứng chói mạnh hơn. Thứ hai, thời gian được giữ box sau khi xác nhận chói không còn cố định năm frame mà tỉ lệ với độ chói φ. Nhưng vì box chỉ được giữ khi φ đã vượt ngưỡng, như vùng xám ở hình bên phải, nên thực tế nó chỉ là bốn hoặc năm frame: phần này gần như không đổi gì so với 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giữ như bản cũ. Khi một track bị xóa vì mất quá lâu, thay vì quên luôn, tracker cất nó vào một pool, giữ tối đa bốn mươi lăm frame. Khi có người mới xuất hiện gần chỗ cũ, trong tầm đi bộ, và dấu vân tay giống từ 0.6 trở lên, thì người đó được trả lại ID cũ. Ý tưởng hợp lý, nhưng trên cả tập test với cấu hình đầy đủ, số lần hồi sinh là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M5 cũng giữ như cũ. Khi người bị chói, box chỉ chạy theo dự đoán của Kalman, nên nếu người đổi tư thế thì box trôi. M5 chỉ chạy khi gate của PEG đã xác nhận là người đang bị chói. Nó tìm tâm của đốm đèn ở dải đầu của box, suy ra tâm người bằng tâm đèn cộng 0.35 lần chiều cao, rồi kéo nhẹ box về đó. Bật một mình thì M5 gần như không đổi gì. Nhưng khi đi cùng M1, cú kéo nhẹ này trở thành kéo mạnh, và đó là nguyên nhân Table III sụt; mình sẽ quay lại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M6 là method mới và khác các method khác: nó không sửa tracker mà sửa ảnh trước khi đưa vào detector. Quanh đèn có một vầng sáng rộng làm mất chi tiết của người đứng gần. Thạch tách ảnh thành một lớp độ sáng nền, làm mờ nhưng giữ cạnh, và một lớp chi tiết; rồi nén lớp nền ở chỗ quá sáng, chỉ trong vòng quanh đèn, còn lõi đèn thì giữ nguyên. Hình bên phải là ảnh gốc, ảnh sau khi xử lý, và bản đồ chỗ bị đổi. Chỉ ảnh đưa vào detector bị đổi; gate của PEG và màu Re-ID vẫn dùng ảnh gốc. Ngưỡng bật rất thấp, nên M6 được áp lên khoảng 100 phần trăm số frame của tập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xem kết quả, có một điểm về cấu hình. Trong bảng của Thạch, mọi chênh lệch đều so với một cấu hình gọi là base, tức là PEG khi tắt hết sáu method. Nhưng base đó không phải PEG: phần logic đổi lại ID mà ở v1 mình gọi là M1-swap giờ luôn bật, không có công tắc. Nó sửa được video 129, HOTA tăng 23.5 điểm, nhưng làm hỏng video 320: số lần đổi ID tăng từ 4 lên 25. Vì vậy chênh lệch so với base không phải chênh lệch so với PEG. Ở các slide sau mình so với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xem kết quả, mình kiểm tra Thạch đã chọn cấu hình trên tập nào. Trong thư mục kết quả Thạch gửi có năm mươi sáu lượt chạy Table I trên tập test, không có lượt nào trên val, và không có lượt nào cho Table II hay Table III. Script của Thạch có ghi đúng quy trình: chọn trên val, báo test một lần, nhưng thực tế không làm. Ví dụ riêng M1 có ba bản thử tên dx, rồi fix1, rồi fix2 là bản cuối, HOTA từ khoảng 66 đến 69.24, và tất cả đều đo trên Table I test. Vì vậy con số cộng 1.69 HOTA là số chọn trên test rồi báo cũng trên test. Bọn mình làm lại theo đúng cách: luật chọn được viết và đưa lên git trước khi có bất kỳ số val nào, chọn trên val, rồi chỉ báo test một lần cho cấu hình được chọn. Có một điều bọn mình không gỡ được: các tham số bên trong method đã được chỉnh trên test; muốn gỡ thì phải tune lại từ đầu trên 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trên tập test, đủ ba bảng, so với PEG cùng cấu hình guard bật. Ở Table I, cấu hình đầy đủ cộng M6 hơn PEG +1.69 HOTA và +4.35 IDF1, số lần đổi ID từ 15 thành 29. Ở Table II, HOTA −0.20 và MOTA −4.00. Ở Table III, phần đo người đang bị chói, Rcv@.5 từ 76.2 thành 53.6.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Table III sụt mạnh như vậy? Mình tách từng phần. Bật riêng M1, Rcv trên test từ 76.2 còn 70.1. Bật riêng M5, gần như không đổi. Nhưng bật cả hai thì còn khoảng 55.6 trên test và 37.7 trên val. Lý do: M1 làm độ bất định vị trí của Kalman tăng lên mỗi frame không thấy người. M5 kéo box về phía đèn bằng một phép đo có độ tin cố định, được thiết kế là cú kéo nhẹ. Nhưng Kalman cân giữa dự đoán và phép đo theo độ bất định: dự đoán càng không chắc thì phép đo càng được tin. Nên khi M1 làm độ bất định phình ra, cú kéo nhẹ của M5 thành kéo hẳn. Mình đo trong các frame bị chói: box vẫn còn, vẫn đúng chiều cao, nhưng trượt ngang khỏi người, trung vị khoảng 10 phần trăm bề rộng người trên test và 39 phần trăm trên val. Để chắc chắn, mình dùng công tắc con trong code của Thạch: chỉ M5 cộng riêng phần nở vùng bất định của M1 là đã ra 53.6 trên test; còn tắt riêng phần đó khỏi cấu hình đầy đủ thì hồi lại 69.5. Các lượt này chỉ để chẩn đoán, không dùng để chọn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Giờ đến tập val, phần dữ liệu Thạch chưa dùng tới. Cấu hình đầy đủ cộng M6 so với PEG: Table I −0.39 HOTA, số lần đổi ID từ 15 lên 48; Table II −3.09 HOTA; Table III từ 67.6 xuống 37.1. Tức là mức tăng Table I trên test không lặp lại trên val, còn Table III sụt như trên test và còn nặng hơn. Ngay cả base, tức PEG cộng logic đổi ID cũ, cũng kém PEG ở Table I trên val: 69.98 so với 70.24, và đổi ID 28 lần so với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bước chọn. Luật được viết và đưa lên git trước khi có số val nào. Ứng viên là mười ba cấu hình của Thạch, so với base. Vòng một: không bảng nào được giảm quá 0.5, và tổng mức tăng phải lớn hơn 0.5. Chỉ có 2 cấu hình qua vòng này: full-M5 và base+M1. Vòng hai là điều kiện mình thêm từ bài học lần trước: bỏ đi một video, hoặc một lần chói, có lợi nhất cho cấu hình đó mà vẫn còn tăng thì mới nhận. Cả hai đều trượt: mức tăng của chúng đến từ đúng một video ở Table II, video 147, và một lần chói ở Table III, video 332. Mọi cấu hình có cả M1 và M5 bị loại ngay ở vòng một vì Table III giảm khoảng ba mươi điểm, và M6 bị loại vì cả ba bảng đều giảm trên val. Kết quả: không method nào được val ủng hộ, nên cấu hình được chọn là base. Báo test đúng một lần cho cấu hình này: Table I 68.84, Table II 62.18, Table III 76.2, so với PEG 68.34, 61.41 và 76.2.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năm điều. Một, PEG-F bản đầu tái hiện được, nhưng khi so cùng cấu hình thì mức tăng chỉ +0.49 HOTA, và hai lần đổi ID quyết định gần hết mức tăng đó. Hai, PEG-F bản hai: Table I tái hiện đúng cả mười bốn cấu hình, nhưng Thạch chỉnh và chọn mọi thứ trên test; khi chọn lại trên val bằng luật chốt trước thì không method nào qua. Ba, ở bản hai, M1 đi cùng M5 làm Table III sụt mạnh, từ 76.2 xuống 53.6 trên test và từ 67.6 xuống 37.1 trên val, vì box bị kéo trượt ngang khỏi người. Bốn, PEG+ tăng Rcv trên test +5.6, trên val −0.4, gộp lại +3.2: chỉ giúp khi box co lại lúc coast. Năm, nhìn một mình Table I rất dễ bị đánh lừa, nên lúc nào cũng đo đủ ba bảng, chọn trên val và báo test một lần. Hướng tiếp theo: chọn bằng khoảng tin cậy hoặc cross-validation thay vì ngưỡng cứng; tune tham số của method trên val; nếu giữ M5 thì cú kéo về đèn phải có độ tin cố định, không phụ thuộc độ bất định của Kalman; và M6 đáng thử lại khi có thêm dữ liệu val có người đứng gần đèn. Bài học lớn nhất với mình không phải một con số mà là cách làm: tái hiện trước, so cùng cấu hình, đo cả ba bảng, chọn trên val, và tách từng phần ra để xem phần nào thật sự có tác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Bọn mình xin cảm ơn thầy cô và các bạn đã lắng nghe. Giờ bọn mình xin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B"/>
        </a:solidFill>
      </p:bgPr>
    </p:bg>
    <p:spTree>
      <p:nvGrpSpPr>
        <p:cNvPr id="1" name=""/>
        <p:cNvGrpSpPr/>
        <p:nvPr/>
      </p:nvGrpSpPr>
      <p:grpSpPr>
        <a:xfrm>
          <a:off x="0" y="0"/>
          <a:ext cx="0" cy="0"/>
          <a:chOff x="0" y="0"/>
          <a:chExt cx="0" cy="0"/>
        </a:xfrm>
      </p:grpSpPr>
      <p:sp>
        <p:nvSpPr>
          <p:cNvPr id="2" name="Shape 0"/>
          <p:cNvSpPr/>
          <p:nvPr/>
        </p:nvSpPr>
        <p:spPr>
          <a:xfrm>
            <a:off x="8778240" y="822960"/>
            <a:ext cx="2926080" cy="2926080"/>
          </a:xfrm>
          <a:prstGeom prst="ellipse">
            <a:avLst/>
          </a:prstGeom>
          <a:solidFill>
            <a:srgbClr val="9B6EE8">
              <a:alpha val="18000"/>
            </a:srgbClr>
          </a:solidFill>
          <a:ln w="12700">
            <a:solidFill>
              <a:srgbClr val="15171B"/>
            </a:solidFill>
            <a:prstDash val="solid"/>
          </a:ln>
        </p:spPr>
      </p:sp>
      <p:sp>
        <p:nvSpPr>
          <p:cNvPr id="3" name="Shape 1"/>
          <p:cNvSpPr/>
          <p:nvPr/>
        </p:nvSpPr>
        <p:spPr>
          <a:xfrm>
            <a:off x="9418320" y="1463040"/>
            <a:ext cx="1645920" cy="1645920"/>
          </a:xfrm>
          <a:prstGeom prst="ellipse">
            <a:avLst/>
          </a:prstGeom>
          <a:solidFill>
            <a:srgbClr val="19A35F">
              <a:alpha val="38000"/>
            </a:srgbClr>
          </a:solidFill>
          <a:ln w="12700">
            <a:solidFill>
              <a:srgbClr val="15171B"/>
            </a:solidFill>
            <a:prstDash val="solid"/>
          </a:ln>
        </p:spPr>
      </p:sp>
      <p:sp>
        <p:nvSpPr>
          <p:cNvPr id="4" name="Shape 2"/>
          <p:cNvSpPr/>
          <p:nvPr/>
        </p:nvSpPr>
        <p:spPr>
          <a:xfrm>
            <a:off x="9921240" y="1965960"/>
            <a:ext cx="640080" cy="640080"/>
          </a:xfrm>
          <a:prstGeom prst="ellipse">
            <a:avLst/>
          </a:prstGeom>
          <a:solidFill>
            <a:srgbClr val="F4F0FF"/>
          </a:solidFill>
          <a:ln w="12700">
            <a:solidFill>
              <a:srgbClr val="15171B"/>
            </a:solidFill>
            <a:prstDash val="solid"/>
          </a:ln>
        </p:spPr>
      </p:sp>
      <p:sp>
        <p:nvSpPr>
          <p:cNvPr id="5" name="Text 3"/>
          <p:cNvSpPr txBox="1"/>
          <p:nvPr/>
        </p:nvSpPr>
        <p:spPr>
          <a:xfrm>
            <a:off x="731520" y="1188720"/>
            <a:ext cx="7315200" cy="365760"/>
          </a:xfrm>
          <a:prstGeom prst="rect">
            <a:avLst/>
          </a:prstGeom>
          <a:noFill/>
          <a:ln/>
        </p:spPr>
        <p:txBody>
          <a:bodyPr wrap="square" lIns="0" tIns="0" rIns="0" bIns="0" rtlCol="0" anchor="t"/>
          <a:lstStyle/>
          <a:p>
            <a:pPr indent="0" marL="0">
              <a:buNone/>
            </a:pPr>
            <a:r>
              <a:rPr lang="en-US" sz="1400" b="1" spc="300" kern="0" dirty="0">
                <a:solidFill>
                  <a:srgbClr val="F2A900"/>
                </a:solidFill>
                <a:latin typeface="Arial" pitchFamily="34" charset="0"/>
                <a:ea typeface="Arial" pitchFamily="34" charset="-122"/>
                <a:cs typeface="Arial" pitchFamily="34" charset="-120"/>
              </a:rPr>
              <a:t>PROJECT SINH VIÊN · GLAREMOT</a:t>
            </a:r>
            <a:endParaRPr lang="en-US" sz="1400" dirty="0"/>
          </a:p>
        </p:txBody>
      </p:sp>
      <p:sp>
        <p:nvSpPr>
          <p:cNvPr id="6" name="Text 4"/>
          <p:cNvSpPr txBox="1"/>
          <p:nvPr/>
        </p:nvSpPr>
        <p:spPr>
          <a:xfrm>
            <a:off x="731520" y="1691640"/>
            <a:ext cx="7863840" cy="1828800"/>
          </a:xfrm>
          <a:prstGeom prst="rect">
            <a:avLst/>
          </a:prstGeom>
          <a:noFill/>
          <a:ln/>
        </p:spPr>
        <p:txBody>
          <a:bodyPr wrap="square" lIns="0" tIns="0" rIns="0" bIns="0" rtlCol="0" anchor="t"/>
          <a:lstStyle/>
          <a:p>
            <a:pPr indent="0" marL="0">
              <a:buNone/>
            </a:pPr>
            <a:r>
              <a:rPr lang="en-US" sz="3800" b="1" dirty="0">
                <a:solidFill>
                  <a:srgbClr val="9B6EE8"/>
                </a:solidFill>
                <a:latin typeface="Arial" pitchFamily="34" charset="0"/>
                <a:ea typeface="Arial" pitchFamily="34" charset="-122"/>
                <a:cs typeface="Arial" pitchFamily="34" charset="-120"/>
              </a:rPr>
              <a:t>PEG-F</a:t>
            </a:r>
            <a:pPr indent="0" marL="0">
              <a:buNone/>
            </a:pPr>
            <a:r>
              <a:rPr lang="en-US" sz="3800" b="1" dirty="0">
                <a:solidFill>
                  <a:srgbClr val="F2F2F2"/>
                </a:solidFill>
                <a:latin typeface="Arial" pitchFamily="34" charset="0"/>
                <a:ea typeface="Arial" pitchFamily="34" charset="-122"/>
                <a:cs typeface="Arial" pitchFamily="34" charset="-120"/>
              </a:rPr>
              <a:t> và </a:t>
            </a:r>
            <a:pPr indent="0" marL="0">
              <a:buNone/>
            </a:pPr>
            <a:r>
              <a:rPr lang="en-US" sz="3800" b="1" dirty="0">
                <a:solidFill>
                  <a:srgbClr val="19A35F"/>
                </a:solidFill>
                <a:latin typeface="Arial" pitchFamily="34" charset="0"/>
                <a:ea typeface="Arial" pitchFamily="34" charset="-122"/>
                <a:cs typeface="Arial" pitchFamily="34" charset="-120"/>
              </a:rPr>
              <a:t>PEG+</a:t>
            </a:r>
            <a:pPr indent="0" marL="0">
              <a:buNone/>
            </a:pPr>
            <a:r>
              <a:rPr lang="en-US" sz="3800" b="1" dirty="0">
                <a:solidFill>
                  <a:srgbClr val="F2F2F2"/>
                </a:solidFill>
                <a:latin typeface="Arial" pitchFamily="34" charset="0"/>
                <a:ea typeface="Arial" pitchFamily="34" charset="-122"/>
                <a:cs typeface="Arial" pitchFamily="34" charset="-120"/>
              </a:rPr>
              <a:t> — giữ ID đúng người khi đèn mũ làm chói camera</a:t>
            </a:r>
            <a:endParaRPr lang="en-US" sz="3800" dirty="0"/>
          </a:p>
        </p:txBody>
      </p:sp>
      <p:sp>
        <p:nvSpPr>
          <p:cNvPr id="7" name="Text 5"/>
          <p:cNvSpPr txBox="1"/>
          <p:nvPr/>
        </p:nvSpPr>
        <p:spPr>
          <a:xfrm>
            <a:off x="731520" y="3657600"/>
            <a:ext cx="7863840" cy="457200"/>
          </a:xfrm>
          <a:prstGeom prst="rect">
            <a:avLst/>
          </a:prstGeom>
          <a:noFill/>
          <a:ln/>
        </p:spPr>
        <p:txBody>
          <a:bodyPr wrap="square" lIns="0" tIns="0" rIns="0" bIns="0" rtlCol="0" anchor="t"/>
          <a:lstStyle/>
          <a:p>
            <a:pPr indent="0" marL="0">
              <a:buNone/>
            </a:pPr>
            <a:r>
              <a:rPr lang="en-US" sz="2000" dirty="0">
                <a:solidFill>
                  <a:srgbClr val="A3A8B0"/>
                </a:solidFill>
                <a:latin typeface="Arial" pitchFamily="34" charset="0"/>
                <a:ea typeface="Arial" pitchFamily="34" charset="-122"/>
                <a:cs typeface="Arial" pitchFamily="34" charset="-120"/>
              </a:rPr>
              <a:t>Kiểm chứng và cải tiến bài báo PEG (“Burnt, Not Gone”)</a:t>
            </a:r>
            <a:endParaRPr lang="en-US" sz="2000" dirty="0"/>
          </a:p>
        </p:txBody>
      </p:sp>
      <p:sp>
        <p:nvSpPr>
          <p:cNvPr id="8" name="Shape 6"/>
          <p:cNvSpPr/>
          <p:nvPr/>
        </p:nvSpPr>
        <p:spPr>
          <a:xfrm>
            <a:off x="731520" y="4572000"/>
            <a:ext cx="4937760" cy="1234440"/>
          </a:xfrm>
          <a:prstGeom prst="roundRect">
            <a:avLst>
              <a:gd name="adj" fmla="val 8889"/>
            </a:avLst>
          </a:prstGeom>
          <a:solidFill>
            <a:srgbClr val="22252B"/>
          </a:solidFill>
          <a:ln w="12700">
            <a:solidFill>
              <a:srgbClr val="22252B"/>
            </a:solidFill>
            <a:prstDash val="solid"/>
          </a:ln>
        </p:spPr>
      </p:sp>
      <p:sp>
        <p:nvSpPr>
          <p:cNvPr id="9" name="Shape 7"/>
          <p:cNvSpPr/>
          <p:nvPr/>
        </p:nvSpPr>
        <p:spPr>
          <a:xfrm>
            <a:off x="731520" y="4572000"/>
            <a:ext cx="91440" cy="1234440"/>
          </a:xfrm>
          <a:prstGeom prst="rect">
            <a:avLst/>
          </a:prstGeom>
          <a:solidFill>
            <a:srgbClr val="9B6EE8"/>
          </a:solidFill>
          <a:ln w="12700">
            <a:solidFill>
              <a:srgbClr val="9B6EE8"/>
            </a:solidFill>
            <a:prstDash val="solid"/>
          </a:ln>
        </p:spPr>
      </p:sp>
      <p:sp>
        <p:nvSpPr>
          <p:cNvPr id="10" name="Text 8"/>
          <p:cNvSpPr txBox="1"/>
          <p:nvPr/>
        </p:nvSpPr>
        <p:spPr>
          <a:xfrm>
            <a:off x="1005840" y="4572000"/>
            <a:ext cx="4572000" cy="1234440"/>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Người 1</a:t>
            </a:r>
            <a:endParaRPr lang="en-US" sz="1600" dirty="0"/>
          </a:p>
          <a:p>
            <a:pPr indent="0" marL="0">
              <a:buNone/>
            </a:pPr>
            <a:r>
              <a:rPr lang="en-US" sz="1500" dirty="0">
                <a:solidFill>
                  <a:srgbClr val="A3A8B0"/>
                </a:solidFill>
                <a:latin typeface="Arial" pitchFamily="34" charset="0"/>
                <a:ea typeface="Arial" pitchFamily="34" charset="-122"/>
                <a:cs typeface="Arial" pitchFamily="34" charset="-120"/>
              </a:rPr>
              <a:t>[điền tên] · PEG-F: 5 method + kiểm chứng</a:t>
            </a:r>
            <a:endParaRPr lang="en-US" sz="1600" dirty="0"/>
          </a:p>
        </p:txBody>
      </p:sp>
      <p:sp>
        <p:nvSpPr>
          <p:cNvPr id="11" name="Shape 9"/>
          <p:cNvSpPr/>
          <p:nvPr/>
        </p:nvSpPr>
        <p:spPr>
          <a:xfrm>
            <a:off x="5943600" y="4572000"/>
            <a:ext cx="4937760" cy="1234440"/>
          </a:xfrm>
          <a:prstGeom prst="roundRect">
            <a:avLst>
              <a:gd name="adj" fmla="val 8889"/>
            </a:avLst>
          </a:prstGeom>
          <a:solidFill>
            <a:srgbClr val="22252B"/>
          </a:solidFill>
          <a:ln w="12700">
            <a:solidFill>
              <a:srgbClr val="22252B"/>
            </a:solidFill>
            <a:prstDash val="solid"/>
          </a:ln>
        </p:spPr>
      </p:sp>
      <p:sp>
        <p:nvSpPr>
          <p:cNvPr id="12" name="Shape 10"/>
          <p:cNvSpPr/>
          <p:nvPr/>
        </p:nvSpPr>
        <p:spPr>
          <a:xfrm>
            <a:off x="5943600" y="4572000"/>
            <a:ext cx="91440" cy="1234440"/>
          </a:xfrm>
          <a:prstGeom prst="rect">
            <a:avLst/>
          </a:prstGeom>
          <a:solidFill>
            <a:srgbClr val="19A35F"/>
          </a:solidFill>
          <a:ln w="12700">
            <a:solidFill>
              <a:srgbClr val="19A35F"/>
            </a:solidFill>
            <a:prstDash val="solid"/>
          </a:ln>
        </p:spPr>
      </p:sp>
      <p:sp>
        <p:nvSpPr>
          <p:cNvPr id="13" name="Text 11"/>
          <p:cNvSpPr txBox="1"/>
          <p:nvPr/>
        </p:nvSpPr>
        <p:spPr>
          <a:xfrm>
            <a:off x="6217920" y="4572000"/>
            <a:ext cx="4572000" cy="1234440"/>
          </a:xfrm>
          <a:prstGeom prst="rect">
            <a:avLst/>
          </a:prstGeom>
          <a:noFill/>
          <a:ln/>
        </p:spPr>
        <p:txBody>
          <a:bodyPr wrap="square" lIns="0" tIns="0" rIns="0" bIns="0" rtlCol="0" anchor="ctr"/>
          <a:lstStyle/>
          <a:p>
            <a:pPr indent="0" marL="0">
              <a:buNone/>
            </a:pPr>
            <a:r>
              <a:rPr lang="en-US" sz="2200" b="1" dirty="0">
                <a:solidFill>
                  <a:srgbClr val="19A35F"/>
                </a:solidFill>
                <a:latin typeface="Arial" pitchFamily="34" charset="0"/>
                <a:ea typeface="Arial" pitchFamily="34" charset="-122"/>
                <a:cs typeface="Arial" pitchFamily="34" charset="-120"/>
              </a:rPr>
              <a:t>Người 2</a:t>
            </a:r>
            <a:endParaRPr lang="en-US" sz="1600" dirty="0"/>
          </a:p>
          <a:p>
            <a:pPr indent="0" marL="0">
              <a:buNone/>
            </a:pPr>
            <a:r>
              <a:rPr lang="en-US" sz="1500" dirty="0">
                <a:solidFill>
                  <a:srgbClr val="A3A8B0"/>
                </a:solidFill>
                <a:latin typeface="Arial" pitchFamily="34" charset="0"/>
                <a:ea typeface="Arial" pitchFamily="34" charset="-122"/>
                <a:cs typeface="Arial" pitchFamily="34" charset="-120"/>
              </a:rPr>
              <a:t>[điền tên] · PEG+ và phần kết hợp</a:t>
            </a:r>
            <a:endParaRPr lang="en-US" sz="1600" dirty="0"/>
          </a:p>
        </p:txBody>
      </p:sp>
      <p:sp>
        <p:nvSpPr>
          <p:cNvPr id="14" name="Shape 12"/>
          <p:cNvSpPr/>
          <p:nvPr/>
        </p:nvSpPr>
        <p:spPr>
          <a:xfrm>
            <a:off x="9646920" y="274320"/>
            <a:ext cx="1993392" cy="329184"/>
          </a:xfrm>
          <a:prstGeom prst="roundRect">
            <a:avLst>
              <a:gd name="adj" fmla="val 50000"/>
            </a:avLst>
          </a:prstGeom>
          <a:solidFill>
            <a:srgbClr val="F2A900">
              <a:alpha val="22000"/>
            </a:srgbClr>
          </a:solidFill>
          <a:ln w="15875">
            <a:solidFill>
              <a:srgbClr val="F2A900"/>
            </a:solidFill>
            <a:prstDash val="solid"/>
          </a:ln>
        </p:spPr>
      </p:sp>
      <p:sp>
        <p:nvSpPr>
          <p:cNvPr id="15" name="Text 13"/>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CẢ HAI</a:t>
            </a:r>
            <a:endParaRPr lang="en-US" sz="1100" dirty="0"/>
          </a:p>
        </p:txBody>
      </p:sp>
      <p:sp>
        <p:nvSpPr>
          <p:cNvPr id="16" name="Text 14"/>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BÀI TOÁN</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Đèn mũ chiếu vào camera → người cháy trắng</a:t>
            </a:r>
            <a:endParaRPr lang="en-US" sz="3000" dirty="0"/>
          </a:p>
        </p:txBody>
      </p:sp>
      <p:pic>
        <p:nvPicPr>
          <p:cNvPr id="4" name="Image 0" descr="D:\PROJECT\PEG\results\failure_analysis\figures\01_gate_ok_box_drifts.png">    </p:cNvPr>
          <p:cNvPicPr>
            <a:picLocks noChangeAspect="1"/>
          </p:cNvPicPr>
          <p:nvPr/>
        </p:nvPicPr>
        <p:blipFill>
          <a:blip r:embed="rId1"/>
          <a:stretch>
            <a:fillRect/>
          </a:stretch>
        </p:blipFill>
        <p:spPr>
          <a:xfrm>
            <a:off x="548640" y="1600200"/>
            <a:ext cx="11091672" cy="2940770"/>
          </a:xfrm>
          <a:prstGeom prst="rect">
            <a:avLst/>
          </a:prstGeom>
        </p:spPr>
      </p:pic>
      <p:sp>
        <p:nvSpPr>
          <p:cNvPr id="5" name="Text 2"/>
          <p:cNvSpPr txBox="1"/>
          <p:nvPr/>
        </p:nvSpPr>
        <p:spPr>
          <a:xfrm>
            <a:off x="548640" y="4632410"/>
            <a:ext cx="219456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Trước khi chói</a:t>
            </a:r>
            <a:endParaRPr lang="en-US" sz="1200" dirty="0"/>
          </a:p>
        </p:txBody>
      </p:sp>
      <p:sp>
        <p:nvSpPr>
          <p:cNvPr id="6" name="Text 3"/>
          <p:cNvSpPr txBox="1"/>
          <p:nvPr/>
        </p:nvSpPr>
        <p:spPr>
          <a:xfrm>
            <a:off x="2880360" y="4632410"/>
            <a:ext cx="274320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Bị chói trắng →</a:t>
            </a:r>
            <a:endParaRPr lang="en-US" sz="1200" dirty="0"/>
          </a:p>
        </p:txBody>
      </p:sp>
      <p:sp>
        <p:nvSpPr>
          <p:cNvPr id="7" name="Text 4"/>
          <p:cNvSpPr txBox="1"/>
          <p:nvPr/>
        </p:nvSpPr>
        <p:spPr>
          <a:xfrm>
            <a:off x="548640" y="5257800"/>
            <a:ext cx="11064240" cy="548640"/>
          </a:xfrm>
          <a:prstGeom prst="rect">
            <a:avLst/>
          </a:prstGeom>
          <a:noFill/>
          <a:ln/>
        </p:spPr>
        <p:txBody>
          <a:bodyPr wrap="square" lIns="0" tIns="0" rIns="0" bIns="0" rtlCol="0" anchor="t"/>
          <a:lstStyle/>
          <a:p>
            <a:pPr indent="0" marL="0">
              <a:buNone/>
            </a:pPr>
            <a:r>
              <a:rPr lang="en-US" sz="2600" b="1" dirty="0">
                <a:solidFill>
                  <a:srgbClr val="F2F2F2"/>
                </a:solidFill>
                <a:latin typeface="Arial" pitchFamily="34" charset="0"/>
                <a:ea typeface="Arial" pitchFamily="34" charset="-122"/>
                <a:cs typeface="Arial" pitchFamily="34" charset="-120"/>
              </a:rPr>
              <a:t>Detector không thấy người → mất box, mất ID.</a:t>
            </a:r>
            <a:endParaRPr lang="en-US" sz="2600" dirty="0"/>
          </a:p>
        </p:txBody>
      </p:sp>
      <p:sp>
        <p:nvSpPr>
          <p:cNvPr id="8" name="Shape 5"/>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9" name="Text 6"/>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10" name="Text 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Ý TƯỞNG CỦA PAPER</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PEG làm gì?</a:t>
            </a:r>
            <a:endParaRPr lang="en-US" sz="3000" dirty="0"/>
          </a:p>
        </p:txBody>
      </p:sp>
      <p:sp>
        <p:nvSpPr>
          <p:cNvPr id="4" name="Shape 2"/>
          <p:cNvSpPr/>
          <p:nvPr/>
        </p:nvSpPr>
        <p:spPr>
          <a:xfrm>
            <a:off x="548640" y="2606040"/>
            <a:ext cx="2103120" cy="1280160"/>
          </a:xfrm>
          <a:prstGeom prst="roundRect">
            <a:avLst>
              <a:gd name="adj" fmla="val 8571"/>
            </a:avLst>
          </a:prstGeom>
          <a:solidFill>
            <a:srgbClr val="22252B"/>
          </a:solidFill>
          <a:ln w="12700">
            <a:solidFill>
              <a:srgbClr val="22252B"/>
            </a:solidFill>
            <a:prstDash val="solid"/>
          </a:ln>
        </p:spPr>
      </p:sp>
      <p:sp>
        <p:nvSpPr>
          <p:cNvPr id="5" name="Text 3"/>
          <p:cNvSpPr txBox="1"/>
          <p:nvPr/>
        </p:nvSpPr>
        <p:spPr>
          <a:xfrm>
            <a:off x="548640" y="2606040"/>
            <a:ext cx="2103120" cy="1280160"/>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Người bị mất</a:t>
            </a:r>
            <a:endParaRPr lang="en-US" sz="2000" dirty="0"/>
          </a:p>
        </p:txBody>
      </p:sp>
      <p:sp>
        <p:nvSpPr>
          <p:cNvPr id="6" name="Shape 4"/>
          <p:cNvSpPr/>
          <p:nvPr/>
        </p:nvSpPr>
        <p:spPr>
          <a:xfrm>
            <a:off x="2697480" y="3246120"/>
            <a:ext cx="411480" cy="0"/>
          </a:xfrm>
          <a:prstGeom prst="line">
            <a:avLst/>
          </a:prstGeom>
          <a:noFill/>
          <a:ln w="31750">
            <a:solidFill>
              <a:srgbClr val="F2A900"/>
            </a:solidFill>
            <a:prstDash val="solid"/>
            <a:tailEnd type="triangle"/>
          </a:ln>
        </p:spPr>
      </p:sp>
      <p:sp>
        <p:nvSpPr>
          <p:cNvPr id="7" name="Shape 5"/>
          <p:cNvSpPr/>
          <p:nvPr/>
        </p:nvSpPr>
        <p:spPr>
          <a:xfrm>
            <a:off x="3154680" y="2606040"/>
            <a:ext cx="2834640" cy="1280160"/>
          </a:xfrm>
          <a:prstGeom prst="roundRect">
            <a:avLst>
              <a:gd name="adj" fmla="val 8571"/>
            </a:avLst>
          </a:prstGeom>
          <a:solidFill>
            <a:srgbClr val="2B2F36"/>
          </a:solidFill>
          <a:ln w="12700">
            <a:solidFill>
              <a:srgbClr val="2B2F36"/>
            </a:solidFill>
            <a:prstDash val="solid"/>
          </a:ln>
        </p:spPr>
      </p:sp>
      <p:sp>
        <p:nvSpPr>
          <p:cNvPr id="8" name="Text 6"/>
          <p:cNvSpPr txBox="1"/>
          <p:nvPr/>
        </p:nvSpPr>
        <p:spPr>
          <a:xfrm>
            <a:off x="3154680" y="2606040"/>
            <a:ext cx="2834640" cy="1280160"/>
          </a:xfrm>
          <a:prstGeom prst="rect">
            <a:avLst/>
          </a:prstGeom>
          <a:noFill/>
          <a:ln/>
        </p:spPr>
        <p:txBody>
          <a:bodyPr wrap="square" lIns="0" tIns="0" rIns="0" bIns="0" rtlCol="0" anchor="ctr"/>
          <a:lstStyle/>
          <a:p>
            <a:pPr algn="ctr" indent="0" marL="0">
              <a:buNone/>
            </a:pPr>
            <a:r>
              <a:rPr lang="en-US" sz="2200" b="1" dirty="0">
                <a:solidFill>
                  <a:srgbClr val="F2A900"/>
                </a:solidFill>
                <a:latin typeface="Arial" pitchFamily="34" charset="0"/>
                <a:ea typeface="Arial" pitchFamily="34" charset="-122"/>
                <a:cs typeface="Arial" pitchFamily="34" charset="-120"/>
              </a:rPr>
              <a:t>Đo φ</a:t>
            </a:r>
            <a:endParaRPr lang="en-US" sz="1600" dirty="0"/>
          </a:p>
          <a:p>
            <a:pPr algn="ctr" indent="0" marL="0">
              <a:buNone/>
            </a:pPr>
            <a:r>
              <a:rPr lang="en-US" sz="1500" dirty="0">
                <a:solidFill>
                  <a:srgbClr val="A3A8B0"/>
                </a:solidFill>
                <a:latin typeface="Arial" pitchFamily="34" charset="0"/>
                <a:ea typeface="Arial" pitchFamily="34" charset="-122"/>
                <a:cs typeface="Arial" pitchFamily="34" charset="-120"/>
              </a:rPr>
              <a:t>% box đoán bị trắng</a:t>
            </a:r>
            <a:endParaRPr lang="en-US" sz="1600" dirty="0"/>
          </a:p>
        </p:txBody>
      </p:sp>
      <p:sp>
        <p:nvSpPr>
          <p:cNvPr id="9" name="Shape 7"/>
          <p:cNvSpPr/>
          <p:nvPr/>
        </p:nvSpPr>
        <p:spPr>
          <a:xfrm>
            <a:off x="6035040" y="3246120"/>
            <a:ext cx="411480" cy="0"/>
          </a:xfrm>
          <a:prstGeom prst="line">
            <a:avLst/>
          </a:prstGeom>
          <a:noFill/>
          <a:ln w="31750">
            <a:solidFill>
              <a:srgbClr val="F2A900"/>
            </a:solidFill>
            <a:prstDash val="solid"/>
            <a:tailEnd type="triangle"/>
          </a:ln>
        </p:spPr>
      </p:sp>
      <p:sp>
        <p:nvSpPr>
          <p:cNvPr id="10" name="Shape 8"/>
          <p:cNvSpPr/>
          <p:nvPr/>
        </p:nvSpPr>
        <p:spPr>
          <a:xfrm>
            <a:off x="6492240" y="2468880"/>
            <a:ext cx="1828800" cy="1554480"/>
          </a:xfrm>
          <a:prstGeom prst="diamond">
            <a:avLst/>
          </a:prstGeom>
          <a:solidFill>
            <a:srgbClr val="22252B"/>
          </a:solidFill>
          <a:ln w="25400">
            <a:solidFill>
              <a:srgbClr val="F2A900"/>
            </a:solidFill>
            <a:prstDash val="solid"/>
          </a:ln>
        </p:spPr>
      </p:sp>
      <p:sp>
        <p:nvSpPr>
          <p:cNvPr id="11" name="Text 9"/>
          <p:cNvSpPr txBox="1"/>
          <p:nvPr/>
        </p:nvSpPr>
        <p:spPr>
          <a:xfrm>
            <a:off x="6492240" y="2468880"/>
            <a:ext cx="1828800" cy="1554480"/>
          </a:xfrm>
          <a:prstGeom prst="rect">
            <a:avLst/>
          </a:prstGeom>
          <a:noFill/>
          <a:ln/>
        </p:spPr>
        <p:txBody>
          <a:bodyPr wrap="square" lIns="0" tIns="0" rIns="0" bIns="0" rtlCol="0" anchor="ctr"/>
          <a:lstStyle/>
          <a:p>
            <a:pPr algn="ctr" indent="0" marL="0">
              <a:buNone/>
            </a:pPr>
            <a:r>
              <a:rPr lang="en-US" sz="1800" b="1" dirty="0">
                <a:solidFill>
                  <a:srgbClr val="F2F2F2"/>
                </a:solidFill>
                <a:latin typeface="Arial" pitchFamily="34" charset="0"/>
                <a:ea typeface="Arial" pitchFamily="34" charset="-122"/>
                <a:cs typeface="Arial" pitchFamily="34" charset="-120"/>
              </a:rPr>
              <a:t>φ ≥ h</a:t>
            </a:r>
            <a:endParaRPr lang="en-US" sz="1800" dirty="0"/>
          </a:p>
          <a:p>
            <a:pPr algn="ctr" indent="0" marL="0">
              <a:buNone/>
            </a:pPr>
            <a:r>
              <a:rPr lang="en-US" sz="1800" b="1" dirty="0">
                <a:solidFill>
                  <a:srgbClr val="F2F2F2"/>
                </a:solidFill>
                <a:latin typeface="Arial" pitchFamily="34" charset="0"/>
                <a:ea typeface="Arial" pitchFamily="34" charset="-122"/>
                <a:cs typeface="Arial" pitchFamily="34" charset="-120"/>
              </a:rPr>
              <a:t>(0.4)?</a:t>
            </a:r>
            <a:endParaRPr lang="en-US" sz="1800" dirty="0"/>
          </a:p>
        </p:txBody>
      </p:sp>
      <p:sp>
        <p:nvSpPr>
          <p:cNvPr id="12" name="Shape 10"/>
          <p:cNvSpPr/>
          <p:nvPr/>
        </p:nvSpPr>
        <p:spPr>
          <a:xfrm flipV="1">
            <a:off x="8366760" y="2331720"/>
            <a:ext cx="457200" cy="914400"/>
          </a:xfrm>
          <a:prstGeom prst="line">
            <a:avLst/>
          </a:prstGeom>
          <a:noFill/>
          <a:ln w="31750">
            <a:solidFill>
              <a:srgbClr val="19A35F"/>
            </a:solidFill>
            <a:prstDash val="solid"/>
            <a:tailEnd type="triangle"/>
          </a:ln>
        </p:spPr>
      </p:sp>
      <p:sp>
        <p:nvSpPr>
          <p:cNvPr id="13" name="Shape 11"/>
          <p:cNvSpPr/>
          <p:nvPr/>
        </p:nvSpPr>
        <p:spPr>
          <a:xfrm>
            <a:off x="8366760" y="3246120"/>
            <a:ext cx="457200" cy="914400"/>
          </a:xfrm>
          <a:prstGeom prst="line">
            <a:avLst/>
          </a:prstGeom>
          <a:noFill/>
          <a:ln w="31750">
            <a:solidFill>
              <a:srgbClr val="A3A8B0"/>
            </a:solidFill>
            <a:prstDash val="solid"/>
            <a:tailEnd type="triangle"/>
          </a:ln>
        </p:spPr>
      </p:sp>
      <p:sp>
        <p:nvSpPr>
          <p:cNvPr id="14" name="Text 12"/>
          <p:cNvSpPr txBox="1"/>
          <p:nvPr/>
        </p:nvSpPr>
        <p:spPr>
          <a:xfrm>
            <a:off x="8229600" y="2377440"/>
            <a:ext cx="457200" cy="274320"/>
          </a:xfrm>
          <a:prstGeom prst="rect">
            <a:avLst/>
          </a:prstGeom>
          <a:noFill/>
          <a:ln/>
        </p:spPr>
        <p:txBody>
          <a:bodyPr wrap="square" lIns="0" tIns="0" rIns="0" bIns="0" rtlCol="0" anchor="t"/>
          <a:lstStyle/>
          <a:p>
            <a:pPr indent="0" marL="0">
              <a:buNone/>
            </a:pPr>
            <a:r>
              <a:rPr lang="en-US" sz="1400" b="1" dirty="0">
                <a:solidFill>
                  <a:srgbClr val="19A35F"/>
                </a:solidFill>
                <a:latin typeface="Arial" pitchFamily="34" charset="0"/>
                <a:ea typeface="Arial" pitchFamily="34" charset="-122"/>
                <a:cs typeface="Arial" pitchFamily="34" charset="-120"/>
              </a:rPr>
              <a:t>Có</a:t>
            </a:r>
            <a:endParaRPr lang="en-US" sz="1400" dirty="0"/>
          </a:p>
        </p:txBody>
      </p:sp>
      <p:sp>
        <p:nvSpPr>
          <p:cNvPr id="15" name="Text 13"/>
          <p:cNvSpPr txBox="1"/>
          <p:nvPr/>
        </p:nvSpPr>
        <p:spPr>
          <a:xfrm>
            <a:off x="8092440" y="4251960"/>
            <a:ext cx="731520" cy="274320"/>
          </a:xfrm>
          <a:prstGeom prst="rect">
            <a:avLst/>
          </a:prstGeom>
          <a:noFill/>
          <a:ln/>
        </p:spPr>
        <p:txBody>
          <a:bodyPr wrap="square" lIns="0" tIns="0" rIns="0" bIns="0" rtlCol="0" anchor="t"/>
          <a:lstStyle/>
          <a:p>
            <a:pPr indent="0" marL="0">
              <a:buNone/>
            </a:pPr>
            <a:r>
              <a:rPr lang="en-US" sz="1400" b="1" dirty="0">
                <a:solidFill>
                  <a:srgbClr val="A3A8B0"/>
                </a:solidFill>
                <a:latin typeface="Arial" pitchFamily="34" charset="0"/>
                <a:ea typeface="Arial" pitchFamily="34" charset="-122"/>
                <a:cs typeface="Arial" pitchFamily="34" charset="-120"/>
              </a:rPr>
              <a:t>Không</a:t>
            </a:r>
            <a:endParaRPr lang="en-US" sz="1400" dirty="0"/>
          </a:p>
        </p:txBody>
      </p:sp>
      <p:sp>
        <p:nvSpPr>
          <p:cNvPr id="16" name="Shape 14"/>
          <p:cNvSpPr/>
          <p:nvPr/>
        </p:nvSpPr>
        <p:spPr>
          <a:xfrm>
            <a:off x="8869680" y="1645920"/>
            <a:ext cx="2770632" cy="1371600"/>
          </a:xfrm>
          <a:prstGeom prst="roundRect">
            <a:avLst>
              <a:gd name="adj" fmla="val 8000"/>
            </a:avLst>
          </a:prstGeom>
          <a:solidFill>
            <a:srgbClr val="2B2F36"/>
          </a:solidFill>
          <a:ln w="12700">
            <a:solidFill>
              <a:srgbClr val="2B2F36"/>
            </a:solidFill>
            <a:prstDash val="solid"/>
          </a:ln>
        </p:spPr>
      </p:sp>
      <p:sp>
        <p:nvSpPr>
          <p:cNvPr id="17" name="Shape 15"/>
          <p:cNvSpPr/>
          <p:nvPr/>
        </p:nvSpPr>
        <p:spPr>
          <a:xfrm>
            <a:off x="8869680" y="1645920"/>
            <a:ext cx="91440" cy="1371600"/>
          </a:xfrm>
          <a:prstGeom prst="rect">
            <a:avLst/>
          </a:prstGeom>
          <a:solidFill>
            <a:srgbClr val="19A35F"/>
          </a:solidFill>
          <a:ln w="12700">
            <a:solidFill>
              <a:srgbClr val="19A35F"/>
            </a:solidFill>
            <a:prstDash val="solid"/>
          </a:ln>
        </p:spPr>
      </p:sp>
      <p:sp>
        <p:nvSpPr>
          <p:cNvPr id="18" name="Text 16"/>
          <p:cNvSpPr txBox="1"/>
          <p:nvPr/>
        </p:nvSpPr>
        <p:spPr>
          <a:xfrm>
            <a:off x="9098280" y="1645920"/>
            <a:ext cx="2468880" cy="1371600"/>
          </a:xfrm>
          <a:prstGeom prst="rect">
            <a:avLst/>
          </a:prstGeom>
          <a:noFill/>
          <a:ln/>
        </p:spPr>
        <p:txBody>
          <a:bodyPr wrap="square" lIns="0" tIns="0" rIns="0" bIns="0" rtlCol="0" anchor="ctr"/>
          <a:lstStyle/>
          <a:p>
            <a:pPr indent="0" marL="0">
              <a:buNone/>
            </a:pPr>
            <a:r>
              <a:rPr lang="en-US" sz="2000" b="1" dirty="0">
                <a:solidFill>
                  <a:srgbClr val="19A35F"/>
                </a:solidFill>
                <a:latin typeface="Arial" pitchFamily="34" charset="0"/>
                <a:ea typeface="Arial" pitchFamily="34" charset="-122"/>
                <a:cs typeface="Arial" pitchFamily="34" charset="-120"/>
              </a:rPr>
              <a:t>Giữ box</a:t>
            </a:r>
            <a:endParaRPr lang="en-US" sz="1600" dirty="0"/>
          </a:p>
          <a:p>
            <a:pPr indent="0" marL="0">
              <a:buNone/>
            </a:pPr>
            <a:r>
              <a:rPr lang="en-US" sz="1400" dirty="0">
                <a:solidFill>
                  <a:srgbClr val="F2F2F2"/>
                </a:solidFill>
                <a:latin typeface="Arial" pitchFamily="34" charset="0"/>
                <a:ea typeface="Arial" pitchFamily="34" charset="-122"/>
                <a:cs typeface="Arial" pitchFamily="34" charset="-120"/>
              </a:rPr>
              <a:t>người vẫn ở đó, chỉ bị chói</a:t>
            </a:r>
            <a:endParaRPr lang="en-US" sz="1600" dirty="0"/>
          </a:p>
        </p:txBody>
      </p:sp>
      <p:sp>
        <p:nvSpPr>
          <p:cNvPr id="19" name="Shape 17"/>
          <p:cNvSpPr/>
          <p:nvPr/>
        </p:nvSpPr>
        <p:spPr>
          <a:xfrm>
            <a:off x="8869680" y="3474720"/>
            <a:ext cx="2770632" cy="1371600"/>
          </a:xfrm>
          <a:prstGeom prst="roundRect">
            <a:avLst>
              <a:gd name="adj" fmla="val 8000"/>
            </a:avLst>
          </a:prstGeom>
          <a:solidFill>
            <a:srgbClr val="2B2F36"/>
          </a:solidFill>
          <a:ln w="12700">
            <a:solidFill>
              <a:srgbClr val="2B2F36"/>
            </a:solidFill>
            <a:prstDash val="solid"/>
          </a:ln>
        </p:spPr>
      </p:sp>
      <p:sp>
        <p:nvSpPr>
          <p:cNvPr id="20" name="Shape 18"/>
          <p:cNvSpPr/>
          <p:nvPr/>
        </p:nvSpPr>
        <p:spPr>
          <a:xfrm>
            <a:off x="8869680" y="3474720"/>
            <a:ext cx="91440" cy="1371600"/>
          </a:xfrm>
          <a:prstGeom prst="rect">
            <a:avLst/>
          </a:prstGeom>
          <a:solidFill>
            <a:srgbClr val="A3A8B0"/>
          </a:solidFill>
          <a:ln w="12700">
            <a:solidFill>
              <a:srgbClr val="A3A8B0"/>
            </a:solidFill>
            <a:prstDash val="solid"/>
          </a:ln>
        </p:spPr>
      </p:sp>
      <p:sp>
        <p:nvSpPr>
          <p:cNvPr id="21" name="Text 19"/>
          <p:cNvSpPr txBox="1"/>
          <p:nvPr/>
        </p:nvSpPr>
        <p:spPr>
          <a:xfrm>
            <a:off x="9098280" y="3474720"/>
            <a:ext cx="2468880" cy="1371600"/>
          </a:xfrm>
          <a:prstGeom prst="rect">
            <a:avLst/>
          </a:prstGeom>
          <a:noFill/>
          <a:ln/>
        </p:spPr>
        <p:txBody>
          <a:bodyPr wrap="square" lIns="0" tIns="0" rIns="0" bIns="0" rtlCol="0" anchor="ctr"/>
          <a:lstStyle/>
          <a:p>
            <a:pPr indent="0" marL="0">
              <a:buNone/>
            </a:pPr>
            <a:r>
              <a:rPr lang="en-US" sz="2000" b="1" dirty="0">
                <a:solidFill>
                  <a:srgbClr val="A3A8B0"/>
                </a:solidFill>
                <a:latin typeface="Arial" pitchFamily="34" charset="0"/>
                <a:ea typeface="Arial" pitchFamily="34" charset="-122"/>
                <a:cs typeface="Arial" pitchFamily="34" charset="-120"/>
              </a:rPr>
              <a:t>Bỏ box</a:t>
            </a:r>
            <a:endParaRPr lang="en-US" sz="1600" dirty="0"/>
          </a:p>
          <a:p>
            <a:pPr indent="0" marL="0">
              <a:buNone/>
            </a:pPr>
            <a:r>
              <a:rPr lang="en-US" sz="1400" dirty="0">
                <a:solidFill>
                  <a:srgbClr val="F2F2F2"/>
                </a:solidFill>
                <a:latin typeface="Arial" pitchFamily="34" charset="0"/>
                <a:ea typeface="Arial" pitchFamily="34" charset="-122"/>
                <a:cs typeface="Arial" pitchFamily="34" charset="-120"/>
              </a:rPr>
              <a:t>người đã đi</a:t>
            </a:r>
            <a:endParaRPr lang="en-US" sz="1600" dirty="0"/>
          </a:p>
        </p:txBody>
      </p:sp>
      <p:sp>
        <p:nvSpPr>
          <p:cNvPr id="22" name="Text 20"/>
          <p:cNvSpPr txBox="1"/>
          <p:nvPr/>
        </p:nvSpPr>
        <p:spPr>
          <a:xfrm>
            <a:off x="548640" y="5394960"/>
            <a:ext cx="11064240" cy="548640"/>
          </a:xfrm>
          <a:prstGeom prst="rect">
            <a:avLst/>
          </a:prstGeom>
          <a:noFill/>
          <a:ln/>
        </p:spPr>
        <p:txBody>
          <a:bodyPr wrap="square" lIns="0" tIns="0" rIns="0" bIns="0" rtlCol="0" anchor="t"/>
          <a:lstStyle/>
          <a:p>
            <a:pPr indent="0" marL="0">
              <a:buNone/>
            </a:pPr>
            <a:r>
              <a:rPr lang="en-US" sz="2400" b="1" dirty="0">
                <a:solidFill>
                  <a:srgbClr val="F2A900"/>
                </a:solidFill>
                <a:latin typeface="Arial" pitchFamily="34" charset="0"/>
                <a:ea typeface="Arial" pitchFamily="34" charset="-122"/>
                <a:cs typeface="Arial" pitchFamily="34" charset="-120"/>
              </a:rPr>
              <a:t>Đo chính ánh sáng làm hỏng ảnh để quyết định giữ box.</a:t>
            </a:r>
            <a:endParaRPr lang="en-US" sz="2400" dirty="0"/>
          </a:p>
        </p:txBody>
      </p:sp>
      <p:sp>
        <p:nvSpPr>
          <p:cNvPr id="23" name="Shape 21"/>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4" name="Text 2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5" name="Text 2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TÁI HIỆN BÀI BÁO</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Mình chạy lại có ra số của paper?</a:t>
            </a:r>
            <a:endParaRPr lang="en-US" sz="3000" dirty="0"/>
          </a:p>
        </p:txBody>
      </p:sp>
      <p:sp>
        <p:nvSpPr>
          <p:cNvPr id="4" name="Text 2"/>
          <p:cNvSpPr txBox="1"/>
          <p:nvPr/>
        </p:nvSpPr>
        <p:spPr>
          <a:xfrm>
            <a:off x="5943600" y="1600200"/>
            <a:ext cx="1371600" cy="320040"/>
          </a:xfrm>
          <a:prstGeom prst="rect">
            <a:avLst/>
          </a:prstGeom>
          <a:noFill/>
          <a:ln/>
        </p:spPr>
        <p:txBody>
          <a:bodyPr wrap="square" lIns="0" tIns="0" rIns="0" bIns="0" rtlCol="0" anchor="t"/>
          <a:lstStyle/>
          <a:p>
            <a:pPr algn="r" indent="0" marL="0">
              <a:buNone/>
            </a:pPr>
            <a:r>
              <a:rPr lang="en-US" sz="1400" dirty="0">
                <a:solidFill>
                  <a:srgbClr val="A3A8B0"/>
                </a:solidFill>
                <a:latin typeface="Arial" pitchFamily="34" charset="0"/>
                <a:ea typeface="Arial" pitchFamily="34" charset="-122"/>
                <a:cs typeface="Arial" pitchFamily="34" charset="-120"/>
              </a:rPr>
              <a:t>Paper</a:t>
            </a:r>
            <a:endParaRPr lang="en-US" sz="1400" dirty="0"/>
          </a:p>
        </p:txBody>
      </p:sp>
      <p:sp>
        <p:nvSpPr>
          <p:cNvPr id="5" name="Text 3"/>
          <p:cNvSpPr txBox="1"/>
          <p:nvPr/>
        </p:nvSpPr>
        <p:spPr>
          <a:xfrm>
            <a:off x="7498080" y="1600200"/>
            <a:ext cx="1645920" cy="320040"/>
          </a:xfrm>
          <a:prstGeom prst="rect">
            <a:avLst/>
          </a:prstGeom>
          <a:noFill/>
          <a:ln/>
        </p:spPr>
        <p:txBody>
          <a:bodyPr wrap="square" lIns="0" tIns="0" rIns="0" bIns="0" rtlCol="0" anchor="t"/>
          <a:lstStyle/>
          <a:p>
            <a:pPr algn="r" indent="0" marL="0">
              <a:buNone/>
            </a:pPr>
            <a:r>
              <a:rPr lang="en-US" sz="1400" dirty="0">
                <a:solidFill>
                  <a:srgbClr val="A3A8B0"/>
                </a:solidFill>
                <a:latin typeface="Arial" pitchFamily="34" charset="0"/>
                <a:ea typeface="Arial" pitchFamily="34" charset="-122"/>
                <a:cs typeface="Arial" pitchFamily="34" charset="-120"/>
              </a:rPr>
              <a:t>Mình chạy</a:t>
            </a:r>
            <a:endParaRPr lang="en-US" sz="1400" dirty="0"/>
          </a:p>
        </p:txBody>
      </p:sp>
      <p:sp>
        <p:nvSpPr>
          <p:cNvPr id="6" name="Text 4"/>
          <p:cNvSpPr txBox="1"/>
          <p:nvPr/>
        </p:nvSpPr>
        <p:spPr>
          <a:xfrm>
            <a:off x="9326880" y="1600200"/>
            <a:ext cx="1097280" cy="320040"/>
          </a:xfrm>
          <a:prstGeom prst="rect">
            <a:avLst/>
          </a:prstGeom>
          <a:noFill/>
          <a:ln/>
        </p:spPr>
        <p:txBody>
          <a:bodyPr wrap="square" lIns="0" tIns="0" rIns="0" bIns="0" rtlCol="0" anchor="t"/>
          <a:lstStyle/>
          <a:p>
            <a:pPr algn="r" indent="0" marL="0">
              <a:buNone/>
            </a:pPr>
            <a:r>
              <a:rPr lang="en-US" sz="1400" dirty="0">
                <a:solidFill>
                  <a:srgbClr val="A3A8B0"/>
                </a:solidFill>
                <a:latin typeface="Arial" pitchFamily="34" charset="0"/>
                <a:ea typeface="Arial" pitchFamily="34" charset="-122"/>
                <a:cs typeface="Arial" pitchFamily="34" charset="-120"/>
              </a:rPr>
              <a:t>Lệch</a:t>
            </a:r>
            <a:endParaRPr lang="en-US" sz="1400" dirty="0"/>
          </a:p>
        </p:txBody>
      </p:sp>
      <p:sp>
        <p:nvSpPr>
          <p:cNvPr id="7" name="Shape 5"/>
          <p:cNvSpPr/>
          <p:nvPr/>
        </p:nvSpPr>
        <p:spPr>
          <a:xfrm>
            <a:off x="548640" y="2011680"/>
            <a:ext cx="11091672" cy="566928"/>
          </a:xfrm>
          <a:prstGeom prst="roundRect">
            <a:avLst>
              <a:gd name="adj" fmla="val 19355"/>
            </a:avLst>
          </a:prstGeom>
          <a:solidFill>
            <a:srgbClr val="22252B"/>
          </a:solidFill>
          <a:ln w="12700">
            <a:solidFill>
              <a:srgbClr val="22252B"/>
            </a:solidFill>
            <a:prstDash val="solid"/>
          </a:ln>
        </p:spPr>
      </p:sp>
      <p:sp>
        <p:nvSpPr>
          <p:cNvPr id="8" name="Text 6"/>
          <p:cNvSpPr txBox="1"/>
          <p:nvPr/>
        </p:nvSpPr>
        <p:spPr>
          <a:xfrm>
            <a:off x="777240" y="2011680"/>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a:t>
            </a:r>
            <a:endParaRPr lang="en-US" sz="1600" dirty="0"/>
          </a:p>
        </p:txBody>
      </p:sp>
      <p:sp>
        <p:nvSpPr>
          <p:cNvPr id="9" name="Text 7"/>
          <p:cNvSpPr txBox="1"/>
          <p:nvPr/>
        </p:nvSpPr>
        <p:spPr>
          <a:xfrm>
            <a:off x="2651760" y="2011680"/>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HOTA</a:t>
            </a:r>
            <a:endParaRPr lang="en-US" sz="2200" dirty="0"/>
          </a:p>
        </p:txBody>
      </p:sp>
      <p:sp>
        <p:nvSpPr>
          <p:cNvPr id="10" name="Text 8"/>
          <p:cNvSpPr txBox="1"/>
          <p:nvPr/>
        </p:nvSpPr>
        <p:spPr>
          <a:xfrm>
            <a:off x="5943600" y="2011680"/>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68.20</a:t>
            </a:r>
            <a:endParaRPr lang="en-US" sz="2400" dirty="0"/>
          </a:p>
        </p:txBody>
      </p:sp>
      <p:sp>
        <p:nvSpPr>
          <p:cNvPr id="11" name="Text 9"/>
          <p:cNvSpPr txBox="1"/>
          <p:nvPr/>
        </p:nvSpPr>
        <p:spPr>
          <a:xfrm>
            <a:off x="7498080" y="2011680"/>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68.19</a:t>
            </a:r>
            <a:endParaRPr lang="en-US" sz="2400" dirty="0"/>
          </a:p>
        </p:txBody>
      </p:sp>
      <p:sp>
        <p:nvSpPr>
          <p:cNvPr id="12" name="Text 10"/>
          <p:cNvSpPr txBox="1"/>
          <p:nvPr/>
        </p:nvSpPr>
        <p:spPr>
          <a:xfrm>
            <a:off x="9326880" y="2011680"/>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0.01</a:t>
            </a:r>
            <a:endParaRPr lang="en-US" sz="1800" dirty="0"/>
          </a:p>
        </p:txBody>
      </p:sp>
      <p:sp>
        <p:nvSpPr>
          <p:cNvPr id="13" name="Text 11"/>
          <p:cNvSpPr txBox="1"/>
          <p:nvPr/>
        </p:nvSpPr>
        <p:spPr>
          <a:xfrm>
            <a:off x="10698480" y="2011680"/>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14" name="Shape 12"/>
          <p:cNvSpPr/>
          <p:nvPr/>
        </p:nvSpPr>
        <p:spPr>
          <a:xfrm>
            <a:off x="548640" y="2670048"/>
            <a:ext cx="11091672" cy="566928"/>
          </a:xfrm>
          <a:prstGeom prst="roundRect">
            <a:avLst>
              <a:gd name="adj" fmla="val 19355"/>
            </a:avLst>
          </a:prstGeom>
          <a:solidFill>
            <a:srgbClr val="22252B"/>
          </a:solidFill>
          <a:ln w="12700">
            <a:solidFill>
              <a:srgbClr val="22252B"/>
            </a:solidFill>
            <a:prstDash val="solid"/>
          </a:ln>
        </p:spPr>
      </p:sp>
      <p:sp>
        <p:nvSpPr>
          <p:cNvPr id="15" name="Text 13"/>
          <p:cNvSpPr txBox="1"/>
          <p:nvPr/>
        </p:nvSpPr>
        <p:spPr>
          <a:xfrm>
            <a:off x="777240" y="2670048"/>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a:t>
            </a:r>
            <a:endParaRPr lang="en-US" sz="1600" dirty="0"/>
          </a:p>
        </p:txBody>
      </p:sp>
      <p:sp>
        <p:nvSpPr>
          <p:cNvPr id="16" name="Text 14"/>
          <p:cNvSpPr txBox="1"/>
          <p:nvPr/>
        </p:nvSpPr>
        <p:spPr>
          <a:xfrm>
            <a:off x="2651760" y="2670048"/>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IDF1</a:t>
            </a:r>
            <a:endParaRPr lang="en-US" sz="2200" dirty="0"/>
          </a:p>
        </p:txBody>
      </p:sp>
      <p:sp>
        <p:nvSpPr>
          <p:cNvPr id="17" name="Text 15"/>
          <p:cNvSpPr txBox="1"/>
          <p:nvPr/>
        </p:nvSpPr>
        <p:spPr>
          <a:xfrm>
            <a:off x="5943600" y="2670048"/>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82.30</a:t>
            </a:r>
            <a:endParaRPr lang="en-US" sz="2400" dirty="0"/>
          </a:p>
        </p:txBody>
      </p:sp>
      <p:sp>
        <p:nvSpPr>
          <p:cNvPr id="18" name="Text 16"/>
          <p:cNvSpPr txBox="1"/>
          <p:nvPr/>
        </p:nvSpPr>
        <p:spPr>
          <a:xfrm>
            <a:off x="7498080" y="2670048"/>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82.30</a:t>
            </a:r>
            <a:endParaRPr lang="en-US" sz="2400" dirty="0"/>
          </a:p>
        </p:txBody>
      </p:sp>
      <p:sp>
        <p:nvSpPr>
          <p:cNvPr id="19" name="Text 17"/>
          <p:cNvSpPr txBox="1"/>
          <p:nvPr/>
        </p:nvSpPr>
        <p:spPr>
          <a:xfrm>
            <a:off x="9326880" y="2670048"/>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0.00</a:t>
            </a:r>
            <a:endParaRPr lang="en-US" sz="1800" dirty="0"/>
          </a:p>
        </p:txBody>
      </p:sp>
      <p:sp>
        <p:nvSpPr>
          <p:cNvPr id="20" name="Text 18"/>
          <p:cNvSpPr txBox="1"/>
          <p:nvPr/>
        </p:nvSpPr>
        <p:spPr>
          <a:xfrm>
            <a:off x="10698480" y="2670048"/>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21" name="Shape 19"/>
          <p:cNvSpPr/>
          <p:nvPr/>
        </p:nvSpPr>
        <p:spPr>
          <a:xfrm>
            <a:off x="548640" y="3328416"/>
            <a:ext cx="11091672" cy="566928"/>
          </a:xfrm>
          <a:prstGeom prst="roundRect">
            <a:avLst>
              <a:gd name="adj" fmla="val 19355"/>
            </a:avLst>
          </a:prstGeom>
          <a:solidFill>
            <a:srgbClr val="22252B"/>
          </a:solidFill>
          <a:ln w="12700">
            <a:solidFill>
              <a:srgbClr val="22252B"/>
            </a:solidFill>
            <a:prstDash val="solid"/>
          </a:ln>
        </p:spPr>
      </p:sp>
      <p:sp>
        <p:nvSpPr>
          <p:cNvPr id="22" name="Text 20"/>
          <p:cNvSpPr txBox="1"/>
          <p:nvPr/>
        </p:nvSpPr>
        <p:spPr>
          <a:xfrm>
            <a:off x="777240" y="3328416"/>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a:t>
            </a:r>
            <a:endParaRPr lang="en-US" sz="1600" dirty="0"/>
          </a:p>
        </p:txBody>
      </p:sp>
      <p:sp>
        <p:nvSpPr>
          <p:cNvPr id="23" name="Text 21"/>
          <p:cNvSpPr txBox="1"/>
          <p:nvPr/>
        </p:nvSpPr>
        <p:spPr>
          <a:xfrm>
            <a:off x="2651760" y="3328416"/>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MOTA</a:t>
            </a:r>
            <a:endParaRPr lang="en-US" sz="2200" dirty="0"/>
          </a:p>
        </p:txBody>
      </p:sp>
      <p:sp>
        <p:nvSpPr>
          <p:cNvPr id="24" name="Text 22"/>
          <p:cNvSpPr txBox="1"/>
          <p:nvPr/>
        </p:nvSpPr>
        <p:spPr>
          <a:xfrm>
            <a:off x="5943600" y="3328416"/>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80.62</a:t>
            </a:r>
            <a:endParaRPr lang="en-US" sz="2400" dirty="0"/>
          </a:p>
        </p:txBody>
      </p:sp>
      <p:sp>
        <p:nvSpPr>
          <p:cNvPr id="25" name="Text 23"/>
          <p:cNvSpPr txBox="1"/>
          <p:nvPr/>
        </p:nvSpPr>
        <p:spPr>
          <a:xfrm>
            <a:off x="7498080" y="3328416"/>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80.62</a:t>
            </a:r>
            <a:endParaRPr lang="en-US" sz="2400" dirty="0"/>
          </a:p>
        </p:txBody>
      </p:sp>
      <p:sp>
        <p:nvSpPr>
          <p:cNvPr id="26" name="Text 24"/>
          <p:cNvSpPr txBox="1"/>
          <p:nvPr/>
        </p:nvSpPr>
        <p:spPr>
          <a:xfrm>
            <a:off x="9326880" y="3328416"/>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0.00</a:t>
            </a:r>
            <a:endParaRPr lang="en-US" sz="1800" dirty="0"/>
          </a:p>
        </p:txBody>
      </p:sp>
      <p:sp>
        <p:nvSpPr>
          <p:cNvPr id="27" name="Text 25"/>
          <p:cNvSpPr txBox="1"/>
          <p:nvPr/>
        </p:nvSpPr>
        <p:spPr>
          <a:xfrm>
            <a:off x="10698480" y="3328416"/>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28" name="Shape 26"/>
          <p:cNvSpPr/>
          <p:nvPr/>
        </p:nvSpPr>
        <p:spPr>
          <a:xfrm>
            <a:off x="548640" y="3986784"/>
            <a:ext cx="11091672" cy="566928"/>
          </a:xfrm>
          <a:prstGeom prst="roundRect">
            <a:avLst>
              <a:gd name="adj" fmla="val 19355"/>
            </a:avLst>
          </a:prstGeom>
          <a:solidFill>
            <a:srgbClr val="22252B"/>
          </a:solidFill>
          <a:ln w="12700">
            <a:solidFill>
              <a:srgbClr val="22252B"/>
            </a:solidFill>
            <a:prstDash val="solid"/>
          </a:ln>
        </p:spPr>
      </p:sp>
      <p:sp>
        <p:nvSpPr>
          <p:cNvPr id="29" name="Text 27"/>
          <p:cNvSpPr txBox="1"/>
          <p:nvPr/>
        </p:nvSpPr>
        <p:spPr>
          <a:xfrm>
            <a:off x="777240" y="3986784"/>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II</a:t>
            </a:r>
            <a:endParaRPr lang="en-US" sz="1600" dirty="0"/>
          </a:p>
        </p:txBody>
      </p:sp>
      <p:sp>
        <p:nvSpPr>
          <p:cNvPr id="30" name="Text 28"/>
          <p:cNvSpPr txBox="1"/>
          <p:nvPr/>
        </p:nvSpPr>
        <p:spPr>
          <a:xfrm>
            <a:off x="2651760" y="3986784"/>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MOTA</a:t>
            </a:r>
            <a:endParaRPr lang="en-US" sz="2200" dirty="0"/>
          </a:p>
        </p:txBody>
      </p:sp>
      <p:sp>
        <p:nvSpPr>
          <p:cNvPr id="31" name="Text 29"/>
          <p:cNvSpPr txBox="1"/>
          <p:nvPr/>
        </p:nvSpPr>
        <p:spPr>
          <a:xfrm>
            <a:off x="5943600" y="3986784"/>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73.24</a:t>
            </a:r>
            <a:endParaRPr lang="en-US" sz="2400" dirty="0"/>
          </a:p>
        </p:txBody>
      </p:sp>
      <p:sp>
        <p:nvSpPr>
          <p:cNvPr id="32" name="Text 30"/>
          <p:cNvSpPr txBox="1"/>
          <p:nvPr/>
        </p:nvSpPr>
        <p:spPr>
          <a:xfrm>
            <a:off x="7498080" y="3986784"/>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73.26</a:t>
            </a:r>
            <a:endParaRPr lang="en-US" sz="2400" dirty="0"/>
          </a:p>
        </p:txBody>
      </p:sp>
      <p:sp>
        <p:nvSpPr>
          <p:cNvPr id="33" name="Text 31"/>
          <p:cNvSpPr txBox="1"/>
          <p:nvPr/>
        </p:nvSpPr>
        <p:spPr>
          <a:xfrm>
            <a:off x="9326880" y="3986784"/>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0.02</a:t>
            </a:r>
            <a:endParaRPr lang="en-US" sz="1800" dirty="0"/>
          </a:p>
        </p:txBody>
      </p:sp>
      <p:sp>
        <p:nvSpPr>
          <p:cNvPr id="34" name="Text 32"/>
          <p:cNvSpPr txBox="1"/>
          <p:nvPr/>
        </p:nvSpPr>
        <p:spPr>
          <a:xfrm>
            <a:off x="10698480" y="3986784"/>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35" name="Shape 33"/>
          <p:cNvSpPr/>
          <p:nvPr/>
        </p:nvSpPr>
        <p:spPr>
          <a:xfrm>
            <a:off x="548640" y="4645152"/>
            <a:ext cx="11091672" cy="566928"/>
          </a:xfrm>
          <a:prstGeom prst="roundRect">
            <a:avLst>
              <a:gd name="adj" fmla="val 19355"/>
            </a:avLst>
          </a:prstGeom>
          <a:solidFill>
            <a:srgbClr val="22252B"/>
          </a:solidFill>
          <a:ln w="12700">
            <a:solidFill>
              <a:srgbClr val="22252B"/>
            </a:solidFill>
            <a:prstDash val="solid"/>
          </a:ln>
        </p:spPr>
      </p:sp>
      <p:sp>
        <p:nvSpPr>
          <p:cNvPr id="36" name="Text 34"/>
          <p:cNvSpPr txBox="1"/>
          <p:nvPr/>
        </p:nvSpPr>
        <p:spPr>
          <a:xfrm>
            <a:off x="777240" y="4645152"/>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II</a:t>
            </a:r>
            <a:endParaRPr lang="en-US" sz="1600" dirty="0"/>
          </a:p>
        </p:txBody>
      </p:sp>
      <p:sp>
        <p:nvSpPr>
          <p:cNvPr id="37" name="Text 35"/>
          <p:cNvSpPr txBox="1"/>
          <p:nvPr/>
        </p:nvSpPr>
        <p:spPr>
          <a:xfrm>
            <a:off x="2651760" y="4645152"/>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IDF1</a:t>
            </a:r>
            <a:endParaRPr lang="en-US" sz="2200" dirty="0"/>
          </a:p>
        </p:txBody>
      </p:sp>
      <p:sp>
        <p:nvSpPr>
          <p:cNvPr id="38" name="Text 36"/>
          <p:cNvSpPr txBox="1"/>
          <p:nvPr/>
        </p:nvSpPr>
        <p:spPr>
          <a:xfrm>
            <a:off x="5943600" y="4645152"/>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75.29</a:t>
            </a:r>
            <a:endParaRPr lang="en-US" sz="2400" dirty="0"/>
          </a:p>
        </p:txBody>
      </p:sp>
      <p:sp>
        <p:nvSpPr>
          <p:cNvPr id="39" name="Text 37"/>
          <p:cNvSpPr txBox="1"/>
          <p:nvPr/>
        </p:nvSpPr>
        <p:spPr>
          <a:xfrm>
            <a:off x="7498080" y="4645152"/>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75.30</a:t>
            </a:r>
            <a:endParaRPr lang="en-US" sz="2400" dirty="0"/>
          </a:p>
        </p:txBody>
      </p:sp>
      <p:sp>
        <p:nvSpPr>
          <p:cNvPr id="40" name="Text 38"/>
          <p:cNvSpPr txBox="1"/>
          <p:nvPr/>
        </p:nvSpPr>
        <p:spPr>
          <a:xfrm>
            <a:off x="9326880" y="4645152"/>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0.01</a:t>
            </a:r>
            <a:endParaRPr lang="en-US" sz="1800" dirty="0"/>
          </a:p>
        </p:txBody>
      </p:sp>
      <p:sp>
        <p:nvSpPr>
          <p:cNvPr id="41" name="Text 39"/>
          <p:cNvSpPr txBox="1"/>
          <p:nvPr/>
        </p:nvSpPr>
        <p:spPr>
          <a:xfrm>
            <a:off x="10698480" y="4645152"/>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42" name="Shape 40"/>
          <p:cNvSpPr/>
          <p:nvPr/>
        </p:nvSpPr>
        <p:spPr>
          <a:xfrm>
            <a:off x="548640" y="5303520"/>
            <a:ext cx="11091672" cy="566928"/>
          </a:xfrm>
          <a:prstGeom prst="roundRect">
            <a:avLst>
              <a:gd name="adj" fmla="val 19355"/>
            </a:avLst>
          </a:prstGeom>
          <a:solidFill>
            <a:srgbClr val="22252B"/>
          </a:solidFill>
          <a:ln w="12700">
            <a:solidFill>
              <a:srgbClr val="22252B"/>
            </a:solidFill>
            <a:prstDash val="solid"/>
          </a:ln>
        </p:spPr>
      </p:sp>
      <p:sp>
        <p:nvSpPr>
          <p:cNvPr id="43" name="Text 41"/>
          <p:cNvSpPr txBox="1"/>
          <p:nvPr/>
        </p:nvSpPr>
        <p:spPr>
          <a:xfrm>
            <a:off x="777240" y="5303520"/>
            <a:ext cx="1828800" cy="566928"/>
          </a:xfrm>
          <a:prstGeom prst="rect">
            <a:avLst/>
          </a:prstGeom>
          <a:noFill/>
          <a:ln/>
        </p:spPr>
        <p:txBody>
          <a:bodyPr wrap="square" lIns="0" tIns="0" rIns="0" bIns="0" rtlCol="0" anchor="ctr"/>
          <a:lstStyle/>
          <a:p>
            <a:pPr indent="0" marL="0">
              <a:buNone/>
            </a:pPr>
            <a:r>
              <a:rPr lang="en-US" sz="1600" dirty="0">
                <a:solidFill>
                  <a:srgbClr val="A3A8B0"/>
                </a:solidFill>
                <a:latin typeface="Arial" pitchFamily="34" charset="0"/>
                <a:ea typeface="Arial" pitchFamily="34" charset="-122"/>
                <a:cs typeface="Arial" pitchFamily="34" charset="-120"/>
              </a:rPr>
              <a:t>Table III</a:t>
            </a:r>
            <a:endParaRPr lang="en-US" sz="1600" dirty="0"/>
          </a:p>
        </p:txBody>
      </p:sp>
      <p:sp>
        <p:nvSpPr>
          <p:cNvPr id="44" name="Text 42"/>
          <p:cNvSpPr txBox="1"/>
          <p:nvPr/>
        </p:nvSpPr>
        <p:spPr>
          <a:xfrm>
            <a:off x="2651760" y="5303520"/>
            <a:ext cx="2286000" cy="566928"/>
          </a:xfrm>
          <a:prstGeom prst="rect">
            <a:avLst/>
          </a:prstGeom>
          <a:noFill/>
          <a:ln/>
        </p:spPr>
        <p:txBody>
          <a:bodyPr wrap="square" lIns="0" tIns="0" rIns="0" bIns="0" rtlCol="0" anchor="ctr"/>
          <a:lstStyle/>
          <a:p>
            <a:pPr indent="0" marL="0">
              <a:buNone/>
            </a:pPr>
            <a:r>
              <a:rPr lang="en-US" sz="2200" b="1" dirty="0">
                <a:solidFill>
                  <a:srgbClr val="F2A900"/>
                </a:solidFill>
                <a:latin typeface="Arial" pitchFamily="34" charset="0"/>
                <a:ea typeface="Arial" pitchFamily="34" charset="-122"/>
                <a:cs typeface="Arial" pitchFamily="34" charset="-120"/>
              </a:rPr>
              <a:t>Rcv@.5</a:t>
            </a:r>
            <a:endParaRPr lang="en-US" sz="2200" dirty="0"/>
          </a:p>
        </p:txBody>
      </p:sp>
      <p:sp>
        <p:nvSpPr>
          <p:cNvPr id="45" name="Text 43"/>
          <p:cNvSpPr txBox="1"/>
          <p:nvPr/>
        </p:nvSpPr>
        <p:spPr>
          <a:xfrm>
            <a:off x="5943600" y="5303520"/>
            <a:ext cx="1371600" cy="566928"/>
          </a:xfrm>
          <a:prstGeom prst="rect">
            <a:avLst/>
          </a:prstGeom>
          <a:noFill/>
          <a:ln/>
        </p:spPr>
        <p:txBody>
          <a:bodyPr wrap="square" lIns="0" tIns="0" rIns="0" bIns="0" rtlCol="0" anchor="ctr"/>
          <a:lstStyle/>
          <a:p>
            <a:pPr algn="r" indent="0" marL="0">
              <a:buNone/>
            </a:pPr>
            <a:r>
              <a:rPr lang="en-US" sz="2400" dirty="0">
                <a:solidFill>
                  <a:srgbClr val="A3A8B0"/>
                </a:solidFill>
                <a:latin typeface="Arial" pitchFamily="34" charset="0"/>
                <a:ea typeface="Arial" pitchFamily="34" charset="-122"/>
                <a:cs typeface="Arial" pitchFamily="34" charset="-120"/>
              </a:rPr>
              <a:t>76.5</a:t>
            </a:r>
            <a:endParaRPr lang="en-US" sz="2400" dirty="0"/>
          </a:p>
        </p:txBody>
      </p:sp>
      <p:sp>
        <p:nvSpPr>
          <p:cNvPr id="46" name="Text 44"/>
          <p:cNvSpPr txBox="1"/>
          <p:nvPr/>
        </p:nvSpPr>
        <p:spPr>
          <a:xfrm>
            <a:off x="7498080" y="5303520"/>
            <a:ext cx="1645920" cy="566928"/>
          </a:xfrm>
          <a:prstGeom prst="rect">
            <a:avLst/>
          </a:prstGeom>
          <a:noFill/>
          <a:ln/>
        </p:spPr>
        <p:txBody>
          <a:bodyPr wrap="square" lIns="0" tIns="0" rIns="0" bIns="0" rtlCol="0" anchor="ctr"/>
          <a:lstStyle/>
          <a:p>
            <a:pPr algn="r" indent="0" marL="0">
              <a:buNone/>
            </a:pPr>
            <a:r>
              <a:rPr lang="en-US" sz="2400" b="1" dirty="0">
                <a:solidFill>
                  <a:srgbClr val="F2F2F2"/>
                </a:solidFill>
                <a:latin typeface="Arial" pitchFamily="34" charset="0"/>
                <a:ea typeface="Arial" pitchFamily="34" charset="-122"/>
                <a:cs typeface="Arial" pitchFamily="34" charset="-120"/>
              </a:rPr>
              <a:t>76.6</a:t>
            </a:r>
            <a:endParaRPr lang="en-US" sz="2400" dirty="0"/>
          </a:p>
        </p:txBody>
      </p:sp>
      <p:sp>
        <p:nvSpPr>
          <p:cNvPr id="47" name="Text 45"/>
          <p:cNvSpPr txBox="1"/>
          <p:nvPr/>
        </p:nvSpPr>
        <p:spPr>
          <a:xfrm>
            <a:off x="9326880" y="5303520"/>
            <a:ext cx="1097280" cy="566928"/>
          </a:xfrm>
          <a:prstGeom prst="rect">
            <a:avLst/>
          </a:prstGeom>
          <a:noFill/>
          <a:ln/>
        </p:spPr>
        <p:txBody>
          <a:bodyPr wrap="square" lIns="0" tIns="0" rIns="0" bIns="0" rtlCol="0" anchor="ctr"/>
          <a:lstStyle/>
          <a:p>
            <a:pPr algn="r" indent="0" marL="0">
              <a:buNone/>
            </a:pPr>
            <a:r>
              <a:rPr lang="en-US" sz="1800" dirty="0">
                <a:solidFill>
                  <a:srgbClr val="A3A8B0"/>
                </a:solidFill>
                <a:latin typeface="Arial" pitchFamily="34" charset="0"/>
                <a:ea typeface="Arial" pitchFamily="34" charset="-122"/>
                <a:cs typeface="Arial" pitchFamily="34" charset="-120"/>
              </a:rPr>
              <a:t>0.1</a:t>
            </a:r>
            <a:endParaRPr lang="en-US" sz="1800" dirty="0"/>
          </a:p>
        </p:txBody>
      </p:sp>
      <p:sp>
        <p:nvSpPr>
          <p:cNvPr id="48" name="Text 46"/>
          <p:cNvSpPr txBox="1"/>
          <p:nvPr/>
        </p:nvSpPr>
        <p:spPr>
          <a:xfrm>
            <a:off x="10698480" y="5303520"/>
            <a:ext cx="731520" cy="566928"/>
          </a:xfrm>
          <a:prstGeom prst="rect">
            <a:avLst/>
          </a:prstGeom>
          <a:noFill/>
          <a:ln/>
        </p:spPr>
        <p:txBody>
          <a:bodyPr wrap="square" lIns="0" tIns="0" rIns="0" bIns="0" rtlCol="0" anchor="ctr"/>
          <a:lstStyle/>
          <a:p>
            <a:pPr algn="ctr" indent="0" marL="0">
              <a:buNone/>
            </a:pPr>
            <a:r>
              <a:rPr lang="en-US" sz="2600" b="1" dirty="0">
                <a:solidFill>
                  <a:srgbClr val="19A35F"/>
                </a:solidFill>
                <a:latin typeface="Arial" pitchFamily="34" charset="0"/>
                <a:ea typeface="Arial" pitchFamily="34" charset="-122"/>
                <a:cs typeface="Arial" pitchFamily="34" charset="-120"/>
              </a:rPr>
              <a:t>✓</a:t>
            </a:r>
            <a:endParaRPr lang="en-US" sz="2600" dirty="0"/>
          </a:p>
        </p:txBody>
      </p:sp>
      <p:sp>
        <p:nvSpPr>
          <p:cNvPr id="49" name="Text 47"/>
          <p:cNvSpPr txBox="1"/>
          <p:nvPr/>
        </p:nvSpPr>
        <p:spPr>
          <a:xfrm>
            <a:off x="548640" y="6035040"/>
            <a:ext cx="10972800" cy="32004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 = lệch ≤ 0.2 điểm so với paper.   Cùng weights của paper, không train lại.</a:t>
            </a:r>
            <a:endParaRPr lang="en-US" sz="1300" dirty="0"/>
          </a:p>
        </p:txBody>
      </p:sp>
      <p:sp>
        <p:nvSpPr>
          <p:cNvPr id="50" name="Shape 48"/>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51" name="Text 49"/>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52" name="Text 5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ĐỐI TƯỢNG KIỂM CHỨNG</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PEG-F: 5 method</a:t>
            </a:r>
            <a:endParaRPr lang="en-US" sz="3000" dirty="0"/>
          </a:p>
        </p:txBody>
      </p:sp>
      <p:sp>
        <p:nvSpPr>
          <p:cNvPr id="4" name="Shape 2"/>
          <p:cNvSpPr/>
          <p:nvPr/>
        </p:nvSpPr>
        <p:spPr>
          <a:xfrm>
            <a:off x="548640" y="1508760"/>
            <a:ext cx="11091672" cy="786384"/>
          </a:xfrm>
          <a:prstGeom prst="roundRect">
            <a:avLst>
              <a:gd name="adj" fmla="val 13953"/>
            </a:avLst>
          </a:prstGeom>
          <a:solidFill>
            <a:srgbClr val="22252B"/>
          </a:solidFill>
          <a:ln w="12700">
            <a:solidFill>
              <a:srgbClr val="22252B"/>
            </a:solidFill>
            <a:prstDash val="solid"/>
          </a:ln>
        </p:spPr>
      </p:sp>
      <p:sp>
        <p:nvSpPr>
          <p:cNvPr id="5" name="Shape 3"/>
          <p:cNvSpPr/>
          <p:nvPr/>
        </p:nvSpPr>
        <p:spPr>
          <a:xfrm>
            <a:off x="548640" y="1508760"/>
            <a:ext cx="91440" cy="786384"/>
          </a:xfrm>
          <a:prstGeom prst="rect">
            <a:avLst/>
          </a:prstGeom>
          <a:solidFill>
            <a:srgbClr val="9B6EE8"/>
          </a:solidFill>
          <a:ln w="12700">
            <a:solidFill>
              <a:srgbClr val="9B6EE8"/>
            </a:solidFill>
            <a:prstDash val="solid"/>
          </a:ln>
        </p:spPr>
      </p:sp>
      <p:sp>
        <p:nvSpPr>
          <p:cNvPr id="6" name="Text 4"/>
          <p:cNvSpPr txBox="1"/>
          <p:nvPr/>
        </p:nvSpPr>
        <p:spPr>
          <a:xfrm>
            <a:off x="868680" y="1508760"/>
            <a:ext cx="822960" cy="786384"/>
          </a:xfrm>
          <a:prstGeom prst="rect">
            <a:avLst/>
          </a:prstGeom>
          <a:noFill/>
          <a:ln/>
        </p:spPr>
        <p:txBody>
          <a:bodyPr wrap="square" lIns="0" tIns="0" rIns="0" bIns="0" rtlCol="0" anchor="ctr"/>
          <a:lstStyle/>
          <a:p>
            <a:pPr indent="0" marL="0">
              <a:buNone/>
            </a:pPr>
            <a:r>
              <a:rPr lang="en-US" sz="2800" b="1" dirty="0">
                <a:solidFill>
                  <a:srgbClr val="9B6EE8"/>
                </a:solidFill>
                <a:latin typeface="Arial" pitchFamily="34" charset="0"/>
                <a:ea typeface="Arial" pitchFamily="34" charset="-122"/>
                <a:cs typeface="Arial" pitchFamily="34" charset="-120"/>
              </a:rPr>
              <a:t>M1</a:t>
            </a:r>
            <a:endParaRPr lang="en-US" sz="2800" dirty="0"/>
          </a:p>
        </p:txBody>
      </p:sp>
      <p:sp>
        <p:nvSpPr>
          <p:cNvPr id="7" name="Text 5"/>
          <p:cNvSpPr txBox="1"/>
          <p:nvPr/>
        </p:nvSpPr>
        <p:spPr>
          <a:xfrm>
            <a:off x="1737360" y="1508760"/>
            <a:ext cx="3383280" cy="786384"/>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Chuyển động thích nghi</a:t>
            </a:r>
            <a:endParaRPr lang="en-US" sz="1800" dirty="0"/>
          </a:p>
        </p:txBody>
      </p:sp>
      <p:sp>
        <p:nvSpPr>
          <p:cNvPr id="8" name="Text 6"/>
          <p:cNvSpPr txBox="1"/>
          <p:nvPr/>
        </p:nvSpPr>
        <p:spPr>
          <a:xfrm>
            <a:off x="5212080" y="1508760"/>
            <a:ext cx="6217920" cy="786384"/>
          </a:xfrm>
          <a:prstGeom prst="rect">
            <a:avLst/>
          </a:prstGeom>
          <a:noFill/>
          <a:ln/>
        </p:spPr>
        <p:txBody>
          <a:bodyPr wrap="square" lIns="0" tIns="0" rIns="0" bIns="0" rtlCol="0" anchor="ctr"/>
          <a:lstStyle/>
          <a:p>
            <a:pPr indent="0" marL="0">
              <a:buNone/>
            </a:pPr>
            <a:r>
              <a:rPr lang="en-US" sz="1500" dirty="0">
                <a:solidFill>
                  <a:srgbClr val="A3A8B0"/>
                </a:solidFill>
                <a:latin typeface="Arial" pitchFamily="34" charset="0"/>
                <a:ea typeface="Arial" pitchFamily="34" charset="-122"/>
                <a:cs typeface="Arial" pitchFamily="34" charset="-120"/>
              </a:rPr>
              <a:t>M1-damp: hãm vận tốc khi hai người đứng gần nhau.  M1-swap: thêm các phép thử để đổi lại ID bị hoán đổi.</a:t>
            </a:r>
            <a:endParaRPr lang="en-US" sz="1500" dirty="0"/>
          </a:p>
        </p:txBody>
      </p:sp>
      <p:sp>
        <p:nvSpPr>
          <p:cNvPr id="9" name="Shape 7"/>
          <p:cNvSpPr/>
          <p:nvPr/>
        </p:nvSpPr>
        <p:spPr>
          <a:xfrm>
            <a:off x="548640" y="2404872"/>
            <a:ext cx="11091672" cy="786384"/>
          </a:xfrm>
          <a:prstGeom prst="roundRect">
            <a:avLst>
              <a:gd name="adj" fmla="val 13953"/>
            </a:avLst>
          </a:prstGeom>
          <a:solidFill>
            <a:srgbClr val="22252B"/>
          </a:solidFill>
          <a:ln w="12700">
            <a:solidFill>
              <a:srgbClr val="22252B"/>
            </a:solidFill>
            <a:prstDash val="solid"/>
          </a:ln>
        </p:spPr>
      </p:sp>
      <p:sp>
        <p:nvSpPr>
          <p:cNvPr id="10" name="Shape 8"/>
          <p:cNvSpPr/>
          <p:nvPr/>
        </p:nvSpPr>
        <p:spPr>
          <a:xfrm>
            <a:off x="548640" y="2404872"/>
            <a:ext cx="91440" cy="786384"/>
          </a:xfrm>
          <a:prstGeom prst="rect">
            <a:avLst/>
          </a:prstGeom>
          <a:solidFill>
            <a:srgbClr val="9B6EE8"/>
          </a:solidFill>
          <a:ln w="12700">
            <a:solidFill>
              <a:srgbClr val="9B6EE8"/>
            </a:solidFill>
            <a:prstDash val="solid"/>
          </a:ln>
        </p:spPr>
      </p:sp>
      <p:sp>
        <p:nvSpPr>
          <p:cNvPr id="11" name="Text 9"/>
          <p:cNvSpPr txBox="1"/>
          <p:nvPr/>
        </p:nvSpPr>
        <p:spPr>
          <a:xfrm>
            <a:off x="868680" y="2404872"/>
            <a:ext cx="822960" cy="786384"/>
          </a:xfrm>
          <a:prstGeom prst="rect">
            <a:avLst/>
          </a:prstGeom>
          <a:noFill/>
          <a:ln/>
        </p:spPr>
        <p:txBody>
          <a:bodyPr wrap="square" lIns="0" tIns="0" rIns="0" bIns="0" rtlCol="0" anchor="ctr"/>
          <a:lstStyle/>
          <a:p>
            <a:pPr indent="0" marL="0">
              <a:buNone/>
            </a:pPr>
            <a:r>
              <a:rPr lang="en-US" sz="2800" b="1" dirty="0">
                <a:solidFill>
                  <a:srgbClr val="9B6EE8"/>
                </a:solidFill>
                <a:latin typeface="Arial" pitchFamily="34" charset="0"/>
                <a:ea typeface="Arial" pitchFamily="34" charset="-122"/>
                <a:cs typeface="Arial" pitchFamily="34" charset="-120"/>
              </a:rPr>
              <a:t>M2</a:t>
            </a:r>
            <a:endParaRPr lang="en-US" sz="2800" dirty="0"/>
          </a:p>
        </p:txBody>
      </p:sp>
      <p:sp>
        <p:nvSpPr>
          <p:cNvPr id="12" name="Text 10"/>
          <p:cNvSpPr txBox="1"/>
          <p:nvPr/>
        </p:nvSpPr>
        <p:spPr>
          <a:xfrm>
            <a:off x="1737360" y="2404872"/>
            <a:ext cx="3383280" cy="786384"/>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Re-ID bằng màu HSV</a:t>
            </a:r>
            <a:endParaRPr lang="en-US" sz="1800" dirty="0"/>
          </a:p>
        </p:txBody>
      </p:sp>
      <p:sp>
        <p:nvSpPr>
          <p:cNvPr id="13" name="Text 11"/>
          <p:cNvSpPr txBox="1"/>
          <p:nvPr/>
        </p:nvSpPr>
        <p:spPr>
          <a:xfrm>
            <a:off x="5212080" y="2404872"/>
            <a:ext cx="6217920" cy="786384"/>
          </a:xfrm>
          <a:prstGeom prst="rect">
            <a:avLst/>
          </a:prstGeom>
          <a:noFill/>
          <a:ln/>
        </p:spPr>
        <p:txBody>
          <a:bodyPr wrap="square" lIns="0" tIns="0" rIns="0" bIns="0" rtlCol="0" anchor="ctr"/>
          <a:lstStyle/>
          <a:p>
            <a:pPr indent="0" marL="0">
              <a:buNone/>
            </a:pPr>
            <a:r>
              <a:rPr lang="en-US" sz="1500" dirty="0">
                <a:solidFill>
                  <a:srgbClr val="A3A8B0"/>
                </a:solidFill>
                <a:latin typeface="Arial" pitchFamily="34" charset="0"/>
                <a:ea typeface="Arial" pitchFamily="34" charset="-122"/>
                <a:cs typeface="Arial" pitchFamily="34" charset="-120"/>
              </a:rPr>
              <a:t>So màu áo (histogram HSV) để quyết định box này là ai.</a:t>
            </a:r>
            <a:endParaRPr lang="en-US" sz="1500" dirty="0"/>
          </a:p>
        </p:txBody>
      </p:sp>
      <p:sp>
        <p:nvSpPr>
          <p:cNvPr id="14" name="Shape 12"/>
          <p:cNvSpPr/>
          <p:nvPr/>
        </p:nvSpPr>
        <p:spPr>
          <a:xfrm>
            <a:off x="548640" y="3300984"/>
            <a:ext cx="11091672" cy="786384"/>
          </a:xfrm>
          <a:prstGeom prst="roundRect">
            <a:avLst>
              <a:gd name="adj" fmla="val 13953"/>
            </a:avLst>
          </a:prstGeom>
          <a:solidFill>
            <a:srgbClr val="22252B"/>
          </a:solidFill>
          <a:ln w="12700">
            <a:solidFill>
              <a:srgbClr val="22252B"/>
            </a:solidFill>
            <a:prstDash val="solid"/>
          </a:ln>
        </p:spPr>
      </p:sp>
      <p:sp>
        <p:nvSpPr>
          <p:cNvPr id="15" name="Shape 13"/>
          <p:cNvSpPr/>
          <p:nvPr/>
        </p:nvSpPr>
        <p:spPr>
          <a:xfrm>
            <a:off x="548640" y="3300984"/>
            <a:ext cx="91440" cy="786384"/>
          </a:xfrm>
          <a:prstGeom prst="rect">
            <a:avLst/>
          </a:prstGeom>
          <a:solidFill>
            <a:srgbClr val="9B6EE8"/>
          </a:solidFill>
          <a:ln w="12700">
            <a:solidFill>
              <a:srgbClr val="9B6EE8"/>
            </a:solidFill>
            <a:prstDash val="solid"/>
          </a:ln>
        </p:spPr>
      </p:sp>
      <p:sp>
        <p:nvSpPr>
          <p:cNvPr id="16" name="Text 14"/>
          <p:cNvSpPr txBox="1"/>
          <p:nvPr/>
        </p:nvSpPr>
        <p:spPr>
          <a:xfrm>
            <a:off x="868680" y="3300984"/>
            <a:ext cx="822960" cy="786384"/>
          </a:xfrm>
          <a:prstGeom prst="rect">
            <a:avLst/>
          </a:prstGeom>
          <a:noFill/>
          <a:ln/>
        </p:spPr>
        <p:txBody>
          <a:bodyPr wrap="square" lIns="0" tIns="0" rIns="0" bIns="0" rtlCol="0" anchor="ctr"/>
          <a:lstStyle/>
          <a:p>
            <a:pPr indent="0" marL="0">
              <a:buNone/>
            </a:pPr>
            <a:r>
              <a:rPr lang="en-US" sz="2800" b="1" dirty="0">
                <a:solidFill>
                  <a:srgbClr val="9B6EE8"/>
                </a:solidFill>
                <a:latin typeface="Arial" pitchFamily="34" charset="0"/>
                <a:ea typeface="Arial" pitchFamily="34" charset="-122"/>
                <a:cs typeface="Arial" pitchFamily="34" charset="-120"/>
              </a:rPr>
              <a:t>M3</a:t>
            </a:r>
            <a:endParaRPr lang="en-US" sz="2800" dirty="0"/>
          </a:p>
        </p:txBody>
      </p:sp>
      <p:sp>
        <p:nvSpPr>
          <p:cNvPr id="17" name="Text 15"/>
          <p:cNvSpPr txBox="1"/>
          <p:nvPr/>
        </p:nvSpPr>
        <p:spPr>
          <a:xfrm>
            <a:off x="1737360" y="3300984"/>
            <a:ext cx="3383280" cy="786384"/>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Ngưỡng h động + TTL thích nghi</a:t>
            </a:r>
            <a:endParaRPr lang="en-US" sz="1800" dirty="0"/>
          </a:p>
        </p:txBody>
      </p:sp>
      <p:sp>
        <p:nvSpPr>
          <p:cNvPr id="18" name="Text 16"/>
          <p:cNvSpPr txBox="1"/>
          <p:nvPr/>
        </p:nvSpPr>
        <p:spPr>
          <a:xfrm>
            <a:off x="5212080" y="3300984"/>
            <a:ext cx="6217920" cy="786384"/>
          </a:xfrm>
          <a:prstGeom prst="rect">
            <a:avLst/>
          </a:prstGeom>
          <a:noFill/>
          <a:ln/>
        </p:spPr>
        <p:txBody>
          <a:bodyPr wrap="square" lIns="0" tIns="0" rIns="0" bIns="0" rtlCol="0" anchor="ctr"/>
          <a:lstStyle/>
          <a:p>
            <a:pPr indent="0" marL="0">
              <a:buNone/>
            </a:pPr>
            <a:r>
              <a:rPr lang="en-US" sz="1500" dirty="0">
                <a:solidFill>
                  <a:srgbClr val="A3A8B0"/>
                </a:solidFill>
                <a:latin typeface="Arial" pitchFamily="34" charset="0"/>
                <a:ea typeface="Arial" pitchFamily="34" charset="-122"/>
                <a:cs typeface="Arial" pitchFamily="34" charset="-120"/>
              </a:rPr>
              <a:t>Tùy tình huống mà đổi ngưỡng chói h và thời gian được giữ box.</a:t>
            </a:r>
            <a:endParaRPr lang="en-US" sz="1500" dirty="0"/>
          </a:p>
        </p:txBody>
      </p:sp>
      <p:sp>
        <p:nvSpPr>
          <p:cNvPr id="19" name="Shape 17"/>
          <p:cNvSpPr/>
          <p:nvPr/>
        </p:nvSpPr>
        <p:spPr>
          <a:xfrm>
            <a:off x="548640" y="4197096"/>
            <a:ext cx="11091672" cy="786384"/>
          </a:xfrm>
          <a:prstGeom prst="roundRect">
            <a:avLst>
              <a:gd name="adj" fmla="val 13953"/>
            </a:avLst>
          </a:prstGeom>
          <a:solidFill>
            <a:srgbClr val="22252B"/>
          </a:solidFill>
          <a:ln w="12700">
            <a:solidFill>
              <a:srgbClr val="22252B"/>
            </a:solidFill>
            <a:prstDash val="solid"/>
          </a:ln>
        </p:spPr>
      </p:sp>
      <p:sp>
        <p:nvSpPr>
          <p:cNvPr id="20" name="Shape 18"/>
          <p:cNvSpPr/>
          <p:nvPr/>
        </p:nvSpPr>
        <p:spPr>
          <a:xfrm>
            <a:off x="548640" y="4197096"/>
            <a:ext cx="91440" cy="786384"/>
          </a:xfrm>
          <a:prstGeom prst="rect">
            <a:avLst/>
          </a:prstGeom>
          <a:solidFill>
            <a:srgbClr val="9B6EE8"/>
          </a:solidFill>
          <a:ln w="12700">
            <a:solidFill>
              <a:srgbClr val="9B6EE8"/>
            </a:solidFill>
            <a:prstDash val="solid"/>
          </a:ln>
        </p:spPr>
      </p:sp>
      <p:sp>
        <p:nvSpPr>
          <p:cNvPr id="21" name="Text 19"/>
          <p:cNvSpPr txBox="1"/>
          <p:nvPr/>
        </p:nvSpPr>
        <p:spPr>
          <a:xfrm>
            <a:off x="868680" y="4197096"/>
            <a:ext cx="822960" cy="786384"/>
          </a:xfrm>
          <a:prstGeom prst="rect">
            <a:avLst/>
          </a:prstGeom>
          <a:noFill/>
          <a:ln/>
        </p:spPr>
        <p:txBody>
          <a:bodyPr wrap="square" lIns="0" tIns="0" rIns="0" bIns="0" rtlCol="0" anchor="ctr"/>
          <a:lstStyle/>
          <a:p>
            <a:pPr indent="0" marL="0">
              <a:buNone/>
            </a:pPr>
            <a:r>
              <a:rPr lang="en-US" sz="2800" b="1" dirty="0">
                <a:solidFill>
                  <a:srgbClr val="9B6EE8"/>
                </a:solidFill>
                <a:latin typeface="Arial" pitchFamily="34" charset="0"/>
                <a:ea typeface="Arial" pitchFamily="34" charset="-122"/>
                <a:cs typeface="Arial" pitchFamily="34" charset="-120"/>
              </a:rPr>
              <a:t>M4</a:t>
            </a:r>
            <a:endParaRPr lang="en-US" sz="2800" dirty="0"/>
          </a:p>
        </p:txBody>
      </p:sp>
      <p:sp>
        <p:nvSpPr>
          <p:cNvPr id="22" name="Text 20"/>
          <p:cNvSpPr txBox="1"/>
          <p:nvPr/>
        </p:nvSpPr>
        <p:spPr>
          <a:xfrm>
            <a:off x="1737360" y="4197096"/>
            <a:ext cx="3383280" cy="786384"/>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Pool track “ngủ”</a:t>
            </a:r>
            <a:endParaRPr lang="en-US" sz="1800" dirty="0"/>
          </a:p>
        </p:txBody>
      </p:sp>
      <p:sp>
        <p:nvSpPr>
          <p:cNvPr id="23" name="Text 21"/>
          <p:cNvSpPr txBox="1"/>
          <p:nvPr/>
        </p:nvSpPr>
        <p:spPr>
          <a:xfrm>
            <a:off x="5212080" y="4197096"/>
            <a:ext cx="6217920" cy="786384"/>
          </a:xfrm>
          <a:prstGeom prst="rect">
            <a:avLst/>
          </a:prstGeom>
          <a:noFill/>
          <a:ln/>
        </p:spPr>
        <p:txBody>
          <a:bodyPr wrap="square" lIns="0" tIns="0" rIns="0" bIns="0" rtlCol="0" anchor="ctr"/>
          <a:lstStyle/>
          <a:p>
            <a:pPr indent="0" marL="0">
              <a:buNone/>
            </a:pPr>
            <a:r>
              <a:rPr lang="en-US" sz="1500" dirty="0">
                <a:solidFill>
                  <a:srgbClr val="A3A8B0"/>
                </a:solidFill>
                <a:latin typeface="Arial" pitchFamily="34" charset="0"/>
                <a:ea typeface="Arial" pitchFamily="34" charset="-122"/>
                <a:cs typeface="Arial" pitchFamily="34" charset="-120"/>
              </a:rPr>
              <a:t>Track bị mất được cất lại, track mới sinh ra có thể nhận lại ID cũ.</a:t>
            </a:r>
            <a:endParaRPr lang="en-US" sz="1500" dirty="0"/>
          </a:p>
        </p:txBody>
      </p:sp>
      <p:sp>
        <p:nvSpPr>
          <p:cNvPr id="24" name="Shape 22"/>
          <p:cNvSpPr/>
          <p:nvPr/>
        </p:nvSpPr>
        <p:spPr>
          <a:xfrm>
            <a:off x="548640" y="5093208"/>
            <a:ext cx="11091672" cy="786384"/>
          </a:xfrm>
          <a:prstGeom prst="roundRect">
            <a:avLst>
              <a:gd name="adj" fmla="val 13953"/>
            </a:avLst>
          </a:prstGeom>
          <a:solidFill>
            <a:srgbClr val="22252B"/>
          </a:solidFill>
          <a:ln w="12700">
            <a:solidFill>
              <a:srgbClr val="22252B"/>
            </a:solidFill>
            <a:prstDash val="solid"/>
          </a:ln>
        </p:spPr>
      </p:sp>
      <p:sp>
        <p:nvSpPr>
          <p:cNvPr id="25" name="Shape 23"/>
          <p:cNvSpPr/>
          <p:nvPr/>
        </p:nvSpPr>
        <p:spPr>
          <a:xfrm>
            <a:off x="548640" y="5093208"/>
            <a:ext cx="91440" cy="786384"/>
          </a:xfrm>
          <a:prstGeom prst="rect">
            <a:avLst/>
          </a:prstGeom>
          <a:solidFill>
            <a:srgbClr val="9B6EE8"/>
          </a:solidFill>
          <a:ln w="12700">
            <a:solidFill>
              <a:srgbClr val="9B6EE8"/>
            </a:solidFill>
            <a:prstDash val="solid"/>
          </a:ln>
        </p:spPr>
      </p:sp>
      <p:sp>
        <p:nvSpPr>
          <p:cNvPr id="26" name="Text 24"/>
          <p:cNvSpPr txBox="1"/>
          <p:nvPr/>
        </p:nvSpPr>
        <p:spPr>
          <a:xfrm>
            <a:off x="868680" y="5093208"/>
            <a:ext cx="822960" cy="786384"/>
          </a:xfrm>
          <a:prstGeom prst="rect">
            <a:avLst/>
          </a:prstGeom>
          <a:noFill/>
          <a:ln/>
        </p:spPr>
        <p:txBody>
          <a:bodyPr wrap="square" lIns="0" tIns="0" rIns="0" bIns="0" rtlCol="0" anchor="ctr"/>
          <a:lstStyle/>
          <a:p>
            <a:pPr indent="0" marL="0">
              <a:buNone/>
            </a:pPr>
            <a:r>
              <a:rPr lang="en-US" sz="2800" b="1" dirty="0">
                <a:solidFill>
                  <a:srgbClr val="9B6EE8"/>
                </a:solidFill>
                <a:latin typeface="Arial" pitchFamily="34" charset="0"/>
                <a:ea typeface="Arial" pitchFamily="34" charset="-122"/>
                <a:cs typeface="Arial" pitchFamily="34" charset="-120"/>
              </a:rPr>
              <a:t>M5</a:t>
            </a:r>
            <a:endParaRPr lang="en-US" sz="2800" dirty="0"/>
          </a:p>
        </p:txBody>
      </p:sp>
      <p:sp>
        <p:nvSpPr>
          <p:cNvPr id="27" name="Text 25"/>
          <p:cNvSpPr txBox="1"/>
          <p:nvPr/>
        </p:nvSpPr>
        <p:spPr>
          <a:xfrm>
            <a:off x="1737360" y="5093208"/>
            <a:ext cx="3383280" cy="786384"/>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Neo vào đèn mũ</a:t>
            </a:r>
            <a:endParaRPr lang="en-US" sz="1800" dirty="0"/>
          </a:p>
        </p:txBody>
      </p:sp>
      <p:sp>
        <p:nvSpPr>
          <p:cNvPr id="28" name="Text 26"/>
          <p:cNvSpPr txBox="1"/>
          <p:nvPr/>
        </p:nvSpPr>
        <p:spPr>
          <a:xfrm>
            <a:off x="5212080" y="5093208"/>
            <a:ext cx="6217920" cy="786384"/>
          </a:xfrm>
          <a:prstGeom prst="rect">
            <a:avLst/>
          </a:prstGeom>
          <a:noFill/>
          <a:ln/>
        </p:spPr>
        <p:txBody>
          <a:bodyPr wrap="square" lIns="0" tIns="0" rIns="0" bIns="0" rtlCol="0" anchor="ctr"/>
          <a:lstStyle/>
          <a:p>
            <a:pPr indent="0" marL="0">
              <a:buNone/>
            </a:pPr>
            <a:r>
              <a:rPr lang="en-US" sz="1500" dirty="0">
                <a:solidFill>
                  <a:srgbClr val="A3A8B0"/>
                </a:solidFill>
                <a:latin typeface="Arial" pitchFamily="34" charset="0"/>
                <a:ea typeface="Arial" pitchFamily="34" charset="-122"/>
                <a:cs typeface="Arial" pitchFamily="34" charset="-120"/>
              </a:rPr>
              <a:t>Trong lúc chói, kéo box về phía vị trí đèn trên mũ.</a:t>
            </a:r>
            <a:endParaRPr lang="en-US" sz="1500" dirty="0"/>
          </a:p>
        </p:txBody>
      </p:sp>
      <p:sp>
        <p:nvSpPr>
          <p:cNvPr id="29" name="Text 27"/>
          <p:cNvSpPr txBox="1"/>
          <p:nvPr/>
        </p:nvSpPr>
        <p:spPr>
          <a:xfrm>
            <a:off x="548640" y="6172200"/>
            <a:ext cx="10058400" cy="32004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Tất cả chỉ sửa phần tracker. Detector và weights giữ nguyên.</a:t>
            </a:r>
            <a:endParaRPr lang="en-US" sz="1400" dirty="0"/>
          </a:p>
        </p:txBody>
      </p:sp>
      <p:sp>
        <p:nvSpPr>
          <p:cNvPr id="30" name="Shape 28"/>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1" name="Text 29"/>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2" name="Text 3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KIỂM CHỨNG CLAIM</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PEG-F đạt 68.82 / 84.42. Có thật không?</a:t>
            </a:r>
            <a:endParaRPr lang="en-US" sz="3000" dirty="0"/>
          </a:p>
        </p:txBody>
      </p:sp>
      <p:sp>
        <p:nvSpPr>
          <p:cNvPr id="4" name="Text 2"/>
          <p:cNvSpPr txBox="1"/>
          <p:nvPr/>
        </p:nvSpPr>
        <p:spPr>
          <a:xfrm>
            <a:off x="548640" y="1417320"/>
            <a:ext cx="11064240" cy="365760"/>
          </a:xfrm>
          <a:prstGeom prst="rect">
            <a:avLst/>
          </a:prstGeom>
          <a:noFill/>
          <a:ln/>
        </p:spPr>
        <p:txBody>
          <a:bodyPr wrap="square" lIns="0" tIns="0" rIns="0" bIns="0" rtlCol="0" anchor="t"/>
          <a:lstStyle/>
          <a:p>
            <a:pPr indent="0" marL="0">
              <a:buNone/>
            </a:pPr>
            <a:r>
              <a:rPr lang="en-US" sz="1700" dirty="0">
                <a:solidFill>
                  <a:srgbClr val="A3A8B0"/>
                </a:solidFill>
                <a:latin typeface="Arial" pitchFamily="34" charset="0"/>
                <a:ea typeface="Arial" pitchFamily="34" charset="-122"/>
                <a:cs typeface="Arial" pitchFamily="34" charset="-120"/>
              </a:rPr>
              <a:t>Claim: HOTA </a:t>
            </a:r>
            <a:pPr indent="0" marL="0">
              <a:buNone/>
            </a:pPr>
            <a:r>
              <a:rPr lang="en-US" sz="1700" b="1" dirty="0">
                <a:solidFill>
                  <a:srgbClr val="9B6EE8"/>
                </a:solidFill>
                <a:latin typeface="Arial" pitchFamily="34" charset="0"/>
                <a:ea typeface="Arial" pitchFamily="34" charset="-122"/>
                <a:cs typeface="Arial" pitchFamily="34" charset="-120"/>
              </a:rPr>
              <a:t>68.82</a:t>
            </a:r>
            <a:pPr indent="0" marL="0">
              <a:buNone/>
            </a:pPr>
            <a:r>
              <a:rPr lang="en-US" sz="1700" dirty="0">
                <a:solidFill>
                  <a:srgbClr val="A3A8B0"/>
                </a:solidFill>
                <a:latin typeface="Arial" pitchFamily="34" charset="0"/>
                <a:ea typeface="Arial" pitchFamily="34" charset="-122"/>
                <a:cs typeface="Arial" pitchFamily="34" charset="-120"/>
              </a:rPr>
              <a:t> · IDF1 </a:t>
            </a:r>
            <a:pPr indent="0" marL="0">
              <a:buNone/>
            </a:pPr>
            <a:r>
              <a:rPr lang="en-US" sz="1700" b="1" dirty="0">
                <a:solidFill>
                  <a:srgbClr val="9B6EE8"/>
                </a:solidFill>
                <a:latin typeface="Arial" pitchFamily="34" charset="0"/>
                <a:ea typeface="Arial" pitchFamily="34" charset="-122"/>
                <a:cs typeface="Arial" pitchFamily="34" charset="-120"/>
              </a:rPr>
              <a:t>84.42</a:t>
            </a:r>
            <a:pPr indent="0" marL="0">
              <a:buNone/>
            </a:pPr>
            <a:r>
              <a:rPr lang="en-US" sz="1700" dirty="0">
                <a:solidFill>
                  <a:srgbClr val="A3A8B0"/>
                </a:solidFill>
                <a:latin typeface="Arial" pitchFamily="34" charset="0"/>
                <a:ea typeface="Arial" pitchFamily="34" charset="-122"/>
                <a:cs typeface="Arial" pitchFamily="34" charset="-120"/>
              </a:rPr>
              <a:t>     Paper PEG: HOTA </a:t>
            </a:r>
            <a:pPr indent="0" marL="0">
              <a:buNone/>
            </a:pPr>
            <a:r>
              <a:rPr lang="en-US" sz="1700" b="1" dirty="0">
                <a:solidFill>
                  <a:srgbClr val="F2F2F2"/>
                </a:solidFill>
                <a:latin typeface="Arial" pitchFamily="34" charset="0"/>
                <a:ea typeface="Arial" pitchFamily="34" charset="-122"/>
                <a:cs typeface="Arial" pitchFamily="34" charset="-120"/>
              </a:rPr>
              <a:t>68.20</a:t>
            </a:r>
            <a:pPr indent="0" marL="0">
              <a:buNone/>
            </a:pPr>
            <a:r>
              <a:rPr lang="en-US" sz="1700" dirty="0">
                <a:solidFill>
                  <a:srgbClr val="A3A8B0"/>
                </a:solidFill>
                <a:latin typeface="Arial" pitchFamily="34" charset="0"/>
                <a:ea typeface="Arial" pitchFamily="34" charset="-122"/>
                <a:cs typeface="Arial" pitchFamily="34" charset="-120"/>
              </a:rPr>
              <a:t> · IDF1 </a:t>
            </a:r>
            <a:pPr indent="0" marL="0">
              <a:buNone/>
            </a:pPr>
            <a:r>
              <a:rPr lang="en-US" sz="1700" b="1" dirty="0">
                <a:solidFill>
                  <a:srgbClr val="F2F2F2"/>
                </a:solidFill>
                <a:latin typeface="Arial" pitchFamily="34" charset="0"/>
                <a:ea typeface="Arial" pitchFamily="34" charset="-122"/>
                <a:cs typeface="Arial" pitchFamily="34" charset="-120"/>
              </a:rPr>
              <a:t>82.30</a:t>
            </a:r>
            <a:endParaRPr lang="en-US" sz="1700" dirty="0"/>
          </a:p>
        </p:txBody>
      </p:sp>
      <p:sp>
        <p:nvSpPr>
          <p:cNvPr id="5" name="Shape 3"/>
          <p:cNvSpPr/>
          <p:nvPr/>
        </p:nvSpPr>
        <p:spPr>
          <a:xfrm>
            <a:off x="548640" y="2011680"/>
            <a:ext cx="3566160" cy="3200400"/>
          </a:xfrm>
          <a:prstGeom prst="roundRect">
            <a:avLst>
              <a:gd name="adj" fmla="val 3429"/>
            </a:avLst>
          </a:prstGeom>
          <a:solidFill>
            <a:srgbClr val="22252B"/>
          </a:solidFill>
          <a:ln w="12700">
            <a:solidFill>
              <a:srgbClr val="22252B"/>
            </a:solidFill>
            <a:prstDash val="solid"/>
          </a:ln>
        </p:spPr>
      </p:sp>
      <p:sp>
        <p:nvSpPr>
          <p:cNvPr id="6" name="Text 4"/>
          <p:cNvSpPr txBox="1"/>
          <p:nvPr/>
        </p:nvSpPr>
        <p:spPr>
          <a:xfrm>
            <a:off x="777240" y="2148840"/>
            <a:ext cx="640080" cy="548640"/>
          </a:xfrm>
          <a:prstGeom prst="rect">
            <a:avLst/>
          </a:prstGeom>
          <a:noFill/>
          <a:ln/>
        </p:spPr>
        <p:txBody>
          <a:bodyPr wrap="square" lIns="0" tIns="0" rIns="0" bIns="0" rtlCol="0" anchor="t"/>
          <a:lstStyle/>
          <a:p>
            <a:pPr indent="0" marL="0">
              <a:buNone/>
            </a:pPr>
            <a:r>
              <a:rPr lang="en-US" sz="3000" b="1" dirty="0">
                <a:solidFill>
                  <a:srgbClr val="F2A900"/>
                </a:solidFill>
                <a:latin typeface="Arial" pitchFamily="34" charset="0"/>
                <a:ea typeface="Arial" pitchFamily="34" charset="-122"/>
                <a:cs typeface="Arial" pitchFamily="34" charset="-120"/>
              </a:rPr>
              <a:t>①</a:t>
            </a:r>
            <a:endParaRPr lang="en-US" sz="3000" dirty="0"/>
          </a:p>
        </p:txBody>
      </p:sp>
      <p:sp>
        <p:nvSpPr>
          <p:cNvPr id="7" name="Text 5"/>
          <p:cNvSpPr txBox="1"/>
          <p:nvPr/>
        </p:nvSpPr>
        <p:spPr>
          <a:xfrm>
            <a:off x="777240" y="2743200"/>
            <a:ext cx="3108960" cy="457200"/>
          </a:xfrm>
          <a:prstGeom prst="rect">
            <a:avLst/>
          </a:prstGeom>
          <a:noFill/>
          <a:ln/>
        </p:spPr>
        <p:txBody>
          <a:bodyPr wrap="square" lIns="0" tIns="0" rIns="0" bIns="0" rtlCol="0" anchor="t"/>
          <a:lstStyle/>
          <a:p>
            <a:pPr indent="0" marL="0">
              <a:buNone/>
            </a:pPr>
            <a:r>
              <a:rPr lang="en-US" sz="1900" b="1" dirty="0">
                <a:solidFill>
                  <a:srgbClr val="F2F2F2"/>
                </a:solidFill>
                <a:latin typeface="Arial" pitchFamily="34" charset="0"/>
                <a:ea typeface="Arial" pitchFamily="34" charset="-122"/>
                <a:cs typeface="Arial" pitchFamily="34" charset="-120"/>
              </a:rPr>
              <a:t>Chấm lại output đã nộp</a:t>
            </a:r>
            <a:endParaRPr lang="en-US" sz="1900" dirty="0"/>
          </a:p>
        </p:txBody>
      </p:sp>
      <p:sp>
        <p:nvSpPr>
          <p:cNvPr id="8" name="Text 6"/>
          <p:cNvSpPr txBox="1"/>
          <p:nvPr/>
        </p:nvSpPr>
        <p:spPr>
          <a:xfrm>
            <a:off x="777240" y="3200400"/>
            <a:ext cx="3108960" cy="6400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Dùng evaluator của nhóm chấm file kết quả PEG-F</a:t>
            </a:r>
            <a:endParaRPr lang="en-US" sz="1300" dirty="0"/>
          </a:p>
        </p:txBody>
      </p:sp>
      <p:sp>
        <p:nvSpPr>
          <p:cNvPr id="9" name="Text 7"/>
          <p:cNvSpPr txBox="1"/>
          <p:nvPr/>
        </p:nvSpPr>
        <p:spPr>
          <a:xfrm>
            <a:off x="777240" y="3886200"/>
            <a:ext cx="2377440" cy="118872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HOTA </a:t>
            </a:r>
            <a:pPr indent="0" marL="0">
              <a:buNone/>
            </a:pPr>
            <a:r>
              <a:rPr lang="en-US" sz="3000" b="1" dirty="0">
                <a:solidFill>
                  <a:srgbClr val="9B6EE8"/>
                </a:solidFill>
                <a:latin typeface="Arial" pitchFamily="34" charset="0"/>
                <a:ea typeface="Arial" pitchFamily="34" charset="-122"/>
                <a:cs typeface="Arial" pitchFamily="34" charset="-120"/>
              </a:rPr>
              <a:t>68.82</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IDF1 </a:t>
            </a:r>
            <a:pPr indent="0" marL="0">
              <a:buNone/>
            </a:pPr>
            <a:r>
              <a:rPr lang="en-US" sz="3000" b="1" dirty="0">
                <a:solidFill>
                  <a:srgbClr val="9B6EE8"/>
                </a:solidFill>
                <a:latin typeface="Arial" pitchFamily="34" charset="0"/>
                <a:ea typeface="Arial" pitchFamily="34" charset="-122"/>
                <a:cs typeface="Arial" pitchFamily="34" charset="-120"/>
              </a:rPr>
              <a:t>84.42</a:t>
            </a:r>
            <a:endParaRPr lang="en-US" sz="1600" dirty="0"/>
          </a:p>
        </p:txBody>
      </p:sp>
      <p:sp>
        <p:nvSpPr>
          <p:cNvPr id="10" name="Text 8"/>
          <p:cNvSpPr txBox="1"/>
          <p:nvPr/>
        </p:nvSpPr>
        <p:spPr>
          <a:xfrm>
            <a:off x="3246120" y="4114800"/>
            <a:ext cx="640080" cy="731520"/>
          </a:xfrm>
          <a:prstGeom prst="rect">
            <a:avLst/>
          </a:prstGeom>
          <a:noFill/>
          <a:ln/>
        </p:spPr>
        <p:txBody>
          <a:bodyPr wrap="square" lIns="0" tIns="0" rIns="0" bIns="0" rtlCol="0" anchor="t"/>
          <a:lstStyle/>
          <a:p>
            <a:pPr algn="ctr" indent="0" marL="0">
              <a:buNone/>
            </a:pPr>
            <a:r>
              <a:rPr lang="en-US" sz="4000" b="1" dirty="0">
                <a:solidFill>
                  <a:srgbClr val="19A35F"/>
                </a:solidFill>
                <a:latin typeface="Arial" pitchFamily="34" charset="0"/>
                <a:ea typeface="Arial" pitchFamily="34" charset="-122"/>
                <a:cs typeface="Arial" pitchFamily="34" charset="-120"/>
              </a:rPr>
              <a:t>✓</a:t>
            </a:r>
            <a:endParaRPr lang="en-US" sz="4000" dirty="0"/>
          </a:p>
        </p:txBody>
      </p:sp>
      <p:sp>
        <p:nvSpPr>
          <p:cNvPr id="11" name="Shape 9"/>
          <p:cNvSpPr/>
          <p:nvPr/>
        </p:nvSpPr>
        <p:spPr>
          <a:xfrm>
            <a:off x="4315968" y="2011680"/>
            <a:ext cx="3566160" cy="3200400"/>
          </a:xfrm>
          <a:prstGeom prst="roundRect">
            <a:avLst>
              <a:gd name="adj" fmla="val 3429"/>
            </a:avLst>
          </a:prstGeom>
          <a:solidFill>
            <a:srgbClr val="22252B"/>
          </a:solidFill>
          <a:ln w="12700">
            <a:solidFill>
              <a:srgbClr val="22252B"/>
            </a:solidFill>
            <a:prstDash val="solid"/>
          </a:ln>
        </p:spPr>
      </p:sp>
      <p:sp>
        <p:nvSpPr>
          <p:cNvPr id="12" name="Text 10"/>
          <p:cNvSpPr txBox="1"/>
          <p:nvPr/>
        </p:nvSpPr>
        <p:spPr>
          <a:xfrm>
            <a:off x="4544568" y="2148840"/>
            <a:ext cx="640080" cy="548640"/>
          </a:xfrm>
          <a:prstGeom prst="rect">
            <a:avLst/>
          </a:prstGeom>
          <a:noFill/>
          <a:ln/>
        </p:spPr>
        <p:txBody>
          <a:bodyPr wrap="square" lIns="0" tIns="0" rIns="0" bIns="0" rtlCol="0" anchor="t"/>
          <a:lstStyle/>
          <a:p>
            <a:pPr indent="0" marL="0">
              <a:buNone/>
            </a:pPr>
            <a:r>
              <a:rPr lang="en-US" sz="3000" b="1" dirty="0">
                <a:solidFill>
                  <a:srgbClr val="F2A900"/>
                </a:solidFill>
                <a:latin typeface="Arial" pitchFamily="34" charset="0"/>
                <a:ea typeface="Arial" pitchFamily="34" charset="-122"/>
                <a:cs typeface="Arial" pitchFamily="34" charset="-120"/>
              </a:rPr>
              <a:t>②</a:t>
            </a:r>
            <a:endParaRPr lang="en-US" sz="3000" dirty="0"/>
          </a:p>
        </p:txBody>
      </p:sp>
      <p:sp>
        <p:nvSpPr>
          <p:cNvPr id="13" name="Text 11"/>
          <p:cNvSpPr txBox="1"/>
          <p:nvPr/>
        </p:nvSpPr>
        <p:spPr>
          <a:xfrm>
            <a:off x="4544568" y="2743200"/>
            <a:ext cx="3108960" cy="457200"/>
          </a:xfrm>
          <a:prstGeom prst="rect">
            <a:avLst/>
          </a:prstGeom>
          <a:noFill/>
          <a:ln/>
        </p:spPr>
        <p:txBody>
          <a:bodyPr wrap="square" lIns="0" tIns="0" rIns="0" bIns="0" rtlCol="0" anchor="t"/>
          <a:lstStyle/>
          <a:p>
            <a:pPr indent="0" marL="0">
              <a:buNone/>
            </a:pPr>
            <a:r>
              <a:rPr lang="en-US" sz="1900" b="1" dirty="0">
                <a:solidFill>
                  <a:srgbClr val="F2F2F2"/>
                </a:solidFill>
                <a:latin typeface="Arial" pitchFamily="34" charset="0"/>
                <a:ea typeface="Arial" pitchFamily="34" charset="-122"/>
                <a:cs typeface="Arial" pitchFamily="34" charset="-120"/>
              </a:rPr>
              <a:t>Chạy lại code gốc</a:t>
            </a:r>
            <a:endParaRPr lang="en-US" sz="1900" dirty="0"/>
          </a:p>
        </p:txBody>
      </p:sp>
      <p:sp>
        <p:nvSpPr>
          <p:cNvPr id="14" name="Text 12"/>
          <p:cNvSpPr txBox="1"/>
          <p:nvPr/>
        </p:nvSpPr>
        <p:spPr>
          <a:xfrm>
            <a:off x="4544568" y="3200400"/>
            <a:ext cx="3108960" cy="6400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Trên GTX 1650 của nhóm, chạy thật cả detector + tracker</a:t>
            </a:r>
            <a:endParaRPr lang="en-US" sz="1300" dirty="0"/>
          </a:p>
        </p:txBody>
      </p:sp>
      <p:sp>
        <p:nvSpPr>
          <p:cNvPr id="15" name="Text 13"/>
          <p:cNvSpPr txBox="1"/>
          <p:nvPr/>
        </p:nvSpPr>
        <p:spPr>
          <a:xfrm>
            <a:off x="4544568" y="3886200"/>
            <a:ext cx="2377440" cy="118872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HOTA </a:t>
            </a:r>
            <a:pPr indent="0" marL="0">
              <a:buNone/>
            </a:pPr>
            <a:r>
              <a:rPr lang="en-US" sz="3000" b="1" dirty="0">
                <a:solidFill>
                  <a:srgbClr val="9B6EE8"/>
                </a:solidFill>
                <a:latin typeface="Arial" pitchFamily="34" charset="0"/>
                <a:ea typeface="Arial" pitchFamily="34" charset="-122"/>
                <a:cs typeface="Arial" pitchFamily="34" charset="-120"/>
              </a:rPr>
              <a:t>68.82</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IDF1 </a:t>
            </a:r>
            <a:pPr indent="0" marL="0">
              <a:buNone/>
            </a:pPr>
            <a:r>
              <a:rPr lang="en-US" sz="3000" b="1" dirty="0">
                <a:solidFill>
                  <a:srgbClr val="9B6EE8"/>
                </a:solidFill>
                <a:latin typeface="Arial" pitchFamily="34" charset="0"/>
                <a:ea typeface="Arial" pitchFamily="34" charset="-122"/>
                <a:cs typeface="Arial" pitchFamily="34" charset="-120"/>
              </a:rPr>
              <a:t>84.42</a:t>
            </a:r>
            <a:endParaRPr lang="en-US" sz="1600" dirty="0"/>
          </a:p>
        </p:txBody>
      </p:sp>
      <p:sp>
        <p:nvSpPr>
          <p:cNvPr id="16" name="Text 14"/>
          <p:cNvSpPr txBox="1"/>
          <p:nvPr/>
        </p:nvSpPr>
        <p:spPr>
          <a:xfrm>
            <a:off x="7013448" y="4114800"/>
            <a:ext cx="640080" cy="731520"/>
          </a:xfrm>
          <a:prstGeom prst="rect">
            <a:avLst/>
          </a:prstGeom>
          <a:noFill/>
          <a:ln/>
        </p:spPr>
        <p:txBody>
          <a:bodyPr wrap="square" lIns="0" tIns="0" rIns="0" bIns="0" rtlCol="0" anchor="t"/>
          <a:lstStyle/>
          <a:p>
            <a:pPr algn="ctr" indent="0" marL="0">
              <a:buNone/>
            </a:pPr>
            <a:r>
              <a:rPr lang="en-US" sz="4000" b="1" dirty="0">
                <a:solidFill>
                  <a:srgbClr val="19A35F"/>
                </a:solidFill>
                <a:latin typeface="Arial" pitchFamily="34" charset="0"/>
                <a:ea typeface="Arial" pitchFamily="34" charset="-122"/>
                <a:cs typeface="Arial" pitchFamily="34" charset="-120"/>
              </a:rPr>
              <a:t>✓</a:t>
            </a:r>
            <a:endParaRPr lang="en-US" sz="4000" dirty="0"/>
          </a:p>
        </p:txBody>
      </p:sp>
      <p:sp>
        <p:nvSpPr>
          <p:cNvPr id="17" name="Text 15"/>
          <p:cNvSpPr txBox="1"/>
          <p:nvPr/>
        </p:nvSpPr>
        <p:spPr>
          <a:xfrm>
            <a:off x="6419088" y="2148840"/>
            <a:ext cx="1280160" cy="365760"/>
          </a:xfrm>
          <a:prstGeom prst="rect">
            <a:avLst/>
          </a:prstGeom>
          <a:noFill/>
          <a:ln/>
        </p:spPr>
        <p:txBody>
          <a:bodyPr wrap="square" lIns="0" tIns="0" rIns="0" bIns="0" rtlCol="0" anchor="t"/>
          <a:lstStyle/>
          <a:p>
            <a:pPr algn="r" indent="0" marL="0">
              <a:buNone/>
            </a:pPr>
            <a:r>
              <a:rPr lang="en-US" sz="1300" dirty="0">
                <a:solidFill>
                  <a:srgbClr val="A3A8B0"/>
                </a:solidFill>
                <a:latin typeface="Arial" pitchFamily="34" charset="0"/>
                <a:ea typeface="Arial" pitchFamily="34" charset="-122"/>
                <a:cs typeface="Arial" pitchFamily="34" charset="-120"/>
              </a:rPr>
              <a:t>4.3 FPS</a:t>
            </a:r>
            <a:endParaRPr lang="en-US" sz="1300" dirty="0"/>
          </a:p>
        </p:txBody>
      </p:sp>
      <p:sp>
        <p:nvSpPr>
          <p:cNvPr id="18" name="Shape 16"/>
          <p:cNvSpPr/>
          <p:nvPr/>
        </p:nvSpPr>
        <p:spPr>
          <a:xfrm>
            <a:off x="8083296" y="2011680"/>
            <a:ext cx="3566160" cy="3200400"/>
          </a:xfrm>
          <a:prstGeom prst="roundRect">
            <a:avLst>
              <a:gd name="adj" fmla="val 3429"/>
            </a:avLst>
          </a:prstGeom>
          <a:solidFill>
            <a:srgbClr val="22252B"/>
          </a:solidFill>
          <a:ln w="12700">
            <a:solidFill>
              <a:srgbClr val="22252B"/>
            </a:solidFill>
            <a:prstDash val="solid"/>
          </a:ln>
        </p:spPr>
      </p:sp>
      <p:sp>
        <p:nvSpPr>
          <p:cNvPr id="19" name="Text 17"/>
          <p:cNvSpPr txBox="1"/>
          <p:nvPr/>
        </p:nvSpPr>
        <p:spPr>
          <a:xfrm>
            <a:off x="8311896" y="2148840"/>
            <a:ext cx="640080" cy="548640"/>
          </a:xfrm>
          <a:prstGeom prst="rect">
            <a:avLst/>
          </a:prstGeom>
          <a:noFill/>
          <a:ln/>
        </p:spPr>
        <p:txBody>
          <a:bodyPr wrap="square" lIns="0" tIns="0" rIns="0" bIns="0" rtlCol="0" anchor="t"/>
          <a:lstStyle/>
          <a:p>
            <a:pPr indent="0" marL="0">
              <a:buNone/>
            </a:pPr>
            <a:r>
              <a:rPr lang="en-US" sz="3000" b="1" dirty="0">
                <a:solidFill>
                  <a:srgbClr val="F2A900"/>
                </a:solidFill>
                <a:latin typeface="Arial" pitchFamily="34" charset="0"/>
                <a:ea typeface="Arial" pitchFamily="34" charset="-122"/>
                <a:cs typeface="Arial" pitchFamily="34" charset="-120"/>
              </a:rPr>
              <a:t>③</a:t>
            </a:r>
            <a:endParaRPr lang="en-US" sz="3000" dirty="0"/>
          </a:p>
        </p:txBody>
      </p:sp>
      <p:sp>
        <p:nvSpPr>
          <p:cNvPr id="20" name="Text 18"/>
          <p:cNvSpPr txBox="1"/>
          <p:nvPr/>
        </p:nvSpPr>
        <p:spPr>
          <a:xfrm>
            <a:off x="8311896" y="2743200"/>
            <a:ext cx="3108960" cy="457200"/>
          </a:xfrm>
          <a:prstGeom prst="rect">
            <a:avLst/>
          </a:prstGeom>
          <a:noFill/>
          <a:ln/>
        </p:spPr>
        <p:txBody>
          <a:bodyPr wrap="square" lIns="0" tIns="0" rIns="0" bIns="0" rtlCol="0" anchor="t"/>
          <a:lstStyle/>
          <a:p>
            <a:pPr indent="0" marL="0">
              <a:buNone/>
            </a:pPr>
            <a:r>
              <a:rPr lang="en-US" sz="1900" b="1" dirty="0">
                <a:solidFill>
                  <a:srgbClr val="F2F2F2"/>
                </a:solidFill>
                <a:latin typeface="Arial" pitchFamily="34" charset="0"/>
                <a:ea typeface="Arial" pitchFamily="34" charset="-122"/>
                <a:cs typeface="Arial" pitchFamily="34" charset="-120"/>
              </a:rPr>
              <a:t>Port vào repo chung</a:t>
            </a:r>
            <a:endParaRPr lang="en-US" sz="1900" dirty="0"/>
          </a:p>
        </p:txBody>
      </p:sp>
      <p:sp>
        <p:nvSpPr>
          <p:cNvPr id="21" name="Text 19"/>
          <p:cNvSpPr txBox="1"/>
          <p:nvPr/>
        </p:nvSpPr>
        <p:spPr>
          <a:xfrm>
            <a:off x="8311896" y="3200400"/>
            <a:ext cx="3108960" cy="6400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Chạy lại bằng cache detector (cùng cấu hình guard bật)</a:t>
            </a:r>
            <a:endParaRPr lang="en-US" sz="1300" dirty="0"/>
          </a:p>
        </p:txBody>
      </p:sp>
      <p:sp>
        <p:nvSpPr>
          <p:cNvPr id="22" name="Text 20"/>
          <p:cNvSpPr txBox="1"/>
          <p:nvPr/>
        </p:nvSpPr>
        <p:spPr>
          <a:xfrm>
            <a:off x="8311896" y="3886200"/>
            <a:ext cx="2377440" cy="118872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HOTA </a:t>
            </a:r>
            <a:pPr indent="0" marL="0">
              <a:buNone/>
            </a:pPr>
            <a:r>
              <a:rPr lang="en-US" sz="3000" b="1" dirty="0">
                <a:solidFill>
                  <a:srgbClr val="9B6EE8"/>
                </a:solidFill>
                <a:latin typeface="Arial" pitchFamily="34" charset="0"/>
                <a:ea typeface="Arial" pitchFamily="34" charset="-122"/>
                <a:cs typeface="Arial" pitchFamily="34" charset="-120"/>
              </a:rPr>
              <a:t>68.82</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IDF1 </a:t>
            </a:r>
            <a:pPr indent="0" marL="0">
              <a:buNone/>
            </a:pPr>
            <a:r>
              <a:rPr lang="en-US" sz="3000" b="1" dirty="0">
                <a:solidFill>
                  <a:srgbClr val="9B6EE8"/>
                </a:solidFill>
                <a:latin typeface="Arial" pitchFamily="34" charset="0"/>
                <a:ea typeface="Arial" pitchFamily="34" charset="-122"/>
                <a:cs typeface="Arial" pitchFamily="34" charset="-120"/>
              </a:rPr>
              <a:t>84.42</a:t>
            </a:r>
            <a:endParaRPr lang="en-US" sz="1600" dirty="0"/>
          </a:p>
        </p:txBody>
      </p:sp>
      <p:sp>
        <p:nvSpPr>
          <p:cNvPr id="23" name="Text 21"/>
          <p:cNvSpPr txBox="1"/>
          <p:nvPr/>
        </p:nvSpPr>
        <p:spPr>
          <a:xfrm>
            <a:off x="10780776" y="4114800"/>
            <a:ext cx="640080" cy="731520"/>
          </a:xfrm>
          <a:prstGeom prst="rect">
            <a:avLst/>
          </a:prstGeom>
          <a:noFill/>
          <a:ln/>
        </p:spPr>
        <p:txBody>
          <a:bodyPr wrap="square" lIns="0" tIns="0" rIns="0" bIns="0" rtlCol="0" anchor="t"/>
          <a:lstStyle/>
          <a:p>
            <a:pPr algn="ctr" indent="0" marL="0">
              <a:buNone/>
            </a:pPr>
            <a:r>
              <a:rPr lang="en-US" sz="4000" b="1" dirty="0">
                <a:solidFill>
                  <a:srgbClr val="19A35F"/>
                </a:solidFill>
                <a:latin typeface="Arial" pitchFamily="34" charset="0"/>
                <a:ea typeface="Arial" pitchFamily="34" charset="-122"/>
                <a:cs typeface="Arial" pitchFamily="34" charset="-120"/>
              </a:rPr>
              <a:t>✓</a:t>
            </a:r>
            <a:endParaRPr lang="en-US" sz="4000" dirty="0"/>
          </a:p>
        </p:txBody>
      </p:sp>
      <p:sp>
        <p:nvSpPr>
          <p:cNvPr id="24" name="Text 22"/>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2400" b="1" dirty="0">
                <a:solidFill>
                  <a:srgbClr val="F2A900"/>
                </a:solidFill>
                <a:latin typeface="Arial" pitchFamily="34" charset="0"/>
                <a:ea typeface="Arial" pitchFamily="34" charset="-122"/>
                <a:cs typeface="Arial" pitchFamily="34" charset="-120"/>
              </a:rPr>
              <a:t>Cả ba cách đều ra đúng số → claim là thật, không phải lỗi đo.</a:t>
            </a:r>
            <a:endParaRPr lang="en-US" sz="2400" dirty="0"/>
          </a:p>
        </p:txBody>
      </p:sp>
      <p:sp>
        <p:nvSpPr>
          <p:cNvPr id="25" name="Shape 23"/>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6" name="Text 24"/>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7" name="Text 25"/>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KIỂM CHỨNG CLAIM</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So cùng cấu hình: mức tăng thật là +0.49 HOTA</a:t>
            </a:r>
            <a:endParaRPr lang="en-US" sz="3000" dirty="0"/>
          </a:p>
        </p:txBody>
      </p:sp>
      <p:sp>
        <p:nvSpPr>
          <p:cNvPr id="4" name="Shape 2"/>
          <p:cNvSpPr/>
          <p:nvPr/>
        </p:nvSpPr>
        <p:spPr>
          <a:xfrm>
            <a:off x="548640" y="1554480"/>
            <a:ext cx="3566160" cy="2331720"/>
          </a:xfrm>
          <a:prstGeom prst="roundRect">
            <a:avLst>
              <a:gd name="adj" fmla="val 4706"/>
            </a:avLst>
          </a:prstGeom>
          <a:solidFill>
            <a:srgbClr val="22252B"/>
          </a:solidFill>
          <a:ln w="12700">
            <a:solidFill>
              <a:srgbClr val="22252B"/>
            </a:solidFill>
            <a:prstDash val="solid"/>
          </a:ln>
        </p:spPr>
      </p:sp>
      <p:sp>
        <p:nvSpPr>
          <p:cNvPr id="5" name="Shape 3"/>
          <p:cNvSpPr/>
          <p:nvPr/>
        </p:nvSpPr>
        <p:spPr>
          <a:xfrm>
            <a:off x="548640" y="1554480"/>
            <a:ext cx="91440" cy="2331720"/>
          </a:xfrm>
          <a:prstGeom prst="rect">
            <a:avLst/>
          </a:prstGeom>
          <a:solidFill>
            <a:srgbClr val="A3A8B0"/>
          </a:solidFill>
          <a:ln w="12700">
            <a:solidFill>
              <a:srgbClr val="A3A8B0"/>
            </a:solidFill>
            <a:prstDash val="solid"/>
          </a:ln>
        </p:spPr>
      </p:sp>
      <p:sp>
        <p:nvSpPr>
          <p:cNvPr id="6" name="Text 4"/>
          <p:cNvSpPr txBox="1"/>
          <p:nvPr/>
        </p:nvSpPr>
        <p:spPr>
          <a:xfrm>
            <a:off x="822960" y="1664208"/>
            <a:ext cx="3108960" cy="365760"/>
          </a:xfrm>
          <a:prstGeom prst="rect">
            <a:avLst/>
          </a:prstGeom>
          <a:noFill/>
          <a:ln/>
        </p:spPr>
        <p:txBody>
          <a:bodyPr wrap="square" lIns="0" tIns="0" rIns="0" bIns="0" rtlCol="0" anchor="t"/>
          <a:lstStyle/>
          <a:p>
            <a:pPr indent="0" marL="0">
              <a:buNone/>
            </a:pPr>
            <a:r>
              <a:rPr lang="en-US" sz="1900" b="1" dirty="0">
                <a:solidFill>
                  <a:srgbClr val="A3A8B0"/>
                </a:solidFill>
                <a:latin typeface="Arial" pitchFamily="34" charset="0"/>
                <a:ea typeface="Arial" pitchFamily="34" charset="-122"/>
                <a:cs typeface="Arial" pitchFamily="34" charset="-120"/>
              </a:rPr>
              <a:t>Paper PEG</a:t>
            </a:r>
            <a:endParaRPr lang="en-US" sz="1900" dirty="0"/>
          </a:p>
        </p:txBody>
      </p:sp>
      <p:sp>
        <p:nvSpPr>
          <p:cNvPr id="7" name="Text 5"/>
          <p:cNvSpPr txBox="1"/>
          <p:nvPr/>
        </p:nvSpPr>
        <p:spPr>
          <a:xfrm>
            <a:off x="822960" y="2029968"/>
            <a:ext cx="3108960" cy="27432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guard TẮT</a:t>
            </a:r>
            <a:endParaRPr lang="en-US" sz="1300" dirty="0"/>
          </a:p>
        </p:txBody>
      </p:sp>
      <p:sp>
        <p:nvSpPr>
          <p:cNvPr id="8" name="Text 6"/>
          <p:cNvSpPr txBox="1"/>
          <p:nvPr/>
        </p:nvSpPr>
        <p:spPr>
          <a:xfrm>
            <a:off x="822960" y="2423160"/>
            <a:ext cx="3108960" cy="1371600"/>
          </a:xfrm>
          <a:prstGeom prst="rect">
            <a:avLst/>
          </a:prstGeom>
          <a:noFill/>
          <a:ln/>
        </p:spPr>
        <p:txBody>
          <a:bodyPr wrap="square" lIns="0" tIns="0" rIns="0" bIns="0" rtlCol="0" anchor="t"/>
          <a:lstStyle/>
          <a:p>
            <a:pPr indent="0" marL="0">
              <a:buNone/>
            </a:pPr>
            <a:r>
              <a:rPr lang="en-US" sz="2200" b="1" dirty="0">
                <a:solidFill>
                  <a:srgbClr val="F2F2F2"/>
                </a:solidFill>
                <a:latin typeface="Arial" pitchFamily="34" charset="0"/>
                <a:ea typeface="Arial" pitchFamily="34" charset="-122"/>
                <a:cs typeface="Arial" pitchFamily="34" charset="-120"/>
              </a:rPr>
              <a:t>HOTA 68.20</a:t>
            </a:r>
            <a:endParaRPr lang="en-US" sz="2200" dirty="0"/>
          </a:p>
          <a:p>
            <a:pPr indent="0" marL="0">
              <a:buNone/>
            </a:pPr>
            <a:r>
              <a:rPr lang="en-US" sz="2200" b="1" dirty="0">
                <a:solidFill>
                  <a:srgbClr val="F2F2F2"/>
                </a:solidFill>
                <a:latin typeface="Arial" pitchFamily="34" charset="0"/>
                <a:ea typeface="Arial" pitchFamily="34" charset="-122"/>
                <a:cs typeface="Arial" pitchFamily="34" charset="-120"/>
              </a:rPr>
              <a:t>IDF1 82.30</a:t>
            </a:r>
            <a:endParaRPr lang="en-US" sz="2200" dirty="0"/>
          </a:p>
          <a:p>
            <a:pPr indent="0" marL="0">
              <a:buNone/>
            </a:pPr>
            <a:r>
              <a:rPr lang="en-US" sz="2200" dirty="0">
                <a:solidFill>
                  <a:srgbClr val="A3A8B0"/>
                </a:solidFill>
                <a:latin typeface="Arial" pitchFamily="34" charset="0"/>
                <a:ea typeface="Arial" pitchFamily="34" charset="-122"/>
                <a:cs typeface="Arial" pitchFamily="34" charset="-120"/>
              </a:rPr>
              <a:t>IDSW 17</a:t>
            </a:r>
            <a:endParaRPr lang="en-US" sz="2200" dirty="0"/>
          </a:p>
        </p:txBody>
      </p:sp>
      <p:sp>
        <p:nvSpPr>
          <p:cNvPr id="9" name="Shape 7"/>
          <p:cNvSpPr/>
          <p:nvPr/>
        </p:nvSpPr>
        <p:spPr>
          <a:xfrm>
            <a:off x="4315968" y="1554480"/>
            <a:ext cx="3566160" cy="2331720"/>
          </a:xfrm>
          <a:prstGeom prst="roundRect">
            <a:avLst>
              <a:gd name="adj" fmla="val 4706"/>
            </a:avLst>
          </a:prstGeom>
          <a:solidFill>
            <a:srgbClr val="22252B"/>
          </a:solidFill>
          <a:ln w="12700">
            <a:solidFill>
              <a:srgbClr val="22252B"/>
            </a:solidFill>
            <a:prstDash val="solid"/>
          </a:ln>
        </p:spPr>
      </p:sp>
      <p:sp>
        <p:nvSpPr>
          <p:cNvPr id="10" name="Shape 8"/>
          <p:cNvSpPr/>
          <p:nvPr/>
        </p:nvSpPr>
        <p:spPr>
          <a:xfrm>
            <a:off x="4315968" y="1554480"/>
            <a:ext cx="91440" cy="2331720"/>
          </a:xfrm>
          <a:prstGeom prst="rect">
            <a:avLst/>
          </a:prstGeom>
          <a:solidFill>
            <a:srgbClr val="9B6EE8"/>
          </a:solidFill>
          <a:ln w="12700">
            <a:solidFill>
              <a:srgbClr val="9B6EE8"/>
            </a:solidFill>
            <a:prstDash val="solid"/>
          </a:ln>
        </p:spPr>
      </p:sp>
      <p:sp>
        <p:nvSpPr>
          <p:cNvPr id="11" name="Text 9"/>
          <p:cNvSpPr txBox="1"/>
          <p:nvPr/>
        </p:nvSpPr>
        <p:spPr>
          <a:xfrm>
            <a:off x="4590288" y="1664208"/>
            <a:ext cx="3108960" cy="365760"/>
          </a:xfrm>
          <a:prstGeom prst="rect">
            <a:avLst/>
          </a:prstGeom>
          <a:noFill/>
          <a:ln/>
        </p:spPr>
        <p:txBody>
          <a:bodyPr wrap="square" lIns="0" tIns="0" rIns="0" bIns="0" rtlCol="0" anchor="t"/>
          <a:lstStyle/>
          <a:p>
            <a:pPr indent="0" marL="0">
              <a:buNone/>
            </a:pPr>
            <a:r>
              <a:rPr lang="en-US" sz="1900" b="1" dirty="0">
                <a:solidFill>
                  <a:srgbClr val="9B6EE8"/>
                </a:solidFill>
                <a:latin typeface="Arial" pitchFamily="34" charset="0"/>
                <a:ea typeface="Arial" pitchFamily="34" charset="-122"/>
                <a:cs typeface="Arial" pitchFamily="34" charset="-120"/>
              </a:rPr>
              <a:t>PEG-F (claim)</a:t>
            </a:r>
            <a:endParaRPr lang="en-US" sz="1900" dirty="0"/>
          </a:p>
        </p:txBody>
      </p:sp>
      <p:sp>
        <p:nvSpPr>
          <p:cNvPr id="12" name="Text 10"/>
          <p:cNvSpPr txBox="1"/>
          <p:nvPr/>
        </p:nvSpPr>
        <p:spPr>
          <a:xfrm>
            <a:off x="4590288" y="2029968"/>
            <a:ext cx="3108960" cy="27432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guard BẬT</a:t>
            </a:r>
            <a:endParaRPr lang="en-US" sz="1300" dirty="0"/>
          </a:p>
        </p:txBody>
      </p:sp>
      <p:sp>
        <p:nvSpPr>
          <p:cNvPr id="13" name="Text 11"/>
          <p:cNvSpPr txBox="1"/>
          <p:nvPr/>
        </p:nvSpPr>
        <p:spPr>
          <a:xfrm>
            <a:off x="4590288" y="2423160"/>
            <a:ext cx="3108960" cy="1371600"/>
          </a:xfrm>
          <a:prstGeom prst="rect">
            <a:avLst/>
          </a:prstGeom>
          <a:noFill/>
          <a:ln/>
        </p:spPr>
        <p:txBody>
          <a:bodyPr wrap="square" lIns="0" tIns="0" rIns="0" bIns="0" rtlCol="0" anchor="t"/>
          <a:lstStyle/>
          <a:p>
            <a:pPr indent="0" marL="0">
              <a:buNone/>
            </a:pPr>
            <a:r>
              <a:rPr lang="en-US" sz="2200" b="1" dirty="0">
                <a:solidFill>
                  <a:srgbClr val="F2F2F2"/>
                </a:solidFill>
                <a:latin typeface="Arial" pitchFamily="34" charset="0"/>
                <a:ea typeface="Arial" pitchFamily="34" charset="-122"/>
                <a:cs typeface="Arial" pitchFamily="34" charset="-120"/>
              </a:rPr>
              <a:t>HOTA 68.82</a:t>
            </a:r>
            <a:endParaRPr lang="en-US" sz="2200" dirty="0"/>
          </a:p>
          <a:p>
            <a:pPr indent="0" marL="0">
              <a:buNone/>
            </a:pPr>
            <a:r>
              <a:rPr lang="en-US" sz="2200" b="1" dirty="0">
                <a:solidFill>
                  <a:srgbClr val="F2F2F2"/>
                </a:solidFill>
                <a:latin typeface="Arial" pitchFamily="34" charset="0"/>
                <a:ea typeface="Arial" pitchFamily="34" charset="-122"/>
                <a:cs typeface="Arial" pitchFamily="34" charset="-120"/>
              </a:rPr>
              <a:t>IDF1 84.42</a:t>
            </a:r>
            <a:endParaRPr lang="en-US" sz="2200" dirty="0"/>
          </a:p>
          <a:p>
            <a:pPr indent="0" marL="0">
              <a:buNone/>
            </a:pPr>
            <a:r>
              <a:rPr lang="en-US" sz="2200" dirty="0">
                <a:solidFill>
                  <a:srgbClr val="A3A8B0"/>
                </a:solidFill>
                <a:latin typeface="Arial" pitchFamily="34" charset="0"/>
                <a:ea typeface="Arial" pitchFamily="34" charset="-122"/>
                <a:cs typeface="Arial" pitchFamily="34" charset="-120"/>
              </a:rPr>
              <a:t>IDSW 27</a:t>
            </a:r>
            <a:endParaRPr lang="en-US" sz="2200" dirty="0"/>
          </a:p>
        </p:txBody>
      </p:sp>
      <p:sp>
        <p:nvSpPr>
          <p:cNvPr id="14" name="Shape 12"/>
          <p:cNvSpPr/>
          <p:nvPr/>
        </p:nvSpPr>
        <p:spPr>
          <a:xfrm>
            <a:off x="8083296" y="1554480"/>
            <a:ext cx="3566160" cy="2331720"/>
          </a:xfrm>
          <a:prstGeom prst="roundRect">
            <a:avLst>
              <a:gd name="adj" fmla="val 4706"/>
            </a:avLst>
          </a:prstGeom>
          <a:solidFill>
            <a:srgbClr val="2B2F36"/>
          </a:solidFill>
          <a:ln w="12700">
            <a:solidFill>
              <a:srgbClr val="2B2F36"/>
            </a:solidFill>
            <a:prstDash val="solid"/>
          </a:ln>
        </p:spPr>
      </p:sp>
      <p:sp>
        <p:nvSpPr>
          <p:cNvPr id="15" name="Shape 13"/>
          <p:cNvSpPr/>
          <p:nvPr/>
        </p:nvSpPr>
        <p:spPr>
          <a:xfrm>
            <a:off x="8083296" y="1554480"/>
            <a:ext cx="91440" cy="2331720"/>
          </a:xfrm>
          <a:prstGeom prst="rect">
            <a:avLst/>
          </a:prstGeom>
          <a:solidFill>
            <a:srgbClr val="3987E5"/>
          </a:solidFill>
          <a:ln w="12700">
            <a:solidFill>
              <a:srgbClr val="3987E5"/>
            </a:solidFill>
            <a:prstDash val="solid"/>
          </a:ln>
        </p:spPr>
      </p:sp>
      <p:sp>
        <p:nvSpPr>
          <p:cNvPr id="16" name="Text 14"/>
          <p:cNvSpPr txBox="1"/>
          <p:nvPr/>
        </p:nvSpPr>
        <p:spPr>
          <a:xfrm>
            <a:off x="8357616" y="1664208"/>
            <a:ext cx="3108960" cy="365760"/>
          </a:xfrm>
          <a:prstGeom prst="rect">
            <a:avLst/>
          </a:prstGeom>
          <a:noFill/>
          <a:ln/>
        </p:spPr>
        <p:txBody>
          <a:bodyPr wrap="square" lIns="0" tIns="0" rIns="0" bIns="0" rtlCol="0" anchor="t"/>
          <a:lstStyle/>
          <a:p>
            <a:pPr indent="0" marL="0">
              <a:buNone/>
            </a:pPr>
            <a:r>
              <a:rPr lang="en-US" sz="1900" b="1" dirty="0">
                <a:solidFill>
                  <a:srgbClr val="3987E5"/>
                </a:solidFill>
                <a:latin typeface="Arial" pitchFamily="34" charset="0"/>
                <a:ea typeface="Arial" pitchFamily="34" charset="-122"/>
                <a:cs typeface="Arial" pitchFamily="34" charset="-120"/>
              </a:rPr>
              <a:t>PEG, guard bật</a:t>
            </a:r>
            <a:endParaRPr lang="en-US" sz="1900" dirty="0"/>
          </a:p>
        </p:txBody>
      </p:sp>
      <p:sp>
        <p:nvSpPr>
          <p:cNvPr id="17" name="Text 15"/>
          <p:cNvSpPr txBox="1"/>
          <p:nvPr/>
        </p:nvSpPr>
        <p:spPr>
          <a:xfrm>
            <a:off x="8357616" y="2029968"/>
            <a:ext cx="3108960" cy="27432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so sánh công bằng</a:t>
            </a:r>
            <a:endParaRPr lang="en-US" sz="1300" dirty="0"/>
          </a:p>
        </p:txBody>
      </p:sp>
      <p:sp>
        <p:nvSpPr>
          <p:cNvPr id="18" name="Text 16"/>
          <p:cNvSpPr txBox="1"/>
          <p:nvPr/>
        </p:nvSpPr>
        <p:spPr>
          <a:xfrm>
            <a:off x="8357616" y="2423160"/>
            <a:ext cx="3108960" cy="1371600"/>
          </a:xfrm>
          <a:prstGeom prst="rect">
            <a:avLst/>
          </a:prstGeom>
          <a:noFill/>
          <a:ln/>
        </p:spPr>
        <p:txBody>
          <a:bodyPr wrap="square" lIns="0" tIns="0" rIns="0" bIns="0" rtlCol="0" anchor="t"/>
          <a:lstStyle/>
          <a:p>
            <a:pPr indent="0" marL="0">
              <a:buNone/>
            </a:pPr>
            <a:r>
              <a:rPr lang="en-US" sz="2200" b="1" dirty="0">
                <a:solidFill>
                  <a:srgbClr val="F2F2F2"/>
                </a:solidFill>
                <a:latin typeface="Arial" pitchFamily="34" charset="0"/>
                <a:ea typeface="Arial" pitchFamily="34" charset="-122"/>
                <a:cs typeface="Arial" pitchFamily="34" charset="-120"/>
              </a:rPr>
              <a:t>HOTA 68.33</a:t>
            </a:r>
            <a:endParaRPr lang="en-US" sz="2200" dirty="0"/>
          </a:p>
          <a:p>
            <a:pPr indent="0" marL="0">
              <a:buNone/>
            </a:pPr>
            <a:r>
              <a:rPr lang="en-US" sz="2200" b="1" dirty="0">
                <a:solidFill>
                  <a:srgbClr val="F2F2F2"/>
                </a:solidFill>
                <a:latin typeface="Arial" pitchFamily="34" charset="0"/>
                <a:ea typeface="Arial" pitchFamily="34" charset="-122"/>
                <a:cs typeface="Arial" pitchFamily="34" charset="-120"/>
              </a:rPr>
              <a:t>IDF1 82.68</a:t>
            </a:r>
            <a:endParaRPr lang="en-US" sz="2200" dirty="0"/>
          </a:p>
          <a:p>
            <a:pPr indent="0" marL="0">
              <a:buNone/>
            </a:pPr>
            <a:r>
              <a:rPr lang="en-US" sz="2200" dirty="0">
                <a:solidFill>
                  <a:srgbClr val="A3A8B0"/>
                </a:solidFill>
                <a:latin typeface="Arial" pitchFamily="34" charset="0"/>
                <a:ea typeface="Arial" pitchFamily="34" charset="-122"/>
                <a:cs typeface="Arial" pitchFamily="34" charset="-120"/>
              </a:rPr>
              <a:t>IDSW 15</a:t>
            </a:r>
            <a:endParaRPr lang="en-US" sz="2200" dirty="0"/>
          </a:p>
        </p:txBody>
      </p:sp>
      <p:sp>
        <p:nvSpPr>
          <p:cNvPr id="19" name="Shape 17"/>
          <p:cNvSpPr/>
          <p:nvPr/>
        </p:nvSpPr>
        <p:spPr>
          <a:xfrm>
            <a:off x="548640" y="4114800"/>
            <a:ext cx="3566160" cy="1783080"/>
          </a:xfrm>
          <a:prstGeom prst="roundRect">
            <a:avLst>
              <a:gd name="adj" fmla="val 6154"/>
            </a:avLst>
          </a:prstGeom>
          <a:solidFill>
            <a:srgbClr val="22252B"/>
          </a:solidFill>
          <a:ln w="12700">
            <a:solidFill>
              <a:srgbClr val="22252B"/>
            </a:solidFill>
            <a:prstDash val="solid"/>
          </a:ln>
        </p:spPr>
      </p:sp>
      <p:sp>
        <p:nvSpPr>
          <p:cNvPr id="20" name="Text 18"/>
          <p:cNvSpPr txBox="1"/>
          <p:nvPr/>
        </p:nvSpPr>
        <p:spPr>
          <a:xfrm>
            <a:off x="822960" y="4160520"/>
            <a:ext cx="3108960" cy="1051560"/>
          </a:xfrm>
          <a:prstGeom prst="rect">
            <a:avLst/>
          </a:prstGeom>
          <a:noFill/>
          <a:ln/>
        </p:spPr>
        <p:txBody>
          <a:bodyPr wrap="square" lIns="0" tIns="0" rIns="0" bIns="0" rtlCol="0" anchor="ctr"/>
          <a:lstStyle/>
          <a:p>
            <a:pPr indent="0" marL="0">
              <a:buNone/>
            </a:pPr>
            <a:r>
              <a:rPr lang="en-US" sz="5400" b="1" dirty="0">
                <a:solidFill>
                  <a:srgbClr val="19A35F"/>
                </a:solidFill>
                <a:latin typeface="Arial" pitchFamily="34" charset="0"/>
                <a:ea typeface="Arial" pitchFamily="34" charset="-122"/>
                <a:cs typeface="Arial" pitchFamily="34" charset="-120"/>
              </a:rPr>
              <a:t>+0.49</a:t>
            </a:r>
            <a:endParaRPr lang="en-US" sz="5400" dirty="0"/>
          </a:p>
        </p:txBody>
      </p:sp>
      <p:sp>
        <p:nvSpPr>
          <p:cNvPr id="21" name="Text 19"/>
          <p:cNvSpPr txBox="1"/>
          <p:nvPr/>
        </p:nvSpPr>
        <p:spPr>
          <a:xfrm>
            <a:off x="822960" y="5212080"/>
            <a:ext cx="3108960" cy="59436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HOTA, so với PEG cùng guard bật</a:t>
            </a:r>
            <a:endParaRPr lang="en-US" sz="1400" dirty="0"/>
          </a:p>
        </p:txBody>
      </p:sp>
      <p:sp>
        <p:nvSpPr>
          <p:cNvPr id="22" name="Shape 20"/>
          <p:cNvSpPr/>
          <p:nvPr/>
        </p:nvSpPr>
        <p:spPr>
          <a:xfrm>
            <a:off x="4315968" y="4114800"/>
            <a:ext cx="3566160" cy="1783080"/>
          </a:xfrm>
          <a:prstGeom prst="roundRect">
            <a:avLst>
              <a:gd name="adj" fmla="val 6154"/>
            </a:avLst>
          </a:prstGeom>
          <a:solidFill>
            <a:srgbClr val="22252B"/>
          </a:solidFill>
          <a:ln w="12700">
            <a:solidFill>
              <a:srgbClr val="22252B"/>
            </a:solidFill>
            <a:prstDash val="solid"/>
          </a:ln>
        </p:spPr>
      </p:sp>
      <p:sp>
        <p:nvSpPr>
          <p:cNvPr id="23" name="Text 21"/>
          <p:cNvSpPr txBox="1"/>
          <p:nvPr/>
        </p:nvSpPr>
        <p:spPr>
          <a:xfrm>
            <a:off x="4590288" y="4160520"/>
            <a:ext cx="3108960" cy="1051560"/>
          </a:xfrm>
          <a:prstGeom prst="rect">
            <a:avLst/>
          </a:prstGeom>
          <a:noFill/>
          <a:ln/>
        </p:spPr>
        <p:txBody>
          <a:bodyPr wrap="square" lIns="0" tIns="0" rIns="0" bIns="0" rtlCol="0" anchor="ctr"/>
          <a:lstStyle/>
          <a:p>
            <a:pPr indent="0" marL="0">
              <a:buNone/>
            </a:pPr>
            <a:r>
              <a:rPr lang="en-US" sz="5400" b="1" dirty="0">
                <a:solidFill>
                  <a:srgbClr val="19A35F"/>
                </a:solidFill>
                <a:latin typeface="Arial" pitchFamily="34" charset="0"/>
                <a:ea typeface="Arial" pitchFamily="34" charset="-122"/>
                <a:cs typeface="Arial" pitchFamily="34" charset="-120"/>
              </a:rPr>
              <a:t>+1.74</a:t>
            </a:r>
            <a:endParaRPr lang="en-US" sz="5400" dirty="0"/>
          </a:p>
        </p:txBody>
      </p:sp>
      <p:sp>
        <p:nvSpPr>
          <p:cNvPr id="24" name="Text 22"/>
          <p:cNvSpPr txBox="1"/>
          <p:nvPr/>
        </p:nvSpPr>
        <p:spPr>
          <a:xfrm>
            <a:off x="4590288" y="5212080"/>
            <a:ext cx="3108960" cy="59436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IDF1, so với PEG cùng guard bật</a:t>
            </a:r>
            <a:endParaRPr lang="en-US" sz="1400" dirty="0"/>
          </a:p>
        </p:txBody>
      </p:sp>
      <p:sp>
        <p:nvSpPr>
          <p:cNvPr id="25" name="Shape 23"/>
          <p:cNvSpPr/>
          <p:nvPr/>
        </p:nvSpPr>
        <p:spPr>
          <a:xfrm>
            <a:off x="8083296" y="4114800"/>
            <a:ext cx="3566160" cy="1783080"/>
          </a:xfrm>
          <a:prstGeom prst="roundRect">
            <a:avLst>
              <a:gd name="adj" fmla="val 6154"/>
            </a:avLst>
          </a:prstGeom>
          <a:solidFill>
            <a:srgbClr val="22252B"/>
          </a:solidFill>
          <a:ln w="12700">
            <a:solidFill>
              <a:srgbClr val="22252B"/>
            </a:solidFill>
            <a:prstDash val="solid"/>
          </a:ln>
        </p:spPr>
      </p:sp>
      <p:sp>
        <p:nvSpPr>
          <p:cNvPr id="26" name="Text 24"/>
          <p:cNvSpPr txBox="1"/>
          <p:nvPr/>
        </p:nvSpPr>
        <p:spPr>
          <a:xfrm>
            <a:off x="8357616" y="4160520"/>
            <a:ext cx="3108960" cy="1051560"/>
          </a:xfrm>
          <a:prstGeom prst="rect">
            <a:avLst/>
          </a:prstGeom>
          <a:noFill/>
          <a:ln/>
        </p:spPr>
        <p:txBody>
          <a:bodyPr wrap="square" lIns="0" tIns="0" rIns="0" bIns="0" rtlCol="0" anchor="ctr"/>
          <a:lstStyle/>
          <a:p>
            <a:pPr indent="0" marL="0">
              <a:buNone/>
            </a:pPr>
            <a:r>
              <a:rPr lang="en-US" sz="5400" b="1" dirty="0">
                <a:solidFill>
                  <a:srgbClr val="E66767"/>
                </a:solidFill>
                <a:latin typeface="Arial" pitchFamily="34" charset="0"/>
                <a:ea typeface="Arial" pitchFamily="34" charset="-122"/>
                <a:cs typeface="Arial" pitchFamily="34" charset="-120"/>
              </a:rPr>
              <a:t>15 → 27</a:t>
            </a:r>
            <a:endParaRPr lang="en-US" sz="5400" dirty="0"/>
          </a:p>
        </p:txBody>
      </p:sp>
      <p:sp>
        <p:nvSpPr>
          <p:cNvPr id="27" name="Text 25"/>
          <p:cNvSpPr txBox="1"/>
          <p:nvPr/>
        </p:nvSpPr>
        <p:spPr>
          <a:xfrm>
            <a:off x="8357616" y="5212080"/>
            <a:ext cx="3108960" cy="59436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IDSW: số lần đổi ID, nhiều hơn là xấu hơn</a:t>
            </a:r>
            <a:endParaRPr lang="en-US" sz="1400" dirty="0"/>
          </a:p>
        </p:txBody>
      </p:sp>
      <p:sp>
        <p:nvSpPr>
          <p:cNvPr id="28" name="Text 26"/>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Paper tắt guard (bộ chặn track ma do vầng sáng); PEG-F chạy với guard bật → phải so với PEG guard bật.</a:t>
            </a:r>
            <a:endParaRPr lang="en-US" sz="1300" dirty="0"/>
          </a:p>
        </p:txBody>
      </p:sp>
      <p:sp>
        <p:nvSpPr>
          <p:cNvPr id="29" name="Shape 27"/>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0" name="Text 28"/>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1" name="Text 29"/>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MỨC TĂNG ĐẾN TỪ ĐÂU</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Mức tăng đến từ 2 video, mỗi video là 1 lần đổi ID</a:t>
            </a:r>
            <a:endParaRPr lang="en-US" sz="3000" dirty="0"/>
          </a:p>
        </p:txBody>
      </p:sp>
      <p:pic>
        <p:nvPicPr>
          <p:cNvPr id="4" name="Image 0" descr="D:\PROJECT\PEG\results\peg_f\figures\perseq_delta.png">    </p:cNvPr>
          <p:cNvPicPr>
            <a:picLocks noChangeAspect="1"/>
          </p:cNvPicPr>
          <p:nvPr/>
        </p:nvPicPr>
        <p:blipFill>
          <a:blip r:embed="rId1"/>
          <a:stretch>
            <a:fillRect/>
          </a:stretch>
        </p:blipFill>
        <p:spPr>
          <a:xfrm>
            <a:off x="457200" y="1463040"/>
            <a:ext cx="6818318" cy="4754880"/>
          </a:xfrm>
          <a:prstGeom prst="rect">
            <a:avLst/>
          </a:prstGeom>
        </p:spPr>
      </p:pic>
      <p:sp>
        <p:nvSpPr>
          <p:cNvPr id="5" name="Shape 2"/>
          <p:cNvSpPr/>
          <p:nvPr/>
        </p:nvSpPr>
        <p:spPr>
          <a:xfrm>
            <a:off x="8321040" y="1554480"/>
            <a:ext cx="3319272" cy="1417320"/>
          </a:xfrm>
          <a:prstGeom prst="roundRect">
            <a:avLst>
              <a:gd name="adj" fmla="val 7742"/>
            </a:avLst>
          </a:prstGeom>
          <a:solidFill>
            <a:srgbClr val="22252B"/>
          </a:solidFill>
          <a:ln w="12700">
            <a:solidFill>
              <a:srgbClr val="22252B"/>
            </a:solidFill>
            <a:prstDash val="solid"/>
          </a:ln>
        </p:spPr>
      </p:sp>
      <p:sp>
        <p:nvSpPr>
          <p:cNvPr id="6" name="Text 3"/>
          <p:cNvSpPr txBox="1"/>
          <p:nvPr/>
        </p:nvSpPr>
        <p:spPr>
          <a:xfrm>
            <a:off x="8549640" y="1627632"/>
            <a:ext cx="2953512" cy="1280160"/>
          </a:xfrm>
          <a:prstGeom prst="rect">
            <a:avLst/>
          </a:prstGeom>
          <a:noFill/>
          <a:ln/>
        </p:spPr>
        <p:txBody>
          <a:bodyPr wrap="square" lIns="0" tIns="0" rIns="0" bIns="0" rtlCol="0" anchor="ctr"/>
          <a:lstStyle/>
          <a:p>
            <a:pPr indent="0" marL="0">
              <a:buNone/>
            </a:pPr>
            <a:r>
              <a:rPr lang="en-US" sz="3600" b="1" dirty="0">
                <a:solidFill>
                  <a:srgbClr val="19A35F"/>
                </a:solidFill>
                <a:latin typeface="Arial" pitchFamily="34" charset="0"/>
                <a:ea typeface="Arial" pitchFamily="34" charset="-122"/>
                <a:cs typeface="Arial" pitchFamily="34" charset="-120"/>
              </a:rPr>
              <a:t>+23.5</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video 129: sửa 1 lần đổi ID</a:t>
            </a:r>
            <a:endParaRPr lang="en-US" sz="1600" dirty="0"/>
          </a:p>
        </p:txBody>
      </p:sp>
      <p:sp>
        <p:nvSpPr>
          <p:cNvPr id="7" name="Shape 4"/>
          <p:cNvSpPr/>
          <p:nvPr/>
        </p:nvSpPr>
        <p:spPr>
          <a:xfrm>
            <a:off x="8321040" y="3108960"/>
            <a:ext cx="3319272" cy="1417320"/>
          </a:xfrm>
          <a:prstGeom prst="roundRect">
            <a:avLst>
              <a:gd name="adj" fmla="val 7742"/>
            </a:avLst>
          </a:prstGeom>
          <a:solidFill>
            <a:srgbClr val="22252B"/>
          </a:solidFill>
          <a:ln w="12700">
            <a:solidFill>
              <a:srgbClr val="22252B"/>
            </a:solidFill>
            <a:prstDash val="solid"/>
          </a:ln>
        </p:spPr>
      </p:sp>
      <p:sp>
        <p:nvSpPr>
          <p:cNvPr id="8" name="Text 5"/>
          <p:cNvSpPr txBox="1"/>
          <p:nvPr/>
        </p:nvSpPr>
        <p:spPr>
          <a:xfrm>
            <a:off x="8549640" y="3182112"/>
            <a:ext cx="2953512" cy="1280160"/>
          </a:xfrm>
          <a:prstGeom prst="rect">
            <a:avLst/>
          </a:prstGeom>
          <a:noFill/>
          <a:ln/>
        </p:spPr>
        <p:txBody>
          <a:bodyPr wrap="square" lIns="0" tIns="0" rIns="0" bIns="0" rtlCol="0" anchor="ctr"/>
          <a:lstStyle/>
          <a:p>
            <a:pPr indent="0" marL="0">
              <a:buNone/>
            </a:pPr>
            <a:r>
              <a:rPr lang="en-US" sz="3600" b="1" dirty="0">
                <a:solidFill>
                  <a:srgbClr val="E66767"/>
                </a:solidFill>
                <a:latin typeface="Arial" pitchFamily="34" charset="0"/>
                <a:ea typeface="Arial" pitchFamily="34" charset="-122"/>
                <a:cs typeface="Arial" pitchFamily="34" charset="-120"/>
              </a:rPr>
              <a:t>−19.9</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video 176: gây 1 lần đổi ID mới</a:t>
            </a:r>
            <a:endParaRPr lang="en-US" sz="1600" dirty="0"/>
          </a:p>
        </p:txBody>
      </p:sp>
      <p:sp>
        <p:nvSpPr>
          <p:cNvPr id="9" name="Shape 6"/>
          <p:cNvSpPr/>
          <p:nvPr/>
        </p:nvSpPr>
        <p:spPr>
          <a:xfrm>
            <a:off x="8321040" y="4663440"/>
            <a:ext cx="3319272" cy="1508760"/>
          </a:xfrm>
          <a:prstGeom prst="roundRect">
            <a:avLst>
              <a:gd name="adj" fmla="val 7273"/>
            </a:avLst>
          </a:prstGeom>
          <a:solidFill>
            <a:srgbClr val="2B2F36"/>
          </a:solidFill>
          <a:ln w="12700">
            <a:solidFill>
              <a:srgbClr val="2B2F36"/>
            </a:solidFill>
            <a:prstDash val="solid"/>
          </a:ln>
        </p:spPr>
      </p:sp>
      <p:sp>
        <p:nvSpPr>
          <p:cNvPr id="10" name="Text 7"/>
          <p:cNvSpPr txBox="1"/>
          <p:nvPr/>
        </p:nvSpPr>
        <p:spPr>
          <a:xfrm>
            <a:off x="8549640" y="4709160"/>
            <a:ext cx="2953512" cy="1417320"/>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18 video còn lại</a:t>
            </a:r>
            <a:endParaRPr lang="en-US" sz="1600" dirty="0"/>
          </a:p>
          <a:p>
            <a:pPr indent="0" marL="0">
              <a:buNone/>
            </a:pPr>
            <a:r>
              <a:rPr lang="en-US" sz="1300" dirty="0">
                <a:solidFill>
                  <a:srgbClr val="A3A8B0"/>
                </a:solidFill>
                <a:latin typeface="Arial" pitchFamily="34" charset="0"/>
                <a:ea typeface="Arial" pitchFamily="34" charset="-122"/>
                <a:cs typeface="Arial" pitchFamily="34" charset="-120"/>
              </a:rPr>
              <a:t>chênh tối đa 4.0 HOTA; 15 video gần như không đổi (&lt; 0.5)</a:t>
            </a:r>
            <a:endParaRPr lang="en-US" sz="1600" dirty="0"/>
          </a:p>
        </p:txBody>
      </p:sp>
      <p:sp>
        <p:nvSpPr>
          <p:cNvPr id="11" name="Shape 8"/>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12" name="Text 9"/>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13" name="Text 1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VÌ SAO TĂNG · VIDEO 129</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M1-swap sửa lỗi đổi ID ở video 129</a:t>
            </a:r>
            <a:endParaRPr lang="en-US" sz="3000" dirty="0"/>
          </a:p>
        </p:txBody>
      </p:sp>
      <p:pic>
        <p:nvPicPr>
          <p:cNvPr id="4" name="Image 0" descr="D:\PROJECT\PEG\results\peg_f\figures\swap_129.png">    </p:cNvPr>
          <p:cNvPicPr>
            <a:picLocks noChangeAspect="1"/>
          </p:cNvPicPr>
          <p:nvPr/>
        </p:nvPicPr>
        <p:blipFill>
          <a:blip r:embed="rId1"/>
          <a:stretch>
            <a:fillRect/>
          </a:stretch>
        </p:blipFill>
        <p:spPr>
          <a:xfrm>
            <a:off x="1115970" y="1417320"/>
            <a:ext cx="9957013" cy="4572000"/>
          </a:xfrm>
          <a:prstGeom prst="rect">
            <a:avLst/>
          </a:prstGeom>
        </p:spPr>
      </p:pic>
      <p:sp>
        <p:nvSpPr>
          <p:cNvPr id="5" name="Text 2"/>
          <p:cNvSpPr txBox="1"/>
          <p:nvPr/>
        </p:nvSpPr>
        <p:spPr>
          <a:xfrm>
            <a:off x="548640" y="6062472"/>
            <a:ext cx="11091672" cy="457200"/>
          </a:xfrm>
          <a:prstGeom prst="rect">
            <a:avLst/>
          </a:prstGeom>
          <a:noFill/>
          <a:ln/>
        </p:spPr>
        <p:txBody>
          <a:bodyPr wrap="square" lIns="0" tIns="0" rIns="0" bIns="0" rtlCol="0" anchor="t"/>
          <a:lstStyle/>
          <a:p>
            <a:pPr algn="ctr" indent="0" marL="0">
              <a:buNone/>
            </a:pPr>
            <a:r>
              <a:rPr lang="en-US" sz="1500" b="1" dirty="0">
                <a:solidFill>
                  <a:srgbClr val="F2F2F2"/>
                </a:solidFill>
                <a:latin typeface="Arial" pitchFamily="34" charset="0"/>
                <a:ea typeface="Arial" pitchFamily="34" charset="-122"/>
                <a:cs typeface="Arial" pitchFamily="34" charset="-120"/>
              </a:rPr>
              <a:t>Hai công nhân A, B đi sát nhau. PEG đổi ID và giữ sai đến hết video; PEG-F đổi lại ở frame 339.</a:t>
            </a:r>
            <a:endParaRPr lang="en-US" sz="1500" dirty="0"/>
          </a:p>
        </p:txBody>
      </p:sp>
      <p:sp>
        <p:nvSpPr>
          <p:cNvPr id="6" name="Shape 3"/>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7" name="Text 4"/>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8" name="Text 5"/>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TỪNG METHOD</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Từng method làm được gì? (thêm từng cái vào PEG)</a:t>
            </a:r>
            <a:endParaRPr lang="en-US" sz="3000" dirty="0"/>
          </a:p>
        </p:txBody>
      </p:sp>
      <p:pic>
        <p:nvPicPr>
          <p:cNvPr id="4" name="Image 0" descr="D:\PROJECT\PEG\results\peg_f\figures\ablation_grid.png">    </p:cNvPr>
          <p:cNvPicPr>
            <a:picLocks noChangeAspect="1"/>
          </p:cNvPicPr>
          <p:nvPr/>
        </p:nvPicPr>
        <p:blipFill>
          <a:blip r:embed="rId1"/>
          <a:stretch>
            <a:fillRect/>
          </a:stretch>
        </p:blipFill>
        <p:spPr>
          <a:xfrm>
            <a:off x="761414" y="1371600"/>
            <a:ext cx="10638692" cy="4572000"/>
          </a:xfrm>
          <a:prstGeom prst="rect">
            <a:avLst/>
          </a:prstGeom>
        </p:spPr>
      </p:pic>
      <p:sp>
        <p:nvSpPr>
          <p:cNvPr id="5" name="Text 2"/>
          <p:cNvSpPr txBox="1"/>
          <p:nvPr/>
        </p:nvSpPr>
        <p:spPr>
          <a:xfrm>
            <a:off x="548640" y="6035040"/>
            <a:ext cx="11091672" cy="457200"/>
          </a:xfrm>
          <a:prstGeom prst="rect">
            <a:avLst/>
          </a:prstGeom>
          <a:noFill/>
          <a:ln/>
        </p:spPr>
        <p:txBody>
          <a:bodyPr wrap="square" lIns="0" tIns="0" rIns="0" bIns="0" rtlCol="0" anchor="t"/>
          <a:lstStyle/>
          <a:p>
            <a:pPr algn="ctr" indent="0" marL="0">
              <a:buNone/>
            </a:pPr>
            <a:r>
              <a:rPr lang="en-US" sz="1700" b="1" dirty="0">
                <a:solidFill>
                  <a:srgbClr val="F2A900"/>
                </a:solidFill>
                <a:latin typeface="Arial" pitchFamily="34" charset="0"/>
                <a:ea typeface="Arial" pitchFamily="34" charset="-122"/>
                <a:cs typeface="Arial" pitchFamily="34" charset="-120"/>
              </a:rPr>
              <a:t>M1-swap tăng Table I (nhưng IDSW tăng) · M1-damp làm hỏng Table II và III · M3 tốt nhẹ · M2, M4, M5 ≈ 0.</a:t>
            </a:r>
            <a:endParaRPr lang="en-US" sz="1700" dirty="0"/>
          </a:p>
        </p:txBody>
      </p:sp>
      <p:sp>
        <p:nvSpPr>
          <p:cNvPr id="6" name="Shape 3"/>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7" name="Text 4"/>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8" name="Text 5"/>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SỐ ĐẾM TỪ BÊN TRONG</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Vì sao M2 và M4 không chạy?</a:t>
            </a:r>
            <a:endParaRPr lang="en-US" sz="3000" dirty="0"/>
          </a:p>
        </p:txBody>
      </p:sp>
      <p:sp>
        <p:nvSpPr>
          <p:cNvPr id="4" name="Shape 2"/>
          <p:cNvSpPr/>
          <p:nvPr/>
        </p:nvSpPr>
        <p:spPr>
          <a:xfrm>
            <a:off x="548640" y="1600200"/>
            <a:ext cx="3566160" cy="2834640"/>
          </a:xfrm>
          <a:prstGeom prst="roundRect">
            <a:avLst>
              <a:gd name="adj" fmla="val 3871"/>
            </a:avLst>
          </a:prstGeom>
          <a:solidFill>
            <a:srgbClr val="22252B"/>
          </a:solidFill>
          <a:ln w="12700">
            <a:solidFill>
              <a:srgbClr val="22252B"/>
            </a:solidFill>
            <a:prstDash val="solid"/>
          </a:ln>
        </p:spPr>
      </p:sp>
      <p:sp>
        <p:nvSpPr>
          <p:cNvPr id="5" name="Text 3"/>
          <p:cNvSpPr txBox="1"/>
          <p:nvPr/>
        </p:nvSpPr>
        <p:spPr>
          <a:xfrm>
            <a:off x="822960" y="1691640"/>
            <a:ext cx="3017520" cy="320040"/>
          </a:xfrm>
          <a:prstGeom prst="rect">
            <a:avLst/>
          </a:prstGeom>
          <a:noFill/>
          <a:ln/>
        </p:spPr>
        <p:txBody>
          <a:bodyPr wrap="square" lIns="0" tIns="0" rIns="0" bIns="0" rtlCol="0" anchor="t"/>
          <a:lstStyle/>
          <a:p>
            <a:pPr indent="0" marL="0">
              <a:buNone/>
            </a:pPr>
            <a:r>
              <a:rPr lang="en-US" sz="1400" b="1" dirty="0">
                <a:solidFill>
                  <a:srgbClr val="9B6EE8"/>
                </a:solidFill>
                <a:latin typeface="Arial" pitchFamily="34" charset="0"/>
                <a:ea typeface="Arial" pitchFamily="34" charset="-122"/>
                <a:cs typeface="Arial" pitchFamily="34" charset="-120"/>
              </a:rPr>
              <a:t>M2 · giành ID</a:t>
            </a:r>
            <a:endParaRPr lang="en-US" sz="1400" dirty="0"/>
          </a:p>
        </p:txBody>
      </p:sp>
      <p:sp>
        <p:nvSpPr>
          <p:cNvPr id="6" name="Text 4"/>
          <p:cNvSpPr txBox="1"/>
          <p:nvPr/>
        </p:nvSpPr>
        <p:spPr>
          <a:xfrm>
            <a:off x="822960" y="2057400"/>
            <a:ext cx="3108960" cy="1097280"/>
          </a:xfrm>
          <a:prstGeom prst="rect">
            <a:avLst/>
          </a:prstGeom>
          <a:noFill/>
          <a:ln/>
        </p:spPr>
        <p:txBody>
          <a:bodyPr wrap="square" lIns="0" tIns="0" rIns="0" bIns="0" rtlCol="0" anchor="ctr"/>
          <a:lstStyle/>
          <a:p>
            <a:pPr indent="0" marL="0">
              <a:buNone/>
            </a:pPr>
            <a:r>
              <a:rPr lang="en-US" sz="4400" b="1" dirty="0">
                <a:solidFill>
                  <a:srgbClr val="F2F2F2"/>
                </a:solidFill>
                <a:latin typeface="Arial" pitchFamily="34" charset="0"/>
                <a:ea typeface="Arial" pitchFamily="34" charset="-122"/>
                <a:cs typeface="Arial" pitchFamily="34" charset="-120"/>
              </a:rPr>
              <a:t>0.052</a:t>
            </a:r>
            <a:endParaRPr lang="en-US" sz="4400" dirty="0"/>
          </a:p>
        </p:txBody>
      </p:sp>
      <p:sp>
        <p:nvSpPr>
          <p:cNvPr id="7" name="Text 5"/>
          <p:cNvSpPr txBox="1"/>
          <p:nvPr/>
        </p:nvSpPr>
        <p:spPr>
          <a:xfrm>
            <a:off x="822960" y="3154680"/>
            <a:ext cx="3108960" cy="365760"/>
          </a:xfrm>
          <a:prstGeom prst="rect">
            <a:avLst/>
          </a:prstGeom>
          <a:noFill/>
          <a:ln/>
        </p:spPr>
        <p:txBody>
          <a:bodyPr wrap="square" lIns="0" tIns="0" rIns="0" bIns="0" rtlCol="0" anchor="t"/>
          <a:lstStyle/>
          <a:p>
            <a:pPr indent="0" marL="0">
              <a:buNone/>
            </a:pPr>
            <a:r>
              <a:rPr lang="en-US" sz="1500" b="1" dirty="0">
                <a:solidFill>
                  <a:srgbClr val="E66767"/>
                </a:solidFill>
                <a:latin typeface="Arial" pitchFamily="34" charset="0"/>
                <a:ea typeface="Arial" pitchFamily="34" charset="-122"/>
                <a:cs typeface="Arial" pitchFamily="34" charset="-120"/>
              </a:rPr>
              <a:t>cần &gt; 0.25</a:t>
            </a:r>
            <a:endParaRPr lang="en-US" sz="1500" dirty="0"/>
          </a:p>
        </p:txBody>
      </p:sp>
      <p:sp>
        <p:nvSpPr>
          <p:cNvPr id="8" name="Text 6"/>
          <p:cNvSpPr txBox="1"/>
          <p:nvPr/>
        </p:nvSpPr>
        <p:spPr>
          <a:xfrm>
            <a:off x="822960" y="3566160"/>
            <a:ext cx="3108960" cy="82296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độ chênh màu lớn nhất giữa người đúng và người sai, trong 11 lần xét</a:t>
            </a:r>
            <a:endParaRPr lang="en-US" sz="1300" dirty="0"/>
          </a:p>
        </p:txBody>
      </p:sp>
      <p:sp>
        <p:nvSpPr>
          <p:cNvPr id="9" name="Shape 7"/>
          <p:cNvSpPr/>
          <p:nvPr/>
        </p:nvSpPr>
        <p:spPr>
          <a:xfrm>
            <a:off x="4315968" y="1600200"/>
            <a:ext cx="3566160" cy="2834640"/>
          </a:xfrm>
          <a:prstGeom prst="roundRect">
            <a:avLst>
              <a:gd name="adj" fmla="val 3871"/>
            </a:avLst>
          </a:prstGeom>
          <a:solidFill>
            <a:srgbClr val="22252B"/>
          </a:solidFill>
          <a:ln w="12700">
            <a:solidFill>
              <a:srgbClr val="22252B"/>
            </a:solidFill>
            <a:prstDash val="solid"/>
          </a:ln>
        </p:spPr>
      </p:sp>
      <p:sp>
        <p:nvSpPr>
          <p:cNvPr id="10" name="Text 8"/>
          <p:cNvSpPr txBox="1"/>
          <p:nvPr/>
        </p:nvSpPr>
        <p:spPr>
          <a:xfrm>
            <a:off x="4590288" y="1691640"/>
            <a:ext cx="3017520" cy="320040"/>
          </a:xfrm>
          <a:prstGeom prst="rect">
            <a:avLst/>
          </a:prstGeom>
          <a:noFill/>
          <a:ln/>
        </p:spPr>
        <p:txBody>
          <a:bodyPr wrap="square" lIns="0" tIns="0" rIns="0" bIns="0" rtlCol="0" anchor="t"/>
          <a:lstStyle/>
          <a:p>
            <a:pPr indent="0" marL="0">
              <a:buNone/>
            </a:pPr>
            <a:r>
              <a:rPr lang="en-US" sz="1400" b="1" dirty="0">
                <a:solidFill>
                  <a:srgbClr val="9B6EE8"/>
                </a:solidFill>
                <a:latin typeface="Arial" pitchFamily="34" charset="0"/>
                <a:ea typeface="Arial" pitchFamily="34" charset="-122"/>
                <a:cs typeface="Arial" pitchFamily="34" charset="-120"/>
              </a:rPr>
              <a:t>M2 · đổi chéo</a:t>
            </a:r>
            <a:endParaRPr lang="en-US" sz="1400" dirty="0"/>
          </a:p>
        </p:txBody>
      </p:sp>
      <p:sp>
        <p:nvSpPr>
          <p:cNvPr id="11" name="Text 9"/>
          <p:cNvSpPr txBox="1"/>
          <p:nvPr/>
        </p:nvSpPr>
        <p:spPr>
          <a:xfrm>
            <a:off x="4590288" y="2057400"/>
            <a:ext cx="3108960" cy="1097280"/>
          </a:xfrm>
          <a:prstGeom prst="rect">
            <a:avLst/>
          </a:prstGeom>
          <a:noFill/>
          <a:ln/>
        </p:spPr>
        <p:txBody>
          <a:bodyPr wrap="square" lIns="0" tIns="0" rIns="0" bIns="0" rtlCol="0" anchor="ctr"/>
          <a:lstStyle/>
          <a:p>
            <a:pPr indent="0" marL="0">
              <a:buNone/>
            </a:pPr>
            <a:r>
              <a:rPr lang="en-US" sz="4400" b="1" dirty="0">
                <a:solidFill>
                  <a:srgbClr val="F2F2F2"/>
                </a:solidFill>
                <a:latin typeface="Arial" pitchFamily="34" charset="0"/>
                <a:ea typeface="Arial" pitchFamily="34" charset="-122"/>
                <a:cs typeface="Arial" pitchFamily="34" charset="-120"/>
              </a:rPr>
              <a:t>0.096</a:t>
            </a:r>
            <a:endParaRPr lang="en-US" sz="4400" dirty="0"/>
          </a:p>
        </p:txBody>
      </p:sp>
      <p:sp>
        <p:nvSpPr>
          <p:cNvPr id="12" name="Text 10"/>
          <p:cNvSpPr txBox="1"/>
          <p:nvPr/>
        </p:nvSpPr>
        <p:spPr>
          <a:xfrm>
            <a:off x="4590288" y="3154680"/>
            <a:ext cx="3108960" cy="365760"/>
          </a:xfrm>
          <a:prstGeom prst="rect">
            <a:avLst/>
          </a:prstGeom>
          <a:noFill/>
          <a:ln/>
        </p:spPr>
        <p:txBody>
          <a:bodyPr wrap="square" lIns="0" tIns="0" rIns="0" bIns="0" rtlCol="0" anchor="t"/>
          <a:lstStyle/>
          <a:p>
            <a:pPr indent="0" marL="0">
              <a:buNone/>
            </a:pPr>
            <a:r>
              <a:rPr lang="en-US" sz="1500" b="1" dirty="0">
                <a:solidFill>
                  <a:srgbClr val="E66767"/>
                </a:solidFill>
                <a:latin typeface="Arial" pitchFamily="34" charset="0"/>
                <a:ea typeface="Arial" pitchFamily="34" charset="-122"/>
                <a:cs typeface="Arial" pitchFamily="34" charset="-120"/>
              </a:rPr>
              <a:t>cần &gt; 0.15</a:t>
            </a:r>
            <a:endParaRPr lang="en-US" sz="1500" dirty="0"/>
          </a:p>
        </p:txBody>
      </p:sp>
      <p:sp>
        <p:nvSpPr>
          <p:cNvPr id="13" name="Text 11"/>
          <p:cNvSpPr txBox="1"/>
          <p:nvPr/>
        </p:nvSpPr>
        <p:spPr>
          <a:xfrm>
            <a:off x="4590288" y="3566160"/>
            <a:ext cx="3108960" cy="82296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độ chênh lớn nhất trong 4338 lần xét</a:t>
            </a:r>
            <a:endParaRPr lang="en-US" sz="1300" dirty="0"/>
          </a:p>
        </p:txBody>
      </p:sp>
      <p:sp>
        <p:nvSpPr>
          <p:cNvPr id="14" name="Shape 12"/>
          <p:cNvSpPr/>
          <p:nvPr/>
        </p:nvSpPr>
        <p:spPr>
          <a:xfrm>
            <a:off x="8083296" y="1600200"/>
            <a:ext cx="3566160" cy="2834640"/>
          </a:xfrm>
          <a:prstGeom prst="roundRect">
            <a:avLst>
              <a:gd name="adj" fmla="val 3871"/>
            </a:avLst>
          </a:prstGeom>
          <a:solidFill>
            <a:srgbClr val="22252B"/>
          </a:solidFill>
          <a:ln w="12700">
            <a:solidFill>
              <a:srgbClr val="22252B"/>
            </a:solidFill>
            <a:prstDash val="solid"/>
          </a:ln>
        </p:spPr>
      </p:sp>
      <p:sp>
        <p:nvSpPr>
          <p:cNvPr id="15" name="Text 13"/>
          <p:cNvSpPr txBox="1"/>
          <p:nvPr/>
        </p:nvSpPr>
        <p:spPr>
          <a:xfrm>
            <a:off x="8357616" y="1691640"/>
            <a:ext cx="3017520" cy="320040"/>
          </a:xfrm>
          <a:prstGeom prst="rect">
            <a:avLst/>
          </a:prstGeom>
          <a:noFill/>
          <a:ln/>
        </p:spPr>
        <p:txBody>
          <a:bodyPr wrap="square" lIns="0" tIns="0" rIns="0" bIns="0" rtlCol="0" anchor="t"/>
          <a:lstStyle/>
          <a:p>
            <a:pPr indent="0" marL="0">
              <a:buNone/>
            </a:pPr>
            <a:r>
              <a:rPr lang="en-US" sz="1400" b="1" dirty="0">
                <a:solidFill>
                  <a:srgbClr val="9B6EE8"/>
                </a:solidFill>
                <a:latin typeface="Arial" pitchFamily="34" charset="0"/>
                <a:ea typeface="Arial" pitchFamily="34" charset="-122"/>
                <a:cs typeface="Arial" pitchFamily="34" charset="-120"/>
              </a:rPr>
              <a:t>M4 · hồi sinh track</a:t>
            </a:r>
            <a:endParaRPr lang="en-US" sz="1400" dirty="0"/>
          </a:p>
        </p:txBody>
      </p:sp>
      <p:sp>
        <p:nvSpPr>
          <p:cNvPr id="16" name="Text 14"/>
          <p:cNvSpPr txBox="1"/>
          <p:nvPr/>
        </p:nvSpPr>
        <p:spPr>
          <a:xfrm>
            <a:off x="8357616" y="2057400"/>
            <a:ext cx="3108960" cy="1097280"/>
          </a:xfrm>
          <a:prstGeom prst="rect">
            <a:avLst/>
          </a:prstGeom>
          <a:noFill/>
          <a:ln/>
        </p:spPr>
        <p:txBody>
          <a:bodyPr wrap="square" lIns="0" tIns="0" rIns="0" bIns="0" rtlCol="0" anchor="ctr"/>
          <a:lstStyle/>
          <a:p>
            <a:pPr indent="0" marL="0">
              <a:buNone/>
            </a:pPr>
            <a:r>
              <a:rPr lang="en-US" sz="4400" b="1" dirty="0">
                <a:solidFill>
                  <a:srgbClr val="F2F2F2"/>
                </a:solidFill>
                <a:latin typeface="Arial" pitchFamily="34" charset="0"/>
                <a:ea typeface="Arial" pitchFamily="34" charset="-122"/>
                <a:cs typeface="Arial" pitchFamily="34" charset="-120"/>
              </a:rPr>
              <a:t>1 / 81</a:t>
            </a:r>
            <a:endParaRPr lang="en-US" sz="4400" dirty="0"/>
          </a:p>
        </p:txBody>
      </p:sp>
      <p:sp>
        <p:nvSpPr>
          <p:cNvPr id="17" name="Text 15"/>
          <p:cNvSpPr txBox="1"/>
          <p:nvPr/>
        </p:nvSpPr>
        <p:spPr>
          <a:xfrm>
            <a:off x="8357616" y="3154680"/>
            <a:ext cx="3108960" cy="365760"/>
          </a:xfrm>
          <a:prstGeom prst="rect">
            <a:avLst/>
          </a:prstGeom>
          <a:noFill/>
          <a:ln/>
        </p:spPr>
        <p:txBody>
          <a:bodyPr wrap="square" lIns="0" tIns="0" rIns="0" bIns="0" rtlCol="0" anchor="t"/>
          <a:lstStyle/>
          <a:p>
            <a:pPr indent="0" marL="0">
              <a:buNone/>
            </a:pPr>
            <a:r>
              <a:rPr lang="en-US" sz="1500" b="1" dirty="0">
                <a:solidFill>
                  <a:srgbClr val="E66767"/>
                </a:solidFill>
                <a:latin typeface="Arial" pitchFamily="34" charset="0"/>
                <a:ea typeface="Arial" pitchFamily="34" charset="-122"/>
                <a:cs typeface="Arial" pitchFamily="34" charset="-120"/>
              </a:rPr>
              <a:t>lần có pool khác rỗng</a:t>
            </a:r>
            <a:endParaRPr lang="en-US" sz="1500" dirty="0"/>
          </a:p>
        </p:txBody>
      </p:sp>
      <p:sp>
        <p:nvSpPr>
          <p:cNvPr id="18" name="Text 16"/>
          <p:cNvSpPr txBox="1"/>
          <p:nvPr/>
        </p:nvSpPr>
        <p:spPr>
          <a:xfrm>
            <a:off x="8357616" y="3566160"/>
            <a:ext cx="3108960" cy="82296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khi sinh track mới; chỉ 1 lần hồi sinh trong cả Table I</a:t>
            </a:r>
            <a:endParaRPr lang="en-US" sz="1300" dirty="0"/>
          </a:p>
        </p:txBody>
      </p:sp>
      <p:sp>
        <p:nvSpPr>
          <p:cNvPr id="19" name="Shape 17"/>
          <p:cNvSpPr/>
          <p:nvPr/>
        </p:nvSpPr>
        <p:spPr>
          <a:xfrm>
            <a:off x="548640" y="4617720"/>
            <a:ext cx="11091672" cy="1371600"/>
          </a:xfrm>
          <a:prstGeom prst="roundRect">
            <a:avLst>
              <a:gd name="adj" fmla="val 8000"/>
            </a:avLst>
          </a:prstGeom>
          <a:solidFill>
            <a:srgbClr val="2B2F36"/>
          </a:solidFill>
          <a:ln w="12700">
            <a:solidFill>
              <a:srgbClr val="2B2F36"/>
            </a:solidFill>
            <a:prstDash val="solid"/>
          </a:ln>
        </p:spPr>
      </p:sp>
      <p:sp>
        <p:nvSpPr>
          <p:cNvPr id="20" name="Text 18"/>
          <p:cNvSpPr txBox="1"/>
          <p:nvPr/>
        </p:nvSpPr>
        <p:spPr>
          <a:xfrm>
            <a:off x="822960" y="4617720"/>
            <a:ext cx="10607040" cy="1371600"/>
          </a:xfrm>
          <a:prstGeom prst="rect">
            <a:avLst/>
          </a:prstGeom>
          <a:noFill/>
          <a:ln/>
        </p:spPr>
        <p:txBody>
          <a:bodyPr wrap="square" lIns="0" tIns="0" rIns="0" bIns="0" rtlCol="0" anchor="ctr"/>
          <a:lstStyle/>
          <a:p>
            <a:pPr indent="0" marL="0">
              <a:buNone/>
            </a:pPr>
            <a:r>
              <a:rPr lang="en-US" sz="2100" b="1" dirty="0">
                <a:solidFill>
                  <a:srgbClr val="F2F2F2"/>
                </a:solidFill>
                <a:latin typeface="Arial" pitchFamily="34" charset="0"/>
                <a:ea typeface="Arial" pitchFamily="34" charset="-122"/>
                <a:cs typeface="Arial" pitchFamily="34" charset="-120"/>
              </a:rPr>
              <a:t>Công nhân mặc đồ bảo hộ giống nhau → màu HSV không phân biệt được.</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Độ giống màu: cùng người ≈ 0.99, khác người ≈ 0.90 (trung vị) → số lần M2 đổi một quyết định: 0</a:t>
            </a:r>
            <a:endParaRPr lang="en-US" sz="1600" dirty="0"/>
          </a:p>
        </p:txBody>
      </p:sp>
      <p:sp>
        <p:nvSpPr>
          <p:cNvPr id="21" name="Shape 19"/>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2" name="Text 20"/>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3" name="Text 21"/>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TỐC ĐỘ TRÊN GTX 1650</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Chi phí: gần như không tốn thêm thời gian</a:t>
            </a:r>
            <a:endParaRPr lang="en-US" sz="3000" dirty="0"/>
          </a:p>
        </p:txBody>
      </p:sp>
      <p:sp>
        <p:nvSpPr>
          <p:cNvPr id="4" name="Shape 2"/>
          <p:cNvSpPr/>
          <p:nvPr/>
        </p:nvSpPr>
        <p:spPr>
          <a:xfrm>
            <a:off x="548640" y="1645920"/>
            <a:ext cx="11091672" cy="1097280"/>
          </a:xfrm>
          <a:prstGeom prst="roundRect">
            <a:avLst>
              <a:gd name="adj" fmla="val 10000"/>
            </a:avLst>
          </a:prstGeom>
          <a:solidFill>
            <a:srgbClr val="22252B"/>
          </a:solidFill>
          <a:ln w="12700">
            <a:solidFill>
              <a:srgbClr val="22252B"/>
            </a:solidFill>
            <a:prstDash val="solid"/>
          </a:ln>
        </p:spPr>
      </p:sp>
      <p:sp>
        <p:nvSpPr>
          <p:cNvPr id="5" name="Text 3"/>
          <p:cNvSpPr txBox="1"/>
          <p:nvPr/>
        </p:nvSpPr>
        <p:spPr>
          <a:xfrm>
            <a:off x="822960" y="1645920"/>
            <a:ext cx="2377440" cy="1097280"/>
          </a:xfrm>
          <a:prstGeom prst="rect">
            <a:avLst/>
          </a:prstGeom>
          <a:noFill/>
          <a:ln/>
        </p:spPr>
        <p:txBody>
          <a:bodyPr wrap="square" lIns="0" tIns="0" rIns="0" bIns="0" rtlCol="0" anchor="ctr"/>
          <a:lstStyle/>
          <a:p>
            <a:pPr indent="0" marL="0">
              <a:buNone/>
            </a:pPr>
            <a:r>
              <a:rPr lang="en-US" sz="2400" b="1" dirty="0">
                <a:solidFill>
                  <a:srgbClr val="3987E5"/>
                </a:solidFill>
                <a:latin typeface="Arial" pitchFamily="34" charset="0"/>
                <a:ea typeface="Arial" pitchFamily="34" charset="-122"/>
                <a:cs typeface="Arial" pitchFamily="34" charset="-120"/>
              </a:rPr>
              <a:t>PEG</a:t>
            </a:r>
            <a:endParaRPr lang="en-US" sz="2400" dirty="0"/>
          </a:p>
        </p:txBody>
      </p:sp>
      <p:sp>
        <p:nvSpPr>
          <p:cNvPr id="6" name="Shape 4"/>
          <p:cNvSpPr/>
          <p:nvPr/>
        </p:nvSpPr>
        <p:spPr>
          <a:xfrm>
            <a:off x="3291840" y="1920240"/>
            <a:ext cx="4023360" cy="548640"/>
          </a:xfrm>
          <a:prstGeom prst="roundRect">
            <a:avLst>
              <a:gd name="adj" fmla="val 10000"/>
            </a:avLst>
          </a:prstGeom>
          <a:solidFill>
            <a:srgbClr val="3987E5"/>
          </a:solidFill>
          <a:ln w="12700">
            <a:solidFill>
              <a:srgbClr val="3987E5"/>
            </a:solidFill>
            <a:prstDash val="solid"/>
          </a:ln>
        </p:spPr>
      </p:sp>
      <p:sp>
        <p:nvSpPr>
          <p:cNvPr id="7" name="Text 5"/>
          <p:cNvSpPr txBox="1"/>
          <p:nvPr/>
        </p:nvSpPr>
        <p:spPr>
          <a:xfrm>
            <a:off x="7498080" y="1645920"/>
            <a:ext cx="2011680" cy="1097280"/>
          </a:xfrm>
          <a:prstGeom prst="rect">
            <a:avLst/>
          </a:prstGeom>
          <a:noFill/>
          <a:ln/>
        </p:spPr>
        <p:txBody>
          <a:bodyPr wrap="square" lIns="0" tIns="0" rIns="0" bIns="0" rtlCol="0" anchor="ctr"/>
          <a:lstStyle/>
          <a:p>
            <a:pPr indent="0" marL="0">
              <a:buNone/>
            </a:pPr>
            <a:r>
              <a:rPr lang="en-US" sz="2800" b="1" dirty="0">
                <a:solidFill>
                  <a:srgbClr val="F2F2F2"/>
                </a:solidFill>
                <a:latin typeface="Arial" pitchFamily="34" charset="0"/>
                <a:ea typeface="Arial" pitchFamily="34" charset="-122"/>
                <a:cs typeface="Arial" pitchFamily="34" charset="-120"/>
              </a:rPr>
              <a:t>4.4 FPS</a:t>
            </a:r>
            <a:endParaRPr lang="en-US" sz="2800" dirty="0"/>
          </a:p>
        </p:txBody>
      </p:sp>
      <p:sp>
        <p:nvSpPr>
          <p:cNvPr id="8" name="Shape 6"/>
          <p:cNvSpPr/>
          <p:nvPr/>
        </p:nvSpPr>
        <p:spPr>
          <a:xfrm>
            <a:off x="548640" y="2926080"/>
            <a:ext cx="11091672" cy="1097280"/>
          </a:xfrm>
          <a:prstGeom prst="roundRect">
            <a:avLst>
              <a:gd name="adj" fmla="val 10000"/>
            </a:avLst>
          </a:prstGeom>
          <a:solidFill>
            <a:srgbClr val="22252B"/>
          </a:solidFill>
          <a:ln w="12700">
            <a:solidFill>
              <a:srgbClr val="22252B"/>
            </a:solidFill>
            <a:prstDash val="solid"/>
          </a:ln>
        </p:spPr>
      </p:sp>
      <p:sp>
        <p:nvSpPr>
          <p:cNvPr id="9" name="Text 7"/>
          <p:cNvSpPr txBox="1"/>
          <p:nvPr/>
        </p:nvSpPr>
        <p:spPr>
          <a:xfrm>
            <a:off x="822960" y="2926080"/>
            <a:ext cx="2377440" cy="1097280"/>
          </a:xfrm>
          <a:prstGeom prst="rect">
            <a:avLst/>
          </a:prstGeom>
          <a:noFill/>
          <a:ln/>
        </p:spPr>
        <p:txBody>
          <a:bodyPr wrap="square" lIns="0" tIns="0" rIns="0" bIns="0" rtlCol="0" anchor="ctr"/>
          <a:lstStyle/>
          <a:p>
            <a:pPr indent="0" marL="0">
              <a:buNone/>
            </a:pPr>
            <a:r>
              <a:rPr lang="en-US" sz="2400" b="1" dirty="0">
                <a:solidFill>
                  <a:srgbClr val="9B6EE8"/>
                </a:solidFill>
                <a:latin typeface="Arial" pitchFamily="34" charset="0"/>
                <a:ea typeface="Arial" pitchFamily="34" charset="-122"/>
                <a:cs typeface="Arial" pitchFamily="34" charset="-120"/>
              </a:rPr>
              <a:t>PEG-F</a:t>
            </a:r>
            <a:endParaRPr lang="en-US" sz="2400" dirty="0"/>
          </a:p>
        </p:txBody>
      </p:sp>
      <p:sp>
        <p:nvSpPr>
          <p:cNvPr id="10" name="Shape 8"/>
          <p:cNvSpPr/>
          <p:nvPr/>
        </p:nvSpPr>
        <p:spPr>
          <a:xfrm>
            <a:off x="3291840" y="3200400"/>
            <a:ext cx="3931920" cy="548640"/>
          </a:xfrm>
          <a:prstGeom prst="roundRect">
            <a:avLst>
              <a:gd name="adj" fmla="val 10000"/>
            </a:avLst>
          </a:prstGeom>
          <a:solidFill>
            <a:srgbClr val="9B6EE8"/>
          </a:solidFill>
          <a:ln w="12700">
            <a:solidFill>
              <a:srgbClr val="9B6EE8"/>
            </a:solidFill>
            <a:prstDash val="solid"/>
          </a:ln>
        </p:spPr>
      </p:sp>
      <p:sp>
        <p:nvSpPr>
          <p:cNvPr id="11" name="Text 9"/>
          <p:cNvSpPr txBox="1"/>
          <p:nvPr/>
        </p:nvSpPr>
        <p:spPr>
          <a:xfrm>
            <a:off x="7406640" y="2926080"/>
            <a:ext cx="2011680" cy="1097280"/>
          </a:xfrm>
          <a:prstGeom prst="rect">
            <a:avLst/>
          </a:prstGeom>
          <a:noFill/>
          <a:ln/>
        </p:spPr>
        <p:txBody>
          <a:bodyPr wrap="square" lIns="0" tIns="0" rIns="0" bIns="0" rtlCol="0" anchor="ctr"/>
          <a:lstStyle/>
          <a:p>
            <a:pPr indent="0" marL="0">
              <a:buNone/>
            </a:pPr>
            <a:r>
              <a:rPr lang="en-US" sz="2800" b="1" dirty="0">
                <a:solidFill>
                  <a:srgbClr val="F2F2F2"/>
                </a:solidFill>
                <a:latin typeface="Arial" pitchFamily="34" charset="0"/>
                <a:ea typeface="Arial" pitchFamily="34" charset="-122"/>
                <a:cs typeface="Arial" pitchFamily="34" charset="-120"/>
              </a:rPr>
              <a:t>4.3 FPS</a:t>
            </a:r>
            <a:endParaRPr lang="en-US" sz="2800" dirty="0"/>
          </a:p>
        </p:txBody>
      </p:sp>
      <p:sp>
        <p:nvSpPr>
          <p:cNvPr id="12" name="Text 10"/>
          <p:cNvSpPr txBox="1"/>
          <p:nvPr/>
        </p:nvSpPr>
        <p:spPr>
          <a:xfrm>
            <a:off x="548640" y="4251960"/>
            <a:ext cx="11064240" cy="548640"/>
          </a:xfrm>
          <a:prstGeom prst="rect">
            <a:avLst/>
          </a:prstGeom>
          <a:noFill/>
          <a:ln/>
        </p:spPr>
        <p:txBody>
          <a:bodyPr wrap="square" lIns="0" tIns="0" rIns="0" bIns="0" rtlCol="0" anchor="t"/>
          <a:lstStyle/>
          <a:p>
            <a:pPr indent="0" marL="0">
              <a:buNone/>
            </a:pPr>
            <a:r>
              <a:rPr lang="en-US" sz="1500" dirty="0">
                <a:solidFill>
                  <a:srgbClr val="A3A8B0"/>
                </a:solidFill>
                <a:latin typeface="Arial" pitchFamily="34" charset="0"/>
                <a:ea typeface="Arial" pitchFamily="34" charset="-122"/>
                <a:cs typeface="Arial" pitchFamily="34" charset="-120"/>
              </a:rPr>
              <a:t>FPS = số frame xử lý mỗi giây khi chạy cả detector + h_psi + tracker, trên cùng một máy: 16709 frame của Table I.</a:t>
            </a:r>
            <a:endParaRPr lang="en-US" sz="1500" dirty="0"/>
          </a:p>
        </p:txBody>
      </p:sp>
      <p:sp>
        <p:nvSpPr>
          <p:cNvPr id="13" name="Shape 11"/>
          <p:cNvSpPr/>
          <p:nvPr/>
        </p:nvSpPr>
        <p:spPr>
          <a:xfrm>
            <a:off x="548640" y="4892040"/>
            <a:ext cx="11091672" cy="1097280"/>
          </a:xfrm>
          <a:prstGeom prst="roundRect">
            <a:avLst>
              <a:gd name="adj" fmla="val 10000"/>
            </a:avLst>
          </a:prstGeom>
          <a:solidFill>
            <a:srgbClr val="2B2F36"/>
          </a:solidFill>
          <a:ln w="12700">
            <a:solidFill>
              <a:srgbClr val="2B2F36"/>
            </a:solidFill>
            <a:prstDash val="solid"/>
          </a:ln>
        </p:spPr>
      </p:sp>
      <p:sp>
        <p:nvSpPr>
          <p:cNvPr id="14" name="Text 12"/>
          <p:cNvSpPr txBox="1"/>
          <p:nvPr/>
        </p:nvSpPr>
        <p:spPr>
          <a:xfrm>
            <a:off x="822960" y="4892040"/>
            <a:ext cx="10607040" cy="1097280"/>
          </a:xfrm>
          <a:prstGeom prst="rect">
            <a:avLst/>
          </a:prstGeom>
          <a:noFill/>
          <a:ln/>
        </p:spPr>
        <p:txBody>
          <a:bodyPr wrap="square" lIns="0" tIns="0" rIns="0" bIns="0" rtlCol="0" anchor="ctr"/>
          <a:lstStyle/>
          <a:p>
            <a:pPr indent="0" marL="0">
              <a:buNone/>
            </a:pPr>
            <a:r>
              <a:rPr lang="en-US" sz="2000" b="1" dirty="0">
                <a:solidFill>
                  <a:srgbClr val="F2F2F2"/>
                </a:solidFill>
                <a:latin typeface="Arial" pitchFamily="34" charset="0"/>
                <a:ea typeface="Arial" pitchFamily="34" charset="-122"/>
                <a:cs typeface="Arial" pitchFamily="34" charset="-120"/>
              </a:rPr>
              <a:t>Detector chiếm gần hết thời gian → phần tracker thêm vào không đáng kể.</a:t>
            </a:r>
            <a:endParaRPr lang="en-US" sz="1600" dirty="0"/>
          </a:p>
          <a:p>
            <a:pPr indent="0" marL="0">
              <a:buNone/>
            </a:pPr>
            <a:r>
              <a:rPr lang="en-US" sz="1400" dirty="0">
                <a:solidFill>
                  <a:srgbClr val="A3A8B0"/>
                </a:solidFill>
                <a:latin typeface="Arial" pitchFamily="34" charset="0"/>
                <a:ea typeface="Arial" pitchFamily="34" charset="-122"/>
                <a:cs typeface="Arial" pitchFamily="34" charset="-120"/>
              </a:rPr>
              <a:t>(Paper: 26.4 FPS trên RTX 5070 Ti, GPU mạnh hơn nhiều)</a:t>
            </a:r>
            <a:endParaRPr lang="en-US" sz="1600" dirty="0"/>
          </a:p>
        </p:txBody>
      </p:sp>
      <p:sp>
        <p:nvSpPr>
          <p:cNvPr id="15" name="Shape 13"/>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16" name="Text 14"/>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17" name="Text 15"/>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 · CẢI TIẾN CỦA NGƯỜI 2</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2600" b="1" dirty="0">
                <a:solidFill>
                  <a:srgbClr val="F2F2F2"/>
                </a:solidFill>
                <a:latin typeface="Arial" pitchFamily="34" charset="0"/>
                <a:ea typeface="Arial" pitchFamily="34" charset="-122"/>
                <a:cs typeface="Arial" pitchFamily="34" charset="-120"/>
              </a:rPr>
              <a:t>Lỗi PEG còn lại: box co lại khi coast → PEG+ khóa kích thước</a:t>
            </a:r>
            <a:endParaRPr lang="en-US" sz="2600" dirty="0"/>
          </a:p>
        </p:txBody>
      </p:sp>
      <p:pic>
        <p:nvPicPr>
          <p:cNvPr id="4" name="Image 0" descr="D:\PROJECT\PEG\results\peg_plus\figures\cmp_box_collapse.png">    </p:cNvPr>
          <p:cNvPicPr>
            <a:picLocks noChangeAspect="1"/>
          </p:cNvPicPr>
          <p:nvPr/>
        </p:nvPicPr>
        <p:blipFill>
          <a:blip r:embed="rId1"/>
          <a:stretch>
            <a:fillRect/>
          </a:stretch>
        </p:blipFill>
        <p:spPr>
          <a:xfrm>
            <a:off x="548640" y="1417320"/>
            <a:ext cx="8229600" cy="3960243"/>
          </a:xfrm>
          <a:prstGeom prst="rect">
            <a:avLst/>
          </a:prstGeom>
        </p:spPr>
      </p:pic>
      <p:sp>
        <p:nvSpPr>
          <p:cNvPr id="5" name="Shape 2"/>
          <p:cNvSpPr/>
          <p:nvPr/>
        </p:nvSpPr>
        <p:spPr>
          <a:xfrm>
            <a:off x="548640" y="5560443"/>
            <a:ext cx="292608" cy="201168"/>
          </a:xfrm>
          <a:prstGeom prst="rect">
            <a:avLst/>
          </a:prstGeom>
          <a:solidFill>
            <a:srgbClr val="15171B"/>
          </a:solidFill>
          <a:ln w="25400">
            <a:solidFill>
              <a:srgbClr val="F2A900"/>
            </a:solidFill>
            <a:prstDash val="solid"/>
          </a:ln>
        </p:spPr>
      </p:sp>
      <p:sp>
        <p:nvSpPr>
          <p:cNvPr id="6" name="Text 3"/>
          <p:cNvSpPr txBox="1"/>
          <p:nvPr/>
        </p:nvSpPr>
        <p:spPr>
          <a:xfrm>
            <a:off x="932688" y="5514723"/>
            <a:ext cx="1348740" cy="292608"/>
          </a:xfrm>
          <a:prstGeom prst="rect">
            <a:avLst/>
          </a:prstGeom>
          <a:noFill/>
          <a:ln/>
        </p:spPr>
        <p:txBody>
          <a:bodyPr wrap="none" lIns="0" tIns="0" rIns="0" bIns="0" rtlCol="0" anchor="ctr"/>
          <a:lstStyle/>
          <a:p>
            <a:pPr indent="0" marL="0">
              <a:buNone/>
            </a:pPr>
            <a:r>
              <a:rPr lang="en-US" sz="1200" dirty="0">
                <a:solidFill>
                  <a:srgbClr val="A3A8B0"/>
                </a:solidFill>
                <a:latin typeface="Arial" pitchFamily="34" charset="0"/>
                <a:ea typeface="Arial" pitchFamily="34" charset="-122"/>
                <a:cs typeface="Arial" pitchFamily="34" charset="-120"/>
              </a:rPr>
              <a:t>Người thật (GT)</a:t>
            </a:r>
            <a:endParaRPr lang="en-US" sz="1200" dirty="0"/>
          </a:p>
        </p:txBody>
      </p:sp>
      <p:sp>
        <p:nvSpPr>
          <p:cNvPr id="7" name="Shape 4"/>
          <p:cNvSpPr/>
          <p:nvPr/>
        </p:nvSpPr>
        <p:spPr>
          <a:xfrm>
            <a:off x="2555748" y="5560443"/>
            <a:ext cx="292608" cy="201168"/>
          </a:xfrm>
          <a:prstGeom prst="rect">
            <a:avLst/>
          </a:prstGeom>
          <a:solidFill>
            <a:srgbClr val="15171B"/>
          </a:solidFill>
          <a:ln w="25400">
            <a:solidFill>
              <a:srgbClr val="E86BB0"/>
            </a:solidFill>
            <a:prstDash val="solid"/>
          </a:ln>
        </p:spPr>
      </p:sp>
      <p:sp>
        <p:nvSpPr>
          <p:cNvPr id="8" name="Text 5"/>
          <p:cNvSpPr txBox="1"/>
          <p:nvPr/>
        </p:nvSpPr>
        <p:spPr>
          <a:xfrm>
            <a:off x="2939796" y="5514723"/>
            <a:ext cx="1115568" cy="292608"/>
          </a:xfrm>
          <a:prstGeom prst="rect">
            <a:avLst/>
          </a:prstGeom>
          <a:noFill/>
          <a:ln/>
        </p:spPr>
        <p:txBody>
          <a:bodyPr wrap="none" lIns="0" tIns="0" rIns="0" bIns="0" rtlCol="0" anchor="ctr"/>
          <a:lstStyle/>
          <a:p>
            <a:pPr indent="0" marL="0">
              <a:buNone/>
            </a:pPr>
            <a:r>
              <a:rPr lang="en-US" sz="1200" dirty="0">
                <a:solidFill>
                  <a:srgbClr val="A3A8B0"/>
                </a:solidFill>
                <a:latin typeface="Arial" pitchFamily="34" charset="0"/>
                <a:ea typeface="Arial" pitchFamily="34" charset="-122"/>
                <a:cs typeface="Arial" pitchFamily="34" charset="-120"/>
              </a:rPr>
              <a:t>Người bị sót</a:t>
            </a:r>
            <a:endParaRPr lang="en-US" sz="1200" dirty="0"/>
          </a:p>
        </p:txBody>
      </p:sp>
      <p:sp>
        <p:nvSpPr>
          <p:cNvPr id="9" name="Shape 6"/>
          <p:cNvSpPr/>
          <p:nvPr/>
        </p:nvSpPr>
        <p:spPr>
          <a:xfrm>
            <a:off x="4329684" y="5560443"/>
            <a:ext cx="292608" cy="201168"/>
          </a:xfrm>
          <a:prstGeom prst="rect">
            <a:avLst/>
          </a:prstGeom>
          <a:solidFill>
            <a:srgbClr val="15171B"/>
          </a:solidFill>
          <a:ln w="25400">
            <a:solidFill>
              <a:srgbClr val="E66767"/>
            </a:solidFill>
            <a:prstDash val="solid"/>
          </a:ln>
        </p:spPr>
      </p:sp>
      <p:sp>
        <p:nvSpPr>
          <p:cNvPr id="10" name="Text 7"/>
          <p:cNvSpPr txBox="1"/>
          <p:nvPr/>
        </p:nvSpPr>
        <p:spPr>
          <a:xfrm>
            <a:off x="4713732" y="5514723"/>
            <a:ext cx="1037844" cy="292608"/>
          </a:xfrm>
          <a:prstGeom prst="rect">
            <a:avLst/>
          </a:prstGeom>
          <a:noFill/>
          <a:ln/>
        </p:spPr>
        <p:txBody>
          <a:bodyPr wrap="none" lIns="0" tIns="0" rIns="0" bIns="0" rtlCol="0" anchor="ctr"/>
          <a:lstStyle/>
          <a:p>
            <a:pPr indent="0" marL="0">
              <a:buNone/>
            </a:pPr>
            <a:r>
              <a:rPr lang="en-US" sz="1200" dirty="0">
                <a:solidFill>
                  <a:srgbClr val="A3A8B0"/>
                </a:solidFill>
                <a:latin typeface="Arial" pitchFamily="34" charset="0"/>
                <a:ea typeface="Arial" pitchFamily="34" charset="-122"/>
                <a:cs typeface="Arial" pitchFamily="34" charset="-120"/>
              </a:rPr>
              <a:t>Box sai chỗ</a:t>
            </a:r>
            <a:endParaRPr lang="en-US" sz="1200" dirty="0"/>
          </a:p>
        </p:txBody>
      </p:sp>
      <p:sp>
        <p:nvSpPr>
          <p:cNvPr id="11" name="Shape 8"/>
          <p:cNvSpPr/>
          <p:nvPr/>
        </p:nvSpPr>
        <p:spPr>
          <a:xfrm>
            <a:off x="9052560" y="1508760"/>
            <a:ext cx="2587752" cy="1920240"/>
          </a:xfrm>
          <a:prstGeom prst="roundRect">
            <a:avLst>
              <a:gd name="adj" fmla="val 5714"/>
            </a:avLst>
          </a:prstGeom>
          <a:solidFill>
            <a:srgbClr val="22252B"/>
          </a:solidFill>
          <a:ln w="12700">
            <a:solidFill>
              <a:srgbClr val="22252B"/>
            </a:solidFill>
            <a:prstDash val="solid"/>
          </a:ln>
        </p:spPr>
      </p:sp>
      <p:sp>
        <p:nvSpPr>
          <p:cNvPr id="12" name="Text 9"/>
          <p:cNvSpPr txBox="1"/>
          <p:nvPr/>
        </p:nvSpPr>
        <p:spPr>
          <a:xfrm>
            <a:off x="9235440" y="1600200"/>
            <a:ext cx="228600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Table III · Rcv@.5</a:t>
            </a:r>
            <a:endParaRPr lang="en-US" sz="1200" dirty="0"/>
          </a:p>
        </p:txBody>
      </p:sp>
      <p:sp>
        <p:nvSpPr>
          <p:cNvPr id="13" name="Text 10"/>
          <p:cNvSpPr txBox="1"/>
          <p:nvPr/>
        </p:nvSpPr>
        <p:spPr>
          <a:xfrm>
            <a:off x="9235440" y="1874520"/>
            <a:ext cx="2286000" cy="822960"/>
          </a:xfrm>
          <a:prstGeom prst="rect">
            <a:avLst/>
          </a:prstGeom>
          <a:noFill/>
          <a:ln/>
        </p:spPr>
        <p:txBody>
          <a:bodyPr wrap="square" lIns="0" tIns="0" rIns="0" bIns="0" rtlCol="0" anchor="t"/>
          <a:lstStyle/>
          <a:p>
            <a:pPr indent="0" marL="0">
              <a:buNone/>
            </a:pPr>
            <a:r>
              <a:rPr lang="en-US" sz="4800" b="1" dirty="0">
                <a:solidFill>
                  <a:srgbClr val="19A35F"/>
                </a:solidFill>
                <a:latin typeface="Arial" pitchFamily="34" charset="0"/>
                <a:ea typeface="Arial" pitchFamily="34" charset="-122"/>
                <a:cs typeface="Arial" pitchFamily="34" charset="-120"/>
              </a:rPr>
              <a:t>+5.6</a:t>
            </a:r>
            <a:endParaRPr lang="en-US" sz="4800" dirty="0"/>
          </a:p>
        </p:txBody>
      </p:sp>
      <p:sp>
        <p:nvSpPr>
          <p:cNvPr id="14" name="Text 11"/>
          <p:cNvSpPr txBox="1"/>
          <p:nvPr/>
        </p:nvSpPr>
        <p:spPr>
          <a:xfrm>
            <a:off x="9235440" y="2743200"/>
            <a:ext cx="2286000" cy="457200"/>
          </a:xfrm>
          <a:prstGeom prst="rect">
            <a:avLst/>
          </a:prstGeom>
          <a:noFill/>
          <a:ln/>
        </p:spPr>
        <p:txBody>
          <a:bodyPr wrap="square" lIns="0" tIns="0" rIns="0" bIns="0" rtlCol="0" anchor="t"/>
          <a:lstStyle/>
          <a:p>
            <a:pPr indent="0" marL="0">
              <a:buNone/>
            </a:pPr>
            <a:r>
              <a:rPr lang="en-US" sz="2000" b="1" dirty="0">
                <a:solidFill>
                  <a:srgbClr val="F2F2F2"/>
                </a:solidFill>
                <a:latin typeface="Arial" pitchFamily="34" charset="0"/>
                <a:ea typeface="Arial" pitchFamily="34" charset="-122"/>
                <a:cs typeface="Arial" pitchFamily="34" charset="-120"/>
              </a:rPr>
              <a:t>76.6 → 82.2</a:t>
            </a:r>
            <a:endParaRPr lang="en-US" sz="2000" dirty="0"/>
          </a:p>
        </p:txBody>
      </p:sp>
      <p:sp>
        <p:nvSpPr>
          <p:cNvPr id="15" name="Shape 12"/>
          <p:cNvSpPr/>
          <p:nvPr/>
        </p:nvSpPr>
        <p:spPr>
          <a:xfrm>
            <a:off x="9052560" y="3611880"/>
            <a:ext cx="2587752" cy="1828800"/>
          </a:xfrm>
          <a:prstGeom prst="roundRect">
            <a:avLst>
              <a:gd name="adj" fmla="val 6000"/>
            </a:avLst>
          </a:prstGeom>
          <a:solidFill>
            <a:srgbClr val="2B2F36"/>
          </a:solidFill>
          <a:ln w="12700">
            <a:solidFill>
              <a:srgbClr val="2B2F36"/>
            </a:solidFill>
            <a:prstDash val="solid"/>
          </a:ln>
        </p:spPr>
      </p:sp>
      <p:sp>
        <p:nvSpPr>
          <p:cNvPr id="16" name="Text 13"/>
          <p:cNvSpPr txBox="1"/>
          <p:nvPr/>
        </p:nvSpPr>
        <p:spPr>
          <a:xfrm>
            <a:off x="9235440" y="3657600"/>
            <a:ext cx="2286000" cy="1737360"/>
          </a:xfrm>
          <a:prstGeom prst="rect">
            <a:avLst/>
          </a:prstGeom>
          <a:noFill/>
          <a:ln/>
        </p:spPr>
        <p:txBody>
          <a:bodyPr wrap="square" lIns="0" tIns="0" rIns="0" bIns="0" rtlCol="0" anchor="ctr"/>
          <a:lstStyle/>
          <a:p>
            <a:pPr indent="0" marL="0">
              <a:buNone/>
            </a:pPr>
            <a:r>
              <a:rPr lang="en-US" sz="1600" b="1" dirty="0">
                <a:solidFill>
                  <a:srgbClr val="F2A900"/>
                </a:solidFill>
                <a:latin typeface="Arial" pitchFamily="34" charset="0"/>
                <a:ea typeface="Arial" pitchFamily="34" charset="-122"/>
                <a:cs typeface="Arial" pitchFamily="34" charset="-120"/>
              </a:rPr>
              <a:t>~2 dòng code</a:t>
            </a:r>
            <a:endParaRPr lang="en-US" sz="1600" dirty="0"/>
          </a:p>
          <a:p>
            <a:pPr indent="0" marL="0">
              <a:buNone/>
            </a:pPr>
            <a:r>
              <a:rPr lang="en-US" sz="1300" dirty="0">
                <a:solidFill>
                  <a:srgbClr val="F2F2F2"/>
                </a:solidFill>
                <a:latin typeface="Consolas" pitchFamily="34" charset="0"/>
                <a:ea typeface="Consolas" pitchFamily="34" charset="-122"/>
                <a:cs typeface="Consolas" pitchFamily="34" charset="-120"/>
              </a:rPr>
              <a:t>vận tốc diện tích = 0 khi coast</a:t>
            </a:r>
            <a:endParaRPr lang="en-US" sz="1600" dirty="0"/>
          </a:p>
        </p:txBody>
      </p:sp>
      <p:sp>
        <p:nvSpPr>
          <p:cNvPr id="17" name="Text 14"/>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800" b="1" dirty="0">
                <a:solidFill>
                  <a:srgbClr val="F2F2F2"/>
                </a:solidFill>
                <a:latin typeface="Arial" pitchFamily="34" charset="0"/>
                <a:ea typeface="Arial" pitchFamily="34" charset="-122"/>
                <a:cs typeface="Arial" pitchFamily="34" charset="-120"/>
              </a:rPr>
              <a:t>PEG: box nhỏ dần rồi mất người · PEG+: giữ nguyên kích thước.</a:t>
            </a:r>
            <a:endParaRPr lang="en-US" sz="1800" dirty="0"/>
          </a:p>
        </p:txBody>
      </p:sp>
      <p:sp>
        <p:nvSpPr>
          <p:cNvPr id="18" name="Shape 15"/>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19" name="Text 16"/>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20" name="Text 1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KẾT HỢP</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2600" b="1" dirty="0">
                <a:solidFill>
                  <a:srgbClr val="F2F2F2"/>
                </a:solidFill>
                <a:latin typeface="Arial" pitchFamily="34" charset="0"/>
                <a:ea typeface="Arial" pitchFamily="34" charset="-122"/>
                <a:cs typeface="Arial" pitchFamily="34" charset="-120"/>
              </a:rPr>
              <a:t>Ghép PEG-F + PEG+: Table I tốt nhất, nhưng Table II/III tụt</a:t>
            </a:r>
            <a:endParaRPr lang="en-US" sz="2600" dirty="0"/>
          </a:p>
        </p:txBody>
      </p:sp>
      <p:pic>
        <p:nvPicPr>
          <p:cNvPr id="4" name="Image 0" descr="D:\PROJECT\PEG\results\peg_f\figures\main_combo.png">    </p:cNvPr>
          <p:cNvPicPr>
            <a:picLocks noChangeAspect="1"/>
          </p:cNvPicPr>
          <p:nvPr/>
        </p:nvPicPr>
        <p:blipFill>
          <a:blip r:embed="rId1"/>
          <a:stretch>
            <a:fillRect/>
          </a:stretch>
        </p:blipFill>
        <p:spPr>
          <a:xfrm>
            <a:off x="457200" y="1371600"/>
            <a:ext cx="11247120" cy="4182813"/>
          </a:xfrm>
          <a:prstGeom prst="rect">
            <a:avLst/>
          </a:prstGeom>
        </p:spPr>
      </p:pic>
      <p:sp>
        <p:nvSpPr>
          <p:cNvPr id="5" name="Text 2"/>
          <p:cNvSpPr txBox="1"/>
          <p:nvPr/>
        </p:nvSpPr>
        <p:spPr>
          <a:xfrm>
            <a:off x="548640" y="5664141"/>
            <a:ext cx="11091672" cy="685800"/>
          </a:xfrm>
          <a:prstGeom prst="rect">
            <a:avLst/>
          </a:prstGeom>
          <a:noFill/>
          <a:ln/>
        </p:spPr>
        <p:txBody>
          <a:bodyPr wrap="square" lIns="0" tIns="0" rIns="0" bIns="0" rtlCol="0" anchor="t"/>
          <a:lstStyle/>
          <a:p>
            <a:pPr algn="ctr" indent="0" marL="0">
              <a:buNone/>
            </a:pPr>
            <a:r>
              <a:rPr lang="en-US" sz="1800" b="1" dirty="0">
                <a:solidFill>
                  <a:srgbClr val="F2F2F2"/>
                </a:solidFill>
                <a:latin typeface="Arial" pitchFamily="34" charset="0"/>
                <a:ea typeface="Arial" pitchFamily="34" charset="-122"/>
                <a:cs typeface="Arial" pitchFamily="34" charset="-120"/>
              </a:rPr>
              <a:t>Table I: HOTA 70.03, IDF1 86.94 — nhưng Table III Rcv@.5 chỉ 68.4 (PEG+: 82.2)</a:t>
            </a:r>
            <a:endParaRPr lang="en-US" sz="1800" dirty="0"/>
          </a:p>
          <a:p>
            <a:pPr algn="ctr" indent="0" marL="0">
              <a:buNone/>
            </a:pPr>
            <a:r>
              <a:rPr lang="en-US" sz="1300" dirty="0">
                <a:solidFill>
                  <a:srgbClr val="A3A8B0"/>
                </a:solidFill>
                <a:latin typeface="Arial" pitchFamily="34" charset="0"/>
                <a:ea typeface="Arial" pitchFamily="34" charset="-122"/>
                <a:cs typeface="Arial" pitchFamily="34" charset="-120"/>
              </a:rPr>
              <a:t>Phần Table I cao hơn PEG-F gần như chỉ đến từ video 176 (45.7 → 65.5): tình cờ, chưa chắc chắn.</a:t>
            </a:r>
            <a:endParaRPr lang="en-US" sz="1800" dirty="0"/>
          </a:p>
        </p:txBody>
      </p:sp>
      <p:sp>
        <p:nvSpPr>
          <p:cNvPr id="6" name="Shape 3"/>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7" name="Text 4"/>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8" name="Text 5"/>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VÌ SAO TỤT · M1-DAMP</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2600" b="1" dirty="0">
                <a:solidFill>
                  <a:srgbClr val="F2F2F2"/>
                </a:solidFill>
                <a:latin typeface="Arial" pitchFamily="34" charset="0"/>
                <a:ea typeface="Arial" pitchFamily="34" charset="-122"/>
                <a:cs typeface="Arial" pitchFamily="34" charset="-120"/>
              </a:rPr>
              <a:t>Vì sao? M1-damp làm box đứng lại trong khi người vẫn đi</a:t>
            </a:r>
            <a:endParaRPr lang="en-US" sz="2600" dirty="0"/>
          </a:p>
        </p:txBody>
      </p:sp>
      <p:pic>
        <p:nvPicPr>
          <p:cNvPr id="4" name="Image 0" descr="D:\PROJECT\PEG\results\peg_f\figures\damp_episode.png">    </p:cNvPr>
          <p:cNvPicPr>
            <a:picLocks noChangeAspect="1"/>
          </p:cNvPicPr>
          <p:nvPr/>
        </p:nvPicPr>
        <p:blipFill>
          <a:blip r:embed="rId1"/>
          <a:stretch>
            <a:fillRect/>
          </a:stretch>
        </p:blipFill>
        <p:spPr>
          <a:xfrm>
            <a:off x="457200" y="1417320"/>
            <a:ext cx="7488515" cy="4206240"/>
          </a:xfrm>
          <a:prstGeom prst="rect">
            <a:avLst/>
          </a:prstGeom>
        </p:spPr>
      </p:pic>
      <p:sp>
        <p:nvSpPr>
          <p:cNvPr id="5" name="Shape 2"/>
          <p:cNvSpPr/>
          <p:nvPr/>
        </p:nvSpPr>
        <p:spPr>
          <a:xfrm>
            <a:off x="8229600" y="1508760"/>
            <a:ext cx="3410712" cy="1737360"/>
          </a:xfrm>
          <a:prstGeom prst="roundRect">
            <a:avLst>
              <a:gd name="adj" fmla="val 6316"/>
            </a:avLst>
          </a:prstGeom>
          <a:solidFill>
            <a:srgbClr val="22252B"/>
          </a:solidFill>
          <a:ln w="12700">
            <a:solidFill>
              <a:srgbClr val="22252B"/>
            </a:solidFill>
            <a:prstDash val="solid"/>
          </a:ln>
        </p:spPr>
      </p:sp>
      <p:sp>
        <p:nvSpPr>
          <p:cNvPr id="6" name="Text 3"/>
          <p:cNvSpPr txBox="1"/>
          <p:nvPr/>
        </p:nvSpPr>
        <p:spPr>
          <a:xfrm>
            <a:off x="8458200" y="1554480"/>
            <a:ext cx="3044952" cy="1645920"/>
          </a:xfrm>
          <a:prstGeom prst="rect">
            <a:avLst/>
          </a:prstGeom>
          <a:noFill/>
          <a:ln/>
        </p:spPr>
        <p:txBody>
          <a:bodyPr wrap="square" lIns="0" tIns="0" rIns="0" bIns="0" rtlCol="0" anchor="ctr"/>
          <a:lstStyle/>
          <a:p>
            <a:pPr indent="0" marL="0">
              <a:buNone/>
            </a:pPr>
            <a:r>
              <a:rPr lang="en-US" sz="3800" b="1" dirty="0">
                <a:solidFill>
                  <a:srgbClr val="E66767"/>
                </a:solidFill>
                <a:latin typeface="Arial" pitchFamily="34" charset="0"/>
                <a:ea typeface="Arial" pitchFamily="34" charset="-122"/>
                <a:cs typeface="Arial" pitchFamily="34" charset="-120"/>
              </a:rPr>
              <a:t>35 → 15</a:t>
            </a:r>
            <a:endParaRPr lang="en-US" sz="1600" dirty="0"/>
          </a:p>
          <a:p>
            <a:pPr indent="0" marL="0">
              <a:buNone/>
            </a:pPr>
            <a:r>
              <a:rPr lang="en-US" sz="1300" dirty="0">
                <a:solidFill>
                  <a:srgbClr val="A3A8B0"/>
                </a:solidFill>
                <a:latin typeface="Arial" pitchFamily="34" charset="0"/>
                <a:ea typeface="Arial" pitchFamily="34" charset="-122"/>
                <a:cs typeface="Arial" pitchFamily="34" charset="-120"/>
              </a:rPr>
              <a:t>frame bị chói mà box còn trùng người, video 183_62q (35 frame chói)</a:t>
            </a:r>
            <a:endParaRPr lang="en-US" sz="1600" dirty="0"/>
          </a:p>
        </p:txBody>
      </p:sp>
      <p:sp>
        <p:nvSpPr>
          <p:cNvPr id="7" name="Shape 4"/>
          <p:cNvSpPr/>
          <p:nvPr/>
        </p:nvSpPr>
        <p:spPr>
          <a:xfrm>
            <a:off x="8229600" y="3383280"/>
            <a:ext cx="3410712" cy="1737360"/>
          </a:xfrm>
          <a:prstGeom prst="roundRect">
            <a:avLst>
              <a:gd name="adj" fmla="val 6316"/>
            </a:avLst>
          </a:prstGeom>
          <a:solidFill>
            <a:srgbClr val="22252B"/>
          </a:solidFill>
          <a:ln w="12700">
            <a:solidFill>
              <a:srgbClr val="22252B"/>
            </a:solidFill>
            <a:prstDash val="solid"/>
          </a:ln>
        </p:spPr>
      </p:sp>
      <p:sp>
        <p:nvSpPr>
          <p:cNvPr id="8" name="Text 5"/>
          <p:cNvSpPr txBox="1"/>
          <p:nvPr/>
        </p:nvSpPr>
        <p:spPr>
          <a:xfrm>
            <a:off x="8458200" y="3429000"/>
            <a:ext cx="3044952" cy="1645920"/>
          </a:xfrm>
          <a:prstGeom prst="rect">
            <a:avLst/>
          </a:prstGeom>
          <a:noFill/>
          <a:ln/>
        </p:spPr>
        <p:txBody>
          <a:bodyPr wrap="square" lIns="0" tIns="0" rIns="0" bIns="0" rtlCol="0" anchor="ctr"/>
          <a:lstStyle/>
          <a:p>
            <a:pPr indent="0" marL="0">
              <a:buNone/>
            </a:pPr>
            <a:r>
              <a:rPr lang="en-US" sz="3800" b="1" dirty="0">
                <a:solidFill>
                  <a:srgbClr val="E66767"/>
                </a:solidFill>
                <a:latin typeface="Arial" pitchFamily="34" charset="0"/>
                <a:ea typeface="Arial" pitchFamily="34" charset="-122"/>
                <a:cs typeface="Arial" pitchFamily="34" charset="-120"/>
              </a:rPr>
              <a:t>651 → 564</a:t>
            </a:r>
            <a:endParaRPr lang="en-US" sz="1600" dirty="0"/>
          </a:p>
          <a:p>
            <a:pPr indent="0" marL="0">
              <a:buNone/>
            </a:pPr>
            <a:r>
              <a:rPr lang="en-US" sz="1300" dirty="0">
                <a:solidFill>
                  <a:srgbClr val="A3A8B0"/>
                </a:solidFill>
                <a:latin typeface="Arial" pitchFamily="34" charset="0"/>
                <a:ea typeface="Arial" pitchFamily="34" charset="-122"/>
                <a:cs typeface="Arial" pitchFamily="34" charset="-120"/>
              </a:rPr>
              <a:t>trên cả 30 lần chói: số frame (trên 850) box còn trùng người</a:t>
            </a:r>
            <a:endParaRPr lang="en-US" sz="1600" dirty="0"/>
          </a:p>
        </p:txBody>
      </p:sp>
      <p:sp>
        <p:nvSpPr>
          <p:cNvPr id="9" name="Text 6"/>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900" b="1" dirty="0">
                <a:solidFill>
                  <a:srgbClr val="F2A900"/>
                </a:solidFill>
                <a:latin typeface="Arial" pitchFamily="34" charset="0"/>
                <a:ea typeface="Arial" pitchFamily="34" charset="-122"/>
                <a:cs typeface="Arial" pitchFamily="34" charset="-120"/>
              </a:rPr>
              <a:t>Hai người đứng gần → hãm vận tốc ×0.88 mỗi frame → box người bị chói dừng lại.</a:t>
            </a:r>
            <a:endParaRPr lang="en-US" sz="1900" dirty="0"/>
          </a:p>
        </p:txBody>
      </p:sp>
      <p:sp>
        <p:nvSpPr>
          <p:cNvPr id="10" name="Shape 7"/>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11" name="Text 8"/>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12" name="Text 9"/>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KẾT HỢP CÓ CHỌN LỌC</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Ghép có chọn lọc (chọn trên test): PEG+ + M1-swap + M3</a:t>
            </a:r>
            <a:endParaRPr lang="en-US" sz="3000" dirty="0"/>
          </a:p>
        </p:txBody>
      </p:sp>
      <p:sp>
        <p:nvSpPr>
          <p:cNvPr id="4" name="Text 2"/>
          <p:cNvSpPr txBox="1"/>
          <p:nvPr/>
        </p:nvSpPr>
        <p:spPr>
          <a:xfrm>
            <a:off x="3291840" y="1508760"/>
            <a:ext cx="1600200" cy="365760"/>
          </a:xfrm>
          <a:prstGeom prst="rect">
            <a:avLst/>
          </a:prstGeom>
          <a:noFill/>
          <a:ln/>
        </p:spPr>
        <p:txBody>
          <a:bodyPr wrap="square" lIns="0" tIns="0" rIns="0" bIns="0" rtlCol="0" anchor="t"/>
          <a:lstStyle/>
          <a:p>
            <a:pPr algn="ctr" indent="0" marL="0">
              <a:buNone/>
            </a:pPr>
            <a:r>
              <a:rPr lang="en-US" sz="1400" b="1" dirty="0">
                <a:solidFill>
                  <a:srgbClr val="A3A8B0"/>
                </a:solidFill>
                <a:latin typeface="Arial" pitchFamily="34" charset="0"/>
                <a:ea typeface="Arial" pitchFamily="34" charset="-122"/>
                <a:cs typeface="Arial" pitchFamily="34" charset="-120"/>
              </a:rPr>
              <a:t>T1 HOTA</a:t>
            </a:r>
            <a:endParaRPr lang="en-US" sz="1400" dirty="0"/>
          </a:p>
        </p:txBody>
      </p:sp>
      <p:sp>
        <p:nvSpPr>
          <p:cNvPr id="5" name="Text 3"/>
          <p:cNvSpPr txBox="1"/>
          <p:nvPr/>
        </p:nvSpPr>
        <p:spPr>
          <a:xfrm>
            <a:off x="4892040" y="1508760"/>
            <a:ext cx="1600200" cy="365760"/>
          </a:xfrm>
          <a:prstGeom prst="rect">
            <a:avLst/>
          </a:prstGeom>
          <a:noFill/>
          <a:ln/>
        </p:spPr>
        <p:txBody>
          <a:bodyPr wrap="square" lIns="0" tIns="0" rIns="0" bIns="0" rtlCol="0" anchor="t"/>
          <a:lstStyle/>
          <a:p>
            <a:pPr algn="ctr" indent="0" marL="0">
              <a:buNone/>
            </a:pPr>
            <a:r>
              <a:rPr lang="en-US" sz="1400" b="1" dirty="0">
                <a:solidFill>
                  <a:srgbClr val="A3A8B0"/>
                </a:solidFill>
                <a:latin typeface="Arial" pitchFamily="34" charset="0"/>
                <a:ea typeface="Arial" pitchFamily="34" charset="-122"/>
                <a:cs typeface="Arial" pitchFamily="34" charset="-120"/>
              </a:rPr>
              <a:t>T1 IDF1</a:t>
            </a:r>
            <a:endParaRPr lang="en-US" sz="1400" dirty="0"/>
          </a:p>
        </p:txBody>
      </p:sp>
      <p:sp>
        <p:nvSpPr>
          <p:cNvPr id="6" name="Text 4"/>
          <p:cNvSpPr txBox="1"/>
          <p:nvPr/>
        </p:nvSpPr>
        <p:spPr>
          <a:xfrm>
            <a:off x="6492240" y="1508760"/>
            <a:ext cx="1600200" cy="365760"/>
          </a:xfrm>
          <a:prstGeom prst="rect">
            <a:avLst/>
          </a:prstGeom>
          <a:noFill/>
          <a:ln/>
        </p:spPr>
        <p:txBody>
          <a:bodyPr wrap="square" lIns="0" tIns="0" rIns="0" bIns="0" rtlCol="0" anchor="t"/>
          <a:lstStyle/>
          <a:p>
            <a:pPr algn="ctr" indent="0" marL="0">
              <a:buNone/>
            </a:pPr>
            <a:r>
              <a:rPr lang="en-US" sz="1400" b="1" dirty="0">
                <a:solidFill>
                  <a:srgbClr val="A3A8B0"/>
                </a:solidFill>
                <a:latin typeface="Arial" pitchFamily="34" charset="0"/>
                <a:ea typeface="Arial" pitchFamily="34" charset="-122"/>
                <a:cs typeface="Arial" pitchFamily="34" charset="-120"/>
              </a:rPr>
              <a:t>T1 IDSW</a:t>
            </a:r>
            <a:endParaRPr lang="en-US" sz="1400" dirty="0"/>
          </a:p>
        </p:txBody>
      </p:sp>
      <p:sp>
        <p:nvSpPr>
          <p:cNvPr id="7" name="Text 5"/>
          <p:cNvSpPr txBox="1"/>
          <p:nvPr/>
        </p:nvSpPr>
        <p:spPr>
          <a:xfrm>
            <a:off x="8092440" y="1508760"/>
            <a:ext cx="1600200" cy="365760"/>
          </a:xfrm>
          <a:prstGeom prst="rect">
            <a:avLst/>
          </a:prstGeom>
          <a:noFill/>
          <a:ln/>
        </p:spPr>
        <p:txBody>
          <a:bodyPr wrap="square" lIns="0" tIns="0" rIns="0" bIns="0" rtlCol="0" anchor="t"/>
          <a:lstStyle/>
          <a:p>
            <a:pPr algn="ctr" indent="0" marL="0">
              <a:buNone/>
            </a:pPr>
            <a:r>
              <a:rPr lang="en-US" sz="1400" b="1" dirty="0">
                <a:solidFill>
                  <a:srgbClr val="A3A8B0"/>
                </a:solidFill>
                <a:latin typeface="Arial" pitchFamily="34" charset="0"/>
                <a:ea typeface="Arial" pitchFamily="34" charset="-122"/>
                <a:cs typeface="Arial" pitchFamily="34" charset="-120"/>
              </a:rPr>
              <a:t>T2 MOTA</a:t>
            </a:r>
            <a:endParaRPr lang="en-US" sz="1400" dirty="0"/>
          </a:p>
        </p:txBody>
      </p:sp>
      <p:sp>
        <p:nvSpPr>
          <p:cNvPr id="8" name="Text 6"/>
          <p:cNvSpPr txBox="1"/>
          <p:nvPr/>
        </p:nvSpPr>
        <p:spPr>
          <a:xfrm>
            <a:off x="9692640" y="1508760"/>
            <a:ext cx="1600200" cy="365760"/>
          </a:xfrm>
          <a:prstGeom prst="rect">
            <a:avLst/>
          </a:prstGeom>
          <a:noFill/>
          <a:ln/>
        </p:spPr>
        <p:txBody>
          <a:bodyPr wrap="square" lIns="0" tIns="0" rIns="0" bIns="0" rtlCol="0" anchor="t"/>
          <a:lstStyle/>
          <a:p>
            <a:pPr algn="ctr" indent="0" marL="0">
              <a:buNone/>
            </a:pPr>
            <a:r>
              <a:rPr lang="en-US" sz="1400" b="1" dirty="0">
                <a:solidFill>
                  <a:srgbClr val="A3A8B0"/>
                </a:solidFill>
                <a:latin typeface="Arial" pitchFamily="34" charset="0"/>
                <a:ea typeface="Arial" pitchFamily="34" charset="-122"/>
                <a:cs typeface="Arial" pitchFamily="34" charset="-120"/>
              </a:rPr>
              <a:t>T3 Rcv@.5</a:t>
            </a:r>
            <a:endParaRPr lang="en-US" sz="1400" dirty="0"/>
          </a:p>
        </p:txBody>
      </p:sp>
      <p:sp>
        <p:nvSpPr>
          <p:cNvPr id="9" name="Shape 7"/>
          <p:cNvSpPr/>
          <p:nvPr/>
        </p:nvSpPr>
        <p:spPr>
          <a:xfrm>
            <a:off x="548640" y="1965960"/>
            <a:ext cx="11091672" cy="731520"/>
          </a:xfrm>
          <a:prstGeom prst="roundRect">
            <a:avLst>
              <a:gd name="adj" fmla="val 15000"/>
            </a:avLst>
          </a:prstGeom>
          <a:solidFill>
            <a:srgbClr val="22252B"/>
          </a:solidFill>
          <a:ln w="12700">
            <a:solidFill>
              <a:srgbClr val="22252B"/>
            </a:solidFill>
            <a:prstDash val="solid"/>
          </a:ln>
        </p:spPr>
      </p:sp>
      <p:sp>
        <p:nvSpPr>
          <p:cNvPr id="10" name="Shape 8"/>
          <p:cNvSpPr/>
          <p:nvPr/>
        </p:nvSpPr>
        <p:spPr>
          <a:xfrm>
            <a:off x="548640" y="1965960"/>
            <a:ext cx="91440" cy="731520"/>
          </a:xfrm>
          <a:prstGeom prst="rect">
            <a:avLst/>
          </a:prstGeom>
          <a:solidFill>
            <a:srgbClr val="3987E5"/>
          </a:solidFill>
          <a:ln w="12700">
            <a:solidFill>
              <a:srgbClr val="3987E5"/>
            </a:solidFill>
            <a:prstDash val="solid"/>
          </a:ln>
        </p:spPr>
      </p:sp>
      <p:sp>
        <p:nvSpPr>
          <p:cNvPr id="11" name="Text 9"/>
          <p:cNvSpPr txBox="1"/>
          <p:nvPr/>
        </p:nvSpPr>
        <p:spPr>
          <a:xfrm>
            <a:off x="822960" y="1965960"/>
            <a:ext cx="2468880" cy="731520"/>
          </a:xfrm>
          <a:prstGeom prst="rect">
            <a:avLst/>
          </a:prstGeom>
          <a:noFill/>
          <a:ln/>
        </p:spPr>
        <p:txBody>
          <a:bodyPr wrap="square" lIns="0" tIns="0" rIns="0" bIns="0" rtlCol="0" anchor="ctr"/>
          <a:lstStyle/>
          <a:p>
            <a:pPr indent="0" marL="0">
              <a:buNone/>
            </a:pPr>
            <a:r>
              <a:rPr lang="en-US" sz="1700" b="1" dirty="0">
                <a:solidFill>
                  <a:srgbClr val="3987E5"/>
                </a:solidFill>
                <a:latin typeface="Arial" pitchFamily="34" charset="0"/>
                <a:ea typeface="Arial" pitchFamily="34" charset="-122"/>
                <a:cs typeface="Arial" pitchFamily="34" charset="-120"/>
              </a:rPr>
              <a:t>PEG</a:t>
            </a:r>
            <a:endParaRPr lang="en-US" sz="1700" dirty="0"/>
          </a:p>
        </p:txBody>
      </p:sp>
      <p:sp>
        <p:nvSpPr>
          <p:cNvPr id="12" name="Text 10"/>
          <p:cNvSpPr txBox="1"/>
          <p:nvPr/>
        </p:nvSpPr>
        <p:spPr>
          <a:xfrm>
            <a:off x="3291840" y="196596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68.19</a:t>
            </a:r>
            <a:endParaRPr lang="en-US" sz="2400" dirty="0"/>
          </a:p>
        </p:txBody>
      </p:sp>
      <p:sp>
        <p:nvSpPr>
          <p:cNvPr id="13" name="Text 11"/>
          <p:cNvSpPr txBox="1"/>
          <p:nvPr/>
        </p:nvSpPr>
        <p:spPr>
          <a:xfrm>
            <a:off x="4892040" y="196596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82.30</a:t>
            </a:r>
            <a:endParaRPr lang="en-US" sz="2400" dirty="0"/>
          </a:p>
        </p:txBody>
      </p:sp>
      <p:sp>
        <p:nvSpPr>
          <p:cNvPr id="14" name="Text 12"/>
          <p:cNvSpPr txBox="1"/>
          <p:nvPr/>
        </p:nvSpPr>
        <p:spPr>
          <a:xfrm>
            <a:off x="6492240" y="196596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17</a:t>
            </a:r>
            <a:endParaRPr lang="en-US" sz="2400" dirty="0"/>
          </a:p>
        </p:txBody>
      </p:sp>
      <p:sp>
        <p:nvSpPr>
          <p:cNvPr id="15" name="Text 13"/>
          <p:cNvSpPr txBox="1"/>
          <p:nvPr/>
        </p:nvSpPr>
        <p:spPr>
          <a:xfrm>
            <a:off x="8092440" y="196596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73.26</a:t>
            </a:r>
            <a:endParaRPr lang="en-US" sz="2400" dirty="0"/>
          </a:p>
        </p:txBody>
      </p:sp>
      <p:sp>
        <p:nvSpPr>
          <p:cNvPr id="16" name="Text 14"/>
          <p:cNvSpPr txBox="1"/>
          <p:nvPr/>
        </p:nvSpPr>
        <p:spPr>
          <a:xfrm>
            <a:off x="9692640" y="196596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76.6</a:t>
            </a:r>
            <a:endParaRPr lang="en-US" sz="2400" dirty="0"/>
          </a:p>
        </p:txBody>
      </p:sp>
      <p:sp>
        <p:nvSpPr>
          <p:cNvPr id="17" name="Shape 15"/>
          <p:cNvSpPr/>
          <p:nvPr/>
        </p:nvSpPr>
        <p:spPr>
          <a:xfrm>
            <a:off x="548640" y="2788920"/>
            <a:ext cx="11091672" cy="731520"/>
          </a:xfrm>
          <a:prstGeom prst="roundRect">
            <a:avLst>
              <a:gd name="adj" fmla="val 15000"/>
            </a:avLst>
          </a:prstGeom>
          <a:solidFill>
            <a:srgbClr val="22252B"/>
          </a:solidFill>
          <a:ln w="12700">
            <a:solidFill>
              <a:srgbClr val="22252B"/>
            </a:solidFill>
            <a:prstDash val="solid"/>
          </a:ln>
        </p:spPr>
      </p:sp>
      <p:sp>
        <p:nvSpPr>
          <p:cNvPr id="18" name="Shape 16"/>
          <p:cNvSpPr/>
          <p:nvPr/>
        </p:nvSpPr>
        <p:spPr>
          <a:xfrm>
            <a:off x="548640" y="2788920"/>
            <a:ext cx="91440" cy="731520"/>
          </a:xfrm>
          <a:prstGeom prst="rect">
            <a:avLst/>
          </a:prstGeom>
          <a:solidFill>
            <a:srgbClr val="19A35F"/>
          </a:solidFill>
          <a:ln w="12700">
            <a:solidFill>
              <a:srgbClr val="19A35F"/>
            </a:solidFill>
            <a:prstDash val="solid"/>
          </a:ln>
        </p:spPr>
      </p:sp>
      <p:sp>
        <p:nvSpPr>
          <p:cNvPr id="19" name="Text 17"/>
          <p:cNvSpPr txBox="1"/>
          <p:nvPr/>
        </p:nvSpPr>
        <p:spPr>
          <a:xfrm>
            <a:off x="822960" y="2788920"/>
            <a:ext cx="2468880" cy="731520"/>
          </a:xfrm>
          <a:prstGeom prst="rect">
            <a:avLst/>
          </a:prstGeom>
          <a:noFill/>
          <a:ln/>
        </p:spPr>
        <p:txBody>
          <a:bodyPr wrap="square" lIns="0" tIns="0" rIns="0" bIns="0" rtlCol="0" anchor="ctr"/>
          <a:lstStyle/>
          <a:p>
            <a:pPr indent="0" marL="0">
              <a:buNone/>
            </a:pPr>
            <a:r>
              <a:rPr lang="en-US" sz="1700" b="1" dirty="0">
                <a:solidFill>
                  <a:srgbClr val="19A35F"/>
                </a:solidFill>
                <a:latin typeface="Arial" pitchFamily="34" charset="0"/>
                <a:ea typeface="Arial" pitchFamily="34" charset="-122"/>
                <a:cs typeface="Arial" pitchFamily="34" charset="-120"/>
              </a:rPr>
              <a:t>PEG+</a:t>
            </a:r>
            <a:endParaRPr lang="en-US" sz="1700" dirty="0"/>
          </a:p>
        </p:txBody>
      </p:sp>
      <p:sp>
        <p:nvSpPr>
          <p:cNvPr id="20" name="Text 18"/>
          <p:cNvSpPr txBox="1"/>
          <p:nvPr/>
        </p:nvSpPr>
        <p:spPr>
          <a:xfrm>
            <a:off x="3291840" y="278892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68.23</a:t>
            </a:r>
            <a:endParaRPr lang="en-US" sz="2400" dirty="0"/>
          </a:p>
        </p:txBody>
      </p:sp>
      <p:sp>
        <p:nvSpPr>
          <p:cNvPr id="21" name="Text 19"/>
          <p:cNvSpPr txBox="1"/>
          <p:nvPr/>
        </p:nvSpPr>
        <p:spPr>
          <a:xfrm>
            <a:off x="4892040" y="278892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82.24</a:t>
            </a:r>
            <a:endParaRPr lang="en-US" sz="2400" dirty="0"/>
          </a:p>
        </p:txBody>
      </p:sp>
      <p:sp>
        <p:nvSpPr>
          <p:cNvPr id="22" name="Text 20"/>
          <p:cNvSpPr txBox="1"/>
          <p:nvPr/>
        </p:nvSpPr>
        <p:spPr>
          <a:xfrm>
            <a:off x="6492240" y="278892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17</a:t>
            </a:r>
            <a:endParaRPr lang="en-US" sz="2400" dirty="0"/>
          </a:p>
        </p:txBody>
      </p:sp>
      <p:sp>
        <p:nvSpPr>
          <p:cNvPr id="23" name="Text 21"/>
          <p:cNvSpPr txBox="1"/>
          <p:nvPr/>
        </p:nvSpPr>
        <p:spPr>
          <a:xfrm>
            <a:off x="8092440" y="278892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73.37</a:t>
            </a:r>
            <a:endParaRPr lang="en-US" sz="2400" dirty="0"/>
          </a:p>
        </p:txBody>
      </p:sp>
      <p:sp>
        <p:nvSpPr>
          <p:cNvPr id="24" name="Text 22"/>
          <p:cNvSpPr txBox="1"/>
          <p:nvPr/>
        </p:nvSpPr>
        <p:spPr>
          <a:xfrm>
            <a:off x="9692640" y="2788920"/>
            <a:ext cx="1600200"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82.2</a:t>
            </a:r>
            <a:endParaRPr lang="en-US" sz="2400" dirty="0"/>
          </a:p>
        </p:txBody>
      </p:sp>
      <p:sp>
        <p:nvSpPr>
          <p:cNvPr id="25" name="Shape 23"/>
          <p:cNvSpPr/>
          <p:nvPr/>
        </p:nvSpPr>
        <p:spPr>
          <a:xfrm>
            <a:off x="548640" y="3611880"/>
            <a:ext cx="11091672" cy="731520"/>
          </a:xfrm>
          <a:prstGeom prst="roundRect">
            <a:avLst>
              <a:gd name="adj" fmla="val 15000"/>
            </a:avLst>
          </a:prstGeom>
          <a:solidFill>
            <a:srgbClr val="2B2F36"/>
          </a:solidFill>
          <a:ln w="12700">
            <a:solidFill>
              <a:srgbClr val="2B2F36"/>
            </a:solidFill>
            <a:prstDash val="solid"/>
          </a:ln>
        </p:spPr>
      </p:sp>
      <p:sp>
        <p:nvSpPr>
          <p:cNvPr id="26" name="Shape 24"/>
          <p:cNvSpPr/>
          <p:nvPr/>
        </p:nvSpPr>
        <p:spPr>
          <a:xfrm>
            <a:off x="548640" y="3611880"/>
            <a:ext cx="91440" cy="731520"/>
          </a:xfrm>
          <a:prstGeom prst="rect">
            <a:avLst/>
          </a:prstGeom>
          <a:solidFill>
            <a:srgbClr val="1B9AA6"/>
          </a:solidFill>
          <a:ln w="12700">
            <a:solidFill>
              <a:srgbClr val="1B9AA6"/>
            </a:solidFill>
            <a:prstDash val="solid"/>
          </a:ln>
        </p:spPr>
      </p:sp>
      <p:sp>
        <p:nvSpPr>
          <p:cNvPr id="27" name="Text 25"/>
          <p:cNvSpPr txBox="1"/>
          <p:nvPr/>
        </p:nvSpPr>
        <p:spPr>
          <a:xfrm>
            <a:off x="822960" y="3611880"/>
            <a:ext cx="2468880" cy="731520"/>
          </a:xfrm>
          <a:prstGeom prst="rect">
            <a:avLst/>
          </a:prstGeom>
          <a:noFill/>
          <a:ln/>
        </p:spPr>
        <p:txBody>
          <a:bodyPr wrap="square" lIns="0" tIns="0" rIns="0" bIns="0" rtlCol="0" anchor="ctr"/>
          <a:lstStyle/>
          <a:p>
            <a:pPr indent="0" marL="0">
              <a:buNone/>
            </a:pPr>
            <a:r>
              <a:rPr lang="en-US" sz="1400" b="1" dirty="0">
                <a:solidFill>
                  <a:srgbClr val="1B9AA6"/>
                </a:solidFill>
                <a:latin typeface="Arial" pitchFamily="34" charset="0"/>
                <a:ea typeface="Arial" pitchFamily="34" charset="-122"/>
                <a:cs typeface="Arial" pitchFamily="34" charset="-120"/>
              </a:rPr>
              <a:t>PEG+ + M1-swap + M3</a:t>
            </a:r>
            <a:endParaRPr lang="en-US" sz="1400" dirty="0"/>
          </a:p>
        </p:txBody>
      </p:sp>
      <p:sp>
        <p:nvSpPr>
          <p:cNvPr id="28" name="Text 26"/>
          <p:cNvSpPr txBox="1"/>
          <p:nvPr/>
        </p:nvSpPr>
        <p:spPr>
          <a:xfrm>
            <a:off x="3291840" y="3611880"/>
            <a:ext cx="1600200" cy="731520"/>
          </a:xfrm>
          <a:prstGeom prst="rect">
            <a:avLst/>
          </a:prstGeom>
          <a:noFill/>
          <a:ln/>
        </p:spPr>
        <p:txBody>
          <a:bodyPr wrap="square" lIns="0" tIns="0" rIns="0" bIns="0" rtlCol="0" anchor="ctr"/>
          <a:lstStyle/>
          <a:p>
            <a:pPr algn="ctr" indent="0" marL="0">
              <a:buNone/>
            </a:pPr>
            <a:r>
              <a:rPr lang="en-US" sz="2400" b="1" dirty="0">
                <a:solidFill>
                  <a:srgbClr val="19A35F"/>
                </a:solidFill>
                <a:latin typeface="Arial" pitchFamily="34" charset="0"/>
                <a:ea typeface="Arial" pitchFamily="34" charset="-122"/>
                <a:cs typeface="Arial" pitchFamily="34" charset="-120"/>
              </a:rPr>
              <a:t>68.81</a:t>
            </a:r>
            <a:endParaRPr lang="en-US" sz="2400" dirty="0"/>
          </a:p>
        </p:txBody>
      </p:sp>
      <p:sp>
        <p:nvSpPr>
          <p:cNvPr id="29" name="Text 27"/>
          <p:cNvSpPr txBox="1"/>
          <p:nvPr/>
        </p:nvSpPr>
        <p:spPr>
          <a:xfrm>
            <a:off x="4892040" y="3611880"/>
            <a:ext cx="1600200" cy="731520"/>
          </a:xfrm>
          <a:prstGeom prst="rect">
            <a:avLst/>
          </a:prstGeom>
          <a:noFill/>
          <a:ln/>
        </p:spPr>
        <p:txBody>
          <a:bodyPr wrap="square" lIns="0" tIns="0" rIns="0" bIns="0" rtlCol="0" anchor="ctr"/>
          <a:lstStyle/>
          <a:p>
            <a:pPr algn="ctr" indent="0" marL="0">
              <a:buNone/>
            </a:pPr>
            <a:r>
              <a:rPr lang="en-US" sz="2400" b="1" dirty="0">
                <a:solidFill>
                  <a:srgbClr val="19A35F"/>
                </a:solidFill>
                <a:latin typeface="Arial" pitchFamily="34" charset="0"/>
                <a:ea typeface="Arial" pitchFamily="34" charset="-122"/>
                <a:cs typeface="Arial" pitchFamily="34" charset="-120"/>
              </a:rPr>
              <a:t>84.56</a:t>
            </a:r>
            <a:endParaRPr lang="en-US" sz="2400" dirty="0"/>
          </a:p>
        </p:txBody>
      </p:sp>
      <p:sp>
        <p:nvSpPr>
          <p:cNvPr id="30" name="Text 28"/>
          <p:cNvSpPr txBox="1"/>
          <p:nvPr/>
        </p:nvSpPr>
        <p:spPr>
          <a:xfrm>
            <a:off x="6492240" y="3611880"/>
            <a:ext cx="1600200" cy="731520"/>
          </a:xfrm>
          <a:prstGeom prst="rect">
            <a:avLst/>
          </a:prstGeom>
          <a:noFill/>
          <a:ln/>
        </p:spPr>
        <p:txBody>
          <a:bodyPr wrap="square" lIns="0" tIns="0" rIns="0" bIns="0" rtlCol="0" anchor="ctr"/>
          <a:lstStyle/>
          <a:p>
            <a:pPr algn="ctr" indent="0" marL="0">
              <a:buNone/>
            </a:pPr>
            <a:r>
              <a:rPr lang="en-US" sz="2400" b="1" dirty="0">
                <a:solidFill>
                  <a:srgbClr val="E66767"/>
                </a:solidFill>
                <a:latin typeface="Arial" pitchFamily="34" charset="0"/>
                <a:ea typeface="Arial" pitchFamily="34" charset="-122"/>
                <a:cs typeface="Arial" pitchFamily="34" charset="-120"/>
              </a:rPr>
              <a:t>36</a:t>
            </a:r>
            <a:endParaRPr lang="en-US" sz="2400" dirty="0"/>
          </a:p>
        </p:txBody>
      </p:sp>
      <p:sp>
        <p:nvSpPr>
          <p:cNvPr id="31" name="Text 29"/>
          <p:cNvSpPr txBox="1"/>
          <p:nvPr/>
        </p:nvSpPr>
        <p:spPr>
          <a:xfrm>
            <a:off x="8092440" y="3611880"/>
            <a:ext cx="1600200" cy="731520"/>
          </a:xfrm>
          <a:prstGeom prst="rect">
            <a:avLst/>
          </a:prstGeom>
          <a:noFill/>
          <a:ln/>
        </p:spPr>
        <p:txBody>
          <a:bodyPr wrap="square" lIns="0" tIns="0" rIns="0" bIns="0" rtlCol="0" anchor="ctr"/>
          <a:lstStyle/>
          <a:p>
            <a:pPr algn="ctr" indent="0" marL="0">
              <a:buNone/>
            </a:pPr>
            <a:r>
              <a:rPr lang="en-US" sz="2400" b="1" dirty="0">
                <a:solidFill>
                  <a:srgbClr val="19A35F"/>
                </a:solidFill>
                <a:latin typeface="Arial" pitchFamily="34" charset="0"/>
                <a:ea typeface="Arial" pitchFamily="34" charset="-122"/>
                <a:cs typeface="Arial" pitchFamily="34" charset="-120"/>
              </a:rPr>
              <a:t>73.90</a:t>
            </a:r>
            <a:endParaRPr lang="en-US" sz="2400" dirty="0"/>
          </a:p>
        </p:txBody>
      </p:sp>
      <p:sp>
        <p:nvSpPr>
          <p:cNvPr id="32" name="Text 30"/>
          <p:cNvSpPr txBox="1"/>
          <p:nvPr/>
        </p:nvSpPr>
        <p:spPr>
          <a:xfrm>
            <a:off x="9692640" y="3611880"/>
            <a:ext cx="1600200" cy="731520"/>
          </a:xfrm>
          <a:prstGeom prst="rect">
            <a:avLst/>
          </a:prstGeom>
          <a:noFill/>
          <a:ln/>
        </p:spPr>
        <p:txBody>
          <a:bodyPr wrap="square" lIns="0" tIns="0" rIns="0" bIns="0" rtlCol="0" anchor="ctr"/>
          <a:lstStyle/>
          <a:p>
            <a:pPr algn="ctr" indent="0" marL="0">
              <a:buNone/>
            </a:pPr>
            <a:r>
              <a:rPr lang="en-US" sz="2400" b="1" dirty="0">
                <a:solidFill>
                  <a:srgbClr val="19A35F"/>
                </a:solidFill>
                <a:latin typeface="Arial" pitchFamily="34" charset="0"/>
                <a:ea typeface="Arial" pitchFamily="34" charset="-122"/>
                <a:cs typeface="Arial" pitchFamily="34" charset="-120"/>
              </a:rPr>
              <a:t>82.2</a:t>
            </a:r>
            <a:endParaRPr lang="en-US" sz="2400" dirty="0"/>
          </a:p>
        </p:txBody>
      </p:sp>
      <p:sp>
        <p:nvSpPr>
          <p:cNvPr id="33" name="Text 31"/>
          <p:cNvSpPr txBox="1"/>
          <p:nvPr/>
        </p:nvSpPr>
        <p:spPr>
          <a:xfrm>
            <a:off x="548640" y="4480560"/>
            <a:ext cx="1097280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Hàng dưới: xanh = tốt hơn PEG, đỏ = xấu hơn PEG (IDSW: ít hơn là tốt).</a:t>
            </a:r>
            <a:endParaRPr lang="en-US" sz="1200" dirty="0"/>
          </a:p>
        </p:txBody>
      </p:sp>
      <p:sp>
        <p:nvSpPr>
          <p:cNvPr id="34" name="Shape 32"/>
          <p:cNvSpPr/>
          <p:nvPr/>
        </p:nvSpPr>
        <p:spPr>
          <a:xfrm>
            <a:off x="548640" y="4800600"/>
            <a:ext cx="5440680" cy="1371600"/>
          </a:xfrm>
          <a:prstGeom prst="roundRect">
            <a:avLst>
              <a:gd name="adj" fmla="val 8000"/>
            </a:avLst>
          </a:prstGeom>
          <a:solidFill>
            <a:srgbClr val="22252B"/>
          </a:solidFill>
          <a:ln w="12700">
            <a:solidFill>
              <a:srgbClr val="22252B"/>
            </a:solidFill>
            <a:prstDash val="solid"/>
          </a:ln>
        </p:spPr>
      </p:sp>
      <p:sp>
        <p:nvSpPr>
          <p:cNvPr id="35" name="Text 33"/>
          <p:cNvSpPr txBox="1"/>
          <p:nvPr/>
        </p:nvSpPr>
        <p:spPr>
          <a:xfrm>
            <a:off x="777240" y="4846320"/>
            <a:ext cx="5029200" cy="1280160"/>
          </a:xfrm>
          <a:prstGeom prst="rect">
            <a:avLst/>
          </a:prstGeom>
          <a:noFill/>
          <a:ln/>
        </p:spPr>
        <p:txBody>
          <a:bodyPr wrap="square" lIns="0" tIns="0" rIns="0" bIns="0" rtlCol="0" anchor="ctr"/>
          <a:lstStyle/>
          <a:p>
            <a:pPr indent="0" marL="0">
              <a:buNone/>
            </a:pPr>
            <a:r>
              <a:rPr lang="en-US" sz="1800" b="1" dirty="0">
                <a:solidFill>
                  <a:srgbClr val="F2A900"/>
                </a:solidFill>
                <a:latin typeface="Arial" pitchFamily="34" charset="0"/>
                <a:ea typeface="Arial" pitchFamily="34" charset="-122"/>
                <a:cs typeface="Arial" pitchFamily="34" charset="-120"/>
              </a:rPr>
              <a:t>IDF1</a:t>
            </a:r>
            <a:endParaRPr lang="en-US" sz="1800" dirty="0"/>
          </a:p>
          <a:p>
            <a:pPr indent="0" marL="0">
              <a:buNone/>
            </a:pPr>
            <a:r>
              <a:rPr lang="en-US" sz="1500" dirty="0">
                <a:solidFill>
                  <a:srgbClr val="F2F2F2"/>
                </a:solidFill>
                <a:latin typeface="Arial" pitchFamily="34" charset="0"/>
                <a:ea typeface="Arial" pitchFamily="34" charset="-122"/>
                <a:cs typeface="Arial" pitchFamily="34" charset="-120"/>
              </a:rPr>
              <a:t>giữ đúng ID lâu dài.</a:t>
            </a:r>
            <a:endParaRPr lang="en-US" sz="1800" dirty="0"/>
          </a:p>
          <a:p>
            <a:pPr indent="0" marL="0">
              <a:buNone/>
            </a:pPr>
            <a:r>
              <a:rPr lang="en-US" sz="1800" b="1" dirty="0">
                <a:solidFill>
                  <a:srgbClr val="F2A900"/>
                </a:solidFill>
                <a:latin typeface="Arial" pitchFamily="34" charset="0"/>
                <a:ea typeface="Arial" pitchFamily="34" charset="-122"/>
                <a:cs typeface="Arial" pitchFamily="34" charset="-120"/>
              </a:rPr>
              <a:t>IDSW</a:t>
            </a:r>
            <a:endParaRPr lang="en-US" sz="1800" dirty="0"/>
          </a:p>
          <a:p>
            <a:pPr indent="0" marL="0">
              <a:buNone/>
            </a:pPr>
            <a:r>
              <a:rPr lang="en-US" sz="1500" dirty="0">
                <a:solidFill>
                  <a:srgbClr val="F2F2F2"/>
                </a:solidFill>
                <a:latin typeface="Arial" pitchFamily="34" charset="0"/>
                <a:ea typeface="Arial" pitchFamily="34" charset="-122"/>
                <a:cs typeface="Arial" pitchFamily="34" charset="-120"/>
              </a:rPr>
              <a:t>đếm số lần đổi ID, từng lần ngắn.</a:t>
            </a:r>
            <a:endParaRPr lang="en-US" sz="1800" dirty="0"/>
          </a:p>
        </p:txBody>
      </p:sp>
      <p:sp>
        <p:nvSpPr>
          <p:cNvPr id="36" name="Shape 34"/>
          <p:cNvSpPr/>
          <p:nvPr/>
        </p:nvSpPr>
        <p:spPr>
          <a:xfrm>
            <a:off x="6199632" y="4800600"/>
            <a:ext cx="5440680" cy="1371600"/>
          </a:xfrm>
          <a:prstGeom prst="roundRect">
            <a:avLst>
              <a:gd name="adj" fmla="val 8000"/>
            </a:avLst>
          </a:prstGeom>
          <a:solidFill>
            <a:srgbClr val="2B2F36"/>
          </a:solidFill>
          <a:ln w="12700">
            <a:solidFill>
              <a:srgbClr val="2B2F36"/>
            </a:solidFill>
            <a:prstDash val="solid"/>
          </a:ln>
        </p:spPr>
      </p:sp>
      <p:sp>
        <p:nvSpPr>
          <p:cNvPr id="37" name="Shape 35"/>
          <p:cNvSpPr/>
          <p:nvPr/>
        </p:nvSpPr>
        <p:spPr>
          <a:xfrm>
            <a:off x="6199632" y="4800600"/>
            <a:ext cx="91440" cy="1371600"/>
          </a:xfrm>
          <a:prstGeom prst="rect">
            <a:avLst/>
          </a:prstGeom>
          <a:solidFill>
            <a:srgbClr val="E66767"/>
          </a:solidFill>
          <a:ln w="12700">
            <a:solidFill>
              <a:srgbClr val="E66767"/>
            </a:solidFill>
            <a:prstDash val="solid"/>
          </a:ln>
        </p:spPr>
      </p:sp>
      <p:sp>
        <p:nvSpPr>
          <p:cNvPr id="38" name="Text 36"/>
          <p:cNvSpPr txBox="1"/>
          <p:nvPr/>
        </p:nvSpPr>
        <p:spPr>
          <a:xfrm>
            <a:off x="6473952" y="4800600"/>
            <a:ext cx="5029200" cy="1371600"/>
          </a:xfrm>
          <a:prstGeom prst="rect">
            <a:avLst/>
          </a:prstGeom>
          <a:noFill/>
          <a:ln/>
        </p:spPr>
        <p:txBody>
          <a:bodyPr wrap="square" lIns="0" tIns="0" rIns="0" bIns="0" rtlCol="0" anchor="ctr"/>
          <a:lstStyle/>
          <a:p>
            <a:pPr indent="0" marL="0">
              <a:buNone/>
            </a:pPr>
            <a:r>
              <a:rPr lang="en-US" sz="1700" b="1" dirty="0">
                <a:solidFill>
                  <a:srgbClr val="F2F2F2"/>
                </a:solidFill>
                <a:latin typeface="Arial" pitchFamily="34" charset="0"/>
                <a:ea typeface="Arial" pitchFamily="34" charset="-122"/>
                <a:cs typeface="Arial" pitchFamily="34" charset="-120"/>
              </a:rPr>
              <a:t>IDSW 17 → 36. Và vì chọn sau khi đã thấy test…</a:t>
            </a:r>
            <a:endParaRPr lang="en-US" sz="1600" dirty="0"/>
          </a:p>
          <a:p>
            <a:pPr indent="0" marL="0">
              <a:buNone/>
            </a:pPr>
            <a:r>
              <a:rPr lang="en-US" sz="1600" b="1" dirty="0">
                <a:solidFill>
                  <a:srgbClr val="F2A900"/>
                </a:solidFill>
                <a:latin typeface="Arial" pitchFamily="34" charset="0"/>
                <a:ea typeface="Arial" pitchFamily="34" charset="-122"/>
                <a:cs typeface="Arial" pitchFamily="34" charset="-120"/>
              </a:rPr>
              <a:t>→ kiểm tra lại trên tập val: slide sau.</a:t>
            </a:r>
            <a:endParaRPr lang="en-US" sz="1600" dirty="0"/>
          </a:p>
        </p:txBody>
      </p:sp>
      <p:sp>
        <p:nvSpPr>
          <p:cNvPr id="39" name="Shape 37"/>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40" name="Text 38"/>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41" name="Text 39"/>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SỬA CHỖ RÒ RỈ · TẬP VAL</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Chọn lại trên tập val, luật chốt trước khi nhìn số</a:t>
            </a:r>
            <a:endParaRPr lang="en-US" sz="3000" dirty="0"/>
          </a:p>
        </p:txBody>
      </p:sp>
      <p:sp>
        <p:nvSpPr>
          <p:cNvPr id="4" name="Shape 2"/>
          <p:cNvSpPr/>
          <p:nvPr/>
        </p:nvSpPr>
        <p:spPr>
          <a:xfrm>
            <a:off x="548640" y="1508760"/>
            <a:ext cx="4206240" cy="4526280"/>
          </a:xfrm>
          <a:prstGeom prst="roundRect">
            <a:avLst>
              <a:gd name="adj" fmla="val 2609"/>
            </a:avLst>
          </a:prstGeom>
          <a:solidFill>
            <a:srgbClr val="22252B"/>
          </a:solidFill>
          <a:ln w="12700">
            <a:solidFill>
              <a:srgbClr val="22252B"/>
            </a:solidFill>
            <a:prstDash val="solid"/>
          </a:ln>
        </p:spPr>
      </p:sp>
      <p:sp>
        <p:nvSpPr>
          <p:cNvPr id="5" name="Text 3"/>
          <p:cNvSpPr txBox="1"/>
          <p:nvPr/>
        </p:nvSpPr>
        <p:spPr>
          <a:xfrm>
            <a:off x="777240" y="1600200"/>
            <a:ext cx="3840480" cy="365760"/>
          </a:xfrm>
          <a:prstGeom prst="rect">
            <a:avLst/>
          </a:prstGeom>
          <a:noFill/>
          <a:ln/>
        </p:spPr>
        <p:txBody>
          <a:bodyPr wrap="square" lIns="0" tIns="0" rIns="0" bIns="0" rtlCol="0" anchor="t"/>
          <a:lstStyle/>
          <a:p>
            <a:pPr indent="0" marL="0">
              <a:buNone/>
            </a:pPr>
            <a:r>
              <a:rPr lang="en-US" sz="1900" b="1" dirty="0">
                <a:solidFill>
                  <a:srgbClr val="F2A900"/>
                </a:solidFill>
                <a:latin typeface="Arial" pitchFamily="34" charset="0"/>
                <a:ea typeface="Arial" pitchFamily="34" charset="-122"/>
                <a:cs typeface="Arial" pitchFamily="34" charset="-120"/>
              </a:rPr>
              <a:t>Cách làm</a:t>
            </a:r>
            <a:endParaRPr lang="en-US" sz="1900" dirty="0"/>
          </a:p>
        </p:txBody>
      </p:sp>
      <p:sp>
        <p:nvSpPr>
          <p:cNvPr id="6" name="Text 4"/>
          <p:cNvSpPr txBox="1"/>
          <p:nvPr/>
        </p:nvSpPr>
        <p:spPr>
          <a:xfrm>
            <a:off x="777240" y="2057400"/>
            <a:ext cx="3840480" cy="3886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Val: 17 video thật + 9 video chói giả, 18 lần chói. Chưa dùng để chọn gì.</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Chỉ bật/tắt 8 thành phần, không chỉnh con số nào.</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Thêm dần từ PEG: nhận một thành phần nếu không bảng nào tụt quá 0.5 và tổng 3 bảng tăng hơn 0.5.</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Luật được đưa lên git trước khi chạy val.</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Chọn xong: chạy test đúng 1 lần.</a:t>
            </a:r>
            <a:endParaRPr lang="en-US" sz="1500" dirty="0"/>
          </a:p>
        </p:txBody>
      </p:sp>
      <p:sp>
        <p:nvSpPr>
          <p:cNvPr id="7" name="Text 5"/>
          <p:cNvSpPr txBox="1"/>
          <p:nvPr/>
        </p:nvSpPr>
        <p:spPr>
          <a:xfrm>
            <a:off x="6949440" y="1508760"/>
            <a:ext cx="1161288" cy="365760"/>
          </a:xfrm>
          <a:prstGeom prst="rect">
            <a:avLst/>
          </a:prstGeom>
          <a:noFill/>
          <a:ln/>
        </p:spPr>
        <p:txBody>
          <a:bodyPr wrap="square" lIns="0" tIns="0" rIns="0" bIns="0" rtlCol="0" anchor="ctr"/>
          <a:lstStyle/>
          <a:p>
            <a:pPr algn="ctr" indent="0" marL="0">
              <a:buNone/>
            </a:pPr>
            <a:r>
              <a:rPr lang="en-US" sz="1200" b="1" dirty="0">
                <a:solidFill>
                  <a:srgbClr val="A3A8B0"/>
                </a:solidFill>
                <a:latin typeface="Arial" pitchFamily="34" charset="0"/>
                <a:ea typeface="Arial" pitchFamily="34" charset="-122"/>
                <a:cs typeface="Arial" pitchFamily="34" charset="-120"/>
              </a:rPr>
              <a:t>Δ T1 HOTA</a:t>
            </a:r>
            <a:endParaRPr lang="en-US" sz="1200" dirty="0"/>
          </a:p>
        </p:txBody>
      </p:sp>
      <p:sp>
        <p:nvSpPr>
          <p:cNvPr id="8" name="Text 6"/>
          <p:cNvSpPr txBox="1"/>
          <p:nvPr/>
        </p:nvSpPr>
        <p:spPr>
          <a:xfrm>
            <a:off x="8110728" y="1508760"/>
            <a:ext cx="1161288" cy="365760"/>
          </a:xfrm>
          <a:prstGeom prst="rect">
            <a:avLst/>
          </a:prstGeom>
          <a:noFill/>
          <a:ln/>
        </p:spPr>
        <p:txBody>
          <a:bodyPr wrap="square" lIns="0" tIns="0" rIns="0" bIns="0" rtlCol="0" anchor="ctr"/>
          <a:lstStyle/>
          <a:p>
            <a:pPr algn="ctr" indent="0" marL="0">
              <a:buNone/>
            </a:pPr>
            <a:r>
              <a:rPr lang="en-US" sz="1200" b="1" dirty="0">
                <a:solidFill>
                  <a:srgbClr val="A3A8B0"/>
                </a:solidFill>
                <a:latin typeface="Arial" pitchFamily="34" charset="0"/>
                <a:ea typeface="Arial" pitchFamily="34" charset="-122"/>
                <a:cs typeface="Arial" pitchFamily="34" charset="-120"/>
              </a:rPr>
              <a:t>Δ T2 HOTA</a:t>
            </a:r>
            <a:endParaRPr lang="en-US" sz="1200" dirty="0"/>
          </a:p>
        </p:txBody>
      </p:sp>
      <p:sp>
        <p:nvSpPr>
          <p:cNvPr id="9" name="Text 7"/>
          <p:cNvSpPr txBox="1"/>
          <p:nvPr/>
        </p:nvSpPr>
        <p:spPr>
          <a:xfrm>
            <a:off x="9272016" y="1508760"/>
            <a:ext cx="1161288" cy="365760"/>
          </a:xfrm>
          <a:prstGeom prst="rect">
            <a:avLst/>
          </a:prstGeom>
          <a:noFill/>
          <a:ln/>
        </p:spPr>
        <p:txBody>
          <a:bodyPr wrap="square" lIns="0" tIns="0" rIns="0" bIns="0" rtlCol="0" anchor="ctr"/>
          <a:lstStyle/>
          <a:p>
            <a:pPr algn="ctr" indent="0" marL="0">
              <a:buNone/>
            </a:pPr>
            <a:r>
              <a:rPr lang="en-US" sz="1200" b="1" dirty="0">
                <a:solidFill>
                  <a:srgbClr val="A3A8B0"/>
                </a:solidFill>
                <a:latin typeface="Arial" pitchFamily="34" charset="0"/>
                <a:ea typeface="Arial" pitchFamily="34" charset="-122"/>
                <a:cs typeface="Arial" pitchFamily="34" charset="-120"/>
              </a:rPr>
              <a:t>Δ T3 Rcv</a:t>
            </a:r>
            <a:endParaRPr lang="en-US" sz="1200" dirty="0"/>
          </a:p>
        </p:txBody>
      </p:sp>
      <p:sp>
        <p:nvSpPr>
          <p:cNvPr id="10" name="Text 8"/>
          <p:cNvSpPr txBox="1"/>
          <p:nvPr/>
        </p:nvSpPr>
        <p:spPr>
          <a:xfrm>
            <a:off x="10433304" y="1508760"/>
            <a:ext cx="1161288" cy="365760"/>
          </a:xfrm>
          <a:prstGeom prst="rect">
            <a:avLst/>
          </a:prstGeom>
          <a:noFill/>
          <a:ln/>
        </p:spPr>
        <p:txBody>
          <a:bodyPr wrap="square" lIns="0" tIns="0" rIns="0" bIns="0" rtlCol="0" anchor="ctr"/>
          <a:lstStyle/>
          <a:p>
            <a:pPr algn="ctr" indent="0" marL="0">
              <a:buNone/>
            </a:pPr>
            <a:r>
              <a:rPr lang="en-US" sz="1200" b="1" dirty="0">
                <a:solidFill>
                  <a:srgbClr val="A3A8B0"/>
                </a:solidFill>
                <a:latin typeface="Arial" pitchFamily="34" charset="0"/>
                <a:ea typeface="Arial" pitchFamily="34" charset="-122"/>
                <a:cs typeface="Arial" pitchFamily="34" charset="-120"/>
              </a:rPr>
              <a:t>Tổng</a:t>
            </a:r>
            <a:endParaRPr lang="en-US" sz="1200" dirty="0"/>
          </a:p>
        </p:txBody>
      </p:sp>
      <p:sp>
        <p:nvSpPr>
          <p:cNvPr id="11" name="Text 9"/>
          <p:cNvSpPr txBox="1"/>
          <p:nvPr/>
        </p:nvSpPr>
        <p:spPr>
          <a:xfrm>
            <a:off x="5074920" y="1920240"/>
            <a:ext cx="1874520" cy="393192"/>
          </a:xfrm>
          <a:prstGeom prst="rect">
            <a:avLst/>
          </a:prstGeom>
          <a:noFill/>
          <a:ln/>
        </p:spPr>
        <p:txBody>
          <a:bodyPr wrap="square" lIns="0" tIns="0" rIns="0" bIns="0" rtlCol="0" anchor="ctr"/>
          <a:lstStyle/>
          <a:p>
            <a:pPr indent="0" marL="0">
              <a:buNone/>
            </a:pPr>
            <a:r>
              <a:rPr lang="en-US" sz="1400" dirty="0">
                <a:solidFill>
                  <a:srgbClr val="F2F2F2"/>
                </a:solidFill>
                <a:latin typeface="Arial" pitchFamily="34" charset="0"/>
                <a:ea typeface="Arial" pitchFamily="34" charset="-122"/>
                <a:cs typeface="Arial" pitchFamily="34" charset="-120"/>
              </a:rPr>
              <a:t>PEG+ (A)</a:t>
            </a:r>
            <a:endParaRPr lang="en-US" sz="1400" dirty="0"/>
          </a:p>
        </p:txBody>
      </p:sp>
      <p:sp>
        <p:nvSpPr>
          <p:cNvPr id="12" name="Text 10"/>
          <p:cNvSpPr txBox="1"/>
          <p:nvPr/>
        </p:nvSpPr>
        <p:spPr>
          <a:xfrm>
            <a:off x="6949440" y="1920240"/>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−0.14</a:t>
            </a:r>
            <a:endParaRPr lang="en-US" sz="1400" dirty="0"/>
          </a:p>
        </p:txBody>
      </p:sp>
      <p:sp>
        <p:nvSpPr>
          <p:cNvPr id="13" name="Text 11"/>
          <p:cNvSpPr txBox="1"/>
          <p:nvPr/>
        </p:nvSpPr>
        <p:spPr>
          <a:xfrm>
            <a:off x="8110728" y="1920240"/>
            <a:ext cx="1161288" cy="393192"/>
          </a:xfrm>
          <a:prstGeom prst="rect">
            <a:avLst/>
          </a:prstGeom>
          <a:noFill/>
          <a:ln/>
        </p:spPr>
        <p:txBody>
          <a:bodyPr wrap="square" lIns="0" tIns="0" rIns="0" bIns="0" rtlCol="0" anchor="ctr"/>
          <a:lstStyle/>
          <a:p>
            <a:pPr algn="ctr" indent="0" marL="0">
              <a:buNone/>
            </a:pPr>
            <a:r>
              <a:rPr lang="en-US" sz="1400" dirty="0">
                <a:solidFill>
                  <a:srgbClr val="19A35F"/>
                </a:solidFill>
                <a:latin typeface="Arial" pitchFamily="34" charset="0"/>
                <a:ea typeface="Arial" pitchFamily="34" charset="-122"/>
                <a:cs typeface="Arial" pitchFamily="34" charset="-120"/>
              </a:rPr>
              <a:t>+0.06</a:t>
            </a:r>
            <a:endParaRPr lang="en-US" sz="1400" dirty="0"/>
          </a:p>
        </p:txBody>
      </p:sp>
      <p:sp>
        <p:nvSpPr>
          <p:cNvPr id="14" name="Text 12"/>
          <p:cNvSpPr txBox="1"/>
          <p:nvPr/>
        </p:nvSpPr>
        <p:spPr>
          <a:xfrm>
            <a:off x="9272016" y="1920240"/>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−0.3</a:t>
            </a:r>
            <a:endParaRPr lang="en-US" sz="1400" dirty="0"/>
          </a:p>
        </p:txBody>
      </p:sp>
      <p:sp>
        <p:nvSpPr>
          <p:cNvPr id="15" name="Text 13"/>
          <p:cNvSpPr txBox="1"/>
          <p:nvPr/>
        </p:nvSpPr>
        <p:spPr>
          <a:xfrm>
            <a:off x="10433304" y="1920240"/>
            <a:ext cx="1161288" cy="393192"/>
          </a:xfrm>
          <a:prstGeom prst="rect">
            <a:avLst/>
          </a:prstGeom>
          <a:noFill/>
          <a:ln/>
        </p:spPr>
        <p:txBody>
          <a:bodyPr wrap="square" lIns="0" tIns="0" rIns="0" bIns="0" rtlCol="0" anchor="ctr"/>
          <a:lstStyle/>
          <a:p>
            <a:pPr algn="ctr" indent="0" marL="0">
              <a:buNone/>
            </a:pPr>
            <a:r>
              <a:rPr lang="en-US" sz="1400" b="1" dirty="0">
                <a:solidFill>
                  <a:srgbClr val="E66767"/>
                </a:solidFill>
                <a:latin typeface="Arial" pitchFamily="34" charset="0"/>
                <a:ea typeface="Arial" pitchFamily="34" charset="-122"/>
                <a:cs typeface="Arial" pitchFamily="34" charset="-120"/>
              </a:rPr>
              <a:t>−0.38</a:t>
            </a:r>
            <a:endParaRPr lang="en-US" sz="1400" dirty="0"/>
          </a:p>
        </p:txBody>
      </p:sp>
      <p:sp>
        <p:nvSpPr>
          <p:cNvPr id="16" name="Text 14"/>
          <p:cNvSpPr txBox="1"/>
          <p:nvPr/>
        </p:nvSpPr>
        <p:spPr>
          <a:xfrm>
            <a:off x="5074920" y="2350008"/>
            <a:ext cx="1874520" cy="393192"/>
          </a:xfrm>
          <a:prstGeom prst="rect">
            <a:avLst/>
          </a:prstGeom>
          <a:noFill/>
          <a:ln/>
        </p:spPr>
        <p:txBody>
          <a:bodyPr wrap="square" lIns="0" tIns="0" rIns="0" bIns="0" rtlCol="0" anchor="ctr"/>
          <a:lstStyle/>
          <a:p>
            <a:pPr indent="0" marL="0">
              <a:buNone/>
            </a:pPr>
            <a:r>
              <a:rPr lang="en-US" sz="1400" dirty="0">
                <a:solidFill>
                  <a:srgbClr val="A3A8B0"/>
                </a:solidFill>
                <a:latin typeface="Arial" pitchFamily="34" charset="0"/>
                <a:ea typeface="Arial" pitchFamily="34" charset="-122"/>
                <a:cs typeface="Arial" pitchFamily="34" charset="-120"/>
              </a:rPr>
              <a:t>Lamp follow (B)</a:t>
            </a:r>
            <a:endParaRPr lang="en-US" sz="1400" dirty="0"/>
          </a:p>
        </p:txBody>
      </p:sp>
      <p:sp>
        <p:nvSpPr>
          <p:cNvPr id="17" name="Text 15"/>
          <p:cNvSpPr txBox="1"/>
          <p:nvPr/>
        </p:nvSpPr>
        <p:spPr>
          <a:xfrm>
            <a:off x="6949440" y="2350008"/>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−0.02</a:t>
            </a:r>
            <a:endParaRPr lang="en-US" sz="1400" dirty="0"/>
          </a:p>
        </p:txBody>
      </p:sp>
      <p:sp>
        <p:nvSpPr>
          <p:cNvPr id="18" name="Text 16"/>
          <p:cNvSpPr txBox="1"/>
          <p:nvPr/>
        </p:nvSpPr>
        <p:spPr>
          <a:xfrm>
            <a:off x="8110728" y="2350008"/>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−2.24</a:t>
            </a:r>
            <a:endParaRPr lang="en-US" sz="1400" dirty="0"/>
          </a:p>
        </p:txBody>
      </p:sp>
      <p:sp>
        <p:nvSpPr>
          <p:cNvPr id="19" name="Text 17"/>
          <p:cNvSpPr txBox="1"/>
          <p:nvPr/>
        </p:nvSpPr>
        <p:spPr>
          <a:xfrm>
            <a:off x="9272016" y="2350008"/>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−11.6</a:t>
            </a:r>
            <a:endParaRPr lang="en-US" sz="1400" dirty="0"/>
          </a:p>
        </p:txBody>
      </p:sp>
      <p:sp>
        <p:nvSpPr>
          <p:cNvPr id="20" name="Text 18"/>
          <p:cNvSpPr txBox="1"/>
          <p:nvPr/>
        </p:nvSpPr>
        <p:spPr>
          <a:xfrm>
            <a:off x="10433304" y="2350008"/>
            <a:ext cx="1161288" cy="393192"/>
          </a:xfrm>
          <a:prstGeom prst="rect">
            <a:avLst/>
          </a:prstGeom>
          <a:noFill/>
          <a:ln/>
        </p:spPr>
        <p:txBody>
          <a:bodyPr wrap="square" lIns="0" tIns="0" rIns="0" bIns="0" rtlCol="0" anchor="ctr"/>
          <a:lstStyle/>
          <a:p>
            <a:pPr algn="ctr" indent="0" marL="0">
              <a:buNone/>
            </a:pPr>
            <a:r>
              <a:rPr lang="en-US" sz="1400" b="1" dirty="0">
                <a:solidFill>
                  <a:srgbClr val="E66767"/>
                </a:solidFill>
                <a:latin typeface="Arial" pitchFamily="34" charset="0"/>
                <a:ea typeface="Arial" pitchFamily="34" charset="-122"/>
                <a:cs typeface="Arial" pitchFamily="34" charset="-120"/>
              </a:rPr>
              <a:t>−13.86</a:t>
            </a:r>
            <a:endParaRPr lang="en-US" sz="1400" dirty="0"/>
          </a:p>
        </p:txBody>
      </p:sp>
      <p:sp>
        <p:nvSpPr>
          <p:cNvPr id="21" name="Shape 19"/>
          <p:cNvSpPr/>
          <p:nvPr/>
        </p:nvSpPr>
        <p:spPr>
          <a:xfrm>
            <a:off x="4937760" y="2779776"/>
            <a:ext cx="6702552" cy="393192"/>
          </a:xfrm>
          <a:prstGeom prst="roundRect">
            <a:avLst>
              <a:gd name="adj" fmla="val 27907"/>
            </a:avLst>
          </a:prstGeom>
          <a:solidFill>
            <a:srgbClr val="2B2F36"/>
          </a:solidFill>
          <a:ln w="12700">
            <a:solidFill>
              <a:srgbClr val="2B2F36"/>
            </a:solidFill>
            <a:prstDash val="solid"/>
          </a:ln>
        </p:spPr>
      </p:sp>
      <p:sp>
        <p:nvSpPr>
          <p:cNvPr id="22" name="Text 20"/>
          <p:cNvSpPr txBox="1"/>
          <p:nvPr/>
        </p:nvSpPr>
        <p:spPr>
          <a:xfrm>
            <a:off x="5074920" y="2779776"/>
            <a:ext cx="1874520" cy="393192"/>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M1-damp</a:t>
            </a:r>
            <a:endParaRPr lang="en-US" sz="1400" dirty="0"/>
          </a:p>
        </p:txBody>
      </p:sp>
      <p:sp>
        <p:nvSpPr>
          <p:cNvPr id="23" name="Text 21"/>
          <p:cNvSpPr txBox="1"/>
          <p:nvPr/>
        </p:nvSpPr>
        <p:spPr>
          <a:xfrm>
            <a:off x="6949440" y="2779776"/>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24" name="Text 22"/>
          <p:cNvSpPr txBox="1"/>
          <p:nvPr/>
        </p:nvSpPr>
        <p:spPr>
          <a:xfrm>
            <a:off x="8110728" y="2779776"/>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−0.44</a:t>
            </a:r>
            <a:endParaRPr lang="en-US" sz="1400" dirty="0"/>
          </a:p>
        </p:txBody>
      </p:sp>
      <p:sp>
        <p:nvSpPr>
          <p:cNvPr id="25" name="Text 23"/>
          <p:cNvSpPr txBox="1"/>
          <p:nvPr/>
        </p:nvSpPr>
        <p:spPr>
          <a:xfrm>
            <a:off x="9272016" y="2779776"/>
            <a:ext cx="1161288" cy="393192"/>
          </a:xfrm>
          <a:prstGeom prst="rect">
            <a:avLst/>
          </a:prstGeom>
          <a:noFill/>
          <a:ln/>
        </p:spPr>
        <p:txBody>
          <a:bodyPr wrap="square" lIns="0" tIns="0" rIns="0" bIns="0" rtlCol="0" anchor="ctr"/>
          <a:lstStyle/>
          <a:p>
            <a:pPr algn="ctr" indent="0" marL="0">
              <a:buNone/>
            </a:pPr>
            <a:r>
              <a:rPr lang="en-US" sz="1400" dirty="0">
                <a:solidFill>
                  <a:srgbClr val="19A35F"/>
                </a:solidFill>
                <a:latin typeface="Arial" pitchFamily="34" charset="0"/>
                <a:ea typeface="Arial" pitchFamily="34" charset="-122"/>
                <a:cs typeface="Arial" pitchFamily="34" charset="-120"/>
              </a:rPr>
              <a:t>+1.4</a:t>
            </a:r>
            <a:endParaRPr lang="en-US" sz="1400" dirty="0"/>
          </a:p>
        </p:txBody>
      </p:sp>
      <p:sp>
        <p:nvSpPr>
          <p:cNvPr id="26" name="Text 24"/>
          <p:cNvSpPr txBox="1"/>
          <p:nvPr/>
        </p:nvSpPr>
        <p:spPr>
          <a:xfrm>
            <a:off x="10433304" y="2779776"/>
            <a:ext cx="1161288" cy="393192"/>
          </a:xfrm>
          <a:prstGeom prst="rect">
            <a:avLst/>
          </a:prstGeom>
          <a:noFill/>
          <a:ln/>
        </p:spPr>
        <p:txBody>
          <a:bodyPr wrap="square" lIns="0" tIns="0" rIns="0" bIns="0" rtlCol="0" anchor="ctr"/>
          <a:lstStyle/>
          <a:p>
            <a:pPr algn="ctr" indent="0" marL="0">
              <a:buNone/>
            </a:pPr>
            <a:r>
              <a:rPr lang="en-US" sz="1400" b="1" dirty="0">
                <a:solidFill>
                  <a:srgbClr val="19A35F"/>
                </a:solidFill>
                <a:latin typeface="Arial" pitchFamily="34" charset="0"/>
                <a:ea typeface="Arial" pitchFamily="34" charset="-122"/>
                <a:cs typeface="Arial" pitchFamily="34" charset="-120"/>
              </a:rPr>
              <a:t>+0.96</a:t>
            </a:r>
            <a:endParaRPr lang="en-US" sz="1400" dirty="0"/>
          </a:p>
        </p:txBody>
      </p:sp>
      <p:sp>
        <p:nvSpPr>
          <p:cNvPr id="27" name="Text 25"/>
          <p:cNvSpPr txBox="1"/>
          <p:nvPr/>
        </p:nvSpPr>
        <p:spPr>
          <a:xfrm>
            <a:off x="5074920" y="3209544"/>
            <a:ext cx="1874520" cy="393192"/>
          </a:xfrm>
          <a:prstGeom prst="rect">
            <a:avLst/>
          </a:prstGeom>
          <a:noFill/>
          <a:ln/>
        </p:spPr>
        <p:txBody>
          <a:bodyPr wrap="square" lIns="0" tIns="0" rIns="0" bIns="0" rtlCol="0" anchor="ctr"/>
          <a:lstStyle/>
          <a:p>
            <a:pPr indent="0" marL="0">
              <a:buNone/>
            </a:pPr>
            <a:r>
              <a:rPr lang="en-US" sz="1400" dirty="0">
                <a:solidFill>
                  <a:srgbClr val="F2F2F2"/>
                </a:solidFill>
                <a:latin typeface="Arial" pitchFamily="34" charset="0"/>
                <a:ea typeface="Arial" pitchFamily="34" charset="-122"/>
                <a:cs typeface="Arial" pitchFamily="34" charset="-120"/>
              </a:rPr>
              <a:t>M1-swap</a:t>
            </a:r>
            <a:endParaRPr lang="en-US" sz="1400" dirty="0"/>
          </a:p>
        </p:txBody>
      </p:sp>
      <p:sp>
        <p:nvSpPr>
          <p:cNvPr id="28" name="Text 26"/>
          <p:cNvSpPr txBox="1"/>
          <p:nvPr/>
        </p:nvSpPr>
        <p:spPr>
          <a:xfrm>
            <a:off x="6949440" y="3209544"/>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−0.04</a:t>
            </a:r>
            <a:endParaRPr lang="en-US" sz="1400" dirty="0"/>
          </a:p>
        </p:txBody>
      </p:sp>
      <p:sp>
        <p:nvSpPr>
          <p:cNvPr id="29" name="Text 27"/>
          <p:cNvSpPr txBox="1"/>
          <p:nvPr/>
        </p:nvSpPr>
        <p:spPr>
          <a:xfrm>
            <a:off x="8110728" y="3209544"/>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30" name="Text 28"/>
          <p:cNvSpPr txBox="1"/>
          <p:nvPr/>
        </p:nvSpPr>
        <p:spPr>
          <a:xfrm>
            <a:off x="9272016" y="3209544"/>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a:t>
            </a:r>
            <a:endParaRPr lang="en-US" sz="1400" dirty="0"/>
          </a:p>
        </p:txBody>
      </p:sp>
      <p:sp>
        <p:nvSpPr>
          <p:cNvPr id="31" name="Text 29"/>
          <p:cNvSpPr txBox="1"/>
          <p:nvPr/>
        </p:nvSpPr>
        <p:spPr>
          <a:xfrm>
            <a:off x="10433304" y="3209544"/>
            <a:ext cx="1161288" cy="393192"/>
          </a:xfrm>
          <a:prstGeom prst="rect">
            <a:avLst/>
          </a:prstGeom>
          <a:noFill/>
          <a:ln/>
        </p:spPr>
        <p:txBody>
          <a:bodyPr wrap="square" lIns="0" tIns="0" rIns="0" bIns="0" rtlCol="0" anchor="ctr"/>
          <a:lstStyle/>
          <a:p>
            <a:pPr algn="ctr" indent="0" marL="0">
              <a:buNone/>
            </a:pPr>
            <a:r>
              <a:rPr lang="en-US" sz="1400" b="1" dirty="0">
                <a:solidFill>
                  <a:srgbClr val="A3A8B0"/>
                </a:solidFill>
                <a:latin typeface="Arial" pitchFamily="34" charset="0"/>
                <a:ea typeface="Arial" pitchFamily="34" charset="-122"/>
                <a:cs typeface="Arial" pitchFamily="34" charset="-120"/>
              </a:rPr>
              <a:t>−0.04</a:t>
            </a:r>
            <a:endParaRPr lang="en-US" sz="1400" dirty="0"/>
          </a:p>
        </p:txBody>
      </p:sp>
      <p:sp>
        <p:nvSpPr>
          <p:cNvPr id="32" name="Text 30"/>
          <p:cNvSpPr txBox="1"/>
          <p:nvPr/>
        </p:nvSpPr>
        <p:spPr>
          <a:xfrm>
            <a:off x="5074920" y="3639312"/>
            <a:ext cx="1874520" cy="393192"/>
          </a:xfrm>
          <a:prstGeom prst="rect">
            <a:avLst/>
          </a:prstGeom>
          <a:noFill/>
          <a:ln/>
        </p:spPr>
        <p:txBody>
          <a:bodyPr wrap="square" lIns="0" tIns="0" rIns="0" bIns="0" rtlCol="0" anchor="ctr"/>
          <a:lstStyle/>
          <a:p>
            <a:pPr indent="0" marL="0">
              <a:buNone/>
            </a:pPr>
            <a:r>
              <a:rPr lang="en-US" sz="1400" dirty="0">
                <a:solidFill>
                  <a:srgbClr val="F2F2F2"/>
                </a:solidFill>
                <a:latin typeface="Arial" pitchFamily="34" charset="0"/>
                <a:ea typeface="Arial" pitchFamily="34" charset="-122"/>
                <a:cs typeface="Arial" pitchFamily="34" charset="-120"/>
              </a:rPr>
              <a:t>M2</a:t>
            </a:r>
            <a:endParaRPr lang="en-US" sz="1400" dirty="0"/>
          </a:p>
        </p:txBody>
      </p:sp>
      <p:sp>
        <p:nvSpPr>
          <p:cNvPr id="33" name="Text 31"/>
          <p:cNvSpPr txBox="1"/>
          <p:nvPr/>
        </p:nvSpPr>
        <p:spPr>
          <a:xfrm>
            <a:off x="6949440" y="3639312"/>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34" name="Text 32"/>
          <p:cNvSpPr txBox="1"/>
          <p:nvPr/>
        </p:nvSpPr>
        <p:spPr>
          <a:xfrm>
            <a:off x="8110728" y="3639312"/>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35" name="Text 33"/>
          <p:cNvSpPr txBox="1"/>
          <p:nvPr/>
        </p:nvSpPr>
        <p:spPr>
          <a:xfrm>
            <a:off x="9272016" y="3639312"/>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a:t>
            </a:r>
            <a:endParaRPr lang="en-US" sz="1400" dirty="0"/>
          </a:p>
        </p:txBody>
      </p:sp>
      <p:sp>
        <p:nvSpPr>
          <p:cNvPr id="36" name="Text 34"/>
          <p:cNvSpPr txBox="1"/>
          <p:nvPr/>
        </p:nvSpPr>
        <p:spPr>
          <a:xfrm>
            <a:off x="10433304" y="3639312"/>
            <a:ext cx="1161288" cy="393192"/>
          </a:xfrm>
          <a:prstGeom prst="rect">
            <a:avLst/>
          </a:prstGeom>
          <a:noFill/>
          <a:ln/>
        </p:spPr>
        <p:txBody>
          <a:bodyPr wrap="square" lIns="0" tIns="0" rIns="0" bIns="0" rtlCol="0" anchor="ctr"/>
          <a:lstStyle/>
          <a:p>
            <a:pPr algn="ctr" indent="0" marL="0">
              <a:buNone/>
            </a:pPr>
            <a:r>
              <a:rPr lang="en-US" sz="1400" b="1" dirty="0">
                <a:solidFill>
                  <a:srgbClr val="A3A8B0"/>
                </a:solidFill>
                <a:latin typeface="Arial" pitchFamily="34" charset="0"/>
                <a:ea typeface="Arial" pitchFamily="34" charset="-122"/>
                <a:cs typeface="Arial" pitchFamily="34" charset="-120"/>
              </a:rPr>
              <a:t>±0.00</a:t>
            </a:r>
            <a:endParaRPr lang="en-US" sz="1400" dirty="0"/>
          </a:p>
        </p:txBody>
      </p:sp>
      <p:sp>
        <p:nvSpPr>
          <p:cNvPr id="37" name="Text 35"/>
          <p:cNvSpPr txBox="1"/>
          <p:nvPr/>
        </p:nvSpPr>
        <p:spPr>
          <a:xfrm>
            <a:off x="5074920" y="4069080"/>
            <a:ext cx="1874520" cy="393192"/>
          </a:xfrm>
          <a:prstGeom prst="rect">
            <a:avLst/>
          </a:prstGeom>
          <a:noFill/>
          <a:ln/>
        </p:spPr>
        <p:txBody>
          <a:bodyPr wrap="square" lIns="0" tIns="0" rIns="0" bIns="0" rtlCol="0" anchor="ctr"/>
          <a:lstStyle/>
          <a:p>
            <a:pPr indent="0" marL="0">
              <a:buNone/>
            </a:pPr>
            <a:r>
              <a:rPr lang="en-US" sz="1400" dirty="0">
                <a:solidFill>
                  <a:srgbClr val="F2F2F2"/>
                </a:solidFill>
                <a:latin typeface="Arial" pitchFamily="34" charset="0"/>
                <a:ea typeface="Arial" pitchFamily="34" charset="-122"/>
                <a:cs typeface="Arial" pitchFamily="34" charset="-120"/>
              </a:rPr>
              <a:t>M3</a:t>
            </a:r>
            <a:endParaRPr lang="en-US" sz="1400" dirty="0"/>
          </a:p>
        </p:txBody>
      </p:sp>
      <p:sp>
        <p:nvSpPr>
          <p:cNvPr id="38" name="Text 36"/>
          <p:cNvSpPr txBox="1"/>
          <p:nvPr/>
        </p:nvSpPr>
        <p:spPr>
          <a:xfrm>
            <a:off x="6949440" y="4069080"/>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+0.04</a:t>
            </a:r>
            <a:endParaRPr lang="en-US" sz="1400" dirty="0"/>
          </a:p>
        </p:txBody>
      </p:sp>
      <p:sp>
        <p:nvSpPr>
          <p:cNvPr id="39" name="Text 37"/>
          <p:cNvSpPr txBox="1"/>
          <p:nvPr/>
        </p:nvSpPr>
        <p:spPr>
          <a:xfrm>
            <a:off x="8110728" y="4069080"/>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40" name="Text 38"/>
          <p:cNvSpPr txBox="1"/>
          <p:nvPr/>
        </p:nvSpPr>
        <p:spPr>
          <a:xfrm>
            <a:off x="9272016" y="4069080"/>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a:t>
            </a:r>
            <a:endParaRPr lang="en-US" sz="1400" dirty="0"/>
          </a:p>
        </p:txBody>
      </p:sp>
      <p:sp>
        <p:nvSpPr>
          <p:cNvPr id="41" name="Text 39"/>
          <p:cNvSpPr txBox="1"/>
          <p:nvPr/>
        </p:nvSpPr>
        <p:spPr>
          <a:xfrm>
            <a:off x="10433304" y="4069080"/>
            <a:ext cx="1161288" cy="393192"/>
          </a:xfrm>
          <a:prstGeom prst="rect">
            <a:avLst/>
          </a:prstGeom>
          <a:noFill/>
          <a:ln/>
        </p:spPr>
        <p:txBody>
          <a:bodyPr wrap="square" lIns="0" tIns="0" rIns="0" bIns="0" rtlCol="0" anchor="ctr"/>
          <a:lstStyle/>
          <a:p>
            <a:pPr algn="ctr" indent="0" marL="0">
              <a:buNone/>
            </a:pPr>
            <a:r>
              <a:rPr lang="en-US" sz="1400" b="1" dirty="0">
                <a:solidFill>
                  <a:srgbClr val="A3A8B0"/>
                </a:solidFill>
                <a:latin typeface="Arial" pitchFamily="34" charset="0"/>
                <a:ea typeface="Arial" pitchFamily="34" charset="-122"/>
                <a:cs typeface="Arial" pitchFamily="34" charset="-120"/>
              </a:rPr>
              <a:t>+0.04</a:t>
            </a:r>
            <a:endParaRPr lang="en-US" sz="1400" dirty="0"/>
          </a:p>
        </p:txBody>
      </p:sp>
      <p:sp>
        <p:nvSpPr>
          <p:cNvPr id="42" name="Text 40"/>
          <p:cNvSpPr txBox="1"/>
          <p:nvPr/>
        </p:nvSpPr>
        <p:spPr>
          <a:xfrm>
            <a:off x="5074920" y="4498848"/>
            <a:ext cx="1874520" cy="393192"/>
          </a:xfrm>
          <a:prstGeom prst="rect">
            <a:avLst/>
          </a:prstGeom>
          <a:noFill/>
          <a:ln/>
        </p:spPr>
        <p:txBody>
          <a:bodyPr wrap="square" lIns="0" tIns="0" rIns="0" bIns="0" rtlCol="0" anchor="ctr"/>
          <a:lstStyle/>
          <a:p>
            <a:pPr indent="0" marL="0">
              <a:buNone/>
            </a:pPr>
            <a:r>
              <a:rPr lang="en-US" sz="1400" dirty="0">
                <a:solidFill>
                  <a:srgbClr val="F2F2F2"/>
                </a:solidFill>
                <a:latin typeface="Arial" pitchFamily="34" charset="0"/>
                <a:ea typeface="Arial" pitchFamily="34" charset="-122"/>
                <a:cs typeface="Arial" pitchFamily="34" charset="-120"/>
              </a:rPr>
              <a:t>M4</a:t>
            </a:r>
            <a:endParaRPr lang="en-US" sz="1400" dirty="0"/>
          </a:p>
        </p:txBody>
      </p:sp>
      <p:sp>
        <p:nvSpPr>
          <p:cNvPr id="43" name="Text 41"/>
          <p:cNvSpPr txBox="1"/>
          <p:nvPr/>
        </p:nvSpPr>
        <p:spPr>
          <a:xfrm>
            <a:off x="6949440" y="4498848"/>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44" name="Text 42"/>
          <p:cNvSpPr txBox="1"/>
          <p:nvPr/>
        </p:nvSpPr>
        <p:spPr>
          <a:xfrm>
            <a:off x="8110728" y="4498848"/>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±0.00</a:t>
            </a:r>
            <a:endParaRPr lang="en-US" sz="1400" dirty="0"/>
          </a:p>
        </p:txBody>
      </p:sp>
      <p:sp>
        <p:nvSpPr>
          <p:cNvPr id="45" name="Text 43"/>
          <p:cNvSpPr txBox="1"/>
          <p:nvPr/>
        </p:nvSpPr>
        <p:spPr>
          <a:xfrm>
            <a:off x="9272016" y="4498848"/>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a:t>
            </a:r>
            <a:endParaRPr lang="en-US" sz="1400" dirty="0"/>
          </a:p>
        </p:txBody>
      </p:sp>
      <p:sp>
        <p:nvSpPr>
          <p:cNvPr id="46" name="Text 44"/>
          <p:cNvSpPr txBox="1"/>
          <p:nvPr/>
        </p:nvSpPr>
        <p:spPr>
          <a:xfrm>
            <a:off x="10433304" y="4498848"/>
            <a:ext cx="1161288" cy="393192"/>
          </a:xfrm>
          <a:prstGeom prst="rect">
            <a:avLst/>
          </a:prstGeom>
          <a:noFill/>
          <a:ln/>
        </p:spPr>
        <p:txBody>
          <a:bodyPr wrap="square" lIns="0" tIns="0" rIns="0" bIns="0" rtlCol="0" anchor="ctr"/>
          <a:lstStyle/>
          <a:p>
            <a:pPr algn="ctr" indent="0" marL="0">
              <a:buNone/>
            </a:pPr>
            <a:r>
              <a:rPr lang="en-US" sz="1400" b="1" dirty="0">
                <a:solidFill>
                  <a:srgbClr val="A3A8B0"/>
                </a:solidFill>
                <a:latin typeface="Arial" pitchFamily="34" charset="0"/>
                <a:ea typeface="Arial" pitchFamily="34" charset="-122"/>
                <a:cs typeface="Arial" pitchFamily="34" charset="-120"/>
              </a:rPr>
              <a:t>±0.00</a:t>
            </a:r>
            <a:endParaRPr lang="en-US" sz="1400" dirty="0"/>
          </a:p>
        </p:txBody>
      </p:sp>
      <p:sp>
        <p:nvSpPr>
          <p:cNvPr id="47" name="Text 45"/>
          <p:cNvSpPr txBox="1"/>
          <p:nvPr/>
        </p:nvSpPr>
        <p:spPr>
          <a:xfrm>
            <a:off x="5074920" y="4928616"/>
            <a:ext cx="1874520" cy="393192"/>
          </a:xfrm>
          <a:prstGeom prst="rect">
            <a:avLst/>
          </a:prstGeom>
          <a:noFill/>
          <a:ln/>
        </p:spPr>
        <p:txBody>
          <a:bodyPr wrap="square" lIns="0" tIns="0" rIns="0" bIns="0" rtlCol="0" anchor="ctr"/>
          <a:lstStyle/>
          <a:p>
            <a:pPr indent="0" marL="0">
              <a:buNone/>
            </a:pPr>
            <a:r>
              <a:rPr lang="en-US" sz="1400" dirty="0">
                <a:solidFill>
                  <a:srgbClr val="A3A8B0"/>
                </a:solidFill>
                <a:latin typeface="Arial" pitchFamily="34" charset="0"/>
                <a:ea typeface="Arial" pitchFamily="34" charset="-122"/>
                <a:cs typeface="Arial" pitchFamily="34" charset="-120"/>
              </a:rPr>
              <a:t>M5</a:t>
            </a:r>
            <a:endParaRPr lang="en-US" sz="1400" dirty="0"/>
          </a:p>
        </p:txBody>
      </p:sp>
      <p:sp>
        <p:nvSpPr>
          <p:cNvPr id="48" name="Text 46"/>
          <p:cNvSpPr txBox="1"/>
          <p:nvPr/>
        </p:nvSpPr>
        <p:spPr>
          <a:xfrm>
            <a:off x="6949440" y="4928616"/>
            <a:ext cx="1161288" cy="393192"/>
          </a:xfrm>
          <a:prstGeom prst="rect">
            <a:avLst/>
          </a:prstGeom>
          <a:noFill/>
          <a:ln/>
        </p:spPr>
        <p:txBody>
          <a:bodyPr wrap="square" lIns="0" tIns="0" rIns="0" bIns="0" rtlCol="0" anchor="ctr"/>
          <a:lstStyle/>
          <a:p>
            <a:pPr algn="ctr" indent="0" marL="0">
              <a:buNone/>
            </a:pPr>
            <a:r>
              <a:rPr lang="en-US" sz="1400" dirty="0">
                <a:solidFill>
                  <a:srgbClr val="A3A8B0"/>
                </a:solidFill>
                <a:latin typeface="Arial" pitchFamily="34" charset="0"/>
                <a:ea typeface="Arial" pitchFamily="34" charset="-122"/>
                <a:cs typeface="Arial" pitchFamily="34" charset="-120"/>
              </a:rPr>
              <a:t>−0.01</a:t>
            </a:r>
            <a:endParaRPr lang="en-US" sz="1400" dirty="0"/>
          </a:p>
        </p:txBody>
      </p:sp>
      <p:sp>
        <p:nvSpPr>
          <p:cNvPr id="49" name="Text 47"/>
          <p:cNvSpPr txBox="1"/>
          <p:nvPr/>
        </p:nvSpPr>
        <p:spPr>
          <a:xfrm>
            <a:off x="8110728" y="4928616"/>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−1.29</a:t>
            </a:r>
            <a:endParaRPr lang="en-US" sz="1400" dirty="0"/>
          </a:p>
        </p:txBody>
      </p:sp>
      <p:sp>
        <p:nvSpPr>
          <p:cNvPr id="50" name="Text 48"/>
          <p:cNvSpPr txBox="1"/>
          <p:nvPr/>
        </p:nvSpPr>
        <p:spPr>
          <a:xfrm>
            <a:off x="9272016" y="4928616"/>
            <a:ext cx="1161288" cy="393192"/>
          </a:xfrm>
          <a:prstGeom prst="rect">
            <a:avLst/>
          </a:prstGeom>
          <a:noFill/>
          <a:ln/>
        </p:spPr>
        <p:txBody>
          <a:bodyPr wrap="square" lIns="0" tIns="0" rIns="0" bIns="0" rtlCol="0" anchor="ctr"/>
          <a:lstStyle/>
          <a:p>
            <a:pPr algn="ctr" indent="0" marL="0">
              <a:buNone/>
            </a:pPr>
            <a:r>
              <a:rPr lang="en-US" sz="1400" dirty="0">
                <a:solidFill>
                  <a:srgbClr val="E66767"/>
                </a:solidFill>
                <a:latin typeface="Arial" pitchFamily="34" charset="0"/>
                <a:ea typeface="Arial" pitchFamily="34" charset="-122"/>
                <a:cs typeface="Arial" pitchFamily="34" charset="-120"/>
              </a:rPr>
              <a:t>−4.2</a:t>
            </a:r>
            <a:endParaRPr lang="en-US" sz="1400" dirty="0"/>
          </a:p>
        </p:txBody>
      </p:sp>
      <p:sp>
        <p:nvSpPr>
          <p:cNvPr id="51" name="Text 49"/>
          <p:cNvSpPr txBox="1"/>
          <p:nvPr/>
        </p:nvSpPr>
        <p:spPr>
          <a:xfrm>
            <a:off x="10433304" y="4928616"/>
            <a:ext cx="1161288" cy="393192"/>
          </a:xfrm>
          <a:prstGeom prst="rect">
            <a:avLst/>
          </a:prstGeom>
          <a:noFill/>
          <a:ln/>
        </p:spPr>
        <p:txBody>
          <a:bodyPr wrap="square" lIns="0" tIns="0" rIns="0" bIns="0" rtlCol="0" anchor="ctr"/>
          <a:lstStyle/>
          <a:p>
            <a:pPr algn="ctr" indent="0" marL="0">
              <a:buNone/>
            </a:pPr>
            <a:r>
              <a:rPr lang="en-US" sz="1400" b="1" dirty="0">
                <a:solidFill>
                  <a:srgbClr val="E66767"/>
                </a:solidFill>
                <a:latin typeface="Arial" pitchFamily="34" charset="0"/>
                <a:ea typeface="Arial" pitchFamily="34" charset="-122"/>
                <a:cs typeface="Arial" pitchFamily="34" charset="-120"/>
              </a:rPr>
              <a:t>−5.50</a:t>
            </a:r>
            <a:endParaRPr lang="en-US" sz="1400" dirty="0"/>
          </a:p>
        </p:txBody>
      </p:sp>
      <p:sp>
        <p:nvSpPr>
          <p:cNvPr id="52" name="Text 50"/>
          <p:cNvSpPr txBox="1"/>
          <p:nvPr/>
        </p:nvSpPr>
        <p:spPr>
          <a:xfrm>
            <a:off x="4983480" y="5404104"/>
            <a:ext cx="6675120" cy="685800"/>
          </a:xfrm>
          <a:prstGeom prst="rect">
            <a:avLst/>
          </a:prstGeom>
          <a:noFill/>
          <a:ln/>
        </p:spPr>
        <p:txBody>
          <a:bodyPr wrap="square" lIns="0" tIns="0" rIns="0" bIns="0" rtlCol="0" anchor="t"/>
          <a:lstStyle/>
          <a:p>
            <a:pPr indent="0" marL="0">
              <a:buNone/>
            </a:pPr>
            <a:r>
              <a:rPr lang="en-US" sz="1800" b="1" dirty="0">
                <a:solidFill>
                  <a:srgbClr val="F2A900"/>
                </a:solidFill>
                <a:latin typeface="Arial" pitchFamily="34" charset="0"/>
                <a:ea typeface="Arial" pitchFamily="34" charset="-122"/>
                <a:cs typeface="Arial" pitchFamily="34" charset="-120"/>
              </a:rPr>
              <a:t>Được chọn: PEG + M1-damp</a:t>
            </a:r>
            <a:endParaRPr lang="en-US" sz="1800" dirty="0"/>
          </a:p>
          <a:p>
            <a:pPr indent="0" marL="0">
              <a:buNone/>
            </a:pPr>
            <a:r>
              <a:rPr lang="en-US" sz="1300" dirty="0">
                <a:solidFill>
                  <a:srgbClr val="A3A8B0"/>
                </a:solidFill>
                <a:latin typeface="Arial" pitchFamily="34" charset="0"/>
                <a:ea typeface="Arial" pitchFamily="34" charset="-122"/>
                <a:cs typeface="Arial" pitchFamily="34" charset="-120"/>
              </a:rPr>
              <a:t>Vòng 2 không thêm được gì (tốt nhất: +0.07).</a:t>
            </a:r>
            <a:endParaRPr lang="en-US" sz="1800" dirty="0"/>
          </a:p>
        </p:txBody>
      </p:sp>
      <p:sp>
        <p:nvSpPr>
          <p:cNvPr id="53" name="Shape 51"/>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54" name="Text 5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55" name="Text 5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KẾT QUẢ TRÊN TEST</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Chạy test 1 lần: config chọn trên val thua PEG</a:t>
            </a:r>
            <a:endParaRPr lang="en-US" sz="3000" dirty="0"/>
          </a:p>
        </p:txBody>
      </p:sp>
      <p:sp>
        <p:nvSpPr>
          <p:cNvPr id="4" name="Text 2"/>
          <p:cNvSpPr txBox="1"/>
          <p:nvPr/>
        </p:nvSpPr>
        <p:spPr>
          <a:xfrm>
            <a:off x="3749040" y="1463040"/>
            <a:ext cx="2633472" cy="292608"/>
          </a:xfrm>
          <a:prstGeom prst="rect">
            <a:avLst/>
          </a:prstGeom>
          <a:noFill/>
          <a:ln/>
        </p:spPr>
        <p:txBody>
          <a:bodyPr wrap="square" lIns="0" tIns="0" rIns="0" bIns="0" rtlCol="0" anchor="t"/>
          <a:lstStyle/>
          <a:p>
            <a:pPr algn="ctr" indent="0" marL="0">
              <a:buNone/>
            </a:pPr>
            <a:r>
              <a:rPr lang="en-US" sz="1500" b="1" dirty="0">
                <a:solidFill>
                  <a:srgbClr val="F2F2F2"/>
                </a:solidFill>
                <a:latin typeface="Arial" pitchFamily="34" charset="0"/>
                <a:ea typeface="Arial" pitchFamily="34" charset="-122"/>
                <a:cs typeface="Arial" pitchFamily="34" charset="-120"/>
              </a:rPr>
              <a:t>T1 HOTA</a:t>
            </a:r>
            <a:endParaRPr lang="en-US" sz="1500" dirty="0"/>
          </a:p>
        </p:txBody>
      </p:sp>
      <p:sp>
        <p:nvSpPr>
          <p:cNvPr id="5" name="Text 3"/>
          <p:cNvSpPr txBox="1"/>
          <p:nvPr/>
        </p:nvSpPr>
        <p:spPr>
          <a:xfrm>
            <a:off x="3749040"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test</a:t>
            </a:r>
            <a:endParaRPr lang="en-US" sz="1200" dirty="0"/>
          </a:p>
        </p:txBody>
      </p:sp>
      <p:sp>
        <p:nvSpPr>
          <p:cNvPr id="6" name="Text 4"/>
          <p:cNvSpPr txBox="1"/>
          <p:nvPr/>
        </p:nvSpPr>
        <p:spPr>
          <a:xfrm>
            <a:off x="5065776"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val</a:t>
            </a:r>
            <a:endParaRPr lang="en-US" sz="1200" dirty="0"/>
          </a:p>
        </p:txBody>
      </p:sp>
      <p:sp>
        <p:nvSpPr>
          <p:cNvPr id="7" name="Text 5"/>
          <p:cNvSpPr txBox="1"/>
          <p:nvPr/>
        </p:nvSpPr>
        <p:spPr>
          <a:xfrm>
            <a:off x="6382512" y="1463040"/>
            <a:ext cx="2633472" cy="292608"/>
          </a:xfrm>
          <a:prstGeom prst="rect">
            <a:avLst/>
          </a:prstGeom>
          <a:noFill/>
          <a:ln/>
        </p:spPr>
        <p:txBody>
          <a:bodyPr wrap="square" lIns="0" tIns="0" rIns="0" bIns="0" rtlCol="0" anchor="t"/>
          <a:lstStyle/>
          <a:p>
            <a:pPr algn="ctr" indent="0" marL="0">
              <a:buNone/>
            </a:pPr>
            <a:r>
              <a:rPr lang="en-US" sz="1500" b="1" dirty="0">
                <a:solidFill>
                  <a:srgbClr val="F2F2F2"/>
                </a:solidFill>
                <a:latin typeface="Arial" pitchFamily="34" charset="0"/>
                <a:ea typeface="Arial" pitchFamily="34" charset="-122"/>
                <a:cs typeface="Arial" pitchFamily="34" charset="-120"/>
              </a:rPr>
              <a:t>T2 HOTA</a:t>
            </a:r>
            <a:endParaRPr lang="en-US" sz="1500" dirty="0"/>
          </a:p>
        </p:txBody>
      </p:sp>
      <p:sp>
        <p:nvSpPr>
          <p:cNvPr id="8" name="Text 6"/>
          <p:cNvSpPr txBox="1"/>
          <p:nvPr/>
        </p:nvSpPr>
        <p:spPr>
          <a:xfrm>
            <a:off x="6382512"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test</a:t>
            </a:r>
            <a:endParaRPr lang="en-US" sz="1200" dirty="0"/>
          </a:p>
        </p:txBody>
      </p:sp>
      <p:sp>
        <p:nvSpPr>
          <p:cNvPr id="9" name="Text 7"/>
          <p:cNvSpPr txBox="1"/>
          <p:nvPr/>
        </p:nvSpPr>
        <p:spPr>
          <a:xfrm>
            <a:off x="7699248"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val</a:t>
            </a:r>
            <a:endParaRPr lang="en-US" sz="1200" dirty="0"/>
          </a:p>
        </p:txBody>
      </p:sp>
      <p:sp>
        <p:nvSpPr>
          <p:cNvPr id="10" name="Text 8"/>
          <p:cNvSpPr txBox="1"/>
          <p:nvPr/>
        </p:nvSpPr>
        <p:spPr>
          <a:xfrm>
            <a:off x="9015984" y="1463040"/>
            <a:ext cx="2633472" cy="292608"/>
          </a:xfrm>
          <a:prstGeom prst="rect">
            <a:avLst/>
          </a:prstGeom>
          <a:noFill/>
          <a:ln/>
        </p:spPr>
        <p:txBody>
          <a:bodyPr wrap="square" lIns="0" tIns="0" rIns="0" bIns="0" rtlCol="0" anchor="t"/>
          <a:lstStyle/>
          <a:p>
            <a:pPr algn="ctr" indent="0" marL="0">
              <a:buNone/>
            </a:pPr>
            <a:r>
              <a:rPr lang="en-US" sz="1500" b="1" dirty="0">
                <a:solidFill>
                  <a:srgbClr val="F2F2F2"/>
                </a:solidFill>
                <a:latin typeface="Arial" pitchFamily="34" charset="0"/>
                <a:ea typeface="Arial" pitchFamily="34" charset="-122"/>
                <a:cs typeface="Arial" pitchFamily="34" charset="-120"/>
              </a:rPr>
              <a:t>T3 Rcv@.5</a:t>
            </a:r>
            <a:endParaRPr lang="en-US" sz="1500" dirty="0"/>
          </a:p>
        </p:txBody>
      </p:sp>
      <p:sp>
        <p:nvSpPr>
          <p:cNvPr id="11" name="Text 9"/>
          <p:cNvSpPr txBox="1"/>
          <p:nvPr/>
        </p:nvSpPr>
        <p:spPr>
          <a:xfrm>
            <a:off x="9015984"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test</a:t>
            </a:r>
            <a:endParaRPr lang="en-US" sz="1200" dirty="0"/>
          </a:p>
        </p:txBody>
      </p:sp>
      <p:sp>
        <p:nvSpPr>
          <p:cNvPr id="12" name="Text 10"/>
          <p:cNvSpPr txBox="1"/>
          <p:nvPr/>
        </p:nvSpPr>
        <p:spPr>
          <a:xfrm>
            <a:off x="10332720" y="1755648"/>
            <a:ext cx="1316736" cy="274320"/>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val</a:t>
            </a:r>
            <a:endParaRPr lang="en-US" sz="1200" dirty="0"/>
          </a:p>
        </p:txBody>
      </p:sp>
      <p:sp>
        <p:nvSpPr>
          <p:cNvPr id="13" name="Shape 11"/>
          <p:cNvSpPr/>
          <p:nvPr/>
        </p:nvSpPr>
        <p:spPr>
          <a:xfrm>
            <a:off x="548640" y="2121408"/>
            <a:ext cx="11091672" cy="804672"/>
          </a:xfrm>
          <a:prstGeom prst="roundRect">
            <a:avLst>
              <a:gd name="adj" fmla="val 13636"/>
            </a:avLst>
          </a:prstGeom>
          <a:solidFill>
            <a:srgbClr val="22252B"/>
          </a:solidFill>
          <a:ln w="12700">
            <a:solidFill>
              <a:srgbClr val="22252B"/>
            </a:solidFill>
            <a:prstDash val="solid"/>
          </a:ln>
        </p:spPr>
      </p:sp>
      <p:sp>
        <p:nvSpPr>
          <p:cNvPr id="14" name="Shape 12"/>
          <p:cNvSpPr/>
          <p:nvPr/>
        </p:nvSpPr>
        <p:spPr>
          <a:xfrm>
            <a:off x="548640" y="2121408"/>
            <a:ext cx="91440" cy="804672"/>
          </a:xfrm>
          <a:prstGeom prst="rect">
            <a:avLst/>
          </a:prstGeom>
          <a:solidFill>
            <a:srgbClr val="3987E5"/>
          </a:solidFill>
          <a:ln w="12700">
            <a:solidFill>
              <a:srgbClr val="3987E5"/>
            </a:solidFill>
            <a:prstDash val="solid"/>
          </a:ln>
        </p:spPr>
      </p:sp>
      <p:sp>
        <p:nvSpPr>
          <p:cNvPr id="15" name="Text 13"/>
          <p:cNvSpPr txBox="1"/>
          <p:nvPr/>
        </p:nvSpPr>
        <p:spPr>
          <a:xfrm>
            <a:off x="822960" y="2121408"/>
            <a:ext cx="2926080" cy="804672"/>
          </a:xfrm>
          <a:prstGeom prst="rect">
            <a:avLst/>
          </a:prstGeom>
          <a:noFill/>
          <a:ln/>
        </p:spPr>
        <p:txBody>
          <a:bodyPr wrap="square" lIns="0" tIns="0" rIns="0" bIns="0" rtlCol="0" anchor="ctr"/>
          <a:lstStyle/>
          <a:p>
            <a:pPr indent="0" marL="0">
              <a:buNone/>
            </a:pPr>
            <a:r>
              <a:rPr lang="en-US" sz="1600" b="1" dirty="0">
                <a:solidFill>
                  <a:srgbClr val="3987E5"/>
                </a:solidFill>
                <a:latin typeface="Arial" pitchFamily="34" charset="0"/>
                <a:ea typeface="Arial" pitchFamily="34" charset="-122"/>
                <a:cs typeface="Arial" pitchFamily="34" charset="-120"/>
              </a:rPr>
              <a:t>PEG</a:t>
            </a:r>
            <a:endParaRPr lang="en-US" sz="1600" dirty="0"/>
          </a:p>
        </p:txBody>
      </p:sp>
      <p:sp>
        <p:nvSpPr>
          <p:cNvPr id="16" name="Text 14"/>
          <p:cNvSpPr txBox="1"/>
          <p:nvPr/>
        </p:nvSpPr>
        <p:spPr>
          <a:xfrm>
            <a:off x="3749040"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68.19</a:t>
            </a:r>
            <a:endParaRPr lang="en-US" sz="2000" dirty="0"/>
          </a:p>
        </p:txBody>
      </p:sp>
      <p:sp>
        <p:nvSpPr>
          <p:cNvPr id="17" name="Text 15"/>
          <p:cNvSpPr txBox="1"/>
          <p:nvPr/>
        </p:nvSpPr>
        <p:spPr>
          <a:xfrm>
            <a:off x="5065776"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70.27</a:t>
            </a:r>
            <a:endParaRPr lang="en-US" sz="2000" dirty="0"/>
          </a:p>
        </p:txBody>
      </p:sp>
      <p:sp>
        <p:nvSpPr>
          <p:cNvPr id="18" name="Text 16"/>
          <p:cNvSpPr txBox="1"/>
          <p:nvPr/>
        </p:nvSpPr>
        <p:spPr>
          <a:xfrm>
            <a:off x="6382512"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61.70</a:t>
            </a:r>
            <a:endParaRPr lang="en-US" sz="2000" dirty="0"/>
          </a:p>
        </p:txBody>
      </p:sp>
      <p:sp>
        <p:nvSpPr>
          <p:cNvPr id="19" name="Text 17"/>
          <p:cNvSpPr txBox="1"/>
          <p:nvPr/>
        </p:nvSpPr>
        <p:spPr>
          <a:xfrm>
            <a:off x="7699248"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76.25</a:t>
            </a:r>
            <a:endParaRPr lang="en-US" sz="2000" dirty="0"/>
          </a:p>
        </p:txBody>
      </p:sp>
      <p:sp>
        <p:nvSpPr>
          <p:cNvPr id="20" name="Text 18"/>
          <p:cNvSpPr txBox="1"/>
          <p:nvPr/>
        </p:nvSpPr>
        <p:spPr>
          <a:xfrm>
            <a:off x="9015984"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76.6</a:t>
            </a:r>
            <a:endParaRPr lang="en-US" sz="2000" dirty="0"/>
          </a:p>
        </p:txBody>
      </p:sp>
      <p:sp>
        <p:nvSpPr>
          <p:cNvPr id="21" name="Text 19"/>
          <p:cNvSpPr txBox="1"/>
          <p:nvPr/>
        </p:nvSpPr>
        <p:spPr>
          <a:xfrm>
            <a:off x="10332720" y="2121408"/>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67.6</a:t>
            </a:r>
            <a:endParaRPr lang="en-US" sz="2000" dirty="0"/>
          </a:p>
        </p:txBody>
      </p:sp>
      <p:sp>
        <p:nvSpPr>
          <p:cNvPr id="22" name="Shape 20"/>
          <p:cNvSpPr/>
          <p:nvPr/>
        </p:nvSpPr>
        <p:spPr>
          <a:xfrm>
            <a:off x="548640" y="2999232"/>
            <a:ext cx="11091672" cy="804672"/>
          </a:xfrm>
          <a:prstGeom prst="roundRect">
            <a:avLst>
              <a:gd name="adj" fmla="val 13636"/>
            </a:avLst>
          </a:prstGeom>
          <a:solidFill>
            <a:srgbClr val="2B2F36"/>
          </a:solidFill>
          <a:ln w="12700">
            <a:solidFill>
              <a:srgbClr val="2B2F36"/>
            </a:solidFill>
            <a:prstDash val="solid"/>
          </a:ln>
        </p:spPr>
      </p:sp>
      <p:sp>
        <p:nvSpPr>
          <p:cNvPr id="23" name="Shape 21"/>
          <p:cNvSpPr/>
          <p:nvPr/>
        </p:nvSpPr>
        <p:spPr>
          <a:xfrm>
            <a:off x="548640" y="2999232"/>
            <a:ext cx="91440" cy="804672"/>
          </a:xfrm>
          <a:prstGeom prst="rect">
            <a:avLst/>
          </a:prstGeom>
          <a:solidFill>
            <a:srgbClr val="F2A900"/>
          </a:solidFill>
          <a:ln w="12700">
            <a:solidFill>
              <a:srgbClr val="F2A900"/>
            </a:solidFill>
            <a:prstDash val="solid"/>
          </a:ln>
        </p:spPr>
      </p:sp>
      <p:sp>
        <p:nvSpPr>
          <p:cNvPr id="24" name="Text 22"/>
          <p:cNvSpPr txBox="1"/>
          <p:nvPr/>
        </p:nvSpPr>
        <p:spPr>
          <a:xfrm>
            <a:off x="822960" y="2999232"/>
            <a:ext cx="2926080" cy="804672"/>
          </a:xfrm>
          <a:prstGeom prst="rect">
            <a:avLst/>
          </a:prstGeom>
          <a:noFill/>
          <a:ln/>
        </p:spPr>
        <p:txBody>
          <a:bodyPr wrap="square" lIns="0" tIns="0" rIns="0" bIns="0" rtlCol="0" anchor="ctr"/>
          <a:lstStyle/>
          <a:p>
            <a:pPr indent="0" marL="0">
              <a:buNone/>
            </a:pPr>
            <a:r>
              <a:rPr lang="en-US" sz="1600" b="1" dirty="0">
                <a:solidFill>
                  <a:srgbClr val="F2A900"/>
                </a:solidFill>
                <a:latin typeface="Arial" pitchFamily="34" charset="0"/>
                <a:ea typeface="Arial" pitchFamily="34" charset="-122"/>
                <a:cs typeface="Arial" pitchFamily="34" charset="-120"/>
              </a:rPr>
              <a:t>PEG + M1-damp</a:t>
            </a:r>
            <a:endParaRPr lang="en-US" sz="1600" dirty="0"/>
          </a:p>
          <a:p>
            <a:pPr indent="0" marL="0">
              <a:buNone/>
            </a:pPr>
            <a:r>
              <a:rPr lang="en-US" sz="1200" dirty="0">
                <a:solidFill>
                  <a:srgbClr val="A3A8B0"/>
                </a:solidFill>
                <a:latin typeface="Arial" pitchFamily="34" charset="0"/>
                <a:ea typeface="Arial" pitchFamily="34" charset="-122"/>
                <a:cs typeface="Arial" pitchFamily="34" charset="-120"/>
              </a:rPr>
              <a:t>chọn trên val</a:t>
            </a:r>
            <a:endParaRPr lang="en-US" sz="1600" dirty="0"/>
          </a:p>
        </p:txBody>
      </p:sp>
      <p:sp>
        <p:nvSpPr>
          <p:cNvPr id="25" name="Text 23"/>
          <p:cNvSpPr txBox="1"/>
          <p:nvPr/>
        </p:nvSpPr>
        <p:spPr>
          <a:xfrm>
            <a:off x="3749040" y="2999232"/>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67.38</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−0.81</a:t>
            </a:r>
            <a:endParaRPr lang="en-US" sz="2000" dirty="0"/>
          </a:p>
        </p:txBody>
      </p:sp>
      <p:sp>
        <p:nvSpPr>
          <p:cNvPr id="26" name="Text 24"/>
          <p:cNvSpPr txBox="1"/>
          <p:nvPr/>
        </p:nvSpPr>
        <p:spPr>
          <a:xfrm>
            <a:off x="5065776" y="2999232"/>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70.27</a:t>
            </a:r>
            <a:endParaRPr lang="en-US" sz="2000" dirty="0"/>
          </a:p>
          <a:p>
            <a:pPr algn="ctr" indent="0" marL="0">
              <a:buNone/>
            </a:pPr>
            <a:r>
              <a:rPr lang="en-US" sz="1200" b="1" dirty="0">
                <a:solidFill>
                  <a:srgbClr val="F2F2F2"/>
                </a:solidFill>
                <a:latin typeface="Arial" pitchFamily="34" charset="0"/>
                <a:ea typeface="Arial" pitchFamily="34" charset="-122"/>
                <a:cs typeface="Arial" pitchFamily="34" charset="-120"/>
              </a:rPr>
              <a:t>±0.00</a:t>
            </a:r>
            <a:endParaRPr lang="en-US" sz="2000" dirty="0"/>
          </a:p>
        </p:txBody>
      </p:sp>
      <p:sp>
        <p:nvSpPr>
          <p:cNvPr id="27" name="Text 25"/>
          <p:cNvSpPr txBox="1"/>
          <p:nvPr/>
        </p:nvSpPr>
        <p:spPr>
          <a:xfrm>
            <a:off x="6382512" y="2999232"/>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57.84</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−3.86</a:t>
            </a:r>
            <a:endParaRPr lang="en-US" sz="2000" dirty="0"/>
          </a:p>
        </p:txBody>
      </p:sp>
      <p:sp>
        <p:nvSpPr>
          <p:cNvPr id="28" name="Text 26"/>
          <p:cNvSpPr txBox="1"/>
          <p:nvPr/>
        </p:nvSpPr>
        <p:spPr>
          <a:xfrm>
            <a:off x="7699248" y="2999232"/>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75.81</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−0.44</a:t>
            </a:r>
            <a:endParaRPr lang="en-US" sz="2000" dirty="0"/>
          </a:p>
        </p:txBody>
      </p:sp>
      <p:sp>
        <p:nvSpPr>
          <p:cNvPr id="29" name="Text 27"/>
          <p:cNvSpPr txBox="1"/>
          <p:nvPr/>
        </p:nvSpPr>
        <p:spPr>
          <a:xfrm>
            <a:off x="9015984" y="2999232"/>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66.4</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−10.2</a:t>
            </a:r>
            <a:endParaRPr lang="en-US" sz="2000" dirty="0"/>
          </a:p>
        </p:txBody>
      </p:sp>
      <p:sp>
        <p:nvSpPr>
          <p:cNvPr id="30" name="Text 28"/>
          <p:cNvSpPr txBox="1"/>
          <p:nvPr/>
        </p:nvSpPr>
        <p:spPr>
          <a:xfrm>
            <a:off x="10332720" y="2999232"/>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69.0</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+1.4</a:t>
            </a:r>
            <a:endParaRPr lang="en-US" sz="2000" dirty="0"/>
          </a:p>
        </p:txBody>
      </p:sp>
      <p:sp>
        <p:nvSpPr>
          <p:cNvPr id="31" name="Shape 29"/>
          <p:cNvSpPr/>
          <p:nvPr/>
        </p:nvSpPr>
        <p:spPr>
          <a:xfrm>
            <a:off x="548640" y="3877056"/>
            <a:ext cx="11091672" cy="804672"/>
          </a:xfrm>
          <a:prstGeom prst="roundRect">
            <a:avLst>
              <a:gd name="adj" fmla="val 13636"/>
            </a:avLst>
          </a:prstGeom>
          <a:solidFill>
            <a:srgbClr val="22252B"/>
          </a:solidFill>
          <a:ln w="12700">
            <a:solidFill>
              <a:srgbClr val="22252B"/>
            </a:solidFill>
            <a:prstDash val="solid"/>
          </a:ln>
        </p:spPr>
      </p:sp>
      <p:sp>
        <p:nvSpPr>
          <p:cNvPr id="32" name="Shape 30"/>
          <p:cNvSpPr/>
          <p:nvPr/>
        </p:nvSpPr>
        <p:spPr>
          <a:xfrm>
            <a:off x="548640" y="3877056"/>
            <a:ext cx="91440" cy="804672"/>
          </a:xfrm>
          <a:prstGeom prst="rect">
            <a:avLst/>
          </a:prstGeom>
          <a:solidFill>
            <a:srgbClr val="19A35F"/>
          </a:solidFill>
          <a:ln w="12700">
            <a:solidFill>
              <a:srgbClr val="19A35F"/>
            </a:solidFill>
            <a:prstDash val="solid"/>
          </a:ln>
        </p:spPr>
      </p:sp>
      <p:sp>
        <p:nvSpPr>
          <p:cNvPr id="33" name="Text 31"/>
          <p:cNvSpPr txBox="1"/>
          <p:nvPr/>
        </p:nvSpPr>
        <p:spPr>
          <a:xfrm>
            <a:off x="822960" y="3877056"/>
            <a:ext cx="2926080" cy="804672"/>
          </a:xfrm>
          <a:prstGeom prst="rect">
            <a:avLst/>
          </a:prstGeom>
          <a:noFill/>
          <a:ln/>
        </p:spPr>
        <p:txBody>
          <a:bodyPr wrap="square" lIns="0" tIns="0" rIns="0" bIns="0" rtlCol="0" anchor="ctr"/>
          <a:lstStyle/>
          <a:p>
            <a:pPr indent="0" marL="0">
              <a:buNone/>
            </a:pPr>
            <a:r>
              <a:rPr lang="en-US" sz="1600" b="1" dirty="0">
                <a:solidFill>
                  <a:srgbClr val="19A35F"/>
                </a:solidFill>
                <a:latin typeface="Arial" pitchFamily="34" charset="0"/>
                <a:ea typeface="Arial" pitchFamily="34" charset="-122"/>
                <a:cs typeface="Arial" pitchFamily="34" charset="-120"/>
              </a:rPr>
              <a:t>PEG+</a:t>
            </a:r>
            <a:endParaRPr lang="en-US" sz="1600" dirty="0"/>
          </a:p>
        </p:txBody>
      </p:sp>
      <p:sp>
        <p:nvSpPr>
          <p:cNvPr id="34" name="Text 32"/>
          <p:cNvSpPr txBox="1"/>
          <p:nvPr/>
        </p:nvSpPr>
        <p:spPr>
          <a:xfrm>
            <a:off x="3749040" y="3877056"/>
            <a:ext cx="1316736" cy="804672"/>
          </a:xfrm>
          <a:prstGeom prst="rect">
            <a:avLst/>
          </a:prstGeom>
          <a:noFill/>
          <a:ln/>
        </p:spPr>
        <p:txBody>
          <a:bodyPr wrap="square" lIns="0" tIns="0" rIns="0" bIns="0" rtlCol="0" anchor="ctr"/>
          <a:lstStyle/>
          <a:p>
            <a:pPr algn="ctr" indent="0" marL="0">
              <a:buNone/>
            </a:pPr>
            <a:r>
              <a:rPr lang="en-US" sz="2000" b="1" dirty="0">
                <a:solidFill>
                  <a:srgbClr val="F2F2F2"/>
                </a:solidFill>
                <a:latin typeface="Arial" pitchFamily="34" charset="0"/>
                <a:ea typeface="Arial" pitchFamily="34" charset="-122"/>
                <a:cs typeface="Arial" pitchFamily="34" charset="-120"/>
              </a:rPr>
              <a:t>68.23</a:t>
            </a:r>
            <a:endParaRPr lang="en-US" sz="2000" dirty="0"/>
          </a:p>
          <a:p>
            <a:pPr algn="ctr" indent="0" marL="0">
              <a:buNone/>
            </a:pPr>
            <a:r>
              <a:rPr lang="en-US" sz="1200" b="1" dirty="0">
                <a:solidFill>
                  <a:srgbClr val="F2F2F2"/>
                </a:solidFill>
                <a:latin typeface="Arial" pitchFamily="34" charset="0"/>
                <a:ea typeface="Arial" pitchFamily="34" charset="-122"/>
                <a:cs typeface="Arial" pitchFamily="34" charset="-120"/>
              </a:rPr>
              <a:t>+0.04</a:t>
            </a:r>
            <a:endParaRPr lang="en-US" sz="2000" dirty="0"/>
          </a:p>
        </p:txBody>
      </p:sp>
      <p:sp>
        <p:nvSpPr>
          <p:cNvPr id="35" name="Text 33"/>
          <p:cNvSpPr txBox="1"/>
          <p:nvPr/>
        </p:nvSpPr>
        <p:spPr>
          <a:xfrm>
            <a:off x="5065776" y="3877056"/>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70.13</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−0.14</a:t>
            </a:r>
            <a:endParaRPr lang="en-US" sz="2000" dirty="0"/>
          </a:p>
        </p:txBody>
      </p:sp>
      <p:sp>
        <p:nvSpPr>
          <p:cNvPr id="36" name="Text 34"/>
          <p:cNvSpPr txBox="1"/>
          <p:nvPr/>
        </p:nvSpPr>
        <p:spPr>
          <a:xfrm>
            <a:off x="6382512" y="3877056"/>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62.54</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+0.84</a:t>
            </a:r>
            <a:endParaRPr lang="en-US" sz="2000" dirty="0"/>
          </a:p>
        </p:txBody>
      </p:sp>
      <p:sp>
        <p:nvSpPr>
          <p:cNvPr id="37" name="Text 35"/>
          <p:cNvSpPr txBox="1"/>
          <p:nvPr/>
        </p:nvSpPr>
        <p:spPr>
          <a:xfrm>
            <a:off x="7699248" y="3877056"/>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76.31</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+0.06</a:t>
            </a:r>
            <a:endParaRPr lang="en-US" sz="2000" dirty="0"/>
          </a:p>
        </p:txBody>
      </p:sp>
      <p:sp>
        <p:nvSpPr>
          <p:cNvPr id="38" name="Text 36"/>
          <p:cNvSpPr txBox="1"/>
          <p:nvPr/>
        </p:nvSpPr>
        <p:spPr>
          <a:xfrm>
            <a:off x="9015984" y="3877056"/>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82.2</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+5.6</a:t>
            </a:r>
            <a:endParaRPr lang="en-US" sz="2000" dirty="0"/>
          </a:p>
        </p:txBody>
      </p:sp>
      <p:sp>
        <p:nvSpPr>
          <p:cNvPr id="39" name="Text 37"/>
          <p:cNvSpPr txBox="1"/>
          <p:nvPr/>
        </p:nvSpPr>
        <p:spPr>
          <a:xfrm>
            <a:off x="10332720" y="3877056"/>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67.3</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−0.3</a:t>
            </a:r>
            <a:endParaRPr lang="en-US" sz="2000" dirty="0"/>
          </a:p>
        </p:txBody>
      </p:sp>
      <p:sp>
        <p:nvSpPr>
          <p:cNvPr id="40" name="Shape 38"/>
          <p:cNvSpPr/>
          <p:nvPr/>
        </p:nvSpPr>
        <p:spPr>
          <a:xfrm>
            <a:off x="548640" y="4754880"/>
            <a:ext cx="11091672" cy="804672"/>
          </a:xfrm>
          <a:prstGeom prst="roundRect">
            <a:avLst>
              <a:gd name="adj" fmla="val 13636"/>
            </a:avLst>
          </a:prstGeom>
          <a:solidFill>
            <a:srgbClr val="22252B"/>
          </a:solidFill>
          <a:ln w="12700">
            <a:solidFill>
              <a:srgbClr val="22252B"/>
            </a:solidFill>
            <a:prstDash val="solid"/>
          </a:ln>
        </p:spPr>
      </p:sp>
      <p:sp>
        <p:nvSpPr>
          <p:cNvPr id="41" name="Shape 39"/>
          <p:cNvSpPr/>
          <p:nvPr/>
        </p:nvSpPr>
        <p:spPr>
          <a:xfrm>
            <a:off x="548640" y="4754880"/>
            <a:ext cx="91440" cy="804672"/>
          </a:xfrm>
          <a:prstGeom prst="rect">
            <a:avLst/>
          </a:prstGeom>
          <a:solidFill>
            <a:srgbClr val="1B9AA6"/>
          </a:solidFill>
          <a:ln w="12700">
            <a:solidFill>
              <a:srgbClr val="1B9AA6"/>
            </a:solidFill>
            <a:prstDash val="solid"/>
          </a:ln>
        </p:spPr>
      </p:sp>
      <p:sp>
        <p:nvSpPr>
          <p:cNvPr id="42" name="Text 40"/>
          <p:cNvSpPr txBox="1"/>
          <p:nvPr/>
        </p:nvSpPr>
        <p:spPr>
          <a:xfrm>
            <a:off x="822960" y="4754880"/>
            <a:ext cx="2926080" cy="804672"/>
          </a:xfrm>
          <a:prstGeom prst="rect">
            <a:avLst/>
          </a:prstGeom>
          <a:noFill/>
          <a:ln/>
        </p:spPr>
        <p:txBody>
          <a:bodyPr wrap="square" lIns="0" tIns="0" rIns="0" bIns="0" rtlCol="0" anchor="ctr"/>
          <a:lstStyle/>
          <a:p>
            <a:pPr indent="0" marL="0">
              <a:buNone/>
            </a:pPr>
            <a:r>
              <a:rPr lang="en-US" sz="1600" b="1" dirty="0">
                <a:solidFill>
                  <a:srgbClr val="1B9AA6"/>
                </a:solidFill>
                <a:latin typeface="Arial" pitchFamily="34" charset="0"/>
                <a:ea typeface="Arial" pitchFamily="34" charset="-122"/>
                <a:cs typeface="Arial" pitchFamily="34" charset="-120"/>
              </a:rPr>
              <a:t>PEG+ + M1-swap + M3</a:t>
            </a:r>
            <a:endParaRPr lang="en-US" sz="1600" dirty="0"/>
          </a:p>
          <a:p>
            <a:pPr indent="0" marL="0">
              <a:buNone/>
            </a:pPr>
            <a:r>
              <a:rPr lang="en-US" sz="1200" dirty="0">
                <a:solidFill>
                  <a:srgbClr val="A3A8B0"/>
                </a:solidFill>
                <a:latin typeface="Arial" pitchFamily="34" charset="0"/>
                <a:ea typeface="Arial" pitchFamily="34" charset="-122"/>
                <a:cs typeface="Arial" pitchFamily="34" charset="-120"/>
              </a:rPr>
              <a:t>chọn trên test</a:t>
            </a:r>
            <a:endParaRPr lang="en-US" sz="1600" dirty="0"/>
          </a:p>
        </p:txBody>
      </p:sp>
      <p:sp>
        <p:nvSpPr>
          <p:cNvPr id="43" name="Text 41"/>
          <p:cNvSpPr txBox="1"/>
          <p:nvPr/>
        </p:nvSpPr>
        <p:spPr>
          <a:xfrm>
            <a:off x="3749040" y="4754880"/>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68.81</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+0.62</a:t>
            </a:r>
            <a:endParaRPr lang="en-US" sz="2000" dirty="0"/>
          </a:p>
        </p:txBody>
      </p:sp>
      <p:sp>
        <p:nvSpPr>
          <p:cNvPr id="44" name="Text 42"/>
          <p:cNvSpPr txBox="1"/>
          <p:nvPr/>
        </p:nvSpPr>
        <p:spPr>
          <a:xfrm>
            <a:off x="5065776" y="4754880"/>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70.16</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−0.11</a:t>
            </a:r>
            <a:endParaRPr lang="en-US" sz="2000" dirty="0"/>
          </a:p>
        </p:txBody>
      </p:sp>
      <p:sp>
        <p:nvSpPr>
          <p:cNvPr id="45" name="Text 43"/>
          <p:cNvSpPr txBox="1"/>
          <p:nvPr/>
        </p:nvSpPr>
        <p:spPr>
          <a:xfrm>
            <a:off x="6382512" y="4754880"/>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63.17</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+1.47</a:t>
            </a:r>
            <a:endParaRPr lang="en-US" sz="2000" dirty="0"/>
          </a:p>
        </p:txBody>
      </p:sp>
      <p:sp>
        <p:nvSpPr>
          <p:cNvPr id="46" name="Text 44"/>
          <p:cNvSpPr txBox="1"/>
          <p:nvPr/>
        </p:nvSpPr>
        <p:spPr>
          <a:xfrm>
            <a:off x="7699248" y="4754880"/>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76.31</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+0.06</a:t>
            </a:r>
            <a:endParaRPr lang="en-US" sz="2000" dirty="0"/>
          </a:p>
        </p:txBody>
      </p:sp>
      <p:sp>
        <p:nvSpPr>
          <p:cNvPr id="47" name="Text 45"/>
          <p:cNvSpPr txBox="1"/>
          <p:nvPr/>
        </p:nvSpPr>
        <p:spPr>
          <a:xfrm>
            <a:off x="9015984" y="4754880"/>
            <a:ext cx="1316736" cy="804672"/>
          </a:xfrm>
          <a:prstGeom prst="rect">
            <a:avLst/>
          </a:prstGeom>
          <a:noFill/>
          <a:ln/>
        </p:spPr>
        <p:txBody>
          <a:bodyPr wrap="square" lIns="0" tIns="0" rIns="0" bIns="0" rtlCol="0" anchor="ctr"/>
          <a:lstStyle/>
          <a:p>
            <a:pPr algn="ctr" indent="0" marL="0">
              <a:buNone/>
            </a:pPr>
            <a:r>
              <a:rPr lang="en-US" sz="2000" b="1" dirty="0">
                <a:solidFill>
                  <a:srgbClr val="19A35F"/>
                </a:solidFill>
                <a:latin typeface="Arial" pitchFamily="34" charset="0"/>
                <a:ea typeface="Arial" pitchFamily="34" charset="-122"/>
                <a:cs typeface="Arial" pitchFamily="34" charset="-120"/>
              </a:rPr>
              <a:t>82.2</a:t>
            </a:r>
            <a:endParaRPr lang="en-US" sz="2000" dirty="0"/>
          </a:p>
          <a:p>
            <a:pPr algn="ctr" indent="0" marL="0">
              <a:buNone/>
            </a:pPr>
            <a:r>
              <a:rPr lang="en-US" sz="1200" b="1" dirty="0">
                <a:solidFill>
                  <a:srgbClr val="19A35F"/>
                </a:solidFill>
                <a:latin typeface="Arial" pitchFamily="34" charset="0"/>
                <a:ea typeface="Arial" pitchFamily="34" charset="-122"/>
                <a:cs typeface="Arial" pitchFamily="34" charset="-120"/>
              </a:rPr>
              <a:t>+5.6</a:t>
            </a:r>
            <a:endParaRPr lang="en-US" sz="2000" dirty="0"/>
          </a:p>
        </p:txBody>
      </p:sp>
      <p:sp>
        <p:nvSpPr>
          <p:cNvPr id="48" name="Text 46"/>
          <p:cNvSpPr txBox="1"/>
          <p:nvPr/>
        </p:nvSpPr>
        <p:spPr>
          <a:xfrm>
            <a:off x="10332720" y="4754880"/>
            <a:ext cx="1316736" cy="804672"/>
          </a:xfrm>
          <a:prstGeom prst="rect">
            <a:avLst/>
          </a:prstGeom>
          <a:noFill/>
          <a:ln/>
        </p:spPr>
        <p:txBody>
          <a:bodyPr wrap="square" lIns="0" tIns="0" rIns="0" bIns="0" rtlCol="0" anchor="ctr"/>
          <a:lstStyle/>
          <a:p>
            <a:pPr algn="ctr" indent="0" marL="0">
              <a:buNone/>
            </a:pPr>
            <a:r>
              <a:rPr lang="en-US" sz="2000" b="1" dirty="0">
                <a:solidFill>
                  <a:srgbClr val="E66767"/>
                </a:solidFill>
                <a:latin typeface="Arial" pitchFamily="34" charset="0"/>
                <a:ea typeface="Arial" pitchFamily="34" charset="-122"/>
                <a:cs typeface="Arial" pitchFamily="34" charset="-120"/>
              </a:rPr>
              <a:t>67.3</a:t>
            </a:r>
            <a:endParaRPr lang="en-US" sz="2000" dirty="0"/>
          </a:p>
          <a:p>
            <a:pPr algn="ctr" indent="0" marL="0">
              <a:buNone/>
            </a:pPr>
            <a:r>
              <a:rPr lang="en-US" sz="1200" b="1" dirty="0">
                <a:solidFill>
                  <a:srgbClr val="E66767"/>
                </a:solidFill>
                <a:latin typeface="Arial" pitchFamily="34" charset="0"/>
                <a:ea typeface="Arial" pitchFamily="34" charset="-122"/>
                <a:cs typeface="Arial" pitchFamily="34" charset="-120"/>
              </a:rPr>
              <a:t>−0.3</a:t>
            </a:r>
            <a:endParaRPr lang="en-US" sz="2000" dirty="0"/>
          </a:p>
        </p:txBody>
      </p:sp>
      <p:sp>
        <p:nvSpPr>
          <p:cNvPr id="49" name="Text 47"/>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Xanh = tốt hơn PEG trên cùng tập, đỏ = xấu hơn. Hai tập có độ khó khác nhau, chỉ so trong cùng cột.</a:t>
            </a:r>
            <a:endParaRPr lang="en-US" sz="1200" dirty="0"/>
          </a:p>
        </p:txBody>
      </p:sp>
      <p:sp>
        <p:nvSpPr>
          <p:cNvPr id="50" name="Shape 48"/>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51" name="Text 49"/>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52" name="Text 5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VÌ SAO · ĐẾM TỪNG LẦN CHÓI</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Vì sao: một lần chói có thể quyết định cả bảng</a:t>
            </a:r>
            <a:endParaRPr lang="en-US" sz="3000" dirty="0"/>
          </a:p>
        </p:txBody>
      </p:sp>
      <p:sp>
        <p:nvSpPr>
          <p:cNvPr id="4" name="Shape 2"/>
          <p:cNvSpPr/>
          <p:nvPr/>
        </p:nvSpPr>
        <p:spPr>
          <a:xfrm>
            <a:off x="548640" y="1508760"/>
            <a:ext cx="3566160" cy="2743200"/>
          </a:xfrm>
          <a:prstGeom prst="roundRect">
            <a:avLst>
              <a:gd name="adj" fmla="val 4000"/>
            </a:avLst>
          </a:prstGeom>
          <a:solidFill>
            <a:srgbClr val="22252B"/>
          </a:solidFill>
          <a:ln w="12700">
            <a:solidFill>
              <a:srgbClr val="22252B"/>
            </a:solidFill>
            <a:prstDash val="solid"/>
          </a:ln>
        </p:spPr>
      </p:sp>
      <p:sp>
        <p:nvSpPr>
          <p:cNvPr id="5" name="Shape 3"/>
          <p:cNvSpPr/>
          <p:nvPr/>
        </p:nvSpPr>
        <p:spPr>
          <a:xfrm>
            <a:off x="548640" y="1508760"/>
            <a:ext cx="91440" cy="2743200"/>
          </a:xfrm>
          <a:prstGeom prst="rect">
            <a:avLst/>
          </a:prstGeom>
          <a:solidFill>
            <a:srgbClr val="F2A900"/>
          </a:solidFill>
          <a:ln w="12700">
            <a:solidFill>
              <a:srgbClr val="F2A900"/>
            </a:solidFill>
            <a:prstDash val="solid"/>
          </a:ln>
        </p:spPr>
      </p:sp>
      <p:sp>
        <p:nvSpPr>
          <p:cNvPr id="6" name="Text 4"/>
          <p:cNvSpPr txBox="1"/>
          <p:nvPr/>
        </p:nvSpPr>
        <p:spPr>
          <a:xfrm>
            <a:off x="822960" y="1600200"/>
            <a:ext cx="3108960" cy="365760"/>
          </a:xfrm>
          <a:prstGeom prst="rect">
            <a:avLst/>
          </a:prstGeom>
          <a:noFill/>
          <a:ln/>
        </p:spPr>
        <p:txBody>
          <a:bodyPr wrap="square" lIns="0" tIns="0" rIns="0" bIns="0" rtlCol="0" anchor="t"/>
          <a:lstStyle/>
          <a:p>
            <a:pPr indent="0" marL="0">
              <a:buNone/>
            </a:pPr>
            <a:r>
              <a:rPr lang="en-US" sz="1800" b="1" dirty="0">
                <a:solidFill>
                  <a:srgbClr val="F2A900"/>
                </a:solidFill>
                <a:latin typeface="Arial" pitchFamily="34" charset="0"/>
                <a:ea typeface="Arial" pitchFamily="34" charset="-122"/>
                <a:cs typeface="Arial" pitchFamily="34" charset="-120"/>
              </a:rPr>
              <a:t>M1-damp</a:t>
            </a:r>
            <a:endParaRPr lang="en-US" sz="1800" dirty="0"/>
          </a:p>
        </p:txBody>
      </p:sp>
      <p:sp>
        <p:nvSpPr>
          <p:cNvPr id="7" name="Text 5"/>
          <p:cNvSpPr txBox="1"/>
          <p:nvPr/>
        </p:nvSpPr>
        <p:spPr>
          <a:xfrm>
            <a:off x="822960" y="1965960"/>
            <a:ext cx="3108960" cy="868680"/>
          </a:xfrm>
          <a:prstGeom prst="rect">
            <a:avLst/>
          </a:prstGeom>
          <a:noFill/>
          <a:ln/>
        </p:spPr>
        <p:txBody>
          <a:bodyPr wrap="square" lIns="0" tIns="0" rIns="0" bIns="0" rtlCol="0" anchor="ctr"/>
          <a:lstStyle/>
          <a:p>
            <a:pPr indent="0" marL="0">
              <a:buNone/>
            </a:pPr>
            <a:r>
              <a:rPr lang="en-US" sz="3800" b="1" dirty="0">
                <a:solidFill>
                  <a:srgbClr val="F2F2F2"/>
                </a:solidFill>
                <a:latin typeface="Arial" pitchFamily="34" charset="0"/>
                <a:ea typeface="Arial" pitchFamily="34" charset="-122"/>
                <a:cs typeface="Arial" pitchFamily="34" charset="-120"/>
              </a:rPr>
              <a:t>3 → 13</a:t>
            </a:r>
            <a:endParaRPr lang="en-US" sz="3800" dirty="0"/>
          </a:p>
        </p:txBody>
      </p:sp>
      <p:sp>
        <p:nvSpPr>
          <p:cNvPr id="8" name="Text 6"/>
          <p:cNvSpPr txBox="1"/>
          <p:nvPr/>
        </p:nvSpPr>
        <p:spPr>
          <a:xfrm>
            <a:off x="822960" y="2880360"/>
            <a:ext cx="3154680" cy="13258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val: được chọn nhờ đúng 1 lần chói (video 332). Test: 9 lần chói tệ hơn, mất 87 frame.</a:t>
            </a:r>
            <a:endParaRPr lang="en-US" sz="1300" dirty="0"/>
          </a:p>
        </p:txBody>
      </p:sp>
      <p:sp>
        <p:nvSpPr>
          <p:cNvPr id="9" name="Shape 7"/>
          <p:cNvSpPr/>
          <p:nvPr/>
        </p:nvSpPr>
        <p:spPr>
          <a:xfrm>
            <a:off x="4315968" y="1508760"/>
            <a:ext cx="3566160" cy="2743200"/>
          </a:xfrm>
          <a:prstGeom prst="roundRect">
            <a:avLst>
              <a:gd name="adj" fmla="val 4000"/>
            </a:avLst>
          </a:prstGeom>
          <a:solidFill>
            <a:srgbClr val="22252B"/>
          </a:solidFill>
          <a:ln w="12700">
            <a:solidFill>
              <a:srgbClr val="22252B"/>
            </a:solidFill>
            <a:prstDash val="solid"/>
          </a:ln>
        </p:spPr>
      </p:sp>
      <p:sp>
        <p:nvSpPr>
          <p:cNvPr id="10" name="Shape 8"/>
          <p:cNvSpPr/>
          <p:nvPr/>
        </p:nvSpPr>
        <p:spPr>
          <a:xfrm>
            <a:off x="4315968" y="1508760"/>
            <a:ext cx="91440" cy="2743200"/>
          </a:xfrm>
          <a:prstGeom prst="rect">
            <a:avLst/>
          </a:prstGeom>
          <a:solidFill>
            <a:srgbClr val="19A35F"/>
          </a:solidFill>
          <a:ln w="12700">
            <a:solidFill>
              <a:srgbClr val="19A35F"/>
            </a:solidFill>
            <a:prstDash val="solid"/>
          </a:ln>
        </p:spPr>
      </p:sp>
      <p:sp>
        <p:nvSpPr>
          <p:cNvPr id="11" name="Text 9"/>
          <p:cNvSpPr txBox="1"/>
          <p:nvPr/>
        </p:nvSpPr>
        <p:spPr>
          <a:xfrm>
            <a:off x="4590288" y="1600200"/>
            <a:ext cx="3108960" cy="365760"/>
          </a:xfrm>
          <a:prstGeom prst="rect">
            <a:avLst/>
          </a:prstGeom>
          <a:noFill/>
          <a:ln/>
        </p:spPr>
        <p:txBody>
          <a:bodyPr wrap="square" lIns="0" tIns="0" rIns="0" bIns="0" rtlCol="0" anchor="t"/>
          <a:lstStyle/>
          <a:p>
            <a:pPr indent="0" marL="0">
              <a:buNone/>
            </a:pPr>
            <a:r>
              <a:rPr lang="en-US" sz="1800" b="1" dirty="0">
                <a:solidFill>
                  <a:srgbClr val="19A35F"/>
                </a:solidFill>
                <a:latin typeface="Arial" pitchFamily="34" charset="0"/>
                <a:ea typeface="Arial" pitchFamily="34" charset="-122"/>
                <a:cs typeface="Arial" pitchFamily="34" charset="-120"/>
              </a:rPr>
              <a:t>PEG+</a:t>
            </a:r>
            <a:endParaRPr lang="en-US" sz="1800" dirty="0"/>
          </a:p>
        </p:txBody>
      </p:sp>
      <p:sp>
        <p:nvSpPr>
          <p:cNvPr id="12" name="Text 10"/>
          <p:cNvSpPr txBox="1"/>
          <p:nvPr/>
        </p:nvSpPr>
        <p:spPr>
          <a:xfrm>
            <a:off x="4590288" y="1965960"/>
            <a:ext cx="3108960" cy="868680"/>
          </a:xfrm>
          <a:prstGeom prst="rect">
            <a:avLst/>
          </a:prstGeom>
          <a:noFill/>
          <a:ln/>
        </p:spPr>
        <p:txBody>
          <a:bodyPr wrap="square" lIns="0" tIns="0" rIns="0" bIns="0" rtlCol="0" anchor="ctr"/>
          <a:lstStyle/>
          <a:p>
            <a:pPr indent="0" marL="0">
              <a:buNone/>
            </a:pPr>
            <a:r>
              <a:rPr lang="en-US" sz="3800" b="1" dirty="0">
                <a:solidFill>
                  <a:srgbClr val="F2F2F2"/>
                </a:solidFill>
                <a:latin typeface="Arial" pitchFamily="34" charset="0"/>
                <a:ea typeface="Arial" pitchFamily="34" charset="-122"/>
                <a:cs typeface="Arial" pitchFamily="34" charset="-120"/>
              </a:rPr>
              <a:t>+5.6 / −0.4</a:t>
            </a:r>
            <a:endParaRPr lang="en-US" sz="3800" dirty="0"/>
          </a:p>
        </p:txBody>
      </p:sp>
      <p:sp>
        <p:nvSpPr>
          <p:cNvPr id="13" name="Text 11"/>
          <p:cNvSpPr txBox="1"/>
          <p:nvPr/>
        </p:nvSpPr>
        <p:spPr>
          <a:xfrm>
            <a:off x="4590288" y="2880360"/>
            <a:ext cx="3154680" cy="13258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Rcv test / val. Lỗi của PEG trên val chủ yếu là người chưa từng được track (3 lần chói gần 0 frame), không phải box co lại.</a:t>
            </a:r>
            <a:endParaRPr lang="en-US" sz="1300" dirty="0"/>
          </a:p>
        </p:txBody>
      </p:sp>
      <p:sp>
        <p:nvSpPr>
          <p:cNvPr id="14" name="Shape 12"/>
          <p:cNvSpPr/>
          <p:nvPr/>
        </p:nvSpPr>
        <p:spPr>
          <a:xfrm>
            <a:off x="8083296" y="1508760"/>
            <a:ext cx="3566160" cy="2743200"/>
          </a:xfrm>
          <a:prstGeom prst="roundRect">
            <a:avLst>
              <a:gd name="adj" fmla="val 4000"/>
            </a:avLst>
          </a:prstGeom>
          <a:solidFill>
            <a:srgbClr val="22252B"/>
          </a:solidFill>
          <a:ln w="12700">
            <a:solidFill>
              <a:srgbClr val="22252B"/>
            </a:solidFill>
            <a:prstDash val="solid"/>
          </a:ln>
        </p:spPr>
      </p:sp>
      <p:sp>
        <p:nvSpPr>
          <p:cNvPr id="15" name="Shape 13"/>
          <p:cNvSpPr/>
          <p:nvPr/>
        </p:nvSpPr>
        <p:spPr>
          <a:xfrm>
            <a:off x="8083296" y="1508760"/>
            <a:ext cx="91440" cy="2743200"/>
          </a:xfrm>
          <a:prstGeom prst="rect">
            <a:avLst/>
          </a:prstGeom>
          <a:solidFill>
            <a:srgbClr val="1B9AA6"/>
          </a:solidFill>
          <a:ln w="12700">
            <a:solidFill>
              <a:srgbClr val="1B9AA6"/>
            </a:solidFill>
            <a:prstDash val="solid"/>
          </a:ln>
        </p:spPr>
      </p:sp>
      <p:sp>
        <p:nvSpPr>
          <p:cNvPr id="16" name="Text 14"/>
          <p:cNvSpPr txBox="1"/>
          <p:nvPr/>
        </p:nvSpPr>
        <p:spPr>
          <a:xfrm>
            <a:off x="8357616" y="1600200"/>
            <a:ext cx="3108960" cy="365760"/>
          </a:xfrm>
          <a:prstGeom prst="rect">
            <a:avLst/>
          </a:prstGeom>
          <a:noFill/>
          <a:ln/>
        </p:spPr>
        <p:txBody>
          <a:bodyPr wrap="square" lIns="0" tIns="0" rIns="0" bIns="0" rtlCol="0" anchor="t"/>
          <a:lstStyle/>
          <a:p>
            <a:pPr indent="0" marL="0">
              <a:buNone/>
            </a:pPr>
            <a:r>
              <a:rPr lang="en-US" sz="1800" b="1" dirty="0">
                <a:solidFill>
                  <a:srgbClr val="1B9AA6"/>
                </a:solidFill>
                <a:latin typeface="Arial" pitchFamily="34" charset="0"/>
                <a:ea typeface="Arial" pitchFamily="34" charset="-122"/>
                <a:cs typeface="Arial" pitchFamily="34" charset="-120"/>
              </a:rPr>
              <a:t>M1-swap</a:t>
            </a:r>
            <a:endParaRPr lang="en-US" sz="1800" dirty="0"/>
          </a:p>
        </p:txBody>
      </p:sp>
      <p:sp>
        <p:nvSpPr>
          <p:cNvPr id="17" name="Text 15"/>
          <p:cNvSpPr txBox="1"/>
          <p:nvPr/>
        </p:nvSpPr>
        <p:spPr>
          <a:xfrm>
            <a:off x="8357616" y="1965960"/>
            <a:ext cx="3108960" cy="868680"/>
          </a:xfrm>
          <a:prstGeom prst="rect">
            <a:avLst/>
          </a:prstGeom>
          <a:noFill/>
          <a:ln/>
        </p:spPr>
        <p:txBody>
          <a:bodyPr wrap="square" lIns="0" tIns="0" rIns="0" bIns="0" rtlCol="0" anchor="ctr"/>
          <a:lstStyle/>
          <a:p>
            <a:pPr indent="0" marL="0">
              <a:buNone/>
            </a:pPr>
            <a:r>
              <a:rPr lang="en-US" sz="3800" b="1" dirty="0">
                <a:solidFill>
                  <a:srgbClr val="F2F2F2"/>
                </a:solidFill>
                <a:latin typeface="Arial" pitchFamily="34" charset="0"/>
                <a:ea typeface="Arial" pitchFamily="34" charset="-122"/>
                <a:cs typeface="Arial" pitchFamily="34" charset="-120"/>
              </a:rPr>
              <a:t>15 → 22</a:t>
            </a:r>
            <a:endParaRPr lang="en-US" sz="3800" dirty="0"/>
          </a:p>
        </p:txBody>
      </p:sp>
      <p:sp>
        <p:nvSpPr>
          <p:cNvPr id="18" name="Text 16"/>
          <p:cNvSpPr txBox="1"/>
          <p:nvPr/>
        </p:nvSpPr>
        <p:spPr>
          <a:xfrm>
            <a:off x="8357616" y="2880360"/>
            <a:ext cx="3154680" cy="132588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IDSW trên val. Phần tăng Table I trên test đến từ 1 video (129); trên val HOTA −0.04.</a:t>
            </a:r>
            <a:endParaRPr lang="en-US" sz="1300" dirty="0"/>
          </a:p>
        </p:txBody>
      </p:sp>
      <p:sp>
        <p:nvSpPr>
          <p:cNvPr id="19" name="Shape 17"/>
          <p:cNvSpPr/>
          <p:nvPr/>
        </p:nvSpPr>
        <p:spPr>
          <a:xfrm>
            <a:off x="548640" y="4434840"/>
            <a:ext cx="11091672" cy="1600200"/>
          </a:xfrm>
          <a:prstGeom prst="roundRect">
            <a:avLst>
              <a:gd name="adj" fmla="val 6857"/>
            </a:avLst>
          </a:prstGeom>
          <a:solidFill>
            <a:srgbClr val="2B2F36"/>
          </a:solidFill>
          <a:ln w="12700">
            <a:solidFill>
              <a:srgbClr val="2B2F36"/>
            </a:solidFill>
            <a:prstDash val="solid"/>
          </a:ln>
        </p:spPr>
      </p:sp>
      <p:sp>
        <p:nvSpPr>
          <p:cNvPr id="20" name="Shape 18"/>
          <p:cNvSpPr/>
          <p:nvPr/>
        </p:nvSpPr>
        <p:spPr>
          <a:xfrm>
            <a:off x="548640" y="4434840"/>
            <a:ext cx="91440" cy="1600200"/>
          </a:xfrm>
          <a:prstGeom prst="rect">
            <a:avLst/>
          </a:prstGeom>
          <a:solidFill>
            <a:srgbClr val="E66767"/>
          </a:solidFill>
          <a:ln w="12700">
            <a:solidFill>
              <a:srgbClr val="E66767"/>
            </a:solidFill>
            <a:prstDash val="solid"/>
          </a:ln>
        </p:spPr>
      </p:sp>
      <p:sp>
        <p:nvSpPr>
          <p:cNvPr id="21" name="Text 19"/>
          <p:cNvSpPr txBox="1"/>
          <p:nvPr/>
        </p:nvSpPr>
        <p:spPr>
          <a:xfrm>
            <a:off x="868680" y="4480560"/>
            <a:ext cx="10607040" cy="1508760"/>
          </a:xfrm>
          <a:prstGeom prst="rect">
            <a:avLst/>
          </a:prstGeom>
          <a:noFill/>
          <a:ln/>
        </p:spPr>
        <p:txBody>
          <a:bodyPr wrap="square" lIns="0" tIns="0" rIns="0" bIns="0" rtlCol="0" anchor="ctr"/>
          <a:lstStyle/>
          <a:p>
            <a:pPr indent="0" marL="0">
              <a:buNone/>
            </a:pPr>
            <a:r>
              <a:rPr lang="en-US" sz="1800" b="1" dirty="0">
                <a:solidFill>
                  <a:srgbClr val="F2F2F2"/>
                </a:solidFill>
                <a:latin typeface="Arial" pitchFamily="34" charset="0"/>
                <a:ea typeface="Arial" pitchFamily="34" charset="-122"/>
                <a:cs typeface="Arial" pitchFamily="34" charset="-120"/>
              </a:rPr>
              <a:t>Bài học: ngưỡng +0.5 quá thấp. Trên val, 1 frame = 0.18 điểm Rcv.</a:t>
            </a:r>
            <a:endParaRPr lang="en-US" sz="1600" dirty="0"/>
          </a:p>
          <a:p>
            <a:pPr indent="0" marL="0">
              <a:buNone/>
            </a:pPr>
            <a:r>
              <a:rPr lang="en-US" sz="1500" dirty="0">
                <a:solidFill>
                  <a:srgbClr val="F2F2F2"/>
                </a:solidFill>
                <a:latin typeface="Arial" pitchFamily="34" charset="0"/>
                <a:ea typeface="Arial" pitchFamily="34" charset="-122"/>
                <a:cs typeface="Arial" pitchFamily="34" charset="-120"/>
              </a:rPr>
              <a:t>Gộp cả 48 lần chói (val + test), khoảng tin cậy 95%: PEG+ +3.2 [+0.1, +7.3], M1-damp −5.6 [−10.6, −1.2].</a:t>
            </a:r>
            <a:endParaRPr lang="en-US" sz="1600" dirty="0"/>
          </a:p>
          <a:p>
            <a:pPr indent="0" marL="0">
              <a:buNone/>
            </a:pPr>
            <a:r>
              <a:rPr lang="en-US" sz="1500" b="1" dirty="0">
                <a:solidFill>
                  <a:srgbClr val="F2A900"/>
                </a:solidFill>
                <a:latin typeface="Arial" pitchFamily="34" charset="0"/>
                <a:ea typeface="Arial" pitchFamily="34" charset="-122"/>
                <a:cs typeface="Arial" pitchFamily="34" charset="-120"/>
              </a:rPr>
              <a:t>Lần sau: chỉ nhận một thành phần khi khoảng tin cậy không chứa 0.</a:t>
            </a:r>
            <a:endParaRPr lang="en-US" sz="1600" dirty="0"/>
          </a:p>
        </p:txBody>
      </p:sp>
      <p:sp>
        <p:nvSpPr>
          <p:cNvPr id="22" name="Shape 20"/>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23" name="Text 21"/>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24" name="Text 2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TỔNG QUAN</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PEG-F v2: Thạch sửa lại, giờ có 6 method</a:t>
            </a:r>
            <a:endParaRPr lang="en-US" sz="3000" dirty="0"/>
          </a:p>
        </p:txBody>
      </p:sp>
      <p:sp>
        <p:nvSpPr>
          <p:cNvPr id="4" name="Shape 2"/>
          <p:cNvSpPr/>
          <p:nvPr/>
        </p:nvSpPr>
        <p:spPr>
          <a:xfrm>
            <a:off x="548640" y="1463040"/>
            <a:ext cx="11091672" cy="603504"/>
          </a:xfrm>
          <a:prstGeom prst="roundRect">
            <a:avLst>
              <a:gd name="adj" fmla="val 18182"/>
            </a:avLst>
          </a:prstGeom>
          <a:solidFill>
            <a:srgbClr val="22252B"/>
          </a:solidFill>
          <a:ln w="12700">
            <a:solidFill>
              <a:srgbClr val="22252B"/>
            </a:solidFill>
            <a:prstDash val="solid"/>
          </a:ln>
        </p:spPr>
      </p:sp>
      <p:sp>
        <p:nvSpPr>
          <p:cNvPr id="5" name="Shape 3"/>
          <p:cNvSpPr/>
          <p:nvPr/>
        </p:nvSpPr>
        <p:spPr>
          <a:xfrm>
            <a:off x="548640" y="1463040"/>
            <a:ext cx="91440" cy="603504"/>
          </a:xfrm>
          <a:prstGeom prst="rect">
            <a:avLst/>
          </a:prstGeom>
          <a:solidFill>
            <a:srgbClr val="9B6EE8"/>
          </a:solidFill>
          <a:ln w="12700">
            <a:solidFill>
              <a:srgbClr val="9B6EE8"/>
            </a:solidFill>
            <a:prstDash val="solid"/>
          </a:ln>
        </p:spPr>
      </p:sp>
      <p:sp>
        <p:nvSpPr>
          <p:cNvPr id="6" name="Text 4"/>
          <p:cNvSpPr txBox="1"/>
          <p:nvPr/>
        </p:nvSpPr>
        <p:spPr>
          <a:xfrm>
            <a:off x="822960" y="1463040"/>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M1</a:t>
            </a:r>
            <a:endParaRPr lang="en-US" sz="2200" dirty="0"/>
          </a:p>
        </p:txBody>
      </p:sp>
      <p:sp>
        <p:nvSpPr>
          <p:cNvPr id="7" name="Text 5"/>
          <p:cNvSpPr txBox="1"/>
          <p:nvPr/>
        </p:nvSpPr>
        <p:spPr>
          <a:xfrm>
            <a:off x="1600200" y="1463040"/>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Vùng bất định (cone)</a:t>
            </a:r>
            <a:endParaRPr lang="en-US" sz="1600" dirty="0"/>
          </a:p>
        </p:txBody>
      </p:sp>
      <p:sp>
        <p:nvSpPr>
          <p:cNvPr id="8" name="Text 6"/>
          <p:cNvSpPr txBox="1"/>
          <p:nvPr/>
        </p:nvSpPr>
        <p:spPr>
          <a:xfrm>
            <a:off x="4892040" y="1463040"/>
            <a:ext cx="822960" cy="603504"/>
          </a:xfrm>
          <a:prstGeom prst="rect">
            <a:avLst/>
          </a:prstGeom>
          <a:noFill/>
          <a:ln/>
        </p:spPr>
        <p:txBody>
          <a:bodyPr wrap="square" lIns="0" tIns="0" rIns="0" bIns="0" rtlCol="0" anchor="ctr"/>
          <a:lstStyle/>
          <a:p>
            <a:pPr indent="0" marL="0">
              <a:buNone/>
            </a:pPr>
            <a:r>
              <a:rPr lang="en-US" sz="1200" b="1" dirty="0">
                <a:solidFill>
                  <a:srgbClr val="F2A900"/>
                </a:solidFill>
                <a:latin typeface="Arial" pitchFamily="34" charset="0"/>
                <a:ea typeface="Arial" pitchFamily="34" charset="-122"/>
                <a:cs typeface="Arial" pitchFamily="34" charset="-120"/>
              </a:rPr>
              <a:t>MỚI</a:t>
            </a:r>
            <a:endParaRPr lang="en-US" sz="1200" dirty="0"/>
          </a:p>
        </p:txBody>
      </p:sp>
      <p:sp>
        <p:nvSpPr>
          <p:cNvPr id="9" name="Text 7"/>
          <p:cNvSpPr txBox="1"/>
          <p:nvPr/>
        </p:nvSpPr>
        <p:spPr>
          <a:xfrm>
            <a:off x="5715000" y="1463040"/>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Khi mất người lâu, vùng tìm lại nở rộng dần; khớp lại ID cũ thay vì sinh ID mới.</a:t>
            </a:r>
            <a:endParaRPr lang="en-US" sz="1300" dirty="0"/>
          </a:p>
        </p:txBody>
      </p:sp>
      <p:sp>
        <p:nvSpPr>
          <p:cNvPr id="10" name="Shape 8"/>
          <p:cNvSpPr/>
          <p:nvPr/>
        </p:nvSpPr>
        <p:spPr>
          <a:xfrm>
            <a:off x="548640" y="2139696"/>
            <a:ext cx="11091672" cy="603504"/>
          </a:xfrm>
          <a:prstGeom prst="roundRect">
            <a:avLst>
              <a:gd name="adj" fmla="val 18182"/>
            </a:avLst>
          </a:prstGeom>
          <a:solidFill>
            <a:srgbClr val="22252B"/>
          </a:solidFill>
          <a:ln w="12700">
            <a:solidFill>
              <a:srgbClr val="22252B"/>
            </a:solidFill>
            <a:prstDash val="solid"/>
          </a:ln>
        </p:spPr>
      </p:sp>
      <p:sp>
        <p:nvSpPr>
          <p:cNvPr id="11" name="Shape 9"/>
          <p:cNvSpPr/>
          <p:nvPr/>
        </p:nvSpPr>
        <p:spPr>
          <a:xfrm>
            <a:off x="548640" y="2139696"/>
            <a:ext cx="91440" cy="603504"/>
          </a:xfrm>
          <a:prstGeom prst="rect">
            <a:avLst/>
          </a:prstGeom>
          <a:solidFill>
            <a:srgbClr val="9B6EE8"/>
          </a:solidFill>
          <a:ln w="12700">
            <a:solidFill>
              <a:srgbClr val="9B6EE8"/>
            </a:solidFill>
            <a:prstDash val="solid"/>
          </a:ln>
        </p:spPr>
      </p:sp>
      <p:sp>
        <p:nvSpPr>
          <p:cNvPr id="12" name="Text 10"/>
          <p:cNvSpPr txBox="1"/>
          <p:nvPr/>
        </p:nvSpPr>
        <p:spPr>
          <a:xfrm>
            <a:off x="822960" y="2139696"/>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M2</a:t>
            </a:r>
            <a:endParaRPr lang="en-US" sz="2200" dirty="0"/>
          </a:p>
        </p:txBody>
      </p:sp>
      <p:sp>
        <p:nvSpPr>
          <p:cNvPr id="13" name="Text 11"/>
          <p:cNvSpPr txBox="1"/>
          <p:nvPr/>
        </p:nvSpPr>
        <p:spPr>
          <a:xfrm>
            <a:off x="1600200" y="2139696"/>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Re-ID: feature detector + màu</a:t>
            </a:r>
            <a:endParaRPr lang="en-US" sz="1600" dirty="0"/>
          </a:p>
        </p:txBody>
      </p:sp>
      <p:sp>
        <p:nvSpPr>
          <p:cNvPr id="14" name="Text 12"/>
          <p:cNvSpPr txBox="1"/>
          <p:nvPr/>
        </p:nvSpPr>
        <p:spPr>
          <a:xfrm>
            <a:off x="4892040" y="2139696"/>
            <a:ext cx="822960" cy="603504"/>
          </a:xfrm>
          <a:prstGeom prst="rect">
            <a:avLst/>
          </a:prstGeom>
          <a:noFill/>
          <a:ln/>
        </p:spPr>
        <p:txBody>
          <a:bodyPr wrap="square" lIns="0" tIns="0" rIns="0" bIns="0" rtlCol="0" anchor="ctr"/>
          <a:lstStyle/>
          <a:p>
            <a:pPr indent="0" marL="0">
              <a:buNone/>
            </a:pPr>
            <a:r>
              <a:rPr lang="en-US" sz="1200" b="1" dirty="0">
                <a:solidFill>
                  <a:srgbClr val="F2A900"/>
                </a:solidFill>
                <a:latin typeface="Arial" pitchFamily="34" charset="0"/>
                <a:ea typeface="Arial" pitchFamily="34" charset="-122"/>
                <a:cs typeface="Arial" pitchFamily="34" charset="-120"/>
              </a:rPr>
              <a:t>MỚI</a:t>
            </a:r>
            <a:endParaRPr lang="en-US" sz="1200" dirty="0"/>
          </a:p>
        </p:txBody>
      </p:sp>
      <p:sp>
        <p:nvSpPr>
          <p:cNvPr id="15" name="Text 13"/>
          <p:cNvSpPr txBox="1"/>
          <p:nvPr/>
        </p:nvSpPr>
        <p:spPr>
          <a:xfrm>
            <a:off x="5715000" y="2139696"/>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“Dấu vân tay” lấy từ chính detector (không thêm mạng) + màu HSV, lưu lúc chưa chói.</a:t>
            </a:r>
            <a:endParaRPr lang="en-US" sz="1300" dirty="0"/>
          </a:p>
        </p:txBody>
      </p:sp>
      <p:sp>
        <p:nvSpPr>
          <p:cNvPr id="16" name="Shape 14"/>
          <p:cNvSpPr/>
          <p:nvPr/>
        </p:nvSpPr>
        <p:spPr>
          <a:xfrm>
            <a:off x="548640" y="2816352"/>
            <a:ext cx="11091672" cy="603504"/>
          </a:xfrm>
          <a:prstGeom prst="roundRect">
            <a:avLst>
              <a:gd name="adj" fmla="val 18182"/>
            </a:avLst>
          </a:prstGeom>
          <a:solidFill>
            <a:srgbClr val="22252B"/>
          </a:solidFill>
          <a:ln w="12700">
            <a:solidFill>
              <a:srgbClr val="22252B"/>
            </a:solidFill>
            <a:prstDash val="solid"/>
          </a:ln>
        </p:spPr>
      </p:sp>
      <p:sp>
        <p:nvSpPr>
          <p:cNvPr id="17" name="Shape 15"/>
          <p:cNvSpPr/>
          <p:nvPr/>
        </p:nvSpPr>
        <p:spPr>
          <a:xfrm>
            <a:off x="548640" y="2816352"/>
            <a:ext cx="91440" cy="603504"/>
          </a:xfrm>
          <a:prstGeom prst="rect">
            <a:avLst/>
          </a:prstGeom>
          <a:solidFill>
            <a:srgbClr val="9B6EE8"/>
          </a:solidFill>
          <a:ln w="12700">
            <a:solidFill>
              <a:srgbClr val="9B6EE8"/>
            </a:solidFill>
            <a:prstDash val="solid"/>
          </a:ln>
        </p:spPr>
      </p:sp>
      <p:sp>
        <p:nvSpPr>
          <p:cNvPr id="18" name="Text 16"/>
          <p:cNvSpPr txBox="1"/>
          <p:nvPr/>
        </p:nvSpPr>
        <p:spPr>
          <a:xfrm>
            <a:off x="822960" y="2816352"/>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M3</a:t>
            </a:r>
            <a:endParaRPr lang="en-US" sz="2200" dirty="0"/>
          </a:p>
        </p:txBody>
      </p:sp>
      <p:sp>
        <p:nvSpPr>
          <p:cNvPr id="19" name="Text 17"/>
          <p:cNvSpPr txBox="1"/>
          <p:nvPr/>
        </p:nvSpPr>
        <p:spPr>
          <a:xfrm>
            <a:off x="1600200" y="2816352"/>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Ngưỡng h động + TTL</a:t>
            </a:r>
            <a:endParaRPr lang="en-US" sz="1600" dirty="0"/>
          </a:p>
        </p:txBody>
      </p:sp>
      <p:sp>
        <p:nvSpPr>
          <p:cNvPr id="20" name="Text 18"/>
          <p:cNvSpPr txBox="1"/>
          <p:nvPr/>
        </p:nvSpPr>
        <p:spPr>
          <a:xfrm>
            <a:off x="4892040" y="2816352"/>
            <a:ext cx="822960" cy="603504"/>
          </a:xfrm>
          <a:prstGeom prst="rect">
            <a:avLst/>
          </a:prstGeom>
          <a:noFill/>
          <a:ln/>
        </p:spPr>
        <p:txBody>
          <a:bodyPr wrap="square" lIns="0" tIns="0" rIns="0" bIns="0" rtlCol="0" anchor="ctr"/>
          <a:lstStyle/>
          <a:p>
            <a:pPr indent="0" marL="0">
              <a:buNone/>
            </a:pPr>
            <a:r>
              <a:rPr lang="en-US" sz="1200" b="1" dirty="0">
                <a:solidFill>
                  <a:srgbClr val="A3A8B0"/>
                </a:solidFill>
                <a:latin typeface="Arial" pitchFamily="34" charset="0"/>
                <a:ea typeface="Arial" pitchFamily="34" charset="-122"/>
                <a:cs typeface="Arial" pitchFamily="34" charset="-120"/>
              </a:rPr>
              <a:t>giữ</a:t>
            </a:r>
            <a:endParaRPr lang="en-US" sz="1200" dirty="0"/>
          </a:p>
        </p:txBody>
      </p:sp>
      <p:sp>
        <p:nvSpPr>
          <p:cNvPr id="21" name="Text 19"/>
          <p:cNvSpPr txBox="1"/>
          <p:nvPr/>
        </p:nvSpPr>
        <p:spPr>
          <a:xfrm>
            <a:off x="5715000" y="2816352"/>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Như v1.</a:t>
            </a:r>
            <a:endParaRPr lang="en-US" sz="1300" dirty="0"/>
          </a:p>
        </p:txBody>
      </p:sp>
      <p:sp>
        <p:nvSpPr>
          <p:cNvPr id="22" name="Shape 20"/>
          <p:cNvSpPr/>
          <p:nvPr/>
        </p:nvSpPr>
        <p:spPr>
          <a:xfrm>
            <a:off x="548640" y="3493008"/>
            <a:ext cx="11091672" cy="603504"/>
          </a:xfrm>
          <a:prstGeom prst="roundRect">
            <a:avLst>
              <a:gd name="adj" fmla="val 18182"/>
            </a:avLst>
          </a:prstGeom>
          <a:solidFill>
            <a:srgbClr val="22252B"/>
          </a:solidFill>
          <a:ln w="12700">
            <a:solidFill>
              <a:srgbClr val="22252B"/>
            </a:solidFill>
            <a:prstDash val="solid"/>
          </a:ln>
        </p:spPr>
      </p:sp>
      <p:sp>
        <p:nvSpPr>
          <p:cNvPr id="23" name="Shape 21"/>
          <p:cNvSpPr/>
          <p:nvPr/>
        </p:nvSpPr>
        <p:spPr>
          <a:xfrm>
            <a:off x="548640" y="3493008"/>
            <a:ext cx="91440" cy="603504"/>
          </a:xfrm>
          <a:prstGeom prst="rect">
            <a:avLst/>
          </a:prstGeom>
          <a:solidFill>
            <a:srgbClr val="9B6EE8"/>
          </a:solidFill>
          <a:ln w="12700">
            <a:solidFill>
              <a:srgbClr val="9B6EE8"/>
            </a:solidFill>
            <a:prstDash val="solid"/>
          </a:ln>
        </p:spPr>
      </p:sp>
      <p:sp>
        <p:nvSpPr>
          <p:cNvPr id="24" name="Text 22"/>
          <p:cNvSpPr txBox="1"/>
          <p:nvPr/>
        </p:nvSpPr>
        <p:spPr>
          <a:xfrm>
            <a:off x="822960" y="3493008"/>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M4</a:t>
            </a:r>
            <a:endParaRPr lang="en-US" sz="2200" dirty="0"/>
          </a:p>
        </p:txBody>
      </p:sp>
      <p:sp>
        <p:nvSpPr>
          <p:cNvPr id="25" name="Text 23"/>
          <p:cNvSpPr txBox="1"/>
          <p:nvPr/>
        </p:nvSpPr>
        <p:spPr>
          <a:xfrm>
            <a:off x="1600200" y="3493008"/>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Pool track “ngủ”</a:t>
            </a:r>
            <a:endParaRPr lang="en-US" sz="1600" dirty="0"/>
          </a:p>
        </p:txBody>
      </p:sp>
      <p:sp>
        <p:nvSpPr>
          <p:cNvPr id="26" name="Text 24"/>
          <p:cNvSpPr txBox="1"/>
          <p:nvPr/>
        </p:nvSpPr>
        <p:spPr>
          <a:xfrm>
            <a:off x="4892040" y="3493008"/>
            <a:ext cx="822960" cy="603504"/>
          </a:xfrm>
          <a:prstGeom prst="rect">
            <a:avLst/>
          </a:prstGeom>
          <a:noFill/>
          <a:ln/>
        </p:spPr>
        <p:txBody>
          <a:bodyPr wrap="square" lIns="0" tIns="0" rIns="0" bIns="0" rtlCol="0" anchor="ctr"/>
          <a:lstStyle/>
          <a:p>
            <a:pPr indent="0" marL="0">
              <a:buNone/>
            </a:pPr>
            <a:r>
              <a:rPr lang="en-US" sz="1200" b="1" dirty="0">
                <a:solidFill>
                  <a:srgbClr val="A3A8B0"/>
                </a:solidFill>
                <a:latin typeface="Arial" pitchFamily="34" charset="0"/>
                <a:ea typeface="Arial" pitchFamily="34" charset="-122"/>
                <a:cs typeface="Arial" pitchFamily="34" charset="-120"/>
              </a:rPr>
              <a:t>giữ</a:t>
            </a:r>
            <a:endParaRPr lang="en-US" sz="1200" dirty="0"/>
          </a:p>
        </p:txBody>
      </p:sp>
      <p:sp>
        <p:nvSpPr>
          <p:cNvPr id="27" name="Text 25"/>
          <p:cNvSpPr txBox="1"/>
          <p:nvPr/>
        </p:nvSpPr>
        <p:spPr>
          <a:xfrm>
            <a:off x="5715000" y="3493008"/>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Như v1, dùng dấu vân tay của M2.</a:t>
            </a:r>
            <a:endParaRPr lang="en-US" sz="1300" dirty="0"/>
          </a:p>
        </p:txBody>
      </p:sp>
      <p:sp>
        <p:nvSpPr>
          <p:cNvPr id="28" name="Shape 26"/>
          <p:cNvSpPr/>
          <p:nvPr/>
        </p:nvSpPr>
        <p:spPr>
          <a:xfrm>
            <a:off x="548640" y="4169664"/>
            <a:ext cx="11091672" cy="603504"/>
          </a:xfrm>
          <a:prstGeom prst="roundRect">
            <a:avLst>
              <a:gd name="adj" fmla="val 18182"/>
            </a:avLst>
          </a:prstGeom>
          <a:solidFill>
            <a:srgbClr val="22252B"/>
          </a:solidFill>
          <a:ln w="12700">
            <a:solidFill>
              <a:srgbClr val="22252B"/>
            </a:solidFill>
            <a:prstDash val="solid"/>
          </a:ln>
        </p:spPr>
      </p:sp>
      <p:sp>
        <p:nvSpPr>
          <p:cNvPr id="29" name="Shape 27"/>
          <p:cNvSpPr/>
          <p:nvPr/>
        </p:nvSpPr>
        <p:spPr>
          <a:xfrm>
            <a:off x="548640" y="4169664"/>
            <a:ext cx="91440" cy="603504"/>
          </a:xfrm>
          <a:prstGeom prst="rect">
            <a:avLst/>
          </a:prstGeom>
          <a:solidFill>
            <a:srgbClr val="9B6EE8"/>
          </a:solidFill>
          <a:ln w="12700">
            <a:solidFill>
              <a:srgbClr val="9B6EE8"/>
            </a:solidFill>
            <a:prstDash val="solid"/>
          </a:ln>
        </p:spPr>
      </p:sp>
      <p:sp>
        <p:nvSpPr>
          <p:cNvPr id="30" name="Text 28"/>
          <p:cNvSpPr txBox="1"/>
          <p:nvPr/>
        </p:nvSpPr>
        <p:spPr>
          <a:xfrm>
            <a:off x="822960" y="4169664"/>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M5</a:t>
            </a:r>
            <a:endParaRPr lang="en-US" sz="2200" dirty="0"/>
          </a:p>
        </p:txBody>
      </p:sp>
      <p:sp>
        <p:nvSpPr>
          <p:cNvPr id="31" name="Text 29"/>
          <p:cNvSpPr txBox="1"/>
          <p:nvPr/>
        </p:nvSpPr>
        <p:spPr>
          <a:xfrm>
            <a:off x="1600200" y="4169664"/>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Neo vào đèn mũ</a:t>
            </a:r>
            <a:endParaRPr lang="en-US" sz="1600" dirty="0"/>
          </a:p>
        </p:txBody>
      </p:sp>
      <p:sp>
        <p:nvSpPr>
          <p:cNvPr id="32" name="Text 30"/>
          <p:cNvSpPr txBox="1"/>
          <p:nvPr/>
        </p:nvSpPr>
        <p:spPr>
          <a:xfrm>
            <a:off x="4892040" y="4169664"/>
            <a:ext cx="822960" cy="603504"/>
          </a:xfrm>
          <a:prstGeom prst="rect">
            <a:avLst/>
          </a:prstGeom>
          <a:noFill/>
          <a:ln/>
        </p:spPr>
        <p:txBody>
          <a:bodyPr wrap="square" lIns="0" tIns="0" rIns="0" bIns="0" rtlCol="0" anchor="ctr"/>
          <a:lstStyle/>
          <a:p>
            <a:pPr indent="0" marL="0">
              <a:buNone/>
            </a:pPr>
            <a:r>
              <a:rPr lang="en-US" sz="1200" b="1" dirty="0">
                <a:solidFill>
                  <a:srgbClr val="A3A8B0"/>
                </a:solidFill>
                <a:latin typeface="Arial" pitchFamily="34" charset="0"/>
                <a:ea typeface="Arial" pitchFamily="34" charset="-122"/>
                <a:cs typeface="Arial" pitchFamily="34" charset="-120"/>
              </a:rPr>
              <a:t>giữ</a:t>
            </a:r>
            <a:endParaRPr lang="en-US" sz="1200" dirty="0"/>
          </a:p>
        </p:txBody>
      </p:sp>
      <p:sp>
        <p:nvSpPr>
          <p:cNvPr id="33" name="Text 31"/>
          <p:cNvSpPr txBox="1"/>
          <p:nvPr/>
        </p:nvSpPr>
        <p:spPr>
          <a:xfrm>
            <a:off x="5715000" y="4169664"/>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Như v1.</a:t>
            </a:r>
            <a:endParaRPr lang="en-US" sz="1300" dirty="0"/>
          </a:p>
        </p:txBody>
      </p:sp>
      <p:sp>
        <p:nvSpPr>
          <p:cNvPr id="34" name="Shape 32"/>
          <p:cNvSpPr/>
          <p:nvPr/>
        </p:nvSpPr>
        <p:spPr>
          <a:xfrm>
            <a:off x="548640" y="4846320"/>
            <a:ext cx="11091672" cy="603504"/>
          </a:xfrm>
          <a:prstGeom prst="roundRect">
            <a:avLst>
              <a:gd name="adj" fmla="val 18182"/>
            </a:avLst>
          </a:prstGeom>
          <a:solidFill>
            <a:srgbClr val="22252B"/>
          </a:solidFill>
          <a:ln w="12700">
            <a:solidFill>
              <a:srgbClr val="22252B"/>
            </a:solidFill>
            <a:prstDash val="solid"/>
          </a:ln>
        </p:spPr>
      </p:sp>
      <p:sp>
        <p:nvSpPr>
          <p:cNvPr id="35" name="Shape 33"/>
          <p:cNvSpPr/>
          <p:nvPr/>
        </p:nvSpPr>
        <p:spPr>
          <a:xfrm>
            <a:off x="548640" y="4846320"/>
            <a:ext cx="91440" cy="603504"/>
          </a:xfrm>
          <a:prstGeom prst="rect">
            <a:avLst/>
          </a:prstGeom>
          <a:solidFill>
            <a:srgbClr val="9B6EE8"/>
          </a:solidFill>
          <a:ln w="12700">
            <a:solidFill>
              <a:srgbClr val="9B6EE8"/>
            </a:solidFill>
            <a:prstDash val="solid"/>
          </a:ln>
        </p:spPr>
      </p:sp>
      <p:sp>
        <p:nvSpPr>
          <p:cNvPr id="36" name="Text 34"/>
          <p:cNvSpPr txBox="1"/>
          <p:nvPr/>
        </p:nvSpPr>
        <p:spPr>
          <a:xfrm>
            <a:off x="822960" y="4846320"/>
            <a:ext cx="731520" cy="603504"/>
          </a:xfrm>
          <a:prstGeom prst="rect">
            <a:avLst/>
          </a:prstGeom>
          <a:noFill/>
          <a:ln/>
        </p:spPr>
        <p:txBody>
          <a:bodyPr wrap="square" lIns="0" tIns="0" rIns="0" bIns="0" rtlCol="0" anchor="ctr"/>
          <a:lstStyle/>
          <a:p>
            <a:pPr indent="0" marL="0">
              <a:buNone/>
            </a:pPr>
            <a:r>
              <a:rPr lang="en-US" sz="2200" b="1" dirty="0">
                <a:solidFill>
                  <a:srgbClr val="9B6EE8"/>
                </a:solidFill>
                <a:latin typeface="Arial" pitchFamily="34" charset="0"/>
                <a:ea typeface="Arial" pitchFamily="34" charset="-122"/>
                <a:cs typeface="Arial" pitchFamily="34" charset="-120"/>
              </a:rPr>
              <a:t>M6</a:t>
            </a:r>
            <a:endParaRPr lang="en-US" sz="2200" dirty="0"/>
          </a:p>
        </p:txBody>
      </p:sp>
      <p:sp>
        <p:nvSpPr>
          <p:cNvPr id="37" name="Text 35"/>
          <p:cNvSpPr txBox="1"/>
          <p:nvPr/>
        </p:nvSpPr>
        <p:spPr>
          <a:xfrm>
            <a:off x="1600200" y="4846320"/>
            <a:ext cx="3291840" cy="603504"/>
          </a:xfrm>
          <a:prstGeom prst="rect">
            <a:avLst/>
          </a:prstGeom>
          <a:noFill/>
          <a:ln/>
        </p:spPr>
        <p:txBody>
          <a:bodyPr wrap="square" lIns="0" tIns="0" rIns="0" bIns="0" rtlCol="0" anchor="ctr"/>
          <a:lstStyle/>
          <a:p>
            <a:pPr indent="0" marL="0">
              <a:buNone/>
            </a:pPr>
            <a:r>
              <a:rPr lang="en-US" sz="1600" b="1" dirty="0">
                <a:solidFill>
                  <a:srgbClr val="F2F2F2"/>
                </a:solidFill>
                <a:latin typeface="Arial" pitchFamily="34" charset="0"/>
                <a:ea typeface="Arial" pitchFamily="34" charset="-122"/>
                <a:cs typeface="Arial" pitchFamily="34" charset="-120"/>
              </a:rPr>
              <a:t>Tone-mapping quanh đèn</a:t>
            </a:r>
            <a:endParaRPr lang="en-US" sz="1600" dirty="0"/>
          </a:p>
        </p:txBody>
      </p:sp>
      <p:sp>
        <p:nvSpPr>
          <p:cNvPr id="38" name="Text 36"/>
          <p:cNvSpPr txBox="1"/>
          <p:nvPr/>
        </p:nvSpPr>
        <p:spPr>
          <a:xfrm>
            <a:off x="4892040" y="4846320"/>
            <a:ext cx="822960" cy="603504"/>
          </a:xfrm>
          <a:prstGeom prst="rect">
            <a:avLst/>
          </a:prstGeom>
          <a:noFill/>
          <a:ln/>
        </p:spPr>
        <p:txBody>
          <a:bodyPr wrap="square" lIns="0" tIns="0" rIns="0" bIns="0" rtlCol="0" anchor="ctr"/>
          <a:lstStyle/>
          <a:p>
            <a:pPr indent="0" marL="0">
              <a:buNone/>
            </a:pPr>
            <a:r>
              <a:rPr lang="en-US" sz="1200" b="1" dirty="0">
                <a:solidFill>
                  <a:srgbClr val="F2A900"/>
                </a:solidFill>
                <a:latin typeface="Arial" pitchFamily="34" charset="0"/>
                <a:ea typeface="Arial" pitchFamily="34" charset="-122"/>
                <a:cs typeface="Arial" pitchFamily="34" charset="-120"/>
              </a:rPr>
              <a:t>MỚI</a:t>
            </a:r>
            <a:endParaRPr lang="en-US" sz="1200" dirty="0"/>
          </a:p>
        </p:txBody>
      </p:sp>
      <p:sp>
        <p:nvSpPr>
          <p:cNvPr id="39" name="Text 37"/>
          <p:cNvSpPr txBox="1"/>
          <p:nvPr/>
        </p:nvSpPr>
        <p:spPr>
          <a:xfrm>
            <a:off x="5715000" y="4846320"/>
            <a:ext cx="5760720" cy="60350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Làm dịu vầng sáng quanh đèn trong ảnh đưa vào detector.</a:t>
            </a:r>
            <a:endParaRPr lang="en-US" sz="1300" dirty="0"/>
          </a:p>
        </p:txBody>
      </p:sp>
      <p:sp>
        <p:nvSpPr>
          <p:cNvPr id="40" name="Text 38"/>
          <p:cNvSpPr txBox="1"/>
          <p:nvPr/>
        </p:nvSpPr>
        <p:spPr>
          <a:xfrm>
            <a:off x="548640" y="5623560"/>
            <a:ext cx="11064240" cy="411480"/>
          </a:xfrm>
          <a:prstGeom prst="rect">
            <a:avLst/>
          </a:prstGeom>
          <a:noFill/>
          <a:ln/>
        </p:spPr>
        <p:txBody>
          <a:bodyPr wrap="square" lIns="0" tIns="0" rIns="0" bIns="0" rtlCol="0" anchor="t"/>
          <a:lstStyle/>
          <a:p>
            <a:pPr indent="0" marL="0">
              <a:buNone/>
            </a:pPr>
            <a:r>
              <a:rPr lang="en-US" sz="1600" b="1" dirty="0">
                <a:solidFill>
                  <a:srgbClr val="F2F2F2"/>
                </a:solidFill>
                <a:latin typeface="Arial" pitchFamily="34" charset="0"/>
                <a:ea typeface="Arial" pitchFamily="34" charset="-122"/>
                <a:cs typeface="Arial" pitchFamily="34" charset="-120"/>
              </a:rPr>
              <a:t>Thạch báo (Table I, test): full+M6 HOTA 70.03, IDF1 87.03.  </a:t>
            </a:r>
            <a:pPr indent="0" marL="0">
              <a:buNone/>
            </a:pPr>
            <a:r>
              <a:rPr lang="en-US" sz="1600" b="1" dirty="0">
                <a:solidFill>
                  <a:srgbClr val="19A35F"/>
                </a:solidFill>
                <a:latin typeface="Arial" pitchFamily="34" charset="0"/>
                <a:ea typeface="Arial" pitchFamily="34" charset="-122"/>
                <a:cs typeface="Arial" pitchFamily="34" charset="-120"/>
              </a:rPr>
              <a:t>Mình chạy lại 14/14 cấu hình: ra đúng từng số.</a:t>
            </a:r>
            <a:endParaRPr lang="en-US" sz="1600" dirty="0"/>
          </a:p>
        </p:txBody>
      </p:sp>
      <p:sp>
        <p:nvSpPr>
          <p:cNvPr id="41" name="Text 39"/>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300" dirty="0">
                <a:solidFill>
                  <a:srgbClr val="A3A8B0"/>
                </a:solidFill>
                <a:latin typeface="Arial" pitchFamily="34" charset="0"/>
                <a:ea typeface="Arial" pitchFamily="34" charset="-122"/>
                <a:cs typeface="Arial" pitchFamily="34" charset="-120"/>
              </a:rPr>
              <a:t>Thạch chỉ báo Table I trên test. Mình đo thêm Table II/III và tập val, như các phần trước.</a:t>
            </a:r>
            <a:endParaRPr lang="en-US" sz="1300" dirty="0"/>
          </a:p>
        </p:txBody>
      </p:sp>
      <p:sp>
        <p:nvSpPr>
          <p:cNvPr id="42" name="Shape 40"/>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43" name="Text 41"/>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44" name="Text 4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M1</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Vùng bất định nở rộng khi mất người</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Người bị chói vài chục frame có thể rẽ, đứng lại hay lùi. Box dự đoán không còn trùng (IoU = 0) → sinh ID mới.</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Mỗi frame không thấy người, Kalman tăng độ bất định: vị trí cộng thêm (0.03·h)² mỗi frame (h = chiều cao box), tối đa 30 frame.</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Detection chưa ai nhận được thử với track đã mất ≥ 2 frame: khoảng cách Mahalanobis ≤ 9.21 (vùng 99%), so với 2 giả thuyết: đi tiếp vận tốc cũ, hoặc đứng lại chỗ cũ.</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Chặn thêm: không xa quá sức đi bộ, chiều cao lệch &lt; 1.5×, không đè lên người đang được track.</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Kèm theo: hãm vận tốc ×0.88 khi hai người gần nhau, giờ chỉ áp cho track đang coast.</a:t>
            </a:r>
            <a:endParaRPr lang="en-US" sz="1300" dirty="0"/>
          </a:p>
        </p:txBody>
      </p:sp>
      <p:pic>
        <p:nvPicPr>
          <p:cNvPr id="9" name="Image 0" descr="D:\PROJECT\PEG\results\thach_v2\figures\m1_cone.png">    </p:cNvPr>
          <p:cNvPicPr>
            <a:picLocks noChangeAspect="1"/>
          </p:cNvPicPr>
          <p:nvPr/>
        </p:nvPicPr>
        <p:blipFill>
          <a:blip r:embed="rId1"/>
          <a:stretch>
            <a:fillRect/>
          </a:stretch>
        </p:blipFill>
        <p:spPr>
          <a:xfrm>
            <a:off x="6080760" y="1463040"/>
            <a:ext cx="5559552" cy="2084832"/>
          </a:xfrm>
          <a:prstGeom prst="rect">
            <a:avLst/>
          </a:prstGeom>
        </p:spPr>
      </p:pic>
      <p:sp>
        <p:nvSpPr>
          <p:cNvPr id="10" name="Shape 7"/>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11" name="Text 8"/>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M1 trên base của Thạch:</a:t>
            </a:r>
            <a:endParaRPr lang="en-US" sz="1300" dirty="0"/>
          </a:p>
        </p:txBody>
      </p:sp>
      <p:sp>
        <p:nvSpPr>
          <p:cNvPr id="12" name="Text 9"/>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13" name="Text 10"/>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14" name="Text 11"/>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15" name="Text 12"/>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16" name="Text 13"/>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+0.40</a:t>
            </a:r>
            <a:endParaRPr lang="en-US" sz="1700" dirty="0"/>
          </a:p>
        </p:txBody>
      </p:sp>
      <p:sp>
        <p:nvSpPr>
          <p:cNvPr id="17" name="Text 14"/>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−0.05</a:t>
            </a:r>
            <a:endParaRPr lang="en-US" sz="1700" dirty="0"/>
          </a:p>
        </p:txBody>
      </p:sp>
      <p:sp>
        <p:nvSpPr>
          <p:cNvPr id="18" name="Text 15"/>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−6.1</a:t>
            </a:r>
            <a:endParaRPr lang="en-US" sz="1700" dirty="0"/>
          </a:p>
        </p:txBody>
      </p:sp>
      <p:sp>
        <p:nvSpPr>
          <p:cNvPr id="19" name="Text 16"/>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20" name="Text 17"/>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+0.25</a:t>
            </a:r>
            <a:endParaRPr lang="en-US" sz="1700" dirty="0"/>
          </a:p>
        </p:txBody>
      </p:sp>
      <p:sp>
        <p:nvSpPr>
          <p:cNvPr id="21" name="Text 18"/>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+0.67</a:t>
            </a:r>
            <a:endParaRPr lang="en-US" sz="1700" dirty="0"/>
          </a:p>
        </p:txBody>
      </p:sp>
      <p:sp>
        <p:nvSpPr>
          <p:cNvPr id="22" name="Text 19"/>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+1.8</a:t>
            </a:r>
            <a:endParaRPr lang="en-US" sz="1700" dirty="0"/>
          </a:p>
        </p:txBody>
      </p:sp>
      <p:sp>
        <p:nvSpPr>
          <p:cNvPr id="23" name="Text 20"/>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Cone khớp lại được 10 lần trên cả tập test (full+M6). Đi cùng M5 thì Table III sụt mạnh: xem slide “Vì sao Table III sụt”.</a:t>
            </a:r>
            <a:endParaRPr lang="en-US" sz="1300" dirty="0"/>
          </a:p>
        </p:txBody>
      </p:sp>
      <p:sp>
        <p:nvSpPr>
          <p:cNvPr id="24" name="Shape 21"/>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5" name="Text 2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6" name="Text 2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M2</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Re-ID: “dấu vân tay” lấy từ detector</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Công nhân mặc đồ bảo hộ giống nhau, nên màu áo (HSV) gần như không phân biệt được ai với ai. Đó là lý do M2 cũ không bao giờ kích hoạt.</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Lấy feature map tầng P4 của detector, cắt theo box, chia nửa trên / nửa dưới người (không thêm mạng nào).</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Trừ trung bình của cả video để bỏ phần “giống nhau” chung, rồi ghép với màu HSV: độ giống = 70% feature + 30% màu.</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Mỗi người giữ tối đa 10 dấu vân tay, 5 frame lấy 1 lần, chỉ khi người rõ, chưa chói và không chen với người khác.</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So detection mới với cả 10 mẫu, lấy mẫu giống nhất.</a:t>
            </a:r>
            <a:endParaRPr lang="en-US" sz="1300" dirty="0"/>
          </a:p>
        </p:txBody>
      </p:sp>
      <p:sp>
        <p:nvSpPr>
          <p:cNvPr id="9" name="Shape 7"/>
          <p:cNvSpPr/>
          <p:nvPr/>
        </p:nvSpPr>
        <p:spPr>
          <a:xfrm>
            <a:off x="6080760" y="1463040"/>
            <a:ext cx="5559552" cy="926592"/>
          </a:xfrm>
          <a:prstGeom prst="roundRect">
            <a:avLst>
              <a:gd name="adj" fmla="val 11842"/>
            </a:avLst>
          </a:prstGeom>
          <a:solidFill>
            <a:srgbClr val="22252B"/>
          </a:solidFill>
          <a:ln w="12700">
            <a:solidFill>
              <a:srgbClr val="22252B"/>
            </a:solidFill>
            <a:prstDash val="solid"/>
          </a:ln>
        </p:spPr>
      </p:sp>
      <p:sp>
        <p:nvSpPr>
          <p:cNvPr id="10" name="Shape 8"/>
          <p:cNvSpPr/>
          <p:nvPr/>
        </p:nvSpPr>
        <p:spPr>
          <a:xfrm>
            <a:off x="6080760" y="1463040"/>
            <a:ext cx="91440" cy="926592"/>
          </a:xfrm>
          <a:prstGeom prst="rect">
            <a:avLst/>
          </a:prstGeom>
          <a:solidFill>
            <a:srgbClr val="9B6EE8"/>
          </a:solidFill>
          <a:ln w="12700">
            <a:solidFill>
              <a:srgbClr val="9B6EE8"/>
            </a:solidFill>
            <a:prstDash val="solid"/>
          </a:ln>
        </p:spPr>
      </p:sp>
      <p:sp>
        <p:nvSpPr>
          <p:cNvPr id="11" name="Text 9"/>
          <p:cNvSpPr txBox="1"/>
          <p:nvPr/>
        </p:nvSpPr>
        <p:spPr>
          <a:xfrm>
            <a:off x="6355080" y="1463040"/>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Lúc chưa chói: lưu dấu vân tay</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chỉ lấy khi người rõ, không có đốm cháy, không chen</a:t>
            </a:r>
            <a:endParaRPr lang="en-US" sz="1500" dirty="0"/>
          </a:p>
        </p:txBody>
      </p:sp>
      <p:sp>
        <p:nvSpPr>
          <p:cNvPr id="12" name="Shape 10"/>
          <p:cNvSpPr/>
          <p:nvPr/>
        </p:nvSpPr>
        <p:spPr>
          <a:xfrm>
            <a:off x="8860536" y="2407920"/>
            <a:ext cx="0" cy="219456"/>
          </a:xfrm>
          <a:prstGeom prst="line">
            <a:avLst/>
          </a:prstGeom>
          <a:noFill/>
          <a:ln w="25400">
            <a:solidFill>
              <a:srgbClr val="F2A900"/>
            </a:solidFill>
            <a:prstDash val="solid"/>
            <a:tailEnd type="triangle"/>
          </a:ln>
        </p:spPr>
      </p:sp>
      <p:sp>
        <p:nvSpPr>
          <p:cNvPr id="13" name="Shape 11"/>
          <p:cNvSpPr/>
          <p:nvPr/>
        </p:nvSpPr>
        <p:spPr>
          <a:xfrm>
            <a:off x="6080760" y="2645664"/>
            <a:ext cx="5559552" cy="926592"/>
          </a:xfrm>
          <a:prstGeom prst="roundRect">
            <a:avLst>
              <a:gd name="adj" fmla="val 11842"/>
            </a:avLst>
          </a:prstGeom>
          <a:solidFill>
            <a:srgbClr val="22252B"/>
          </a:solidFill>
          <a:ln w="12700">
            <a:solidFill>
              <a:srgbClr val="22252B"/>
            </a:solidFill>
            <a:prstDash val="solid"/>
          </a:ln>
        </p:spPr>
      </p:sp>
      <p:sp>
        <p:nvSpPr>
          <p:cNvPr id="14" name="Shape 12"/>
          <p:cNvSpPr/>
          <p:nvPr/>
        </p:nvSpPr>
        <p:spPr>
          <a:xfrm>
            <a:off x="6080760" y="2645664"/>
            <a:ext cx="91440" cy="926592"/>
          </a:xfrm>
          <a:prstGeom prst="rect">
            <a:avLst/>
          </a:prstGeom>
          <a:solidFill>
            <a:srgbClr val="9B6EE8"/>
          </a:solidFill>
          <a:ln w="12700">
            <a:solidFill>
              <a:srgbClr val="9B6EE8"/>
            </a:solidFill>
            <a:prstDash val="solid"/>
          </a:ln>
        </p:spPr>
      </p:sp>
      <p:sp>
        <p:nvSpPr>
          <p:cNvPr id="15" name="Text 13"/>
          <p:cNvSpPr txBox="1"/>
          <p:nvPr/>
        </p:nvSpPr>
        <p:spPr>
          <a:xfrm>
            <a:off x="6355080" y="2645664"/>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Lúc chói: đóng băng</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không cập nhật bằng ảnh cháy trắng</a:t>
            </a:r>
            <a:endParaRPr lang="en-US" sz="1500" dirty="0"/>
          </a:p>
        </p:txBody>
      </p:sp>
      <p:sp>
        <p:nvSpPr>
          <p:cNvPr id="16" name="Shape 14"/>
          <p:cNvSpPr/>
          <p:nvPr/>
        </p:nvSpPr>
        <p:spPr>
          <a:xfrm>
            <a:off x="8860536" y="3590544"/>
            <a:ext cx="0" cy="219456"/>
          </a:xfrm>
          <a:prstGeom prst="line">
            <a:avLst/>
          </a:prstGeom>
          <a:noFill/>
          <a:ln w="25400">
            <a:solidFill>
              <a:srgbClr val="F2A900"/>
            </a:solidFill>
            <a:prstDash val="solid"/>
            <a:tailEnd type="triangle"/>
          </a:ln>
        </p:spPr>
      </p:sp>
      <p:sp>
        <p:nvSpPr>
          <p:cNvPr id="17" name="Shape 15"/>
          <p:cNvSpPr/>
          <p:nvPr/>
        </p:nvSpPr>
        <p:spPr>
          <a:xfrm>
            <a:off x="6080760" y="3828288"/>
            <a:ext cx="5559552" cy="926592"/>
          </a:xfrm>
          <a:prstGeom prst="roundRect">
            <a:avLst>
              <a:gd name="adj" fmla="val 11842"/>
            </a:avLst>
          </a:prstGeom>
          <a:solidFill>
            <a:srgbClr val="22252B"/>
          </a:solidFill>
          <a:ln w="12700">
            <a:solidFill>
              <a:srgbClr val="22252B"/>
            </a:solidFill>
            <a:prstDash val="solid"/>
          </a:ln>
        </p:spPr>
      </p:sp>
      <p:sp>
        <p:nvSpPr>
          <p:cNvPr id="18" name="Shape 16"/>
          <p:cNvSpPr/>
          <p:nvPr/>
        </p:nvSpPr>
        <p:spPr>
          <a:xfrm>
            <a:off x="6080760" y="3828288"/>
            <a:ext cx="91440" cy="926592"/>
          </a:xfrm>
          <a:prstGeom prst="rect">
            <a:avLst/>
          </a:prstGeom>
          <a:solidFill>
            <a:srgbClr val="9B6EE8"/>
          </a:solidFill>
          <a:ln w="12700">
            <a:solidFill>
              <a:srgbClr val="9B6EE8"/>
            </a:solidFill>
            <a:prstDash val="solid"/>
          </a:ln>
        </p:spPr>
      </p:sp>
      <p:sp>
        <p:nvSpPr>
          <p:cNvPr id="19" name="Text 17"/>
          <p:cNvSpPr txBox="1"/>
          <p:nvPr/>
        </p:nvSpPr>
        <p:spPr>
          <a:xfrm>
            <a:off x="6355080" y="3828288"/>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Dùng ở 4 chỗ</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giành detection (+0.25) · đổi cặp ID (+0.15) · lọc cone M1 (≥ 0.35) · hồi sinh M4 (≥ 0.60)</a:t>
            </a:r>
            <a:endParaRPr lang="en-US" sz="1500" dirty="0"/>
          </a:p>
        </p:txBody>
      </p:sp>
      <p:sp>
        <p:nvSpPr>
          <p:cNvPr id="20" name="Shape 18"/>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21" name="Text 19"/>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M2 trên base của Thạch:</a:t>
            </a:r>
            <a:endParaRPr lang="en-US" sz="1300" dirty="0"/>
          </a:p>
        </p:txBody>
      </p:sp>
      <p:sp>
        <p:nvSpPr>
          <p:cNvPr id="22" name="Text 20"/>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23" name="Text 21"/>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24" name="Text 22"/>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25" name="Text 23"/>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26" name="Text 24"/>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+0.24</a:t>
            </a:r>
            <a:endParaRPr lang="en-US" sz="1700" dirty="0"/>
          </a:p>
        </p:txBody>
      </p:sp>
      <p:sp>
        <p:nvSpPr>
          <p:cNvPr id="27" name="Text 25"/>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+0.24</a:t>
            </a:r>
            <a:endParaRPr lang="en-US" sz="1700" dirty="0"/>
          </a:p>
        </p:txBody>
      </p:sp>
      <p:sp>
        <p:nvSpPr>
          <p:cNvPr id="28" name="Text 26"/>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29" name="Text 27"/>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30" name="Text 28"/>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+0.17</a:t>
            </a:r>
            <a:endParaRPr lang="en-US" sz="1700" dirty="0"/>
          </a:p>
        </p:txBody>
      </p:sp>
      <p:sp>
        <p:nvSpPr>
          <p:cNvPr id="31" name="Text 29"/>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±0.00</a:t>
            </a:r>
            <a:endParaRPr lang="en-US" sz="1700" dirty="0"/>
          </a:p>
        </p:txBody>
      </p:sp>
      <p:sp>
        <p:nvSpPr>
          <p:cNvPr id="32" name="Text 30"/>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33" name="Text 31"/>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Không có bộ đếm số lần M2 quyết định. Ở test, FP giảm chủ yếu trên video 320.</a:t>
            </a:r>
            <a:endParaRPr lang="en-US" sz="1300" dirty="0"/>
          </a:p>
        </p:txBody>
      </p:sp>
      <p:sp>
        <p:nvSpPr>
          <p:cNvPr id="34" name="Shape 32"/>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5" name="Text 33"/>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6" name="Text 34"/>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M3</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Ngưỡng chói h tăng dần + thời gian giữ box thích nghi</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Đèn chiếu lên tường cũng làm vùng box trắng → PEG giữ box “ma” mãi. Và mọi lần chói đều được giữ 5 frame như nhau.</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Mất detection quá 3 frame: ngưỡng h tăng 6% mỗi frame, từ 0.40 tới tối đa 0.65 → càng lâu càng cần bằng chứng mạnh.</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Thời gian được giữ box sau khi xác nhận chói = 5 frame × φ / 0.5. Vì chỉ xét khi φ ≥ h, thực tế là 4 hoặc 5 frame (PEG: luôn 5).</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Giữ nguyên như v1.</a:t>
            </a:r>
            <a:endParaRPr lang="en-US" sz="1300" dirty="0"/>
          </a:p>
        </p:txBody>
      </p:sp>
      <p:pic>
        <p:nvPicPr>
          <p:cNvPr id="9" name="Image 0" descr="D:\PROJECT\PEG\results\thach_v2\figures\m3_dynamic_h.png">    </p:cNvPr>
          <p:cNvPicPr>
            <a:picLocks noChangeAspect="1"/>
          </p:cNvPicPr>
          <p:nvPr/>
        </p:nvPicPr>
        <p:blipFill>
          <a:blip r:embed="rId1"/>
          <a:stretch>
            <a:fillRect/>
          </a:stretch>
        </p:blipFill>
        <p:spPr>
          <a:xfrm>
            <a:off x="6080760" y="1463040"/>
            <a:ext cx="5559552" cy="2084832"/>
          </a:xfrm>
          <a:prstGeom prst="rect">
            <a:avLst/>
          </a:prstGeom>
        </p:spPr>
      </p:pic>
      <p:sp>
        <p:nvSpPr>
          <p:cNvPr id="10" name="Shape 7"/>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11" name="Text 8"/>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M3 trên base của Thạch:</a:t>
            </a:r>
            <a:endParaRPr lang="en-US" sz="1300" dirty="0"/>
          </a:p>
        </p:txBody>
      </p:sp>
      <p:sp>
        <p:nvSpPr>
          <p:cNvPr id="12" name="Text 9"/>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13" name="Text 10"/>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14" name="Text 11"/>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15" name="Text 12"/>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16" name="Text 13"/>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+0.15</a:t>
            </a:r>
            <a:endParaRPr lang="en-US" sz="1700" dirty="0"/>
          </a:p>
        </p:txBody>
      </p:sp>
      <p:sp>
        <p:nvSpPr>
          <p:cNvPr id="17" name="Text 14"/>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+0.31</a:t>
            </a:r>
            <a:endParaRPr lang="en-US" sz="1700" dirty="0"/>
          </a:p>
        </p:txBody>
      </p:sp>
      <p:sp>
        <p:nvSpPr>
          <p:cNvPr id="18" name="Text 15"/>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19" name="Text 16"/>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20" name="Text 17"/>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+0.04</a:t>
            </a:r>
            <a:endParaRPr lang="en-US" sz="1700" dirty="0"/>
          </a:p>
        </p:txBody>
      </p:sp>
      <p:sp>
        <p:nvSpPr>
          <p:cNvPr id="21" name="Text 18"/>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±0.00</a:t>
            </a:r>
            <a:endParaRPr lang="en-US" sz="1700" dirty="0"/>
          </a:p>
        </p:txBody>
      </p:sp>
      <p:sp>
        <p:nvSpPr>
          <p:cNvPr id="22" name="Text 19"/>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23" name="Text 20"/>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Chỉ đổi lúc người đã mất detection; không có bộ đếm trong code của Thạch.</a:t>
            </a:r>
            <a:endParaRPr lang="en-US" sz="1300" dirty="0"/>
          </a:p>
        </p:txBody>
      </p:sp>
      <p:sp>
        <p:nvSpPr>
          <p:cNvPr id="24" name="Shape 21"/>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5" name="Text 2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6" name="Text 2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M4</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Pool track “ngủ”: trả lại ID cũ</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Track bị xóa sau khi mất quá lâu. Nếu người quay lại, họ nhận một ID mới → đổi ID.</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Track đã xác nhận bị xóa → cất vào pool, giữ tối đa 45 frame.</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Có người mới xuất hiện: xét các track trong pool ở gần đó (khoảng cách ≤ 2 lần đường chéo box + 15% mỗi frame).</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Dấu vân tay (M2) giống ≥ 0.60 → trả lại ID cũ, gộp gallery.</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Giữ như v1, nhưng giờ dùng dấu vân tay mới của M2.</a:t>
            </a:r>
            <a:endParaRPr lang="en-US" sz="1300" dirty="0"/>
          </a:p>
        </p:txBody>
      </p:sp>
      <p:sp>
        <p:nvSpPr>
          <p:cNvPr id="9" name="Shape 7"/>
          <p:cNvSpPr/>
          <p:nvPr/>
        </p:nvSpPr>
        <p:spPr>
          <a:xfrm>
            <a:off x="6080760" y="1463040"/>
            <a:ext cx="5559552" cy="926592"/>
          </a:xfrm>
          <a:prstGeom prst="roundRect">
            <a:avLst>
              <a:gd name="adj" fmla="val 11842"/>
            </a:avLst>
          </a:prstGeom>
          <a:solidFill>
            <a:srgbClr val="22252B"/>
          </a:solidFill>
          <a:ln w="12700">
            <a:solidFill>
              <a:srgbClr val="22252B"/>
            </a:solidFill>
            <a:prstDash val="solid"/>
          </a:ln>
        </p:spPr>
      </p:sp>
      <p:sp>
        <p:nvSpPr>
          <p:cNvPr id="10" name="Shape 8"/>
          <p:cNvSpPr/>
          <p:nvPr/>
        </p:nvSpPr>
        <p:spPr>
          <a:xfrm>
            <a:off x="6080760" y="1463040"/>
            <a:ext cx="91440" cy="926592"/>
          </a:xfrm>
          <a:prstGeom prst="rect">
            <a:avLst/>
          </a:prstGeom>
          <a:solidFill>
            <a:srgbClr val="9B6EE8"/>
          </a:solidFill>
          <a:ln w="12700">
            <a:solidFill>
              <a:srgbClr val="9B6EE8"/>
            </a:solidFill>
            <a:prstDash val="solid"/>
          </a:ln>
        </p:spPr>
      </p:sp>
      <p:sp>
        <p:nvSpPr>
          <p:cNvPr id="11" name="Text 9"/>
          <p:cNvSpPr txBox="1"/>
          <p:nvPr/>
        </p:nvSpPr>
        <p:spPr>
          <a:xfrm>
            <a:off x="6355080" y="1463040"/>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Track mất quá lâu</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cất vào pool “ngủ” (≤ 45 frame)</a:t>
            </a:r>
            <a:endParaRPr lang="en-US" sz="1500" dirty="0"/>
          </a:p>
        </p:txBody>
      </p:sp>
      <p:sp>
        <p:nvSpPr>
          <p:cNvPr id="12" name="Shape 10"/>
          <p:cNvSpPr/>
          <p:nvPr/>
        </p:nvSpPr>
        <p:spPr>
          <a:xfrm>
            <a:off x="8860536" y="2407920"/>
            <a:ext cx="0" cy="219456"/>
          </a:xfrm>
          <a:prstGeom prst="line">
            <a:avLst/>
          </a:prstGeom>
          <a:noFill/>
          <a:ln w="25400">
            <a:solidFill>
              <a:srgbClr val="F2A900"/>
            </a:solidFill>
            <a:prstDash val="solid"/>
            <a:tailEnd type="triangle"/>
          </a:ln>
        </p:spPr>
      </p:sp>
      <p:sp>
        <p:nvSpPr>
          <p:cNvPr id="13" name="Shape 11"/>
          <p:cNvSpPr/>
          <p:nvPr/>
        </p:nvSpPr>
        <p:spPr>
          <a:xfrm>
            <a:off x="6080760" y="2645664"/>
            <a:ext cx="5559552" cy="926592"/>
          </a:xfrm>
          <a:prstGeom prst="roundRect">
            <a:avLst>
              <a:gd name="adj" fmla="val 11842"/>
            </a:avLst>
          </a:prstGeom>
          <a:solidFill>
            <a:srgbClr val="22252B"/>
          </a:solidFill>
          <a:ln w="12700">
            <a:solidFill>
              <a:srgbClr val="22252B"/>
            </a:solidFill>
            <a:prstDash val="solid"/>
          </a:ln>
        </p:spPr>
      </p:sp>
      <p:sp>
        <p:nvSpPr>
          <p:cNvPr id="14" name="Shape 12"/>
          <p:cNvSpPr/>
          <p:nvPr/>
        </p:nvSpPr>
        <p:spPr>
          <a:xfrm>
            <a:off x="6080760" y="2645664"/>
            <a:ext cx="91440" cy="926592"/>
          </a:xfrm>
          <a:prstGeom prst="rect">
            <a:avLst/>
          </a:prstGeom>
          <a:solidFill>
            <a:srgbClr val="9B6EE8"/>
          </a:solidFill>
          <a:ln w="12700">
            <a:solidFill>
              <a:srgbClr val="9B6EE8"/>
            </a:solidFill>
            <a:prstDash val="solid"/>
          </a:ln>
        </p:spPr>
      </p:sp>
      <p:sp>
        <p:nvSpPr>
          <p:cNvPr id="15" name="Text 13"/>
          <p:cNvSpPr txBox="1"/>
          <p:nvPr/>
        </p:nvSpPr>
        <p:spPr>
          <a:xfrm>
            <a:off x="6355080" y="2645664"/>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Người mới xuất hiện gần chỗ cũ</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trong tầm đi bộ</a:t>
            </a:r>
            <a:endParaRPr lang="en-US" sz="1500" dirty="0"/>
          </a:p>
        </p:txBody>
      </p:sp>
      <p:sp>
        <p:nvSpPr>
          <p:cNvPr id="16" name="Shape 14"/>
          <p:cNvSpPr/>
          <p:nvPr/>
        </p:nvSpPr>
        <p:spPr>
          <a:xfrm>
            <a:off x="8860536" y="3590544"/>
            <a:ext cx="0" cy="219456"/>
          </a:xfrm>
          <a:prstGeom prst="line">
            <a:avLst/>
          </a:prstGeom>
          <a:noFill/>
          <a:ln w="25400">
            <a:solidFill>
              <a:srgbClr val="F2A900"/>
            </a:solidFill>
            <a:prstDash val="solid"/>
            <a:tailEnd type="triangle"/>
          </a:ln>
        </p:spPr>
      </p:sp>
      <p:sp>
        <p:nvSpPr>
          <p:cNvPr id="17" name="Shape 15"/>
          <p:cNvSpPr/>
          <p:nvPr/>
        </p:nvSpPr>
        <p:spPr>
          <a:xfrm>
            <a:off x="6080760" y="3828288"/>
            <a:ext cx="5559552" cy="926592"/>
          </a:xfrm>
          <a:prstGeom prst="roundRect">
            <a:avLst>
              <a:gd name="adj" fmla="val 11842"/>
            </a:avLst>
          </a:prstGeom>
          <a:solidFill>
            <a:srgbClr val="22252B"/>
          </a:solidFill>
          <a:ln w="12700">
            <a:solidFill>
              <a:srgbClr val="22252B"/>
            </a:solidFill>
            <a:prstDash val="solid"/>
          </a:ln>
        </p:spPr>
      </p:sp>
      <p:sp>
        <p:nvSpPr>
          <p:cNvPr id="18" name="Shape 16"/>
          <p:cNvSpPr/>
          <p:nvPr/>
        </p:nvSpPr>
        <p:spPr>
          <a:xfrm>
            <a:off x="6080760" y="3828288"/>
            <a:ext cx="91440" cy="926592"/>
          </a:xfrm>
          <a:prstGeom prst="rect">
            <a:avLst/>
          </a:prstGeom>
          <a:solidFill>
            <a:srgbClr val="9B6EE8"/>
          </a:solidFill>
          <a:ln w="12700">
            <a:solidFill>
              <a:srgbClr val="9B6EE8"/>
            </a:solidFill>
            <a:prstDash val="solid"/>
          </a:ln>
        </p:spPr>
      </p:sp>
      <p:sp>
        <p:nvSpPr>
          <p:cNvPr id="19" name="Text 17"/>
          <p:cNvSpPr txBox="1"/>
          <p:nvPr/>
        </p:nvSpPr>
        <p:spPr>
          <a:xfrm>
            <a:off x="6355080" y="3828288"/>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Giống ≥ 0.60?</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có → trả lại ID cũ thay vì ID mới</a:t>
            </a:r>
            <a:endParaRPr lang="en-US" sz="1500" dirty="0"/>
          </a:p>
        </p:txBody>
      </p:sp>
      <p:sp>
        <p:nvSpPr>
          <p:cNvPr id="20" name="Shape 18"/>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21" name="Text 19"/>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M4 trên base của Thạch:</a:t>
            </a:r>
            <a:endParaRPr lang="en-US" sz="1300" dirty="0"/>
          </a:p>
        </p:txBody>
      </p:sp>
      <p:sp>
        <p:nvSpPr>
          <p:cNvPr id="22" name="Text 20"/>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23" name="Text 21"/>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24" name="Text 22"/>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25" name="Text 23"/>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26" name="Text 24"/>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+0.24</a:t>
            </a:r>
            <a:endParaRPr lang="en-US" sz="1700" dirty="0"/>
          </a:p>
        </p:txBody>
      </p:sp>
      <p:sp>
        <p:nvSpPr>
          <p:cNvPr id="27" name="Text 25"/>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+0.29</a:t>
            </a:r>
            <a:endParaRPr lang="en-US" sz="1700" dirty="0"/>
          </a:p>
        </p:txBody>
      </p:sp>
      <p:sp>
        <p:nvSpPr>
          <p:cNvPr id="28" name="Text 26"/>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29" name="Text 27"/>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30" name="Text 28"/>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+0.17</a:t>
            </a:r>
            <a:endParaRPr lang="en-US" sz="1700" dirty="0"/>
          </a:p>
        </p:txBody>
      </p:sp>
      <p:sp>
        <p:nvSpPr>
          <p:cNvPr id="31" name="Text 29"/>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±0.00</a:t>
            </a:r>
            <a:endParaRPr lang="en-US" sz="1700" dirty="0"/>
          </a:p>
        </p:txBody>
      </p:sp>
      <p:sp>
        <p:nvSpPr>
          <p:cNvPr id="32" name="Text 30"/>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33" name="Text 31"/>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Trong bảng của Thạch, base+M4 bật kèm M2. Số lần hồi sinh trên test (full+M6): 0.</a:t>
            </a:r>
            <a:endParaRPr lang="en-US" sz="1300" dirty="0"/>
          </a:p>
        </p:txBody>
      </p:sp>
      <p:sp>
        <p:nvSpPr>
          <p:cNvPr id="34" name="Shape 32"/>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5" name="Text 33"/>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6" name="Text 34"/>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M5</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Neo box vào đèn mũ</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Khi chói, box chỉ chạy theo dự đoán Kalman; người đổi tư thế hay quay người thì box trôi.</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Chỉ chạy khi gate PEG đã xác nhận người đang bị chói.</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Tìm tâm đốm đèn trong dải đầu của box (45% phía trên).</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Tâm người ≈ tâm đèn + 0.35 × chiều cao box.</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Kéo nhẹ tâm box Kalman về đó (cập nhật yếu), nếu không quá xa box hiện tại. Giữ như v1.</a:t>
            </a:r>
            <a:endParaRPr lang="en-US" sz="1300" dirty="0"/>
          </a:p>
        </p:txBody>
      </p:sp>
      <p:sp>
        <p:nvSpPr>
          <p:cNvPr id="9" name="Shape 7"/>
          <p:cNvSpPr/>
          <p:nvPr/>
        </p:nvSpPr>
        <p:spPr>
          <a:xfrm>
            <a:off x="6080760" y="1463040"/>
            <a:ext cx="5559552" cy="926592"/>
          </a:xfrm>
          <a:prstGeom prst="roundRect">
            <a:avLst>
              <a:gd name="adj" fmla="val 11842"/>
            </a:avLst>
          </a:prstGeom>
          <a:solidFill>
            <a:srgbClr val="22252B"/>
          </a:solidFill>
          <a:ln w="12700">
            <a:solidFill>
              <a:srgbClr val="22252B"/>
            </a:solidFill>
            <a:prstDash val="solid"/>
          </a:ln>
        </p:spPr>
      </p:sp>
      <p:sp>
        <p:nvSpPr>
          <p:cNvPr id="10" name="Shape 8"/>
          <p:cNvSpPr/>
          <p:nvPr/>
        </p:nvSpPr>
        <p:spPr>
          <a:xfrm>
            <a:off x="6080760" y="1463040"/>
            <a:ext cx="91440" cy="926592"/>
          </a:xfrm>
          <a:prstGeom prst="rect">
            <a:avLst/>
          </a:prstGeom>
          <a:solidFill>
            <a:srgbClr val="9B6EE8"/>
          </a:solidFill>
          <a:ln w="12700">
            <a:solidFill>
              <a:srgbClr val="9B6EE8"/>
            </a:solidFill>
            <a:prstDash val="solid"/>
          </a:ln>
        </p:spPr>
      </p:sp>
      <p:sp>
        <p:nvSpPr>
          <p:cNvPr id="11" name="Text 9"/>
          <p:cNvSpPr txBox="1"/>
          <p:nvPr/>
        </p:nvSpPr>
        <p:spPr>
          <a:xfrm>
            <a:off x="6355080" y="1463040"/>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Gate PEG: người đang bị chói</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chỉ lúc này M5 mới chạy</a:t>
            </a:r>
            <a:endParaRPr lang="en-US" sz="1500" dirty="0"/>
          </a:p>
        </p:txBody>
      </p:sp>
      <p:sp>
        <p:nvSpPr>
          <p:cNvPr id="12" name="Shape 10"/>
          <p:cNvSpPr/>
          <p:nvPr/>
        </p:nvSpPr>
        <p:spPr>
          <a:xfrm>
            <a:off x="8860536" y="2407920"/>
            <a:ext cx="0" cy="219456"/>
          </a:xfrm>
          <a:prstGeom prst="line">
            <a:avLst/>
          </a:prstGeom>
          <a:noFill/>
          <a:ln w="25400">
            <a:solidFill>
              <a:srgbClr val="F2A900"/>
            </a:solidFill>
            <a:prstDash val="solid"/>
            <a:tailEnd type="triangle"/>
          </a:ln>
        </p:spPr>
      </p:sp>
      <p:sp>
        <p:nvSpPr>
          <p:cNvPr id="13" name="Shape 11"/>
          <p:cNvSpPr/>
          <p:nvPr/>
        </p:nvSpPr>
        <p:spPr>
          <a:xfrm>
            <a:off x="6080760" y="2645664"/>
            <a:ext cx="5559552" cy="926592"/>
          </a:xfrm>
          <a:prstGeom prst="roundRect">
            <a:avLst>
              <a:gd name="adj" fmla="val 11842"/>
            </a:avLst>
          </a:prstGeom>
          <a:solidFill>
            <a:srgbClr val="22252B"/>
          </a:solidFill>
          <a:ln w="12700">
            <a:solidFill>
              <a:srgbClr val="22252B"/>
            </a:solidFill>
            <a:prstDash val="solid"/>
          </a:ln>
        </p:spPr>
      </p:sp>
      <p:sp>
        <p:nvSpPr>
          <p:cNvPr id="14" name="Shape 12"/>
          <p:cNvSpPr/>
          <p:nvPr/>
        </p:nvSpPr>
        <p:spPr>
          <a:xfrm>
            <a:off x="6080760" y="2645664"/>
            <a:ext cx="91440" cy="926592"/>
          </a:xfrm>
          <a:prstGeom prst="rect">
            <a:avLst/>
          </a:prstGeom>
          <a:solidFill>
            <a:srgbClr val="9B6EE8"/>
          </a:solidFill>
          <a:ln w="12700">
            <a:solidFill>
              <a:srgbClr val="9B6EE8"/>
            </a:solidFill>
            <a:prstDash val="solid"/>
          </a:ln>
        </p:spPr>
      </p:sp>
      <p:sp>
        <p:nvSpPr>
          <p:cNvPr id="15" name="Text 13"/>
          <p:cNvSpPr txBox="1"/>
          <p:nvPr/>
        </p:nvSpPr>
        <p:spPr>
          <a:xfrm>
            <a:off x="6355080" y="2645664"/>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Tìm đốm đèn ở dải đầu box</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tâm người ≈ đèn + 0.35 h</a:t>
            </a:r>
            <a:endParaRPr lang="en-US" sz="1500" dirty="0"/>
          </a:p>
        </p:txBody>
      </p:sp>
      <p:sp>
        <p:nvSpPr>
          <p:cNvPr id="16" name="Shape 14"/>
          <p:cNvSpPr/>
          <p:nvPr/>
        </p:nvSpPr>
        <p:spPr>
          <a:xfrm>
            <a:off x="8860536" y="3590544"/>
            <a:ext cx="0" cy="219456"/>
          </a:xfrm>
          <a:prstGeom prst="line">
            <a:avLst/>
          </a:prstGeom>
          <a:noFill/>
          <a:ln w="25400">
            <a:solidFill>
              <a:srgbClr val="F2A900"/>
            </a:solidFill>
            <a:prstDash val="solid"/>
            <a:tailEnd type="triangle"/>
          </a:ln>
        </p:spPr>
      </p:sp>
      <p:sp>
        <p:nvSpPr>
          <p:cNvPr id="17" name="Shape 15"/>
          <p:cNvSpPr/>
          <p:nvPr/>
        </p:nvSpPr>
        <p:spPr>
          <a:xfrm>
            <a:off x="6080760" y="3828288"/>
            <a:ext cx="5559552" cy="926592"/>
          </a:xfrm>
          <a:prstGeom prst="roundRect">
            <a:avLst>
              <a:gd name="adj" fmla="val 11842"/>
            </a:avLst>
          </a:prstGeom>
          <a:solidFill>
            <a:srgbClr val="22252B"/>
          </a:solidFill>
          <a:ln w="12700">
            <a:solidFill>
              <a:srgbClr val="22252B"/>
            </a:solidFill>
            <a:prstDash val="solid"/>
          </a:ln>
        </p:spPr>
      </p:sp>
      <p:sp>
        <p:nvSpPr>
          <p:cNvPr id="18" name="Shape 16"/>
          <p:cNvSpPr/>
          <p:nvPr/>
        </p:nvSpPr>
        <p:spPr>
          <a:xfrm>
            <a:off x="6080760" y="3828288"/>
            <a:ext cx="91440" cy="926592"/>
          </a:xfrm>
          <a:prstGeom prst="rect">
            <a:avLst/>
          </a:prstGeom>
          <a:solidFill>
            <a:srgbClr val="9B6EE8"/>
          </a:solidFill>
          <a:ln w="12700">
            <a:solidFill>
              <a:srgbClr val="9B6EE8"/>
            </a:solidFill>
            <a:prstDash val="solid"/>
          </a:ln>
        </p:spPr>
      </p:sp>
      <p:sp>
        <p:nvSpPr>
          <p:cNvPr id="19" name="Text 17"/>
          <p:cNvSpPr txBox="1"/>
          <p:nvPr/>
        </p:nvSpPr>
        <p:spPr>
          <a:xfrm>
            <a:off x="6355080" y="3828288"/>
            <a:ext cx="5148072" cy="926592"/>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Kéo nhẹ box về đó</a:t>
            </a:r>
            <a:endParaRPr lang="en-US" sz="1500" dirty="0"/>
          </a:p>
          <a:p>
            <a:pPr indent="0" marL="0">
              <a:buNone/>
            </a:pPr>
            <a:r>
              <a:rPr lang="en-US" sz="1300" dirty="0">
                <a:solidFill>
                  <a:srgbClr val="A3A8B0"/>
                </a:solidFill>
                <a:latin typeface="Arial" pitchFamily="34" charset="0"/>
                <a:ea typeface="Arial" pitchFamily="34" charset="-122"/>
                <a:cs typeface="Arial" pitchFamily="34" charset="-120"/>
              </a:rPr>
              <a:t>cập nhật Kalman với độ tin thấp</a:t>
            </a:r>
            <a:endParaRPr lang="en-US" sz="1500" dirty="0"/>
          </a:p>
        </p:txBody>
      </p:sp>
      <p:sp>
        <p:nvSpPr>
          <p:cNvPr id="20" name="Shape 18"/>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21" name="Text 19"/>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M5 trên base của Thạch:</a:t>
            </a:r>
            <a:endParaRPr lang="en-US" sz="1300" dirty="0"/>
          </a:p>
        </p:txBody>
      </p:sp>
      <p:sp>
        <p:nvSpPr>
          <p:cNvPr id="22" name="Text 20"/>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23" name="Text 21"/>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24" name="Text 22"/>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25" name="Text 23"/>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26" name="Text 24"/>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−0.12</a:t>
            </a:r>
            <a:endParaRPr lang="en-US" sz="1700" dirty="0"/>
          </a:p>
        </p:txBody>
      </p:sp>
      <p:sp>
        <p:nvSpPr>
          <p:cNvPr id="27" name="Text 25"/>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+0.20</a:t>
            </a:r>
            <a:endParaRPr lang="en-US" sz="1700" dirty="0"/>
          </a:p>
        </p:txBody>
      </p:sp>
      <p:sp>
        <p:nvSpPr>
          <p:cNvPr id="28" name="Text 26"/>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a:t>
            </a:r>
            <a:endParaRPr lang="en-US" sz="1700" dirty="0"/>
          </a:p>
        </p:txBody>
      </p:sp>
      <p:sp>
        <p:nvSpPr>
          <p:cNvPr id="29" name="Text 27"/>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30" name="Text 28"/>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A3A8B0"/>
                </a:solidFill>
                <a:latin typeface="Arial" pitchFamily="34" charset="0"/>
                <a:ea typeface="Arial" pitchFamily="34" charset="-122"/>
                <a:cs typeface="Arial" pitchFamily="34" charset="-120"/>
              </a:rPr>
              <a:t>±0.00</a:t>
            </a:r>
            <a:endParaRPr lang="en-US" sz="1700" dirty="0"/>
          </a:p>
        </p:txBody>
      </p:sp>
      <p:sp>
        <p:nvSpPr>
          <p:cNvPr id="31" name="Text 29"/>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−1.29</a:t>
            </a:r>
            <a:endParaRPr lang="en-US" sz="1700" dirty="0"/>
          </a:p>
        </p:txBody>
      </p:sp>
      <p:sp>
        <p:nvSpPr>
          <p:cNvPr id="32" name="Text 30"/>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−4.2</a:t>
            </a:r>
            <a:endParaRPr lang="en-US" sz="1700" dirty="0"/>
          </a:p>
        </p:txBody>
      </p:sp>
      <p:sp>
        <p:nvSpPr>
          <p:cNvPr id="33" name="Text 31"/>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Một mình M5 gần như vô hại. Đi cùng M1 thì cú “kéo nhẹ” thành kéo mạnh: xem slide “Vì sao Table III sụt”.</a:t>
            </a:r>
            <a:endParaRPr lang="en-US" sz="1300" dirty="0"/>
          </a:p>
        </p:txBody>
      </p:sp>
      <p:sp>
        <p:nvSpPr>
          <p:cNvPr id="34" name="Shape 32"/>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5" name="Text 33"/>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6" name="Text 34"/>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M6</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Làm dịu vầng sáng quanh đèn trước khi đưa vào detector</a:t>
            </a:r>
            <a:endParaRPr lang="en-US" sz="3000" dirty="0"/>
          </a:p>
        </p:txBody>
      </p:sp>
      <p:sp>
        <p:nvSpPr>
          <p:cNvPr id="4" name="Shape 2"/>
          <p:cNvSpPr/>
          <p:nvPr/>
        </p:nvSpPr>
        <p:spPr>
          <a:xfrm>
            <a:off x="548640" y="1463040"/>
            <a:ext cx="5257800" cy="868680"/>
          </a:xfrm>
          <a:prstGeom prst="roundRect">
            <a:avLst>
              <a:gd name="adj" fmla="val 12632"/>
            </a:avLst>
          </a:prstGeom>
          <a:solidFill>
            <a:srgbClr val="2B2F36"/>
          </a:solidFill>
          <a:ln w="12700">
            <a:solidFill>
              <a:srgbClr val="2B2F36"/>
            </a:solidFill>
            <a:prstDash val="solid"/>
          </a:ln>
        </p:spPr>
      </p:sp>
      <p:sp>
        <p:nvSpPr>
          <p:cNvPr id="5" name="Shape 3"/>
          <p:cNvSpPr/>
          <p:nvPr/>
        </p:nvSpPr>
        <p:spPr>
          <a:xfrm>
            <a:off x="548640" y="1463040"/>
            <a:ext cx="91440" cy="868680"/>
          </a:xfrm>
          <a:prstGeom prst="rect">
            <a:avLst/>
          </a:prstGeom>
          <a:solidFill>
            <a:srgbClr val="F2A900"/>
          </a:solidFill>
          <a:ln w="12700">
            <a:solidFill>
              <a:srgbClr val="F2A900"/>
            </a:solidFill>
            <a:prstDash val="solid"/>
          </a:ln>
        </p:spPr>
      </p:sp>
      <p:sp>
        <p:nvSpPr>
          <p:cNvPr id="6" name="Text 4"/>
          <p:cNvSpPr txBox="1"/>
          <p:nvPr/>
        </p:nvSpPr>
        <p:spPr>
          <a:xfrm>
            <a:off x="777240" y="1463040"/>
            <a:ext cx="4937760" cy="868680"/>
          </a:xfrm>
          <a:prstGeom prst="rect">
            <a:avLst/>
          </a:prstGeom>
          <a:noFill/>
          <a:ln/>
        </p:spPr>
        <p:txBody>
          <a:bodyPr wrap="square" lIns="0" tIns="0" rIns="0" bIns="0" rtlCol="0" anchor="ctr"/>
          <a:lstStyle/>
          <a:p>
            <a:pPr indent="0" marL="0">
              <a:buNone/>
            </a:pPr>
            <a:r>
              <a:rPr lang="en-US" sz="1400" b="1" dirty="0">
                <a:solidFill>
                  <a:srgbClr val="F2A900"/>
                </a:solidFill>
                <a:latin typeface="Arial" pitchFamily="34" charset="0"/>
                <a:ea typeface="Arial" pitchFamily="34" charset="-122"/>
                <a:cs typeface="Arial" pitchFamily="34" charset="-120"/>
              </a:rPr>
              <a:t>Vấn đề  </a:t>
            </a:r>
            <a:pPr indent="0" marL="0">
              <a:buNone/>
            </a:pPr>
            <a:r>
              <a:rPr lang="en-US" sz="1400" dirty="0">
                <a:solidFill>
                  <a:srgbClr val="F2F2F2"/>
                </a:solidFill>
                <a:latin typeface="Arial" pitchFamily="34" charset="0"/>
                <a:ea typeface="Arial" pitchFamily="34" charset="-122"/>
                <a:cs typeface="Arial" pitchFamily="34" charset="-120"/>
              </a:rPr>
              <a:t>Quanh đèn có một vầng sáng rộng làm mất chi tiết của người đứng gần → detector bỏ sót.</a:t>
            </a:r>
            <a:endParaRPr lang="en-US" sz="1400" dirty="0"/>
          </a:p>
        </p:txBody>
      </p:sp>
      <p:sp>
        <p:nvSpPr>
          <p:cNvPr id="7" name="Text 5"/>
          <p:cNvSpPr txBox="1"/>
          <p:nvPr/>
        </p:nvSpPr>
        <p:spPr>
          <a:xfrm>
            <a:off x="548640" y="2423160"/>
            <a:ext cx="5029200" cy="320040"/>
          </a:xfrm>
          <a:prstGeom prst="rect">
            <a:avLst/>
          </a:prstGeom>
          <a:noFill/>
          <a:ln/>
        </p:spPr>
        <p:txBody>
          <a:bodyPr wrap="square" lIns="0" tIns="0" rIns="0" bIns="0" rtlCol="0" anchor="t"/>
          <a:lstStyle/>
          <a:p>
            <a:pPr indent="0" marL="0">
              <a:buNone/>
            </a:pPr>
            <a:r>
              <a:rPr lang="en-US" sz="1600" b="1" dirty="0">
                <a:solidFill>
                  <a:srgbClr val="9B6EE8"/>
                </a:solidFill>
                <a:latin typeface="Arial" pitchFamily="34" charset="0"/>
                <a:ea typeface="Arial" pitchFamily="34" charset="-122"/>
                <a:cs typeface="Arial" pitchFamily="34" charset="-120"/>
              </a:rPr>
              <a:t>Cách làm</a:t>
            </a:r>
            <a:endParaRPr lang="en-US" sz="1600" dirty="0"/>
          </a:p>
        </p:txBody>
      </p:sp>
      <p:sp>
        <p:nvSpPr>
          <p:cNvPr id="8" name="Text 6"/>
          <p:cNvSpPr txBox="1"/>
          <p:nvPr/>
        </p:nvSpPr>
        <p:spPr>
          <a:xfrm>
            <a:off x="548640" y="2743200"/>
            <a:ext cx="5257800" cy="2057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Tìm vùng cháy trắng (lõi đèn) trong ảnh.</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Tách ảnh thành lớp “độ sáng nền” (mờ, giữ cạnh) và lớp chi tiết.</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Nén lớp nền chỗ quá sáng (trên 0.55, nén còn 35%), chỉ trong vòng quanh đèn; lõi đèn giữ nguyên.</a:t>
            </a:r>
            <a:endParaRPr lang="en-US" sz="1300" dirty="0"/>
          </a:p>
          <a:p>
            <a:pPr marL="342900" indent="-342900">
              <a:spcAft>
                <a:spcPts val="500"/>
              </a:spcAft>
              <a:buSzPct val="100000"/>
              <a:buFont typeface="+mj-lt"/>
              <a:buAutoNum type="arabicPeriod" startAt="1"/>
            </a:pPr>
            <a:r>
              <a:rPr lang="en-US" sz="1300" dirty="0">
                <a:solidFill>
                  <a:srgbClr val="F2F2F2"/>
                </a:solidFill>
                <a:latin typeface="Arial" pitchFamily="34" charset="0"/>
                <a:ea typeface="Arial" pitchFamily="34" charset="-122"/>
                <a:cs typeface="Arial" pitchFamily="34" charset="-120"/>
              </a:rPr>
              <a:t>Chỉ ảnh đưa vào detector bị đổi. Gate PEG và màu Re-ID vẫn dùng ảnh gốc.</a:t>
            </a:r>
            <a:endParaRPr lang="en-US" sz="1300" dirty="0"/>
          </a:p>
        </p:txBody>
      </p:sp>
      <p:pic>
        <p:nvPicPr>
          <p:cNvPr id="9" name="Image 0" descr="D:\PROJECT\PEG\results\thach_v2\figures\m6_tonemap.png">    </p:cNvPr>
          <p:cNvPicPr>
            <a:picLocks noChangeAspect="1"/>
          </p:cNvPicPr>
          <p:nvPr/>
        </p:nvPicPr>
        <p:blipFill>
          <a:blip r:embed="rId1"/>
          <a:stretch>
            <a:fillRect/>
          </a:stretch>
        </p:blipFill>
        <p:spPr>
          <a:xfrm>
            <a:off x="6080760" y="1463040"/>
            <a:ext cx="5559552" cy="2093008"/>
          </a:xfrm>
          <a:prstGeom prst="rect">
            <a:avLst/>
          </a:prstGeom>
        </p:spPr>
      </p:pic>
      <p:sp>
        <p:nvSpPr>
          <p:cNvPr id="10" name="Shape 7"/>
          <p:cNvSpPr/>
          <p:nvPr/>
        </p:nvSpPr>
        <p:spPr>
          <a:xfrm>
            <a:off x="548640" y="4892040"/>
            <a:ext cx="11091672" cy="1417320"/>
          </a:xfrm>
          <a:prstGeom prst="roundRect">
            <a:avLst>
              <a:gd name="adj" fmla="val 7742"/>
            </a:avLst>
          </a:prstGeom>
          <a:solidFill>
            <a:srgbClr val="22252B"/>
          </a:solidFill>
          <a:ln w="12700">
            <a:solidFill>
              <a:srgbClr val="22252B"/>
            </a:solidFill>
            <a:prstDash val="solid"/>
          </a:ln>
        </p:spPr>
      </p:sp>
      <p:sp>
        <p:nvSpPr>
          <p:cNvPr id="11" name="Text 8"/>
          <p:cNvSpPr txBox="1"/>
          <p:nvPr/>
        </p:nvSpPr>
        <p:spPr>
          <a:xfrm>
            <a:off x="777240" y="4965192"/>
            <a:ext cx="5486400" cy="274320"/>
          </a:xfrm>
          <a:prstGeom prst="rect">
            <a:avLst/>
          </a:prstGeom>
          <a:noFill/>
          <a:ln/>
        </p:spPr>
        <p:txBody>
          <a:bodyPr wrap="square" lIns="0" tIns="0" rIns="0" bIns="0" rtlCol="0" anchor="t"/>
          <a:lstStyle/>
          <a:p>
            <a:pPr indent="0" marL="0">
              <a:buNone/>
            </a:pPr>
            <a:r>
              <a:rPr lang="en-US" sz="1300" b="1" dirty="0">
                <a:solidFill>
                  <a:srgbClr val="A3A8B0"/>
                </a:solidFill>
                <a:latin typeface="Arial" pitchFamily="34" charset="0"/>
                <a:ea typeface="Arial" pitchFamily="34" charset="-122"/>
                <a:cs typeface="Arial" pitchFamily="34" charset="-120"/>
              </a:rPr>
              <a:t>Bật riêng M6 trên base của Thạch:</a:t>
            </a:r>
            <a:endParaRPr lang="en-US" sz="1300" dirty="0"/>
          </a:p>
        </p:txBody>
      </p:sp>
      <p:sp>
        <p:nvSpPr>
          <p:cNvPr id="12" name="Text 9"/>
          <p:cNvSpPr txBox="1"/>
          <p:nvPr/>
        </p:nvSpPr>
        <p:spPr>
          <a:xfrm>
            <a:off x="21031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T1 HOTA</a:t>
            </a:r>
            <a:endParaRPr lang="en-US" sz="1200" dirty="0"/>
          </a:p>
        </p:txBody>
      </p:sp>
      <p:sp>
        <p:nvSpPr>
          <p:cNvPr id="13" name="Text 10"/>
          <p:cNvSpPr txBox="1"/>
          <p:nvPr/>
        </p:nvSpPr>
        <p:spPr>
          <a:xfrm>
            <a:off x="37033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T2 HOTA</a:t>
            </a:r>
            <a:endParaRPr lang="en-US" sz="1200" dirty="0"/>
          </a:p>
        </p:txBody>
      </p:sp>
      <p:sp>
        <p:nvSpPr>
          <p:cNvPr id="14" name="Text 11"/>
          <p:cNvSpPr txBox="1"/>
          <p:nvPr/>
        </p:nvSpPr>
        <p:spPr>
          <a:xfrm>
            <a:off x="5303520" y="5257800"/>
            <a:ext cx="1600200" cy="256032"/>
          </a:xfrm>
          <a:prstGeom prst="rect">
            <a:avLst/>
          </a:prstGeom>
          <a:noFill/>
          <a:ln/>
        </p:spPr>
        <p:txBody>
          <a:bodyPr wrap="square" lIns="0" tIns="0" rIns="0" bIns="0" rtlCol="0" anchor="t"/>
          <a:lstStyle/>
          <a:p>
            <a:pPr algn="ctr" indent="0" marL="0">
              <a:buNone/>
            </a:pPr>
            <a:r>
              <a:rPr lang="en-US" sz="1200" dirty="0">
                <a:solidFill>
                  <a:srgbClr val="A3A8B0"/>
                </a:solidFill>
                <a:latin typeface="Arial" pitchFamily="34" charset="0"/>
                <a:ea typeface="Arial" pitchFamily="34" charset="-122"/>
                <a:cs typeface="Arial" pitchFamily="34" charset="-120"/>
              </a:rPr>
              <a:t>Δ T3 Rcv@.5</a:t>
            </a:r>
            <a:endParaRPr lang="en-US" sz="1200" dirty="0"/>
          </a:p>
        </p:txBody>
      </p:sp>
      <p:sp>
        <p:nvSpPr>
          <p:cNvPr id="15" name="Text 12"/>
          <p:cNvSpPr txBox="1"/>
          <p:nvPr/>
        </p:nvSpPr>
        <p:spPr>
          <a:xfrm>
            <a:off x="777240" y="551383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test</a:t>
            </a:r>
            <a:endParaRPr lang="en-US" sz="1500" dirty="0"/>
          </a:p>
        </p:txBody>
      </p:sp>
      <p:sp>
        <p:nvSpPr>
          <p:cNvPr id="16" name="Text 13"/>
          <p:cNvSpPr txBox="1"/>
          <p:nvPr/>
        </p:nvSpPr>
        <p:spPr>
          <a:xfrm>
            <a:off x="21031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+1.04</a:t>
            </a:r>
            <a:endParaRPr lang="en-US" sz="1700" dirty="0"/>
          </a:p>
        </p:txBody>
      </p:sp>
      <p:sp>
        <p:nvSpPr>
          <p:cNvPr id="17" name="Text 14"/>
          <p:cNvSpPr txBox="1"/>
          <p:nvPr/>
        </p:nvSpPr>
        <p:spPr>
          <a:xfrm>
            <a:off x="37033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+1.31</a:t>
            </a:r>
            <a:endParaRPr lang="en-US" sz="1700" dirty="0"/>
          </a:p>
        </p:txBody>
      </p:sp>
      <p:sp>
        <p:nvSpPr>
          <p:cNvPr id="18" name="Text 15"/>
          <p:cNvSpPr txBox="1"/>
          <p:nvPr/>
        </p:nvSpPr>
        <p:spPr>
          <a:xfrm>
            <a:off x="5303520" y="5513832"/>
            <a:ext cx="1600200" cy="329184"/>
          </a:xfrm>
          <a:prstGeom prst="rect">
            <a:avLst/>
          </a:prstGeom>
          <a:noFill/>
          <a:ln/>
        </p:spPr>
        <p:txBody>
          <a:bodyPr wrap="square" lIns="0" tIns="0" rIns="0" bIns="0" rtlCol="0" anchor="ctr"/>
          <a:lstStyle/>
          <a:p>
            <a:pPr algn="ctr" indent="0" marL="0">
              <a:buNone/>
            </a:pPr>
            <a:r>
              <a:rPr lang="en-US" sz="1700" b="1" dirty="0">
                <a:solidFill>
                  <a:srgbClr val="19A35F"/>
                </a:solidFill>
                <a:latin typeface="Arial" pitchFamily="34" charset="0"/>
                <a:ea typeface="Arial" pitchFamily="34" charset="-122"/>
                <a:cs typeface="Arial" pitchFamily="34" charset="-120"/>
              </a:rPr>
              <a:t>+1.1</a:t>
            </a:r>
            <a:endParaRPr lang="en-US" sz="1700" dirty="0"/>
          </a:p>
        </p:txBody>
      </p:sp>
      <p:sp>
        <p:nvSpPr>
          <p:cNvPr id="19" name="Text 16"/>
          <p:cNvSpPr txBox="1"/>
          <p:nvPr/>
        </p:nvSpPr>
        <p:spPr>
          <a:xfrm>
            <a:off x="777240" y="5879592"/>
            <a:ext cx="1188720" cy="329184"/>
          </a:xfrm>
          <a:prstGeom prst="rect">
            <a:avLst/>
          </a:prstGeom>
          <a:noFill/>
          <a:ln/>
        </p:spPr>
        <p:txBody>
          <a:bodyPr wrap="square" lIns="0" tIns="0" rIns="0" bIns="0" rtlCol="0" anchor="ctr"/>
          <a:lstStyle/>
          <a:p>
            <a:pPr indent="0" marL="0">
              <a:buNone/>
            </a:pPr>
            <a:r>
              <a:rPr lang="en-US" sz="1500" b="1" dirty="0">
                <a:solidFill>
                  <a:srgbClr val="F2F2F2"/>
                </a:solidFill>
                <a:latin typeface="Arial" pitchFamily="34" charset="0"/>
                <a:ea typeface="Arial" pitchFamily="34" charset="-122"/>
                <a:cs typeface="Arial" pitchFamily="34" charset="-120"/>
              </a:rPr>
              <a:t>val</a:t>
            </a:r>
            <a:endParaRPr lang="en-US" sz="1500" dirty="0"/>
          </a:p>
        </p:txBody>
      </p:sp>
      <p:sp>
        <p:nvSpPr>
          <p:cNvPr id="20" name="Text 17"/>
          <p:cNvSpPr txBox="1"/>
          <p:nvPr/>
        </p:nvSpPr>
        <p:spPr>
          <a:xfrm>
            <a:off x="2103120" y="587959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−0.10</a:t>
            </a:r>
            <a:endParaRPr lang="en-US" sz="1700" dirty="0"/>
          </a:p>
        </p:txBody>
      </p:sp>
      <p:sp>
        <p:nvSpPr>
          <p:cNvPr id="21" name="Text 18"/>
          <p:cNvSpPr txBox="1"/>
          <p:nvPr/>
        </p:nvSpPr>
        <p:spPr>
          <a:xfrm>
            <a:off x="3703320" y="587959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−0.73</a:t>
            </a:r>
            <a:endParaRPr lang="en-US" sz="1700" dirty="0"/>
          </a:p>
        </p:txBody>
      </p:sp>
      <p:sp>
        <p:nvSpPr>
          <p:cNvPr id="22" name="Text 19"/>
          <p:cNvSpPr txBox="1"/>
          <p:nvPr/>
        </p:nvSpPr>
        <p:spPr>
          <a:xfrm>
            <a:off x="5303520" y="5879592"/>
            <a:ext cx="1600200" cy="329184"/>
          </a:xfrm>
          <a:prstGeom prst="rect">
            <a:avLst/>
          </a:prstGeom>
          <a:noFill/>
          <a:ln/>
        </p:spPr>
        <p:txBody>
          <a:bodyPr wrap="square" lIns="0" tIns="0" rIns="0" bIns="0" rtlCol="0" anchor="ctr"/>
          <a:lstStyle/>
          <a:p>
            <a:pPr algn="ctr" indent="0" marL="0">
              <a:buNone/>
            </a:pPr>
            <a:r>
              <a:rPr lang="en-US" sz="1700" b="1" dirty="0">
                <a:solidFill>
                  <a:srgbClr val="E66767"/>
                </a:solidFill>
                <a:latin typeface="Arial" pitchFamily="34" charset="0"/>
                <a:ea typeface="Arial" pitchFamily="34" charset="-122"/>
                <a:cs typeface="Arial" pitchFamily="34" charset="-120"/>
              </a:rPr>
              <a:t>−0.7</a:t>
            </a:r>
            <a:endParaRPr lang="en-US" sz="1700" dirty="0"/>
          </a:p>
        </p:txBody>
      </p:sp>
      <p:sp>
        <p:nvSpPr>
          <p:cNvPr id="23" name="Text 20"/>
          <p:cNvSpPr txBox="1"/>
          <p:nvPr/>
        </p:nvSpPr>
        <p:spPr>
          <a:xfrm>
            <a:off x="7086600" y="5001768"/>
            <a:ext cx="4389120" cy="1197864"/>
          </a:xfrm>
          <a:prstGeom prst="rect">
            <a:avLst/>
          </a:prstGeom>
          <a:noFill/>
          <a:ln/>
        </p:spPr>
        <p:txBody>
          <a:bodyPr wrap="square" lIns="0" tIns="0" rIns="0" bIns="0" rtlCol="0" anchor="ctr"/>
          <a:lstStyle/>
          <a:p>
            <a:pPr indent="0" marL="0">
              <a:buNone/>
            </a:pPr>
            <a:r>
              <a:rPr lang="en-US" sz="1300" dirty="0">
                <a:solidFill>
                  <a:srgbClr val="A3A8B0"/>
                </a:solidFill>
                <a:latin typeface="Arial" pitchFamily="34" charset="0"/>
                <a:ea typeface="Arial" pitchFamily="34" charset="-122"/>
                <a:cs typeface="Arial" pitchFamily="34" charset="-120"/>
              </a:rPr>
              <a:t>Áp lên 100% số frame test (ngưỡng bật rất thấp). Cần chạy lại detector: phải build cache riêng.</a:t>
            </a:r>
            <a:endParaRPr lang="en-US" sz="1300" dirty="0"/>
          </a:p>
        </p:txBody>
      </p:sp>
      <p:sp>
        <p:nvSpPr>
          <p:cNvPr id="24" name="Shape 21"/>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5" name="Text 2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6" name="Text 2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SO CÙNG CẤU HÌNH</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“base” của Thạch không phải PEG</a:t>
            </a:r>
            <a:endParaRPr lang="en-US" sz="3000" dirty="0"/>
          </a:p>
        </p:txBody>
      </p:sp>
      <p:sp>
        <p:nvSpPr>
          <p:cNvPr id="4" name="Text 2"/>
          <p:cNvSpPr txBox="1"/>
          <p:nvPr/>
        </p:nvSpPr>
        <p:spPr>
          <a:xfrm>
            <a:off x="3291840" y="1554480"/>
            <a:ext cx="1673352"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HOTA</a:t>
            </a:r>
            <a:endParaRPr lang="en-US" sz="1300" dirty="0"/>
          </a:p>
        </p:txBody>
      </p:sp>
      <p:sp>
        <p:nvSpPr>
          <p:cNvPr id="5" name="Text 3"/>
          <p:cNvSpPr txBox="1"/>
          <p:nvPr/>
        </p:nvSpPr>
        <p:spPr>
          <a:xfrm>
            <a:off x="4965192" y="1554480"/>
            <a:ext cx="1673352"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IDSW</a:t>
            </a:r>
            <a:endParaRPr lang="en-US" sz="1300" dirty="0"/>
          </a:p>
        </p:txBody>
      </p:sp>
      <p:sp>
        <p:nvSpPr>
          <p:cNvPr id="6" name="Text 4"/>
          <p:cNvSpPr txBox="1"/>
          <p:nvPr/>
        </p:nvSpPr>
        <p:spPr>
          <a:xfrm>
            <a:off x="6638544" y="1554480"/>
            <a:ext cx="1673352"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video 129 HOTA</a:t>
            </a:r>
            <a:endParaRPr lang="en-US" sz="1300" dirty="0"/>
          </a:p>
        </p:txBody>
      </p:sp>
      <p:sp>
        <p:nvSpPr>
          <p:cNvPr id="7" name="Text 5"/>
          <p:cNvSpPr txBox="1"/>
          <p:nvPr/>
        </p:nvSpPr>
        <p:spPr>
          <a:xfrm>
            <a:off x="8311896" y="1554480"/>
            <a:ext cx="1673352"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video 320 HOTA</a:t>
            </a:r>
            <a:endParaRPr lang="en-US" sz="1300" dirty="0"/>
          </a:p>
        </p:txBody>
      </p:sp>
      <p:sp>
        <p:nvSpPr>
          <p:cNvPr id="8" name="Text 6"/>
          <p:cNvSpPr txBox="1"/>
          <p:nvPr/>
        </p:nvSpPr>
        <p:spPr>
          <a:xfrm>
            <a:off x="9985248" y="1554480"/>
            <a:ext cx="1673352"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video 320 IDSW</a:t>
            </a:r>
            <a:endParaRPr lang="en-US" sz="1300" dirty="0"/>
          </a:p>
        </p:txBody>
      </p:sp>
      <p:sp>
        <p:nvSpPr>
          <p:cNvPr id="9" name="Shape 7"/>
          <p:cNvSpPr/>
          <p:nvPr/>
        </p:nvSpPr>
        <p:spPr>
          <a:xfrm>
            <a:off x="548640" y="1965960"/>
            <a:ext cx="11091672" cy="731520"/>
          </a:xfrm>
          <a:prstGeom prst="roundRect">
            <a:avLst>
              <a:gd name="adj" fmla="val 15000"/>
            </a:avLst>
          </a:prstGeom>
          <a:solidFill>
            <a:srgbClr val="22252B"/>
          </a:solidFill>
          <a:ln w="12700">
            <a:solidFill>
              <a:srgbClr val="22252B"/>
            </a:solidFill>
            <a:prstDash val="solid"/>
          </a:ln>
        </p:spPr>
      </p:sp>
      <p:sp>
        <p:nvSpPr>
          <p:cNvPr id="10" name="Shape 8"/>
          <p:cNvSpPr/>
          <p:nvPr/>
        </p:nvSpPr>
        <p:spPr>
          <a:xfrm>
            <a:off x="548640" y="1965960"/>
            <a:ext cx="91440" cy="731520"/>
          </a:xfrm>
          <a:prstGeom prst="rect">
            <a:avLst/>
          </a:prstGeom>
          <a:solidFill>
            <a:srgbClr val="3987E5"/>
          </a:solidFill>
          <a:ln w="12700">
            <a:solidFill>
              <a:srgbClr val="3987E5"/>
            </a:solidFill>
            <a:prstDash val="solid"/>
          </a:ln>
        </p:spPr>
      </p:sp>
      <p:sp>
        <p:nvSpPr>
          <p:cNvPr id="11" name="Text 9"/>
          <p:cNvSpPr txBox="1"/>
          <p:nvPr/>
        </p:nvSpPr>
        <p:spPr>
          <a:xfrm>
            <a:off x="822960" y="1965960"/>
            <a:ext cx="2468880" cy="731520"/>
          </a:xfrm>
          <a:prstGeom prst="rect">
            <a:avLst/>
          </a:prstGeom>
          <a:noFill/>
          <a:ln/>
        </p:spPr>
        <p:txBody>
          <a:bodyPr wrap="square" lIns="0" tIns="0" rIns="0" bIns="0" rtlCol="0" anchor="ctr"/>
          <a:lstStyle/>
          <a:p>
            <a:pPr indent="0" marL="0">
              <a:buNone/>
            </a:pPr>
            <a:r>
              <a:rPr lang="en-US" sz="1700" b="1" dirty="0">
                <a:solidFill>
                  <a:srgbClr val="3987E5"/>
                </a:solidFill>
                <a:latin typeface="Arial" pitchFamily="34" charset="0"/>
                <a:ea typeface="Arial" pitchFamily="34" charset="-122"/>
                <a:cs typeface="Arial" pitchFamily="34" charset="-120"/>
              </a:rPr>
              <a:t>PEG (guard bật)</a:t>
            </a:r>
            <a:endParaRPr lang="en-US" sz="1700" dirty="0"/>
          </a:p>
        </p:txBody>
      </p:sp>
      <p:sp>
        <p:nvSpPr>
          <p:cNvPr id="12" name="Text 10"/>
          <p:cNvSpPr txBox="1"/>
          <p:nvPr/>
        </p:nvSpPr>
        <p:spPr>
          <a:xfrm>
            <a:off x="3291840" y="196596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68.34</a:t>
            </a:r>
            <a:endParaRPr lang="en-US" sz="2400" dirty="0"/>
          </a:p>
        </p:txBody>
      </p:sp>
      <p:sp>
        <p:nvSpPr>
          <p:cNvPr id="13" name="Text 11"/>
          <p:cNvSpPr txBox="1"/>
          <p:nvPr/>
        </p:nvSpPr>
        <p:spPr>
          <a:xfrm>
            <a:off x="4965192" y="196596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15</a:t>
            </a:r>
            <a:endParaRPr lang="en-US" sz="2400" dirty="0"/>
          </a:p>
        </p:txBody>
      </p:sp>
      <p:sp>
        <p:nvSpPr>
          <p:cNvPr id="14" name="Text 12"/>
          <p:cNvSpPr txBox="1"/>
          <p:nvPr/>
        </p:nvSpPr>
        <p:spPr>
          <a:xfrm>
            <a:off x="6638544" y="196596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36.6</a:t>
            </a:r>
            <a:endParaRPr lang="en-US" sz="2400" dirty="0"/>
          </a:p>
        </p:txBody>
      </p:sp>
      <p:sp>
        <p:nvSpPr>
          <p:cNvPr id="15" name="Text 13"/>
          <p:cNvSpPr txBox="1"/>
          <p:nvPr/>
        </p:nvSpPr>
        <p:spPr>
          <a:xfrm>
            <a:off x="8311896" y="196596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43.0</a:t>
            </a:r>
            <a:endParaRPr lang="en-US" sz="2400" dirty="0"/>
          </a:p>
        </p:txBody>
      </p:sp>
      <p:sp>
        <p:nvSpPr>
          <p:cNvPr id="16" name="Text 14"/>
          <p:cNvSpPr txBox="1"/>
          <p:nvPr/>
        </p:nvSpPr>
        <p:spPr>
          <a:xfrm>
            <a:off x="9985248" y="196596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4</a:t>
            </a:r>
            <a:endParaRPr lang="en-US" sz="2400" dirty="0"/>
          </a:p>
        </p:txBody>
      </p:sp>
      <p:sp>
        <p:nvSpPr>
          <p:cNvPr id="17" name="Shape 15"/>
          <p:cNvSpPr/>
          <p:nvPr/>
        </p:nvSpPr>
        <p:spPr>
          <a:xfrm>
            <a:off x="548640" y="2788920"/>
            <a:ext cx="11091672" cy="731520"/>
          </a:xfrm>
          <a:prstGeom prst="roundRect">
            <a:avLst>
              <a:gd name="adj" fmla="val 15000"/>
            </a:avLst>
          </a:prstGeom>
          <a:solidFill>
            <a:srgbClr val="22252B"/>
          </a:solidFill>
          <a:ln w="12700">
            <a:solidFill>
              <a:srgbClr val="22252B"/>
            </a:solidFill>
            <a:prstDash val="solid"/>
          </a:ln>
        </p:spPr>
      </p:sp>
      <p:sp>
        <p:nvSpPr>
          <p:cNvPr id="18" name="Shape 16"/>
          <p:cNvSpPr/>
          <p:nvPr/>
        </p:nvSpPr>
        <p:spPr>
          <a:xfrm>
            <a:off x="548640" y="2788920"/>
            <a:ext cx="91440" cy="731520"/>
          </a:xfrm>
          <a:prstGeom prst="rect">
            <a:avLst/>
          </a:prstGeom>
          <a:solidFill>
            <a:srgbClr val="9B6EE8"/>
          </a:solidFill>
          <a:ln w="12700">
            <a:solidFill>
              <a:srgbClr val="9B6EE8"/>
            </a:solidFill>
            <a:prstDash val="solid"/>
          </a:ln>
        </p:spPr>
      </p:sp>
      <p:sp>
        <p:nvSpPr>
          <p:cNvPr id="19" name="Text 17"/>
          <p:cNvSpPr txBox="1"/>
          <p:nvPr/>
        </p:nvSpPr>
        <p:spPr>
          <a:xfrm>
            <a:off x="822960" y="2788920"/>
            <a:ext cx="2468880" cy="731520"/>
          </a:xfrm>
          <a:prstGeom prst="rect">
            <a:avLst/>
          </a:prstGeom>
          <a:noFill/>
          <a:ln/>
        </p:spPr>
        <p:txBody>
          <a:bodyPr wrap="square" lIns="0" tIns="0" rIns="0" bIns="0" rtlCol="0" anchor="ctr"/>
          <a:lstStyle/>
          <a:p>
            <a:pPr indent="0" marL="0">
              <a:buNone/>
            </a:pPr>
            <a:r>
              <a:rPr lang="en-US" sz="1700" b="1" dirty="0">
                <a:solidFill>
                  <a:srgbClr val="9B6EE8"/>
                </a:solidFill>
                <a:latin typeface="Arial" pitchFamily="34" charset="0"/>
                <a:ea typeface="Arial" pitchFamily="34" charset="-122"/>
                <a:cs typeface="Arial" pitchFamily="34" charset="-120"/>
              </a:rPr>
              <a:t>base của Thạch</a:t>
            </a:r>
            <a:endParaRPr lang="en-US" sz="1700" dirty="0"/>
          </a:p>
        </p:txBody>
      </p:sp>
      <p:sp>
        <p:nvSpPr>
          <p:cNvPr id="20" name="Text 18"/>
          <p:cNvSpPr txBox="1"/>
          <p:nvPr/>
        </p:nvSpPr>
        <p:spPr>
          <a:xfrm>
            <a:off x="3291840" y="278892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68.84</a:t>
            </a:r>
            <a:endParaRPr lang="en-US" sz="2400" dirty="0"/>
          </a:p>
        </p:txBody>
      </p:sp>
      <p:sp>
        <p:nvSpPr>
          <p:cNvPr id="21" name="Text 19"/>
          <p:cNvSpPr txBox="1"/>
          <p:nvPr/>
        </p:nvSpPr>
        <p:spPr>
          <a:xfrm>
            <a:off x="4965192" y="278892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38</a:t>
            </a:r>
            <a:endParaRPr lang="en-US" sz="2400" dirty="0"/>
          </a:p>
        </p:txBody>
      </p:sp>
      <p:sp>
        <p:nvSpPr>
          <p:cNvPr id="22" name="Text 20"/>
          <p:cNvSpPr txBox="1"/>
          <p:nvPr/>
        </p:nvSpPr>
        <p:spPr>
          <a:xfrm>
            <a:off x="6638544" y="278892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60.1</a:t>
            </a:r>
            <a:endParaRPr lang="en-US" sz="2400" dirty="0"/>
          </a:p>
        </p:txBody>
      </p:sp>
      <p:sp>
        <p:nvSpPr>
          <p:cNvPr id="23" name="Text 21"/>
          <p:cNvSpPr txBox="1"/>
          <p:nvPr/>
        </p:nvSpPr>
        <p:spPr>
          <a:xfrm>
            <a:off x="8311896" y="278892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39.2</a:t>
            </a:r>
            <a:endParaRPr lang="en-US" sz="2400" dirty="0"/>
          </a:p>
        </p:txBody>
      </p:sp>
      <p:sp>
        <p:nvSpPr>
          <p:cNvPr id="24" name="Text 22"/>
          <p:cNvSpPr txBox="1"/>
          <p:nvPr/>
        </p:nvSpPr>
        <p:spPr>
          <a:xfrm>
            <a:off x="9985248" y="2788920"/>
            <a:ext cx="1673352" cy="731520"/>
          </a:xfrm>
          <a:prstGeom prst="rect">
            <a:avLst/>
          </a:prstGeom>
          <a:noFill/>
          <a:ln/>
        </p:spPr>
        <p:txBody>
          <a:bodyPr wrap="square" lIns="0" tIns="0" rIns="0" bIns="0" rtlCol="0" anchor="ctr"/>
          <a:lstStyle/>
          <a:p>
            <a:pPr algn="ctr" indent="0" marL="0">
              <a:buNone/>
            </a:pPr>
            <a:r>
              <a:rPr lang="en-US" sz="2400" b="1" dirty="0">
                <a:solidFill>
                  <a:srgbClr val="F2F2F2"/>
                </a:solidFill>
                <a:latin typeface="Arial" pitchFamily="34" charset="0"/>
                <a:ea typeface="Arial" pitchFamily="34" charset="-122"/>
                <a:cs typeface="Arial" pitchFamily="34" charset="-120"/>
              </a:rPr>
              <a:t>25</a:t>
            </a:r>
            <a:endParaRPr lang="en-US" sz="2400" dirty="0"/>
          </a:p>
        </p:txBody>
      </p:sp>
      <p:sp>
        <p:nvSpPr>
          <p:cNvPr id="25" name="Shape 23"/>
          <p:cNvSpPr/>
          <p:nvPr/>
        </p:nvSpPr>
        <p:spPr>
          <a:xfrm>
            <a:off x="548640" y="4023360"/>
            <a:ext cx="11091672" cy="2011680"/>
          </a:xfrm>
          <a:prstGeom prst="roundRect">
            <a:avLst>
              <a:gd name="adj" fmla="val 5455"/>
            </a:avLst>
          </a:prstGeom>
          <a:solidFill>
            <a:srgbClr val="2B2F36"/>
          </a:solidFill>
          <a:ln w="12700">
            <a:solidFill>
              <a:srgbClr val="2B2F36"/>
            </a:solidFill>
            <a:prstDash val="solid"/>
          </a:ln>
        </p:spPr>
      </p:sp>
      <p:sp>
        <p:nvSpPr>
          <p:cNvPr id="26" name="Shape 24"/>
          <p:cNvSpPr/>
          <p:nvPr/>
        </p:nvSpPr>
        <p:spPr>
          <a:xfrm>
            <a:off x="548640" y="4023360"/>
            <a:ext cx="91440" cy="2011680"/>
          </a:xfrm>
          <a:prstGeom prst="rect">
            <a:avLst/>
          </a:prstGeom>
          <a:solidFill>
            <a:srgbClr val="F2A900"/>
          </a:solidFill>
          <a:ln w="12700">
            <a:solidFill>
              <a:srgbClr val="F2A900"/>
            </a:solidFill>
            <a:prstDash val="solid"/>
          </a:ln>
        </p:spPr>
      </p:sp>
      <p:sp>
        <p:nvSpPr>
          <p:cNvPr id="27" name="Text 25"/>
          <p:cNvSpPr txBox="1"/>
          <p:nvPr/>
        </p:nvSpPr>
        <p:spPr>
          <a:xfrm>
            <a:off x="822960" y="4114800"/>
            <a:ext cx="1060704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Logic đổi-ID cũ (M1-swap của v1) giờ luôn bật, không có công tắc → nằm sẵn trong base.</a:t>
            </a:r>
            <a:endParaRPr lang="en-US" sz="1600" dirty="0"/>
          </a:p>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Nó sửa video 129 (+23.5 HOTA) nhưng làm hỏng video 320 (IDSW 4 → 25).</a:t>
            </a:r>
            <a:endParaRPr lang="en-US" sz="1600" dirty="0"/>
          </a:p>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Nên “Δ so với base” trong bảng của Thạch không phải “Δ so với PEG”. Các slide sau so với cả hai.</a:t>
            </a:r>
            <a:endParaRPr lang="en-US" sz="1600" dirty="0"/>
          </a:p>
        </p:txBody>
      </p:sp>
      <p:sp>
        <p:nvSpPr>
          <p:cNvPr id="28" name="Shape 26"/>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29" name="Text 27"/>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0" name="Text 28"/>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KIỂM TRA CÁCH CHỌN</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Bảng của Thạch được chỉnh và chọn trên test</a:t>
            </a:r>
            <a:endParaRPr lang="en-US" sz="3000" dirty="0"/>
          </a:p>
        </p:txBody>
      </p:sp>
      <p:sp>
        <p:nvSpPr>
          <p:cNvPr id="4" name="Shape 2"/>
          <p:cNvSpPr/>
          <p:nvPr/>
        </p:nvSpPr>
        <p:spPr>
          <a:xfrm>
            <a:off x="548640" y="1508760"/>
            <a:ext cx="3566160" cy="1737360"/>
          </a:xfrm>
          <a:prstGeom prst="roundRect">
            <a:avLst>
              <a:gd name="adj" fmla="val 6316"/>
            </a:avLst>
          </a:prstGeom>
          <a:solidFill>
            <a:srgbClr val="22252B"/>
          </a:solidFill>
          <a:ln w="12700">
            <a:solidFill>
              <a:srgbClr val="22252B"/>
            </a:solidFill>
            <a:prstDash val="solid"/>
          </a:ln>
        </p:spPr>
      </p:sp>
      <p:sp>
        <p:nvSpPr>
          <p:cNvPr id="5" name="Shape 3"/>
          <p:cNvSpPr/>
          <p:nvPr/>
        </p:nvSpPr>
        <p:spPr>
          <a:xfrm>
            <a:off x="548640" y="1508760"/>
            <a:ext cx="91440" cy="1737360"/>
          </a:xfrm>
          <a:prstGeom prst="rect">
            <a:avLst/>
          </a:prstGeom>
          <a:solidFill>
            <a:srgbClr val="E66767"/>
          </a:solidFill>
          <a:ln w="12700">
            <a:solidFill>
              <a:srgbClr val="E66767"/>
            </a:solidFill>
            <a:prstDash val="solid"/>
          </a:ln>
        </p:spPr>
      </p:sp>
      <p:sp>
        <p:nvSpPr>
          <p:cNvPr id="6" name="Text 4"/>
          <p:cNvSpPr txBox="1"/>
          <p:nvPr/>
        </p:nvSpPr>
        <p:spPr>
          <a:xfrm>
            <a:off x="822960" y="1554480"/>
            <a:ext cx="3108960" cy="1005840"/>
          </a:xfrm>
          <a:prstGeom prst="rect">
            <a:avLst/>
          </a:prstGeom>
          <a:noFill/>
          <a:ln/>
        </p:spPr>
        <p:txBody>
          <a:bodyPr wrap="square" lIns="0" tIns="0" rIns="0" bIns="0" rtlCol="0" anchor="ctr"/>
          <a:lstStyle/>
          <a:p>
            <a:pPr indent="0" marL="0">
              <a:buNone/>
            </a:pPr>
            <a:r>
              <a:rPr lang="en-US" sz="5400" b="1" dirty="0">
                <a:solidFill>
                  <a:srgbClr val="E66767"/>
                </a:solidFill>
                <a:latin typeface="Arial" pitchFamily="34" charset="0"/>
                <a:ea typeface="Arial" pitchFamily="34" charset="-122"/>
                <a:cs typeface="Arial" pitchFamily="34" charset="-120"/>
              </a:rPr>
              <a:t>56</a:t>
            </a:r>
            <a:endParaRPr lang="en-US" sz="5400" dirty="0"/>
          </a:p>
        </p:txBody>
      </p:sp>
      <p:sp>
        <p:nvSpPr>
          <p:cNvPr id="7" name="Text 5"/>
          <p:cNvSpPr txBox="1"/>
          <p:nvPr/>
        </p:nvSpPr>
        <p:spPr>
          <a:xfrm>
            <a:off x="822960" y="2560320"/>
            <a:ext cx="3108960" cy="548640"/>
          </a:xfrm>
          <a:prstGeom prst="rect">
            <a:avLst/>
          </a:prstGeom>
          <a:noFill/>
          <a:ln/>
        </p:spPr>
        <p:txBody>
          <a:bodyPr wrap="square" lIns="0" tIns="0" rIns="0" bIns="0" rtlCol="0" anchor="t"/>
          <a:lstStyle/>
          <a:p>
            <a:pPr indent="0" marL="0">
              <a:buNone/>
            </a:pPr>
            <a:r>
              <a:rPr lang="en-US" sz="1600" dirty="0">
                <a:solidFill>
                  <a:srgbClr val="A3A8B0"/>
                </a:solidFill>
                <a:latin typeface="Arial" pitchFamily="34" charset="0"/>
                <a:ea typeface="Arial" pitchFamily="34" charset="-122"/>
                <a:cs typeface="Arial" pitchFamily="34" charset="-120"/>
              </a:rPr>
              <a:t>lượt chạy Table I trên test</a:t>
            </a:r>
            <a:endParaRPr lang="en-US" sz="1600" dirty="0"/>
          </a:p>
        </p:txBody>
      </p:sp>
      <p:sp>
        <p:nvSpPr>
          <p:cNvPr id="8" name="Shape 6"/>
          <p:cNvSpPr/>
          <p:nvPr/>
        </p:nvSpPr>
        <p:spPr>
          <a:xfrm>
            <a:off x="4315968" y="1508760"/>
            <a:ext cx="3566160" cy="1737360"/>
          </a:xfrm>
          <a:prstGeom prst="roundRect">
            <a:avLst>
              <a:gd name="adj" fmla="val 6316"/>
            </a:avLst>
          </a:prstGeom>
          <a:solidFill>
            <a:srgbClr val="22252B"/>
          </a:solidFill>
          <a:ln w="12700">
            <a:solidFill>
              <a:srgbClr val="22252B"/>
            </a:solidFill>
            <a:prstDash val="solid"/>
          </a:ln>
        </p:spPr>
      </p:sp>
      <p:sp>
        <p:nvSpPr>
          <p:cNvPr id="9" name="Shape 7"/>
          <p:cNvSpPr/>
          <p:nvPr/>
        </p:nvSpPr>
        <p:spPr>
          <a:xfrm>
            <a:off x="4315968" y="1508760"/>
            <a:ext cx="91440" cy="1737360"/>
          </a:xfrm>
          <a:prstGeom prst="rect">
            <a:avLst/>
          </a:prstGeom>
          <a:solidFill>
            <a:srgbClr val="E66767"/>
          </a:solidFill>
          <a:ln w="12700">
            <a:solidFill>
              <a:srgbClr val="E66767"/>
            </a:solidFill>
            <a:prstDash val="solid"/>
          </a:ln>
        </p:spPr>
      </p:sp>
      <p:sp>
        <p:nvSpPr>
          <p:cNvPr id="10" name="Text 8"/>
          <p:cNvSpPr txBox="1"/>
          <p:nvPr/>
        </p:nvSpPr>
        <p:spPr>
          <a:xfrm>
            <a:off x="4590288" y="1554480"/>
            <a:ext cx="3108960" cy="1005840"/>
          </a:xfrm>
          <a:prstGeom prst="rect">
            <a:avLst/>
          </a:prstGeom>
          <a:noFill/>
          <a:ln/>
        </p:spPr>
        <p:txBody>
          <a:bodyPr wrap="square" lIns="0" tIns="0" rIns="0" bIns="0" rtlCol="0" anchor="ctr"/>
          <a:lstStyle/>
          <a:p>
            <a:pPr indent="0" marL="0">
              <a:buNone/>
            </a:pPr>
            <a:r>
              <a:rPr lang="en-US" sz="5400" b="1" dirty="0">
                <a:solidFill>
                  <a:srgbClr val="E66767"/>
                </a:solidFill>
                <a:latin typeface="Arial" pitchFamily="34" charset="0"/>
                <a:ea typeface="Arial" pitchFamily="34" charset="-122"/>
                <a:cs typeface="Arial" pitchFamily="34" charset="-120"/>
              </a:rPr>
              <a:t>0</a:t>
            </a:r>
            <a:endParaRPr lang="en-US" sz="5400" dirty="0"/>
          </a:p>
        </p:txBody>
      </p:sp>
      <p:sp>
        <p:nvSpPr>
          <p:cNvPr id="11" name="Text 9"/>
          <p:cNvSpPr txBox="1"/>
          <p:nvPr/>
        </p:nvSpPr>
        <p:spPr>
          <a:xfrm>
            <a:off x="4590288" y="2560320"/>
            <a:ext cx="3108960" cy="548640"/>
          </a:xfrm>
          <a:prstGeom prst="rect">
            <a:avLst/>
          </a:prstGeom>
          <a:noFill/>
          <a:ln/>
        </p:spPr>
        <p:txBody>
          <a:bodyPr wrap="square" lIns="0" tIns="0" rIns="0" bIns="0" rtlCol="0" anchor="t"/>
          <a:lstStyle/>
          <a:p>
            <a:pPr indent="0" marL="0">
              <a:buNone/>
            </a:pPr>
            <a:r>
              <a:rPr lang="en-US" sz="1600" dirty="0">
                <a:solidFill>
                  <a:srgbClr val="A3A8B0"/>
                </a:solidFill>
                <a:latin typeface="Arial" pitchFamily="34" charset="0"/>
                <a:ea typeface="Arial" pitchFamily="34" charset="-122"/>
                <a:cs typeface="Arial" pitchFamily="34" charset="-120"/>
              </a:rPr>
              <a:t>lượt chạy trên val</a:t>
            </a:r>
            <a:endParaRPr lang="en-US" sz="1600" dirty="0"/>
          </a:p>
        </p:txBody>
      </p:sp>
      <p:sp>
        <p:nvSpPr>
          <p:cNvPr id="12" name="Shape 10"/>
          <p:cNvSpPr/>
          <p:nvPr/>
        </p:nvSpPr>
        <p:spPr>
          <a:xfrm>
            <a:off x="8083296" y="1508760"/>
            <a:ext cx="3566160" cy="1737360"/>
          </a:xfrm>
          <a:prstGeom prst="roundRect">
            <a:avLst>
              <a:gd name="adj" fmla="val 6316"/>
            </a:avLst>
          </a:prstGeom>
          <a:solidFill>
            <a:srgbClr val="22252B"/>
          </a:solidFill>
          <a:ln w="12700">
            <a:solidFill>
              <a:srgbClr val="22252B"/>
            </a:solidFill>
            <a:prstDash val="solid"/>
          </a:ln>
        </p:spPr>
      </p:sp>
      <p:sp>
        <p:nvSpPr>
          <p:cNvPr id="13" name="Shape 11"/>
          <p:cNvSpPr/>
          <p:nvPr/>
        </p:nvSpPr>
        <p:spPr>
          <a:xfrm>
            <a:off x="8083296" y="1508760"/>
            <a:ext cx="91440" cy="1737360"/>
          </a:xfrm>
          <a:prstGeom prst="rect">
            <a:avLst/>
          </a:prstGeom>
          <a:solidFill>
            <a:srgbClr val="F2A900"/>
          </a:solidFill>
          <a:ln w="12700">
            <a:solidFill>
              <a:srgbClr val="F2A900"/>
            </a:solidFill>
            <a:prstDash val="solid"/>
          </a:ln>
        </p:spPr>
      </p:sp>
      <p:sp>
        <p:nvSpPr>
          <p:cNvPr id="14" name="Text 12"/>
          <p:cNvSpPr txBox="1"/>
          <p:nvPr/>
        </p:nvSpPr>
        <p:spPr>
          <a:xfrm>
            <a:off x="8357616" y="1554480"/>
            <a:ext cx="3108960" cy="1005840"/>
          </a:xfrm>
          <a:prstGeom prst="rect">
            <a:avLst/>
          </a:prstGeom>
          <a:noFill/>
          <a:ln/>
        </p:spPr>
        <p:txBody>
          <a:bodyPr wrap="square" lIns="0" tIns="0" rIns="0" bIns="0" rtlCol="0" anchor="ctr"/>
          <a:lstStyle/>
          <a:p>
            <a:pPr indent="0" marL="0">
              <a:buNone/>
            </a:pPr>
            <a:r>
              <a:rPr lang="en-US" sz="5400" b="1" dirty="0">
                <a:solidFill>
                  <a:srgbClr val="F2A900"/>
                </a:solidFill>
                <a:latin typeface="Arial" pitchFamily="34" charset="0"/>
                <a:ea typeface="Arial" pitchFamily="34" charset="-122"/>
                <a:cs typeface="Arial" pitchFamily="34" charset="-120"/>
              </a:rPr>
              <a:t>0</a:t>
            </a:r>
            <a:endParaRPr lang="en-US" sz="5400" dirty="0"/>
          </a:p>
        </p:txBody>
      </p:sp>
      <p:sp>
        <p:nvSpPr>
          <p:cNvPr id="15" name="Text 13"/>
          <p:cNvSpPr txBox="1"/>
          <p:nvPr/>
        </p:nvSpPr>
        <p:spPr>
          <a:xfrm>
            <a:off x="8357616" y="2560320"/>
            <a:ext cx="3108960" cy="548640"/>
          </a:xfrm>
          <a:prstGeom prst="rect">
            <a:avLst/>
          </a:prstGeom>
          <a:noFill/>
          <a:ln/>
        </p:spPr>
        <p:txBody>
          <a:bodyPr wrap="square" lIns="0" tIns="0" rIns="0" bIns="0" rtlCol="0" anchor="t"/>
          <a:lstStyle/>
          <a:p>
            <a:pPr indent="0" marL="0">
              <a:buNone/>
            </a:pPr>
            <a:r>
              <a:rPr lang="en-US" sz="1600" dirty="0">
                <a:solidFill>
                  <a:srgbClr val="A3A8B0"/>
                </a:solidFill>
                <a:latin typeface="Arial" pitchFamily="34" charset="0"/>
                <a:ea typeface="Arial" pitchFamily="34" charset="-122"/>
                <a:cs typeface="Arial" pitchFamily="34" charset="-120"/>
              </a:rPr>
              <a:t>lượt chạy Table II / III</a:t>
            </a:r>
            <a:endParaRPr lang="en-US" sz="1600" dirty="0"/>
          </a:p>
        </p:txBody>
      </p:sp>
      <p:sp>
        <p:nvSpPr>
          <p:cNvPr id="16" name="Shape 14"/>
          <p:cNvSpPr/>
          <p:nvPr/>
        </p:nvSpPr>
        <p:spPr>
          <a:xfrm>
            <a:off x="548640" y="3429000"/>
            <a:ext cx="11091672" cy="2606040"/>
          </a:xfrm>
          <a:prstGeom prst="roundRect">
            <a:avLst>
              <a:gd name="adj" fmla="val 4211"/>
            </a:avLst>
          </a:prstGeom>
          <a:solidFill>
            <a:srgbClr val="2B2F36"/>
          </a:solidFill>
          <a:ln w="12700">
            <a:solidFill>
              <a:srgbClr val="2B2F36"/>
            </a:solidFill>
            <a:prstDash val="solid"/>
          </a:ln>
        </p:spPr>
      </p:sp>
      <p:sp>
        <p:nvSpPr>
          <p:cNvPr id="17" name="Text 15"/>
          <p:cNvSpPr txBox="1"/>
          <p:nvPr/>
        </p:nvSpPr>
        <p:spPr>
          <a:xfrm>
            <a:off x="822960" y="3520440"/>
            <a:ext cx="10607040" cy="242316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Script của Thạch ghi: “choose / calibrate on VAL, report TEST once”, nhưng thư mục kết quả không có file val nào.</a:t>
            </a:r>
            <a:endParaRPr lang="en-US" sz="1600" dirty="0"/>
          </a:p>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Riêng M1 có các bản thử dx_qonly / dx_qcone / dx_damp (HOTA 66.44–68.84), fix1 (69.09), fix2 = bản cuối (69.24): tất cả đo trên Table I test.</a:t>
            </a:r>
            <a:endParaRPr lang="en-US" sz="1600" dirty="0"/>
          </a:p>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Nên +1.69 HOTA là số “chọn trên test, báo trên test”. Mình làm lại đúng cách: chọn trên val bằng luật chốt trước (commit trước khi có số val), báo test một lần.</a:t>
            </a:r>
            <a:endParaRPr lang="en-US" sz="1600" dirty="0"/>
          </a:p>
        </p:txBody>
      </p:sp>
      <p:sp>
        <p:nvSpPr>
          <p:cNvPr id="18" name="Shape 16"/>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19" name="Text 17"/>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20" name="Text 18"/>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KẾT QUẢ TEST</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Trên test, đủ 3 bảng</a:t>
            </a:r>
            <a:endParaRPr lang="en-US" sz="3000" dirty="0"/>
          </a:p>
        </p:txBody>
      </p:sp>
      <p:sp>
        <p:nvSpPr>
          <p:cNvPr id="4" name="Text 2"/>
          <p:cNvSpPr txBox="1"/>
          <p:nvPr/>
        </p:nvSpPr>
        <p:spPr>
          <a:xfrm>
            <a:off x="3017520"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HOTA</a:t>
            </a:r>
            <a:endParaRPr lang="en-US" sz="1300" dirty="0"/>
          </a:p>
        </p:txBody>
      </p:sp>
      <p:sp>
        <p:nvSpPr>
          <p:cNvPr id="5" name="Text 3"/>
          <p:cNvSpPr txBox="1"/>
          <p:nvPr/>
        </p:nvSpPr>
        <p:spPr>
          <a:xfrm>
            <a:off x="4453128"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IDF1</a:t>
            </a:r>
            <a:endParaRPr lang="en-US" sz="1300" dirty="0"/>
          </a:p>
        </p:txBody>
      </p:sp>
      <p:sp>
        <p:nvSpPr>
          <p:cNvPr id="6" name="Text 4"/>
          <p:cNvSpPr txBox="1"/>
          <p:nvPr/>
        </p:nvSpPr>
        <p:spPr>
          <a:xfrm>
            <a:off x="5888736"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IDSW</a:t>
            </a:r>
            <a:endParaRPr lang="en-US" sz="1300" dirty="0"/>
          </a:p>
        </p:txBody>
      </p:sp>
      <p:sp>
        <p:nvSpPr>
          <p:cNvPr id="7" name="Text 5"/>
          <p:cNvSpPr txBox="1"/>
          <p:nvPr/>
        </p:nvSpPr>
        <p:spPr>
          <a:xfrm>
            <a:off x="7324344"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T2 HOTA</a:t>
            </a:r>
            <a:endParaRPr lang="en-US" sz="1300" dirty="0"/>
          </a:p>
        </p:txBody>
      </p:sp>
      <p:sp>
        <p:nvSpPr>
          <p:cNvPr id="8" name="Text 6"/>
          <p:cNvSpPr txBox="1"/>
          <p:nvPr/>
        </p:nvSpPr>
        <p:spPr>
          <a:xfrm>
            <a:off x="8759952"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T2 MOTA</a:t>
            </a:r>
            <a:endParaRPr lang="en-US" sz="1300" dirty="0"/>
          </a:p>
        </p:txBody>
      </p:sp>
      <p:sp>
        <p:nvSpPr>
          <p:cNvPr id="9" name="Text 7"/>
          <p:cNvSpPr txBox="1"/>
          <p:nvPr/>
        </p:nvSpPr>
        <p:spPr>
          <a:xfrm>
            <a:off x="10195560"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T3 Rcv@.5</a:t>
            </a:r>
            <a:endParaRPr lang="en-US" sz="1300" dirty="0"/>
          </a:p>
        </p:txBody>
      </p:sp>
      <p:sp>
        <p:nvSpPr>
          <p:cNvPr id="10" name="Shape 8"/>
          <p:cNvSpPr/>
          <p:nvPr/>
        </p:nvSpPr>
        <p:spPr>
          <a:xfrm>
            <a:off x="548640" y="1847088"/>
            <a:ext cx="11091672" cy="566928"/>
          </a:xfrm>
          <a:prstGeom prst="roundRect">
            <a:avLst>
              <a:gd name="adj" fmla="val 19355"/>
            </a:avLst>
          </a:prstGeom>
          <a:solidFill>
            <a:srgbClr val="22252B"/>
          </a:solidFill>
          <a:ln w="12700">
            <a:solidFill>
              <a:srgbClr val="22252B"/>
            </a:solidFill>
            <a:prstDash val="solid"/>
          </a:ln>
        </p:spPr>
      </p:sp>
      <p:sp>
        <p:nvSpPr>
          <p:cNvPr id="11" name="Shape 9"/>
          <p:cNvSpPr/>
          <p:nvPr/>
        </p:nvSpPr>
        <p:spPr>
          <a:xfrm>
            <a:off x="548640" y="1847088"/>
            <a:ext cx="91440" cy="566928"/>
          </a:xfrm>
          <a:prstGeom prst="rect">
            <a:avLst/>
          </a:prstGeom>
          <a:solidFill>
            <a:srgbClr val="3987E5"/>
          </a:solidFill>
          <a:ln w="12700">
            <a:solidFill>
              <a:srgbClr val="3987E5"/>
            </a:solidFill>
            <a:prstDash val="solid"/>
          </a:ln>
        </p:spPr>
      </p:sp>
      <p:sp>
        <p:nvSpPr>
          <p:cNvPr id="12" name="Text 10"/>
          <p:cNvSpPr txBox="1"/>
          <p:nvPr/>
        </p:nvSpPr>
        <p:spPr>
          <a:xfrm>
            <a:off x="822960" y="1847088"/>
            <a:ext cx="2194560" cy="566928"/>
          </a:xfrm>
          <a:prstGeom prst="rect">
            <a:avLst/>
          </a:prstGeom>
          <a:noFill/>
          <a:ln/>
        </p:spPr>
        <p:txBody>
          <a:bodyPr wrap="square" lIns="0" tIns="0" rIns="0" bIns="0" rtlCol="0" anchor="ctr"/>
          <a:lstStyle/>
          <a:p>
            <a:pPr indent="0" marL="0">
              <a:buNone/>
            </a:pPr>
            <a:r>
              <a:rPr lang="en-US" sz="1500" b="1" dirty="0">
                <a:solidFill>
                  <a:srgbClr val="3987E5"/>
                </a:solidFill>
                <a:latin typeface="Arial" pitchFamily="34" charset="0"/>
                <a:ea typeface="Arial" pitchFamily="34" charset="-122"/>
                <a:cs typeface="Arial" pitchFamily="34" charset="-120"/>
              </a:rPr>
              <a:t>PEG</a:t>
            </a:r>
            <a:endParaRPr lang="en-US" sz="1500" dirty="0"/>
          </a:p>
        </p:txBody>
      </p:sp>
      <p:sp>
        <p:nvSpPr>
          <p:cNvPr id="13" name="Text 11"/>
          <p:cNvSpPr txBox="1"/>
          <p:nvPr/>
        </p:nvSpPr>
        <p:spPr>
          <a:xfrm>
            <a:off x="3017520"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68.34</a:t>
            </a:r>
            <a:endParaRPr lang="en-US" sz="1900" dirty="0"/>
          </a:p>
        </p:txBody>
      </p:sp>
      <p:sp>
        <p:nvSpPr>
          <p:cNvPr id="14" name="Text 12"/>
          <p:cNvSpPr txBox="1"/>
          <p:nvPr/>
        </p:nvSpPr>
        <p:spPr>
          <a:xfrm>
            <a:off x="4453128"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82.68</a:t>
            </a:r>
            <a:endParaRPr lang="en-US" sz="1900" dirty="0"/>
          </a:p>
        </p:txBody>
      </p:sp>
      <p:sp>
        <p:nvSpPr>
          <p:cNvPr id="15" name="Text 13"/>
          <p:cNvSpPr txBox="1"/>
          <p:nvPr/>
        </p:nvSpPr>
        <p:spPr>
          <a:xfrm>
            <a:off x="5888736"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15</a:t>
            </a:r>
            <a:endParaRPr lang="en-US" sz="1900" dirty="0"/>
          </a:p>
        </p:txBody>
      </p:sp>
      <p:sp>
        <p:nvSpPr>
          <p:cNvPr id="16" name="Text 14"/>
          <p:cNvSpPr txBox="1"/>
          <p:nvPr/>
        </p:nvSpPr>
        <p:spPr>
          <a:xfrm>
            <a:off x="7324344"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61.41</a:t>
            </a:r>
            <a:endParaRPr lang="en-US" sz="1900" dirty="0"/>
          </a:p>
        </p:txBody>
      </p:sp>
      <p:sp>
        <p:nvSpPr>
          <p:cNvPr id="17" name="Text 15"/>
          <p:cNvSpPr txBox="1"/>
          <p:nvPr/>
        </p:nvSpPr>
        <p:spPr>
          <a:xfrm>
            <a:off x="8759952"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73.48</a:t>
            </a:r>
            <a:endParaRPr lang="en-US" sz="1900" dirty="0"/>
          </a:p>
        </p:txBody>
      </p:sp>
      <p:sp>
        <p:nvSpPr>
          <p:cNvPr id="18" name="Text 16"/>
          <p:cNvSpPr txBox="1"/>
          <p:nvPr/>
        </p:nvSpPr>
        <p:spPr>
          <a:xfrm>
            <a:off x="10195560"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76.2</a:t>
            </a:r>
            <a:endParaRPr lang="en-US" sz="1900" dirty="0"/>
          </a:p>
        </p:txBody>
      </p:sp>
      <p:sp>
        <p:nvSpPr>
          <p:cNvPr id="19" name="Shape 17"/>
          <p:cNvSpPr/>
          <p:nvPr/>
        </p:nvSpPr>
        <p:spPr>
          <a:xfrm>
            <a:off x="548640" y="2478024"/>
            <a:ext cx="11091672" cy="566928"/>
          </a:xfrm>
          <a:prstGeom prst="roundRect">
            <a:avLst>
              <a:gd name="adj" fmla="val 19355"/>
            </a:avLst>
          </a:prstGeom>
          <a:solidFill>
            <a:srgbClr val="22252B"/>
          </a:solidFill>
          <a:ln w="12700">
            <a:solidFill>
              <a:srgbClr val="22252B"/>
            </a:solidFill>
            <a:prstDash val="solid"/>
          </a:ln>
        </p:spPr>
      </p:sp>
      <p:sp>
        <p:nvSpPr>
          <p:cNvPr id="20" name="Shape 18"/>
          <p:cNvSpPr/>
          <p:nvPr/>
        </p:nvSpPr>
        <p:spPr>
          <a:xfrm>
            <a:off x="548640" y="2478024"/>
            <a:ext cx="91440" cy="566928"/>
          </a:xfrm>
          <a:prstGeom prst="rect">
            <a:avLst/>
          </a:prstGeom>
          <a:solidFill>
            <a:srgbClr val="A3A8B0"/>
          </a:solidFill>
          <a:ln w="12700">
            <a:solidFill>
              <a:srgbClr val="A3A8B0"/>
            </a:solidFill>
            <a:prstDash val="solid"/>
          </a:ln>
        </p:spPr>
      </p:sp>
      <p:sp>
        <p:nvSpPr>
          <p:cNvPr id="21" name="Text 19"/>
          <p:cNvSpPr txBox="1"/>
          <p:nvPr/>
        </p:nvSpPr>
        <p:spPr>
          <a:xfrm>
            <a:off x="822960" y="2478024"/>
            <a:ext cx="2194560" cy="566928"/>
          </a:xfrm>
          <a:prstGeom prst="rect">
            <a:avLst/>
          </a:prstGeom>
          <a:noFill/>
          <a:ln/>
        </p:spPr>
        <p:txBody>
          <a:bodyPr wrap="square" lIns="0" tIns="0" rIns="0" bIns="0" rtlCol="0" anchor="ctr"/>
          <a:lstStyle/>
          <a:p>
            <a:pPr indent="0" marL="0">
              <a:buNone/>
            </a:pPr>
            <a:r>
              <a:rPr lang="en-US" sz="1500" b="1" dirty="0">
                <a:solidFill>
                  <a:srgbClr val="A3A8B0"/>
                </a:solidFill>
                <a:latin typeface="Arial" pitchFamily="34" charset="0"/>
                <a:ea typeface="Arial" pitchFamily="34" charset="-122"/>
                <a:cs typeface="Arial" pitchFamily="34" charset="-120"/>
              </a:rPr>
              <a:t>base</a:t>
            </a:r>
            <a:endParaRPr lang="en-US" sz="1500" dirty="0"/>
          </a:p>
        </p:txBody>
      </p:sp>
      <p:sp>
        <p:nvSpPr>
          <p:cNvPr id="22" name="Text 20"/>
          <p:cNvSpPr txBox="1"/>
          <p:nvPr/>
        </p:nvSpPr>
        <p:spPr>
          <a:xfrm>
            <a:off x="3017520" y="2478024"/>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68.84</a:t>
            </a:r>
            <a:endParaRPr lang="en-US" sz="1900" dirty="0"/>
          </a:p>
        </p:txBody>
      </p:sp>
      <p:sp>
        <p:nvSpPr>
          <p:cNvPr id="23" name="Text 21"/>
          <p:cNvSpPr txBox="1"/>
          <p:nvPr/>
        </p:nvSpPr>
        <p:spPr>
          <a:xfrm>
            <a:off x="4453128" y="2478024"/>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84.73</a:t>
            </a:r>
            <a:endParaRPr lang="en-US" sz="1900" dirty="0"/>
          </a:p>
        </p:txBody>
      </p:sp>
      <p:sp>
        <p:nvSpPr>
          <p:cNvPr id="24" name="Text 22"/>
          <p:cNvSpPr txBox="1"/>
          <p:nvPr/>
        </p:nvSpPr>
        <p:spPr>
          <a:xfrm>
            <a:off x="5888736" y="2478024"/>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38</a:t>
            </a:r>
            <a:endParaRPr lang="en-US" sz="1900" dirty="0"/>
          </a:p>
        </p:txBody>
      </p:sp>
      <p:sp>
        <p:nvSpPr>
          <p:cNvPr id="25" name="Text 23"/>
          <p:cNvSpPr txBox="1"/>
          <p:nvPr/>
        </p:nvSpPr>
        <p:spPr>
          <a:xfrm>
            <a:off x="7324344" y="2478024"/>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62.18</a:t>
            </a:r>
            <a:endParaRPr lang="en-US" sz="1900" dirty="0"/>
          </a:p>
        </p:txBody>
      </p:sp>
      <p:sp>
        <p:nvSpPr>
          <p:cNvPr id="26" name="Text 24"/>
          <p:cNvSpPr txBox="1"/>
          <p:nvPr/>
        </p:nvSpPr>
        <p:spPr>
          <a:xfrm>
            <a:off x="8759952" y="2478024"/>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72.93</a:t>
            </a:r>
            <a:endParaRPr lang="en-US" sz="1900" dirty="0"/>
          </a:p>
        </p:txBody>
      </p:sp>
      <p:sp>
        <p:nvSpPr>
          <p:cNvPr id="27" name="Text 25"/>
          <p:cNvSpPr txBox="1"/>
          <p:nvPr/>
        </p:nvSpPr>
        <p:spPr>
          <a:xfrm>
            <a:off x="10195560" y="2478024"/>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76.2</a:t>
            </a:r>
            <a:endParaRPr lang="en-US" sz="1900" dirty="0"/>
          </a:p>
        </p:txBody>
      </p:sp>
      <p:sp>
        <p:nvSpPr>
          <p:cNvPr id="28" name="Shape 26"/>
          <p:cNvSpPr/>
          <p:nvPr/>
        </p:nvSpPr>
        <p:spPr>
          <a:xfrm>
            <a:off x="548640" y="3108960"/>
            <a:ext cx="11091672" cy="566928"/>
          </a:xfrm>
          <a:prstGeom prst="roundRect">
            <a:avLst>
              <a:gd name="adj" fmla="val 19355"/>
            </a:avLst>
          </a:prstGeom>
          <a:solidFill>
            <a:srgbClr val="22252B"/>
          </a:solidFill>
          <a:ln w="12700">
            <a:solidFill>
              <a:srgbClr val="22252B"/>
            </a:solidFill>
            <a:prstDash val="solid"/>
          </a:ln>
        </p:spPr>
      </p:sp>
      <p:sp>
        <p:nvSpPr>
          <p:cNvPr id="29" name="Shape 27"/>
          <p:cNvSpPr/>
          <p:nvPr/>
        </p:nvSpPr>
        <p:spPr>
          <a:xfrm>
            <a:off x="548640" y="3108960"/>
            <a:ext cx="91440" cy="566928"/>
          </a:xfrm>
          <a:prstGeom prst="rect">
            <a:avLst/>
          </a:prstGeom>
          <a:solidFill>
            <a:srgbClr val="9B6EE8"/>
          </a:solidFill>
          <a:ln w="12700">
            <a:solidFill>
              <a:srgbClr val="9B6EE8"/>
            </a:solidFill>
            <a:prstDash val="solid"/>
          </a:ln>
        </p:spPr>
      </p:sp>
      <p:sp>
        <p:nvSpPr>
          <p:cNvPr id="30" name="Text 28"/>
          <p:cNvSpPr txBox="1"/>
          <p:nvPr/>
        </p:nvSpPr>
        <p:spPr>
          <a:xfrm>
            <a:off x="822960" y="3108960"/>
            <a:ext cx="2194560" cy="566928"/>
          </a:xfrm>
          <a:prstGeom prst="rect">
            <a:avLst/>
          </a:prstGeom>
          <a:noFill/>
          <a:ln/>
        </p:spPr>
        <p:txBody>
          <a:bodyPr wrap="square" lIns="0" tIns="0" rIns="0" bIns="0" rtlCol="0" anchor="ctr"/>
          <a:lstStyle/>
          <a:p>
            <a:pPr indent="0" marL="0">
              <a:buNone/>
            </a:pPr>
            <a:r>
              <a:rPr lang="en-US" sz="1500" b="1" dirty="0">
                <a:solidFill>
                  <a:srgbClr val="9B6EE8"/>
                </a:solidFill>
                <a:latin typeface="Arial" pitchFamily="34" charset="0"/>
                <a:ea typeface="Arial" pitchFamily="34" charset="-122"/>
                <a:cs typeface="Arial" pitchFamily="34" charset="-120"/>
              </a:rPr>
              <a:t>full (M1–M5)</a:t>
            </a:r>
            <a:endParaRPr lang="en-US" sz="1500" dirty="0"/>
          </a:p>
        </p:txBody>
      </p:sp>
      <p:sp>
        <p:nvSpPr>
          <p:cNvPr id="31" name="Text 29"/>
          <p:cNvSpPr txBox="1"/>
          <p:nvPr/>
        </p:nvSpPr>
        <p:spPr>
          <a:xfrm>
            <a:off x="3017520" y="3108960"/>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69.54</a:t>
            </a:r>
            <a:endParaRPr lang="en-US" sz="1900" dirty="0"/>
          </a:p>
        </p:txBody>
      </p:sp>
      <p:sp>
        <p:nvSpPr>
          <p:cNvPr id="32" name="Text 30"/>
          <p:cNvSpPr txBox="1"/>
          <p:nvPr/>
        </p:nvSpPr>
        <p:spPr>
          <a:xfrm>
            <a:off x="4453128" y="3108960"/>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85.87</a:t>
            </a:r>
            <a:endParaRPr lang="en-US" sz="1900" dirty="0"/>
          </a:p>
        </p:txBody>
      </p:sp>
      <p:sp>
        <p:nvSpPr>
          <p:cNvPr id="33" name="Text 31"/>
          <p:cNvSpPr txBox="1"/>
          <p:nvPr/>
        </p:nvSpPr>
        <p:spPr>
          <a:xfrm>
            <a:off x="5888736"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38</a:t>
            </a:r>
            <a:endParaRPr lang="en-US" sz="1900" dirty="0"/>
          </a:p>
        </p:txBody>
      </p:sp>
      <p:sp>
        <p:nvSpPr>
          <p:cNvPr id="34" name="Text 32"/>
          <p:cNvSpPr txBox="1"/>
          <p:nvPr/>
        </p:nvSpPr>
        <p:spPr>
          <a:xfrm>
            <a:off x="7324344"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57.24</a:t>
            </a:r>
            <a:endParaRPr lang="en-US" sz="1900" dirty="0"/>
          </a:p>
        </p:txBody>
      </p:sp>
      <p:sp>
        <p:nvSpPr>
          <p:cNvPr id="35" name="Text 33"/>
          <p:cNvSpPr txBox="1"/>
          <p:nvPr/>
        </p:nvSpPr>
        <p:spPr>
          <a:xfrm>
            <a:off x="8759952"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70.28</a:t>
            </a:r>
            <a:endParaRPr lang="en-US" sz="1900" dirty="0"/>
          </a:p>
        </p:txBody>
      </p:sp>
      <p:sp>
        <p:nvSpPr>
          <p:cNvPr id="36" name="Text 34"/>
          <p:cNvSpPr txBox="1"/>
          <p:nvPr/>
        </p:nvSpPr>
        <p:spPr>
          <a:xfrm>
            <a:off x="10195560"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55.6</a:t>
            </a:r>
            <a:endParaRPr lang="en-US" sz="1900" dirty="0"/>
          </a:p>
        </p:txBody>
      </p:sp>
      <p:sp>
        <p:nvSpPr>
          <p:cNvPr id="37" name="Shape 35"/>
          <p:cNvSpPr/>
          <p:nvPr/>
        </p:nvSpPr>
        <p:spPr>
          <a:xfrm>
            <a:off x="548640" y="3739896"/>
            <a:ext cx="11091672" cy="566928"/>
          </a:xfrm>
          <a:prstGeom prst="roundRect">
            <a:avLst>
              <a:gd name="adj" fmla="val 19355"/>
            </a:avLst>
          </a:prstGeom>
          <a:solidFill>
            <a:srgbClr val="22252B"/>
          </a:solidFill>
          <a:ln w="12700">
            <a:solidFill>
              <a:srgbClr val="22252B"/>
            </a:solidFill>
            <a:prstDash val="solid"/>
          </a:ln>
        </p:spPr>
      </p:sp>
      <p:sp>
        <p:nvSpPr>
          <p:cNvPr id="38" name="Shape 36"/>
          <p:cNvSpPr/>
          <p:nvPr/>
        </p:nvSpPr>
        <p:spPr>
          <a:xfrm>
            <a:off x="548640" y="3739896"/>
            <a:ext cx="91440" cy="566928"/>
          </a:xfrm>
          <a:prstGeom prst="rect">
            <a:avLst/>
          </a:prstGeom>
          <a:solidFill>
            <a:srgbClr val="CF8000"/>
          </a:solidFill>
          <a:ln w="12700">
            <a:solidFill>
              <a:srgbClr val="CF8000"/>
            </a:solidFill>
            <a:prstDash val="solid"/>
          </a:ln>
        </p:spPr>
      </p:sp>
      <p:sp>
        <p:nvSpPr>
          <p:cNvPr id="39" name="Text 37"/>
          <p:cNvSpPr txBox="1"/>
          <p:nvPr/>
        </p:nvSpPr>
        <p:spPr>
          <a:xfrm>
            <a:off x="822960" y="3739896"/>
            <a:ext cx="2194560" cy="566928"/>
          </a:xfrm>
          <a:prstGeom prst="rect">
            <a:avLst/>
          </a:prstGeom>
          <a:noFill/>
          <a:ln/>
        </p:spPr>
        <p:txBody>
          <a:bodyPr wrap="square" lIns="0" tIns="0" rIns="0" bIns="0" rtlCol="0" anchor="ctr"/>
          <a:lstStyle/>
          <a:p>
            <a:pPr indent="0" marL="0">
              <a:buNone/>
            </a:pPr>
            <a:r>
              <a:rPr lang="en-US" sz="1500" b="1" dirty="0">
                <a:solidFill>
                  <a:srgbClr val="CF8000"/>
                </a:solidFill>
                <a:latin typeface="Arial" pitchFamily="34" charset="0"/>
                <a:ea typeface="Arial" pitchFamily="34" charset="-122"/>
                <a:cs typeface="Arial" pitchFamily="34" charset="-120"/>
              </a:rPr>
              <a:t>full + M6</a:t>
            </a:r>
            <a:endParaRPr lang="en-US" sz="1500" dirty="0"/>
          </a:p>
        </p:txBody>
      </p:sp>
      <p:sp>
        <p:nvSpPr>
          <p:cNvPr id="40" name="Text 38"/>
          <p:cNvSpPr txBox="1"/>
          <p:nvPr/>
        </p:nvSpPr>
        <p:spPr>
          <a:xfrm>
            <a:off x="3017520" y="3739896"/>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70.03</a:t>
            </a:r>
            <a:endParaRPr lang="en-US" sz="1900" dirty="0"/>
          </a:p>
        </p:txBody>
      </p:sp>
      <p:sp>
        <p:nvSpPr>
          <p:cNvPr id="41" name="Text 39"/>
          <p:cNvSpPr txBox="1"/>
          <p:nvPr/>
        </p:nvSpPr>
        <p:spPr>
          <a:xfrm>
            <a:off x="4453128" y="3739896"/>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87.03</a:t>
            </a:r>
            <a:endParaRPr lang="en-US" sz="1900" dirty="0"/>
          </a:p>
        </p:txBody>
      </p:sp>
      <p:sp>
        <p:nvSpPr>
          <p:cNvPr id="42" name="Text 40"/>
          <p:cNvSpPr txBox="1"/>
          <p:nvPr/>
        </p:nvSpPr>
        <p:spPr>
          <a:xfrm>
            <a:off x="5888736"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29</a:t>
            </a:r>
            <a:endParaRPr lang="en-US" sz="1900" dirty="0"/>
          </a:p>
        </p:txBody>
      </p:sp>
      <p:sp>
        <p:nvSpPr>
          <p:cNvPr id="43" name="Text 41"/>
          <p:cNvSpPr txBox="1"/>
          <p:nvPr/>
        </p:nvSpPr>
        <p:spPr>
          <a:xfrm>
            <a:off x="7324344"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61.21</a:t>
            </a:r>
            <a:endParaRPr lang="en-US" sz="1900" dirty="0"/>
          </a:p>
        </p:txBody>
      </p:sp>
      <p:sp>
        <p:nvSpPr>
          <p:cNvPr id="44" name="Text 42"/>
          <p:cNvSpPr txBox="1"/>
          <p:nvPr/>
        </p:nvSpPr>
        <p:spPr>
          <a:xfrm>
            <a:off x="8759952"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69.48</a:t>
            </a:r>
            <a:endParaRPr lang="en-US" sz="1900" dirty="0"/>
          </a:p>
        </p:txBody>
      </p:sp>
      <p:sp>
        <p:nvSpPr>
          <p:cNvPr id="45" name="Text 43"/>
          <p:cNvSpPr txBox="1"/>
          <p:nvPr/>
        </p:nvSpPr>
        <p:spPr>
          <a:xfrm>
            <a:off x="10195560"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53.6</a:t>
            </a:r>
            <a:endParaRPr lang="en-US" sz="1900" dirty="0"/>
          </a:p>
        </p:txBody>
      </p:sp>
      <p:sp>
        <p:nvSpPr>
          <p:cNvPr id="46" name="Text 44"/>
          <p:cNvSpPr txBox="1"/>
          <p:nvPr/>
        </p:nvSpPr>
        <p:spPr>
          <a:xfrm>
            <a:off x="548640" y="4416552"/>
            <a:ext cx="1097280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Xanh/đỏ = tốt/xấu hơn PEG (IDSW: ít hơn là tốt).</a:t>
            </a:r>
            <a:endParaRPr lang="en-US" sz="1200" dirty="0"/>
          </a:p>
        </p:txBody>
      </p:sp>
      <p:sp>
        <p:nvSpPr>
          <p:cNvPr id="47" name="Shape 45"/>
          <p:cNvSpPr/>
          <p:nvPr/>
        </p:nvSpPr>
        <p:spPr>
          <a:xfrm>
            <a:off x="548640" y="4782312"/>
            <a:ext cx="11091672" cy="1481328"/>
          </a:xfrm>
          <a:prstGeom prst="roundRect">
            <a:avLst>
              <a:gd name="adj" fmla="val 7407"/>
            </a:avLst>
          </a:prstGeom>
          <a:solidFill>
            <a:srgbClr val="2B2F36"/>
          </a:solidFill>
          <a:ln w="12700">
            <a:solidFill>
              <a:srgbClr val="2B2F36"/>
            </a:solidFill>
            <a:prstDash val="solid"/>
          </a:ln>
        </p:spPr>
      </p:sp>
      <p:sp>
        <p:nvSpPr>
          <p:cNvPr id="48" name="Text 46"/>
          <p:cNvSpPr txBox="1"/>
          <p:nvPr/>
        </p:nvSpPr>
        <p:spPr>
          <a:xfrm>
            <a:off x="822960" y="4828032"/>
            <a:ext cx="10607040" cy="1389888"/>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Table I: full+M6 hơn PEG +1.69 HOTA, +4.35 IDF1. IDSW 15 → 29.</a:t>
            </a:r>
            <a:endParaRPr lang="en-US" sz="1600" dirty="0"/>
          </a:p>
          <a:p>
            <a:pPr marL="342900" indent="-342900">
              <a:spcAft>
                <a:spcPts val="800"/>
              </a:spcAft>
              <a:buSzPct val="100000"/>
              <a:buChar char="•"/>
            </a:pPr>
            <a:r>
              <a:rPr lang="en-US" sz="1600" dirty="0">
                <a:solidFill>
                  <a:srgbClr val="F2F2F2"/>
                </a:solidFill>
                <a:latin typeface="Arial" pitchFamily="34" charset="0"/>
                <a:ea typeface="Arial" pitchFamily="34" charset="-122"/>
                <a:cs typeface="Arial" pitchFamily="34" charset="-120"/>
              </a:rPr>
              <a:t>Table II: −0.20 HOTA, −4.00 MOTA.   Table III: Rcv@.5 76.2 → 53.6.</a:t>
            </a:r>
            <a:endParaRPr lang="en-US" sz="1600" dirty="0"/>
          </a:p>
        </p:txBody>
      </p:sp>
      <p:sp>
        <p:nvSpPr>
          <p:cNvPr id="49" name="Shape 47"/>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50" name="Text 48"/>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51" name="Text 49"/>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VÌ SAO · TỪNG FRAME BỊ CHÓI</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2600" b="1" dirty="0">
                <a:solidFill>
                  <a:srgbClr val="F2F2F2"/>
                </a:solidFill>
                <a:latin typeface="Arial" pitchFamily="34" charset="0"/>
                <a:ea typeface="Arial" pitchFamily="34" charset="-122"/>
                <a:cs typeface="Arial" pitchFamily="34" charset="-120"/>
              </a:rPr>
              <a:t>Vì sao Table III sụt: M1 làm cú “kéo nhẹ” của M5 thành kéo mạnh</a:t>
            </a:r>
            <a:endParaRPr lang="en-US" sz="2600" dirty="0"/>
          </a:p>
        </p:txBody>
      </p:sp>
      <p:sp>
        <p:nvSpPr>
          <p:cNvPr id="4" name="Text 2"/>
          <p:cNvSpPr txBox="1"/>
          <p:nvPr/>
        </p:nvSpPr>
        <p:spPr>
          <a:xfrm>
            <a:off x="4846320" y="1417320"/>
            <a:ext cx="1700784"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Rcv@.5 test</a:t>
            </a:r>
            <a:endParaRPr lang="en-US" sz="1200" dirty="0"/>
          </a:p>
        </p:txBody>
      </p:sp>
      <p:sp>
        <p:nvSpPr>
          <p:cNvPr id="5" name="Text 3"/>
          <p:cNvSpPr txBox="1"/>
          <p:nvPr/>
        </p:nvSpPr>
        <p:spPr>
          <a:xfrm>
            <a:off x="6547104" y="1417320"/>
            <a:ext cx="1700784"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Rcv@.5 val</a:t>
            </a:r>
            <a:endParaRPr lang="en-US" sz="1200" dirty="0"/>
          </a:p>
        </p:txBody>
      </p:sp>
      <p:sp>
        <p:nvSpPr>
          <p:cNvPr id="6" name="Text 4"/>
          <p:cNvSpPr txBox="1"/>
          <p:nvPr/>
        </p:nvSpPr>
        <p:spPr>
          <a:xfrm>
            <a:off x="8247888" y="1417320"/>
            <a:ext cx="1700784"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box lệch ngang test</a:t>
            </a:r>
            <a:endParaRPr lang="en-US" sz="1200" dirty="0"/>
          </a:p>
        </p:txBody>
      </p:sp>
      <p:sp>
        <p:nvSpPr>
          <p:cNvPr id="7" name="Text 5"/>
          <p:cNvSpPr txBox="1"/>
          <p:nvPr/>
        </p:nvSpPr>
        <p:spPr>
          <a:xfrm>
            <a:off x="9948672" y="1417320"/>
            <a:ext cx="1700784"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box lệch ngang val</a:t>
            </a:r>
            <a:endParaRPr lang="en-US" sz="1200" dirty="0"/>
          </a:p>
        </p:txBody>
      </p:sp>
      <p:sp>
        <p:nvSpPr>
          <p:cNvPr id="8" name="Shape 6"/>
          <p:cNvSpPr/>
          <p:nvPr/>
        </p:nvSpPr>
        <p:spPr>
          <a:xfrm>
            <a:off x="548640" y="1783080"/>
            <a:ext cx="11091672" cy="457200"/>
          </a:xfrm>
          <a:prstGeom prst="roundRect">
            <a:avLst>
              <a:gd name="adj" fmla="val 24000"/>
            </a:avLst>
          </a:prstGeom>
          <a:solidFill>
            <a:srgbClr val="22252B"/>
          </a:solidFill>
          <a:ln w="12700">
            <a:solidFill>
              <a:srgbClr val="22252B"/>
            </a:solidFill>
            <a:prstDash val="solid"/>
          </a:ln>
        </p:spPr>
      </p:sp>
      <p:sp>
        <p:nvSpPr>
          <p:cNvPr id="9" name="Shape 7"/>
          <p:cNvSpPr/>
          <p:nvPr/>
        </p:nvSpPr>
        <p:spPr>
          <a:xfrm>
            <a:off x="548640" y="1783080"/>
            <a:ext cx="91440" cy="457200"/>
          </a:xfrm>
          <a:prstGeom prst="rect">
            <a:avLst/>
          </a:prstGeom>
          <a:solidFill>
            <a:srgbClr val="A3A8B0"/>
          </a:solidFill>
          <a:ln w="12700">
            <a:solidFill>
              <a:srgbClr val="A3A8B0"/>
            </a:solidFill>
            <a:prstDash val="solid"/>
          </a:ln>
        </p:spPr>
      </p:sp>
      <p:sp>
        <p:nvSpPr>
          <p:cNvPr id="10" name="Text 8"/>
          <p:cNvSpPr txBox="1"/>
          <p:nvPr/>
        </p:nvSpPr>
        <p:spPr>
          <a:xfrm>
            <a:off x="822960" y="1783080"/>
            <a:ext cx="4023360" cy="457200"/>
          </a:xfrm>
          <a:prstGeom prst="rect">
            <a:avLst/>
          </a:prstGeom>
          <a:noFill/>
          <a:ln/>
        </p:spPr>
        <p:txBody>
          <a:bodyPr wrap="square" lIns="0" tIns="0" rIns="0" bIns="0" rtlCol="0" anchor="ctr"/>
          <a:lstStyle/>
          <a:p>
            <a:pPr indent="0" marL="0">
              <a:buNone/>
            </a:pPr>
            <a:r>
              <a:rPr lang="en-US" sz="1400" b="1" dirty="0">
                <a:solidFill>
                  <a:srgbClr val="A3A8B0"/>
                </a:solidFill>
                <a:latin typeface="Arial" pitchFamily="34" charset="0"/>
                <a:ea typeface="Arial" pitchFamily="34" charset="-122"/>
                <a:cs typeface="Arial" pitchFamily="34" charset="-120"/>
              </a:rPr>
              <a:t>base</a:t>
            </a:r>
            <a:endParaRPr lang="en-US" sz="1400" dirty="0"/>
          </a:p>
        </p:txBody>
      </p:sp>
      <p:sp>
        <p:nvSpPr>
          <p:cNvPr id="11" name="Text 9"/>
          <p:cNvSpPr txBox="1"/>
          <p:nvPr/>
        </p:nvSpPr>
        <p:spPr>
          <a:xfrm>
            <a:off x="4846320" y="178308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76.2</a:t>
            </a:r>
            <a:endParaRPr lang="en-US" sz="1700" dirty="0"/>
          </a:p>
        </p:txBody>
      </p:sp>
      <p:sp>
        <p:nvSpPr>
          <p:cNvPr id="12" name="Text 10"/>
          <p:cNvSpPr txBox="1"/>
          <p:nvPr/>
        </p:nvSpPr>
        <p:spPr>
          <a:xfrm>
            <a:off x="6547104" y="178308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67.6</a:t>
            </a:r>
            <a:endParaRPr lang="en-US" sz="1700" dirty="0"/>
          </a:p>
        </p:txBody>
      </p:sp>
      <p:sp>
        <p:nvSpPr>
          <p:cNvPr id="13" name="Text 11"/>
          <p:cNvSpPr txBox="1"/>
          <p:nvPr/>
        </p:nvSpPr>
        <p:spPr>
          <a:xfrm>
            <a:off x="8247888" y="178308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9948672" y="178308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−2%</a:t>
            </a:r>
            <a:endParaRPr lang="en-US" sz="1700" dirty="0"/>
          </a:p>
        </p:txBody>
      </p:sp>
      <p:sp>
        <p:nvSpPr>
          <p:cNvPr id="15" name="Shape 13"/>
          <p:cNvSpPr/>
          <p:nvPr/>
        </p:nvSpPr>
        <p:spPr>
          <a:xfrm>
            <a:off x="548640" y="2295144"/>
            <a:ext cx="11091672" cy="457200"/>
          </a:xfrm>
          <a:prstGeom prst="roundRect">
            <a:avLst>
              <a:gd name="adj" fmla="val 24000"/>
            </a:avLst>
          </a:prstGeom>
          <a:solidFill>
            <a:srgbClr val="22252B"/>
          </a:solidFill>
          <a:ln w="12700">
            <a:solidFill>
              <a:srgbClr val="22252B"/>
            </a:solidFill>
            <a:prstDash val="solid"/>
          </a:ln>
        </p:spPr>
      </p:sp>
      <p:sp>
        <p:nvSpPr>
          <p:cNvPr id="16" name="Shape 14"/>
          <p:cNvSpPr/>
          <p:nvPr/>
        </p:nvSpPr>
        <p:spPr>
          <a:xfrm>
            <a:off x="548640" y="2295144"/>
            <a:ext cx="91440" cy="457200"/>
          </a:xfrm>
          <a:prstGeom prst="rect">
            <a:avLst/>
          </a:prstGeom>
          <a:solidFill>
            <a:srgbClr val="9B6EE8"/>
          </a:solidFill>
          <a:ln w="12700">
            <a:solidFill>
              <a:srgbClr val="9B6EE8"/>
            </a:solidFill>
            <a:prstDash val="solid"/>
          </a:ln>
        </p:spPr>
      </p:sp>
      <p:sp>
        <p:nvSpPr>
          <p:cNvPr id="17" name="Text 15"/>
          <p:cNvSpPr txBox="1"/>
          <p:nvPr/>
        </p:nvSpPr>
        <p:spPr>
          <a:xfrm>
            <a:off x="822960" y="2295144"/>
            <a:ext cx="4023360" cy="457200"/>
          </a:xfrm>
          <a:prstGeom prst="rect">
            <a:avLst/>
          </a:prstGeom>
          <a:noFill/>
          <a:ln/>
        </p:spPr>
        <p:txBody>
          <a:bodyPr wrap="square" lIns="0" tIns="0" rIns="0" bIns="0" rtlCol="0" anchor="ctr"/>
          <a:lstStyle/>
          <a:p>
            <a:pPr indent="0" marL="0">
              <a:buNone/>
            </a:pPr>
            <a:r>
              <a:rPr lang="en-US" sz="1400" b="1" dirty="0">
                <a:solidFill>
                  <a:srgbClr val="9B6EE8"/>
                </a:solidFill>
                <a:latin typeface="Arial" pitchFamily="34" charset="0"/>
                <a:ea typeface="Arial" pitchFamily="34" charset="-122"/>
                <a:cs typeface="Arial" pitchFamily="34" charset="-120"/>
              </a:rPr>
              <a:t>chỉ M1</a:t>
            </a:r>
            <a:endParaRPr lang="en-US" sz="1400" dirty="0"/>
          </a:p>
        </p:txBody>
      </p:sp>
      <p:sp>
        <p:nvSpPr>
          <p:cNvPr id="18" name="Text 16"/>
          <p:cNvSpPr txBox="1"/>
          <p:nvPr/>
        </p:nvSpPr>
        <p:spPr>
          <a:xfrm>
            <a:off x="4846320" y="2295144"/>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70.1</a:t>
            </a:r>
            <a:endParaRPr lang="en-US" sz="1700" dirty="0"/>
          </a:p>
        </p:txBody>
      </p:sp>
      <p:sp>
        <p:nvSpPr>
          <p:cNvPr id="19" name="Text 17"/>
          <p:cNvSpPr txBox="1"/>
          <p:nvPr/>
        </p:nvSpPr>
        <p:spPr>
          <a:xfrm>
            <a:off x="6547104" y="2295144"/>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69.4</a:t>
            </a:r>
            <a:endParaRPr lang="en-US" sz="1700" dirty="0"/>
          </a:p>
        </p:txBody>
      </p:sp>
      <p:sp>
        <p:nvSpPr>
          <p:cNvPr id="20" name="Text 18"/>
          <p:cNvSpPr txBox="1"/>
          <p:nvPr/>
        </p:nvSpPr>
        <p:spPr>
          <a:xfrm>
            <a:off x="8247888" y="2295144"/>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+1%</a:t>
            </a:r>
            <a:endParaRPr lang="en-US" sz="1700" dirty="0"/>
          </a:p>
        </p:txBody>
      </p:sp>
      <p:sp>
        <p:nvSpPr>
          <p:cNvPr id="21" name="Text 19"/>
          <p:cNvSpPr txBox="1"/>
          <p:nvPr/>
        </p:nvSpPr>
        <p:spPr>
          <a:xfrm>
            <a:off x="9948672" y="2295144"/>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−2%</a:t>
            </a:r>
            <a:endParaRPr lang="en-US" sz="1700" dirty="0"/>
          </a:p>
        </p:txBody>
      </p:sp>
      <p:sp>
        <p:nvSpPr>
          <p:cNvPr id="22" name="Shape 20"/>
          <p:cNvSpPr/>
          <p:nvPr/>
        </p:nvSpPr>
        <p:spPr>
          <a:xfrm>
            <a:off x="548640" y="2807208"/>
            <a:ext cx="11091672" cy="457200"/>
          </a:xfrm>
          <a:prstGeom prst="roundRect">
            <a:avLst>
              <a:gd name="adj" fmla="val 24000"/>
            </a:avLst>
          </a:prstGeom>
          <a:solidFill>
            <a:srgbClr val="22252B"/>
          </a:solidFill>
          <a:ln w="12700">
            <a:solidFill>
              <a:srgbClr val="22252B"/>
            </a:solidFill>
            <a:prstDash val="solid"/>
          </a:ln>
        </p:spPr>
      </p:sp>
      <p:sp>
        <p:nvSpPr>
          <p:cNvPr id="23" name="Shape 21"/>
          <p:cNvSpPr/>
          <p:nvPr/>
        </p:nvSpPr>
        <p:spPr>
          <a:xfrm>
            <a:off x="548640" y="2807208"/>
            <a:ext cx="91440" cy="457200"/>
          </a:xfrm>
          <a:prstGeom prst="rect">
            <a:avLst/>
          </a:prstGeom>
          <a:solidFill>
            <a:srgbClr val="9B6EE8"/>
          </a:solidFill>
          <a:ln w="12700">
            <a:solidFill>
              <a:srgbClr val="9B6EE8"/>
            </a:solidFill>
            <a:prstDash val="solid"/>
          </a:ln>
        </p:spPr>
      </p:sp>
      <p:sp>
        <p:nvSpPr>
          <p:cNvPr id="24" name="Text 22"/>
          <p:cNvSpPr txBox="1"/>
          <p:nvPr/>
        </p:nvSpPr>
        <p:spPr>
          <a:xfrm>
            <a:off x="822960" y="2807208"/>
            <a:ext cx="4023360" cy="457200"/>
          </a:xfrm>
          <a:prstGeom prst="rect">
            <a:avLst/>
          </a:prstGeom>
          <a:noFill/>
          <a:ln/>
        </p:spPr>
        <p:txBody>
          <a:bodyPr wrap="square" lIns="0" tIns="0" rIns="0" bIns="0" rtlCol="0" anchor="ctr"/>
          <a:lstStyle/>
          <a:p>
            <a:pPr indent="0" marL="0">
              <a:buNone/>
            </a:pPr>
            <a:r>
              <a:rPr lang="en-US" sz="1400" b="1" dirty="0">
                <a:solidFill>
                  <a:srgbClr val="9B6EE8"/>
                </a:solidFill>
                <a:latin typeface="Arial" pitchFamily="34" charset="0"/>
                <a:ea typeface="Arial" pitchFamily="34" charset="-122"/>
                <a:cs typeface="Arial" pitchFamily="34" charset="-120"/>
              </a:rPr>
              <a:t>chỉ M5</a:t>
            </a:r>
            <a:endParaRPr lang="en-US" sz="1400" dirty="0"/>
          </a:p>
        </p:txBody>
      </p:sp>
      <p:sp>
        <p:nvSpPr>
          <p:cNvPr id="25" name="Text 23"/>
          <p:cNvSpPr txBox="1"/>
          <p:nvPr/>
        </p:nvSpPr>
        <p:spPr>
          <a:xfrm>
            <a:off x="4846320" y="2807208"/>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76.2</a:t>
            </a:r>
            <a:endParaRPr lang="en-US" sz="1700" dirty="0"/>
          </a:p>
        </p:txBody>
      </p:sp>
      <p:sp>
        <p:nvSpPr>
          <p:cNvPr id="26" name="Text 24"/>
          <p:cNvSpPr txBox="1"/>
          <p:nvPr/>
        </p:nvSpPr>
        <p:spPr>
          <a:xfrm>
            <a:off x="6547104" y="2807208"/>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63.4</a:t>
            </a:r>
            <a:endParaRPr lang="en-US" sz="1700" dirty="0"/>
          </a:p>
        </p:txBody>
      </p:sp>
      <p:sp>
        <p:nvSpPr>
          <p:cNvPr id="27" name="Text 25"/>
          <p:cNvSpPr txBox="1"/>
          <p:nvPr/>
        </p:nvSpPr>
        <p:spPr>
          <a:xfrm>
            <a:off x="8247888" y="2807208"/>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−1%</a:t>
            </a:r>
            <a:endParaRPr lang="en-US" sz="1700" dirty="0"/>
          </a:p>
        </p:txBody>
      </p:sp>
      <p:sp>
        <p:nvSpPr>
          <p:cNvPr id="28" name="Text 26"/>
          <p:cNvSpPr txBox="1"/>
          <p:nvPr/>
        </p:nvSpPr>
        <p:spPr>
          <a:xfrm>
            <a:off x="9948672" y="2807208"/>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−5%</a:t>
            </a:r>
            <a:endParaRPr lang="en-US" sz="1700" dirty="0"/>
          </a:p>
        </p:txBody>
      </p:sp>
      <p:sp>
        <p:nvSpPr>
          <p:cNvPr id="29" name="Shape 27"/>
          <p:cNvSpPr/>
          <p:nvPr/>
        </p:nvSpPr>
        <p:spPr>
          <a:xfrm>
            <a:off x="548640" y="3319272"/>
            <a:ext cx="11091672" cy="457200"/>
          </a:xfrm>
          <a:prstGeom prst="roundRect">
            <a:avLst>
              <a:gd name="adj" fmla="val 24000"/>
            </a:avLst>
          </a:prstGeom>
          <a:solidFill>
            <a:srgbClr val="22252B"/>
          </a:solidFill>
          <a:ln w="12700">
            <a:solidFill>
              <a:srgbClr val="22252B"/>
            </a:solidFill>
            <a:prstDash val="solid"/>
          </a:ln>
        </p:spPr>
      </p:sp>
      <p:sp>
        <p:nvSpPr>
          <p:cNvPr id="30" name="Shape 28"/>
          <p:cNvSpPr/>
          <p:nvPr/>
        </p:nvSpPr>
        <p:spPr>
          <a:xfrm>
            <a:off x="548640" y="3319272"/>
            <a:ext cx="91440" cy="457200"/>
          </a:xfrm>
          <a:prstGeom prst="rect">
            <a:avLst/>
          </a:prstGeom>
          <a:solidFill>
            <a:srgbClr val="E66767"/>
          </a:solidFill>
          <a:ln w="12700">
            <a:solidFill>
              <a:srgbClr val="E66767"/>
            </a:solidFill>
            <a:prstDash val="solid"/>
          </a:ln>
        </p:spPr>
      </p:sp>
      <p:sp>
        <p:nvSpPr>
          <p:cNvPr id="31" name="Text 29"/>
          <p:cNvSpPr txBox="1"/>
          <p:nvPr/>
        </p:nvSpPr>
        <p:spPr>
          <a:xfrm>
            <a:off x="822960" y="3319272"/>
            <a:ext cx="4023360" cy="457200"/>
          </a:xfrm>
          <a:prstGeom prst="rect">
            <a:avLst/>
          </a:prstGeom>
          <a:noFill/>
          <a:ln/>
        </p:spPr>
        <p:txBody>
          <a:bodyPr wrap="square" lIns="0" tIns="0" rIns="0" bIns="0" rtlCol="0" anchor="ctr"/>
          <a:lstStyle/>
          <a:p>
            <a:pPr indent="0" marL="0">
              <a:buNone/>
            </a:pPr>
            <a:r>
              <a:rPr lang="en-US" sz="1400" b="1" dirty="0">
                <a:solidFill>
                  <a:srgbClr val="E66767"/>
                </a:solidFill>
                <a:latin typeface="Arial" pitchFamily="34" charset="0"/>
                <a:ea typeface="Arial" pitchFamily="34" charset="-122"/>
                <a:cs typeface="Arial" pitchFamily="34" charset="-120"/>
              </a:rPr>
              <a:t>M5 + chỉ phần nở vùng bất định của M1</a:t>
            </a:r>
            <a:endParaRPr lang="en-US" sz="1400" dirty="0"/>
          </a:p>
        </p:txBody>
      </p:sp>
      <p:sp>
        <p:nvSpPr>
          <p:cNvPr id="32" name="Text 30"/>
          <p:cNvSpPr txBox="1"/>
          <p:nvPr/>
        </p:nvSpPr>
        <p:spPr>
          <a:xfrm>
            <a:off x="4846320" y="3319272"/>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53.6</a:t>
            </a:r>
            <a:endParaRPr lang="en-US" sz="1700" dirty="0"/>
          </a:p>
        </p:txBody>
      </p:sp>
      <p:sp>
        <p:nvSpPr>
          <p:cNvPr id="33" name="Text 31"/>
          <p:cNvSpPr txBox="1"/>
          <p:nvPr/>
        </p:nvSpPr>
        <p:spPr>
          <a:xfrm>
            <a:off x="6547104" y="3319272"/>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35.9</a:t>
            </a:r>
            <a:endParaRPr lang="en-US" sz="1700" dirty="0"/>
          </a:p>
        </p:txBody>
      </p:sp>
      <p:sp>
        <p:nvSpPr>
          <p:cNvPr id="34" name="Text 32"/>
          <p:cNvSpPr txBox="1"/>
          <p:nvPr/>
        </p:nvSpPr>
        <p:spPr>
          <a:xfrm>
            <a:off x="8247888" y="3319272"/>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−14%</a:t>
            </a:r>
            <a:endParaRPr lang="en-US" sz="1700" dirty="0"/>
          </a:p>
        </p:txBody>
      </p:sp>
      <p:sp>
        <p:nvSpPr>
          <p:cNvPr id="35" name="Text 33"/>
          <p:cNvSpPr txBox="1"/>
          <p:nvPr/>
        </p:nvSpPr>
        <p:spPr>
          <a:xfrm>
            <a:off x="9948672" y="3319272"/>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−39%</a:t>
            </a:r>
            <a:endParaRPr lang="en-US" sz="1700" dirty="0"/>
          </a:p>
        </p:txBody>
      </p:sp>
      <p:sp>
        <p:nvSpPr>
          <p:cNvPr id="36" name="Shape 34"/>
          <p:cNvSpPr/>
          <p:nvPr/>
        </p:nvSpPr>
        <p:spPr>
          <a:xfrm>
            <a:off x="548640" y="3831336"/>
            <a:ext cx="11091672" cy="457200"/>
          </a:xfrm>
          <a:prstGeom prst="roundRect">
            <a:avLst>
              <a:gd name="adj" fmla="val 24000"/>
            </a:avLst>
          </a:prstGeom>
          <a:solidFill>
            <a:srgbClr val="22252B"/>
          </a:solidFill>
          <a:ln w="12700">
            <a:solidFill>
              <a:srgbClr val="22252B"/>
            </a:solidFill>
            <a:prstDash val="solid"/>
          </a:ln>
        </p:spPr>
      </p:sp>
      <p:sp>
        <p:nvSpPr>
          <p:cNvPr id="37" name="Shape 35"/>
          <p:cNvSpPr/>
          <p:nvPr/>
        </p:nvSpPr>
        <p:spPr>
          <a:xfrm>
            <a:off x="548640" y="3831336"/>
            <a:ext cx="91440" cy="457200"/>
          </a:xfrm>
          <a:prstGeom prst="rect">
            <a:avLst/>
          </a:prstGeom>
          <a:solidFill>
            <a:srgbClr val="E66767"/>
          </a:solidFill>
          <a:ln w="12700">
            <a:solidFill>
              <a:srgbClr val="E66767"/>
            </a:solidFill>
            <a:prstDash val="solid"/>
          </a:ln>
        </p:spPr>
      </p:sp>
      <p:sp>
        <p:nvSpPr>
          <p:cNvPr id="38" name="Text 36"/>
          <p:cNvSpPr txBox="1"/>
          <p:nvPr/>
        </p:nvSpPr>
        <p:spPr>
          <a:xfrm>
            <a:off x="822960" y="3831336"/>
            <a:ext cx="4023360" cy="457200"/>
          </a:xfrm>
          <a:prstGeom prst="rect">
            <a:avLst/>
          </a:prstGeom>
          <a:noFill/>
          <a:ln/>
        </p:spPr>
        <p:txBody>
          <a:bodyPr wrap="square" lIns="0" tIns="0" rIns="0" bIns="0" rtlCol="0" anchor="ctr"/>
          <a:lstStyle/>
          <a:p>
            <a:pPr indent="0" marL="0">
              <a:buNone/>
            </a:pPr>
            <a:r>
              <a:rPr lang="en-US" sz="1400" b="1" dirty="0">
                <a:solidFill>
                  <a:srgbClr val="E66767"/>
                </a:solidFill>
                <a:latin typeface="Arial" pitchFamily="34" charset="0"/>
                <a:ea typeface="Arial" pitchFamily="34" charset="-122"/>
                <a:cs typeface="Arial" pitchFamily="34" charset="-120"/>
              </a:rPr>
              <a:t>full (M1–M5)</a:t>
            </a:r>
            <a:endParaRPr lang="en-US" sz="1400" dirty="0"/>
          </a:p>
        </p:txBody>
      </p:sp>
      <p:sp>
        <p:nvSpPr>
          <p:cNvPr id="39" name="Text 37"/>
          <p:cNvSpPr txBox="1"/>
          <p:nvPr/>
        </p:nvSpPr>
        <p:spPr>
          <a:xfrm>
            <a:off x="4846320" y="3831336"/>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55.6</a:t>
            </a:r>
            <a:endParaRPr lang="en-US" sz="1700" dirty="0"/>
          </a:p>
        </p:txBody>
      </p:sp>
      <p:sp>
        <p:nvSpPr>
          <p:cNvPr id="40" name="Text 38"/>
          <p:cNvSpPr txBox="1"/>
          <p:nvPr/>
        </p:nvSpPr>
        <p:spPr>
          <a:xfrm>
            <a:off x="6547104" y="3831336"/>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37.7</a:t>
            </a:r>
            <a:endParaRPr lang="en-US" sz="1700" dirty="0"/>
          </a:p>
        </p:txBody>
      </p:sp>
      <p:sp>
        <p:nvSpPr>
          <p:cNvPr id="41" name="Text 39"/>
          <p:cNvSpPr txBox="1"/>
          <p:nvPr/>
        </p:nvSpPr>
        <p:spPr>
          <a:xfrm>
            <a:off x="8247888" y="3831336"/>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−10%</a:t>
            </a:r>
            <a:endParaRPr lang="en-US" sz="1700" dirty="0"/>
          </a:p>
        </p:txBody>
      </p:sp>
      <p:sp>
        <p:nvSpPr>
          <p:cNvPr id="42" name="Text 40"/>
          <p:cNvSpPr txBox="1"/>
          <p:nvPr/>
        </p:nvSpPr>
        <p:spPr>
          <a:xfrm>
            <a:off x="9948672" y="3831336"/>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−39%</a:t>
            </a:r>
            <a:endParaRPr lang="en-US" sz="1700" dirty="0"/>
          </a:p>
        </p:txBody>
      </p:sp>
      <p:sp>
        <p:nvSpPr>
          <p:cNvPr id="43" name="Shape 41"/>
          <p:cNvSpPr/>
          <p:nvPr/>
        </p:nvSpPr>
        <p:spPr>
          <a:xfrm>
            <a:off x="548640" y="4343400"/>
            <a:ext cx="11091672" cy="457200"/>
          </a:xfrm>
          <a:prstGeom prst="roundRect">
            <a:avLst>
              <a:gd name="adj" fmla="val 24000"/>
            </a:avLst>
          </a:prstGeom>
          <a:solidFill>
            <a:srgbClr val="22252B"/>
          </a:solidFill>
          <a:ln w="12700">
            <a:solidFill>
              <a:srgbClr val="22252B"/>
            </a:solidFill>
            <a:prstDash val="solid"/>
          </a:ln>
        </p:spPr>
      </p:sp>
      <p:sp>
        <p:nvSpPr>
          <p:cNvPr id="44" name="Shape 42"/>
          <p:cNvSpPr/>
          <p:nvPr/>
        </p:nvSpPr>
        <p:spPr>
          <a:xfrm>
            <a:off x="548640" y="4343400"/>
            <a:ext cx="91440" cy="457200"/>
          </a:xfrm>
          <a:prstGeom prst="rect">
            <a:avLst/>
          </a:prstGeom>
          <a:solidFill>
            <a:srgbClr val="19A35F"/>
          </a:solidFill>
          <a:ln w="12700">
            <a:solidFill>
              <a:srgbClr val="19A35F"/>
            </a:solidFill>
            <a:prstDash val="solid"/>
          </a:ln>
        </p:spPr>
      </p:sp>
      <p:sp>
        <p:nvSpPr>
          <p:cNvPr id="45" name="Text 43"/>
          <p:cNvSpPr txBox="1"/>
          <p:nvPr/>
        </p:nvSpPr>
        <p:spPr>
          <a:xfrm>
            <a:off x="822960" y="4343400"/>
            <a:ext cx="4023360" cy="457200"/>
          </a:xfrm>
          <a:prstGeom prst="rect">
            <a:avLst/>
          </a:prstGeom>
          <a:noFill/>
          <a:ln/>
        </p:spPr>
        <p:txBody>
          <a:bodyPr wrap="square" lIns="0" tIns="0" rIns="0" bIns="0" rtlCol="0" anchor="ctr"/>
          <a:lstStyle/>
          <a:p>
            <a:pPr indent="0" marL="0">
              <a:buNone/>
            </a:pPr>
            <a:r>
              <a:rPr lang="en-US" sz="1400" b="1" dirty="0">
                <a:solidFill>
                  <a:srgbClr val="19A35F"/>
                </a:solidFill>
                <a:latin typeface="Arial" pitchFamily="34" charset="0"/>
                <a:ea typeface="Arial" pitchFamily="34" charset="-122"/>
                <a:cs typeface="Arial" pitchFamily="34" charset="-120"/>
              </a:rPr>
              <a:t>full, tắt phần nở vùng bất định</a:t>
            </a:r>
            <a:endParaRPr lang="en-US" sz="1400" dirty="0"/>
          </a:p>
        </p:txBody>
      </p:sp>
      <p:sp>
        <p:nvSpPr>
          <p:cNvPr id="46" name="Text 44"/>
          <p:cNvSpPr txBox="1"/>
          <p:nvPr/>
        </p:nvSpPr>
        <p:spPr>
          <a:xfrm>
            <a:off x="4846320" y="434340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69.5</a:t>
            </a:r>
            <a:endParaRPr lang="en-US" sz="1700" dirty="0"/>
          </a:p>
        </p:txBody>
      </p:sp>
      <p:sp>
        <p:nvSpPr>
          <p:cNvPr id="47" name="Text 45"/>
          <p:cNvSpPr txBox="1"/>
          <p:nvPr/>
        </p:nvSpPr>
        <p:spPr>
          <a:xfrm>
            <a:off x="6547104" y="434340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65.1</a:t>
            </a:r>
            <a:endParaRPr lang="en-US" sz="1700" dirty="0"/>
          </a:p>
        </p:txBody>
      </p:sp>
      <p:sp>
        <p:nvSpPr>
          <p:cNvPr id="48" name="Text 46"/>
          <p:cNvSpPr txBox="1"/>
          <p:nvPr/>
        </p:nvSpPr>
        <p:spPr>
          <a:xfrm>
            <a:off x="8247888" y="434340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±0%</a:t>
            </a:r>
            <a:endParaRPr lang="en-US" sz="1700" dirty="0"/>
          </a:p>
        </p:txBody>
      </p:sp>
      <p:sp>
        <p:nvSpPr>
          <p:cNvPr id="49" name="Text 47"/>
          <p:cNvSpPr txBox="1"/>
          <p:nvPr/>
        </p:nvSpPr>
        <p:spPr>
          <a:xfrm>
            <a:off x="9948672" y="4343400"/>
            <a:ext cx="1700784" cy="457200"/>
          </a:xfrm>
          <a:prstGeom prst="rect">
            <a:avLst/>
          </a:prstGeom>
          <a:noFill/>
          <a:ln/>
        </p:spPr>
        <p:txBody>
          <a:bodyPr wrap="square" lIns="0" tIns="0" rIns="0" bIns="0" rtlCol="0" anchor="ctr"/>
          <a:lstStyle/>
          <a:p>
            <a:pPr algn="ctr" indent="0" marL="0">
              <a:buNone/>
            </a:pPr>
            <a:r>
              <a:rPr lang="en-US" sz="1700" b="1" dirty="0">
                <a:solidFill>
                  <a:srgbClr val="F2F2F2"/>
                </a:solidFill>
                <a:latin typeface="Arial" pitchFamily="34" charset="0"/>
                <a:ea typeface="Arial" pitchFamily="34" charset="-122"/>
                <a:cs typeface="Arial" pitchFamily="34" charset="-120"/>
              </a:rPr>
              <a:t>−5%</a:t>
            </a:r>
            <a:endParaRPr lang="en-US" sz="1700" dirty="0"/>
          </a:p>
        </p:txBody>
      </p:sp>
      <p:sp>
        <p:nvSpPr>
          <p:cNvPr id="50" name="Shape 48"/>
          <p:cNvSpPr/>
          <p:nvPr/>
        </p:nvSpPr>
        <p:spPr>
          <a:xfrm>
            <a:off x="548640" y="4946904"/>
            <a:ext cx="11091672" cy="1316736"/>
          </a:xfrm>
          <a:prstGeom prst="roundRect">
            <a:avLst>
              <a:gd name="adj" fmla="val 8333"/>
            </a:avLst>
          </a:prstGeom>
          <a:solidFill>
            <a:srgbClr val="2B2F36"/>
          </a:solidFill>
          <a:ln w="12700">
            <a:solidFill>
              <a:srgbClr val="2B2F36"/>
            </a:solidFill>
            <a:prstDash val="solid"/>
          </a:ln>
        </p:spPr>
      </p:sp>
      <p:sp>
        <p:nvSpPr>
          <p:cNvPr id="51" name="Shape 49"/>
          <p:cNvSpPr/>
          <p:nvPr/>
        </p:nvSpPr>
        <p:spPr>
          <a:xfrm>
            <a:off x="548640" y="4946904"/>
            <a:ext cx="91440" cy="1316736"/>
          </a:xfrm>
          <a:prstGeom prst="rect">
            <a:avLst/>
          </a:prstGeom>
          <a:solidFill>
            <a:srgbClr val="F2A900"/>
          </a:solidFill>
          <a:ln w="12700">
            <a:solidFill>
              <a:srgbClr val="F2A900"/>
            </a:solidFill>
            <a:prstDash val="solid"/>
          </a:ln>
        </p:spPr>
      </p:sp>
      <p:sp>
        <p:nvSpPr>
          <p:cNvPr id="52" name="Text 50"/>
          <p:cNvSpPr txBox="1"/>
          <p:nvPr/>
        </p:nvSpPr>
        <p:spPr>
          <a:xfrm>
            <a:off x="822960" y="4992624"/>
            <a:ext cx="10607040" cy="1225296"/>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M1 làm độ bất định vị trí của Kalman tăng mỗi frame mất người. M5 kéo box về đèn với độ tin cố định. Độ bất định càng lớn thì Kalman càng tin phép đo → kéo nhẹ thành kéo hẳn.</a:t>
            </a:r>
            <a:endParaRPr lang="en-US" sz="1400" dirty="0"/>
          </a:p>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Box vẫn còn và vẫn đúng chiều cao, nhưng trượt ngang theo đốm sáng (lệch trung vị = % bề rộng người, trong các frame chói).</a:t>
            </a:r>
            <a:endParaRPr lang="en-US" sz="1400" dirty="0"/>
          </a:p>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Kiểm tra bằng công tắc con của M1: chỉ cần phần nở vùng bất định + M5 là đủ gây sụt; tắt riêng phần đó thì T3 hồi lại.</a:t>
            </a:r>
            <a:endParaRPr lang="en-US" sz="1400" dirty="0"/>
          </a:p>
        </p:txBody>
      </p:sp>
      <p:sp>
        <p:nvSpPr>
          <p:cNvPr id="53" name="Shape 51"/>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54" name="Text 52"/>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55" name="Text 53"/>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TẬP VAL</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Trên val, đủ 3 bảng</a:t>
            </a:r>
            <a:endParaRPr lang="en-US" sz="3000" dirty="0"/>
          </a:p>
        </p:txBody>
      </p:sp>
      <p:sp>
        <p:nvSpPr>
          <p:cNvPr id="4" name="Text 2"/>
          <p:cNvSpPr txBox="1"/>
          <p:nvPr/>
        </p:nvSpPr>
        <p:spPr>
          <a:xfrm>
            <a:off x="3017520"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HOTA</a:t>
            </a:r>
            <a:endParaRPr lang="en-US" sz="1300" dirty="0"/>
          </a:p>
        </p:txBody>
      </p:sp>
      <p:sp>
        <p:nvSpPr>
          <p:cNvPr id="5" name="Text 3"/>
          <p:cNvSpPr txBox="1"/>
          <p:nvPr/>
        </p:nvSpPr>
        <p:spPr>
          <a:xfrm>
            <a:off x="4453128"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IDF1</a:t>
            </a:r>
            <a:endParaRPr lang="en-US" sz="1300" dirty="0"/>
          </a:p>
        </p:txBody>
      </p:sp>
      <p:sp>
        <p:nvSpPr>
          <p:cNvPr id="6" name="Text 4"/>
          <p:cNvSpPr txBox="1"/>
          <p:nvPr/>
        </p:nvSpPr>
        <p:spPr>
          <a:xfrm>
            <a:off x="5888736"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T1 IDSW</a:t>
            </a:r>
            <a:endParaRPr lang="en-US" sz="1300" dirty="0"/>
          </a:p>
        </p:txBody>
      </p:sp>
      <p:sp>
        <p:nvSpPr>
          <p:cNvPr id="7" name="Text 5"/>
          <p:cNvSpPr txBox="1"/>
          <p:nvPr/>
        </p:nvSpPr>
        <p:spPr>
          <a:xfrm>
            <a:off x="7324344"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T2 HOTA</a:t>
            </a:r>
            <a:endParaRPr lang="en-US" sz="1300" dirty="0"/>
          </a:p>
        </p:txBody>
      </p:sp>
      <p:sp>
        <p:nvSpPr>
          <p:cNvPr id="8" name="Text 6"/>
          <p:cNvSpPr txBox="1"/>
          <p:nvPr/>
        </p:nvSpPr>
        <p:spPr>
          <a:xfrm>
            <a:off x="8759952"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T2 MOTA</a:t>
            </a:r>
            <a:endParaRPr lang="en-US" sz="1300" dirty="0"/>
          </a:p>
        </p:txBody>
      </p:sp>
      <p:sp>
        <p:nvSpPr>
          <p:cNvPr id="9" name="Text 7"/>
          <p:cNvSpPr txBox="1"/>
          <p:nvPr/>
        </p:nvSpPr>
        <p:spPr>
          <a:xfrm>
            <a:off x="10195560" y="1463040"/>
            <a:ext cx="1435608" cy="320040"/>
          </a:xfrm>
          <a:prstGeom prst="rect">
            <a:avLst/>
          </a:prstGeom>
          <a:noFill/>
          <a:ln/>
        </p:spPr>
        <p:txBody>
          <a:bodyPr wrap="square" lIns="0" tIns="0" rIns="0" bIns="0" rtlCol="0" anchor="t"/>
          <a:lstStyle/>
          <a:p>
            <a:pPr algn="ctr" indent="0" marL="0">
              <a:buNone/>
            </a:pPr>
            <a:r>
              <a:rPr lang="en-US" sz="1300" b="1" dirty="0">
                <a:solidFill>
                  <a:srgbClr val="A3A8B0"/>
                </a:solidFill>
                <a:latin typeface="Arial" pitchFamily="34" charset="0"/>
                <a:ea typeface="Arial" pitchFamily="34" charset="-122"/>
                <a:cs typeface="Arial" pitchFamily="34" charset="-120"/>
              </a:rPr>
              <a:t>T3 Rcv@.5</a:t>
            </a:r>
            <a:endParaRPr lang="en-US" sz="1300" dirty="0"/>
          </a:p>
        </p:txBody>
      </p:sp>
      <p:sp>
        <p:nvSpPr>
          <p:cNvPr id="10" name="Shape 8"/>
          <p:cNvSpPr/>
          <p:nvPr/>
        </p:nvSpPr>
        <p:spPr>
          <a:xfrm>
            <a:off x="548640" y="1847088"/>
            <a:ext cx="11091672" cy="566928"/>
          </a:xfrm>
          <a:prstGeom prst="roundRect">
            <a:avLst>
              <a:gd name="adj" fmla="val 19355"/>
            </a:avLst>
          </a:prstGeom>
          <a:solidFill>
            <a:srgbClr val="22252B"/>
          </a:solidFill>
          <a:ln w="12700">
            <a:solidFill>
              <a:srgbClr val="22252B"/>
            </a:solidFill>
            <a:prstDash val="solid"/>
          </a:ln>
        </p:spPr>
      </p:sp>
      <p:sp>
        <p:nvSpPr>
          <p:cNvPr id="11" name="Shape 9"/>
          <p:cNvSpPr/>
          <p:nvPr/>
        </p:nvSpPr>
        <p:spPr>
          <a:xfrm>
            <a:off x="548640" y="1847088"/>
            <a:ext cx="91440" cy="566928"/>
          </a:xfrm>
          <a:prstGeom prst="rect">
            <a:avLst/>
          </a:prstGeom>
          <a:solidFill>
            <a:srgbClr val="3987E5"/>
          </a:solidFill>
          <a:ln w="12700">
            <a:solidFill>
              <a:srgbClr val="3987E5"/>
            </a:solidFill>
            <a:prstDash val="solid"/>
          </a:ln>
        </p:spPr>
      </p:sp>
      <p:sp>
        <p:nvSpPr>
          <p:cNvPr id="12" name="Text 10"/>
          <p:cNvSpPr txBox="1"/>
          <p:nvPr/>
        </p:nvSpPr>
        <p:spPr>
          <a:xfrm>
            <a:off x="822960" y="1847088"/>
            <a:ext cx="2194560" cy="566928"/>
          </a:xfrm>
          <a:prstGeom prst="rect">
            <a:avLst/>
          </a:prstGeom>
          <a:noFill/>
          <a:ln/>
        </p:spPr>
        <p:txBody>
          <a:bodyPr wrap="square" lIns="0" tIns="0" rIns="0" bIns="0" rtlCol="0" anchor="ctr"/>
          <a:lstStyle/>
          <a:p>
            <a:pPr indent="0" marL="0">
              <a:buNone/>
            </a:pPr>
            <a:r>
              <a:rPr lang="en-US" sz="1500" b="1" dirty="0">
                <a:solidFill>
                  <a:srgbClr val="3987E5"/>
                </a:solidFill>
                <a:latin typeface="Arial" pitchFamily="34" charset="0"/>
                <a:ea typeface="Arial" pitchFamily="34" charset="-122"/>
                <a:cs typeface="Arial" pitchFamily="34" charset="-120"/>
              </a:rPr>
              <a:t>PEG</a:t>
            </a:r>
            <a:endParaRPr lang="en-US" sz="1500" dirty="0"/>
          </a:p>
        </p:txBody>
      </p:sp>
      <p:sp>
        <p:nvSpPr>
          <p:cNvPr id="13" name="Text 11"/>
          <p:cNvSpPr txBox="1"/>
          <p:nvPr/>
        </p:nvSpPr>
        <p:spPr>
          <a:xfrm>
            <a:off x="3017520"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70.24</a:t>
            </a:r>
            <a:endParaRPr lang="en-US" sz="1900" dirty="0"/>
          </a:p>
        </p:txBody>
      </p:sp>
      <p:sp>
        <p:nvSpPr>
          <p:cNvPr id="14" name="Text 12"/>
          <p:cNvSpPr txBox="1"/>
          <p:nvPr/>
        </p:nvSpPr>
        <p:spPr>
          <a:xfrm>
            <a:off x="4453128"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86.35</a:t>
            </a:r>
            <a:endParaRPr lang="en-US" sz="1900" dirty="0"/>
          </a:p>
        </p:txBody>
      </p:sp>
      <p:sp>
        <p:nvSpPr>
          <p:cNvPr id="15" name="Text 13"/>
          <p:cNvSpPr txBox="1"/>
          <p:nvPr/>
        </p:nvSpPr>
        <p:spPr>
          <a:xfrm>
            <a:off x="5888736"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15</a:t>
            </a:r>
            <a:endParaRPr lang="en-US" sz="1900" dirty="0"/>
          </a:p>
        </p:txBody>
      </p:sp>
      <p:sp>
        <p:nvSpPr>
          <p:cNvPr id="16" name="Text 14"/>
          <p:cNvSpPr txBox="1"/>
          <p:nvPr/>
        </p:nvSpPr>
        <p:spPr>
          <a:xfrm>
            <a:off x="7324344"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76.25</a:t>
            </a:r>
            <a:endParaRPr lang="en-US" sz="1900" dirty="0"/>
          </a:p>
        </p:txBody>
      </p:sp>
      <p:sp>
        <p:nvSpPr>
          <p:cNvPr id="17" name="Text 15"/>
          <p:cNvSpPr txBox="1"/>
          <p:nvPr/>
        </p:nvSpPr>
        <p:spPr>
          <a:xfrm>
            <a:off x="8759952"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89.73</a:t>
            </a:r>
            <a:endParaRPr lang="en-US" sz="1900" dirty="0"/>
          </a:p>
        </p:txBody>
      </p:sp>
      <p:sp>
        <p:nvSpPr>
          <p:cNvPr id="18" name="Text 16"/>
          <p:cNvSpPr txBox="1"/>
          <p:nvPr/>
        </p:nvSpPr>
        <p:spPr>
          <a:xfrm>
            <a:off x="10195560" y="1847088"/>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67.6</a:t>
            </a:r>
            <a:endParaRPr lang="en-US" sz="1900" dirty="0"/>
          </a:p>
        </p:txBody>
      </p:sp>
      <p:sp>
        <p:nvSpPr>
          <p:cNvPr id="19" name="Shape 17"/>
          <p:cNvSpPr/>
          <p:nvPr/>
        </p:nvSpPr>
        <p:spPr>
          <a:xfrm>
            <a:off x="548640" y="2478024"/>
            <a:ext cx="11091672" cy="566928"/>
          </a:xfrm>
          <a:prstGeom prst="roundRect">
            <a:avLst>
              <a:gd name="adj" fmla="val 19355"/>
            </a:avLst>
          </a:prstGeom>
          <a:solidFill>
            <a:srgbClr val="22252B"/>
          </a:solidFill>
          <a:ln w="12700">
            <a:solidFill>
              <a:srgbClr val="22252B"/>
            </a:solidFill>
            <a:prstDash val="solid"/>
          </a:ln>
        </p:spPr>
      </p:sp>
      <p:sp>
        <p:nvSpPr>
          <p:cNvPr id="20" name="Shape 18"/>
          <p:cNvSpPr/>
          <p:nvPr/>
        </p:nvSpPr>
        <p:spPr>
          <a:xfrm>
            <a:off x="548640" y="2478024"/>
            <a:ext cx="91440" cy="566928"/>
          </a:xfrm>
          <a:prstGeom prst="rect">
            <a:avLst/>
          </a:prstGeom>
          <a:solidFill>
            <a:srgbClr val="A3A8B0"/>
          </a:solidFill>
          <a:ln w="12700">
            <a:solidFill>
              <a:srgbClr val="A3A8B0"/>
            </a:solidFill>
            <a:prstDash val="solid"/>
          </a:ln>
        </p:spPr>
      </p:sp>
      <p:sp>
        <p:nvSpPr>
          <p:cNvPr id="21" name="Text 19"/>
          <p:cNvSpPr txBox="1"/>
          <p:nvPr/>
        </p:nvSpPr>
        <p:spPr>
          <a:xfrm>
            <a:off x="822960" y="2478024"/>
            <a:ext cx="2194560" cy="566928"/>
          </a:xfrm>
          <a:prstGeom prst="rect">
            <a:avLst/>
          </a:prstGeom>
          <a:noFill/>
          <a:ln/>
        </p:spPr>
        <p:txBody>
          <a:bodyPr wrap="square" lIns="0" tIns="0" rIns="0" bIns="0" rtlCol="0" anchor="ctr"/>
          <a:lstStyle/>
          <a:p>
            <a:pPr indent="0" marL="0">
              <a:buNone/>
            </a:pPr>
            <a:r>
              <a:rPr lang="en-US" sz="1500" b="1" dirty="0">
                <a:solidFill>
                  <a:srgbClr val="A3A8B0"/>
                </a:solidFill>
                <a:latin typeface="Arial" pitchFamily="34" charset="0"/>
                <a:ea typeface="Arial" pitchFamily="34" charset="-122"/>
                <a:cs typeface="Arial" pitchFamily="34" charset="-120"/>
              </a:rPr>
              <a:t>base</a:t>
            </a:r>
            <a:endParaRPr lang="en-US" sz="1500" dirty="0"/>
          </a:p>
        </p:txBody>
      </p:sp>
      <p:sp>
        <p:nvSpPr>
          <p:cNvPr id="22" name="Text 20"/>
          <p:cNvSpPr txBox="1"/>
          <p:nvPr/>
        </p:nvSpPr>
        <p:spPr>
          <a:xfrm>
            <a:off x="3017520" y="2478024"/>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69.98</a:t>
            </a:r>
            <a:endParaRPr lang="en-US" sz="1900" dirty="0"/>
          </a:p>
        </p:txBody>
      </p:sp>
      <p:sp>
        <p:nvSpPr>
          <p:cNvPr id="23" name="Text 21"/>
          <p:cNvSpPr txBox="1"/>
          <p:nvPr/>
        </p:nvSpPr>
        <p:spPr>
          <a:xfrm>
            <a:off x="4453128" y="2478024"/>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85.76</a:t>
            </a:r>
            <a:endParaRPr lang="en-US" sz="1900" dirty="0"/>
          </a:p>
        </p:txBody>
      </p:sp>
      <p:sp>
        <p:nvSpPr>
          <p:cNvPr id="24" name="Text 22"/>
          <p:cNvSpPr txBox="1"/>
          <p:nvPr/>
        </p:nvSpPr>
        <p:spPr>
          <a:xfrm>
            <a:off x="5888736" y="2478024"/>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28</a:t>
            </a:r>
            <a:endParaRPr lang="en-US" sz="1900" dirty="0"/>
          </a:p>
        </p:txBody>
      </p:sp>
      <p:sp>
        <p:nvSpPr>
          <p:cNvPr id="25" name="Text 23"/>
          <p:cNvSpPr txBox="1"/>
          <p:nvPr/>
        </p:nvSpPr>
        <p:spPr>
          <a:xfrm>
            <a:off x="7324344" y="2478024"/>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76.25</a:t>
            </a:r>
            <a:endParaRPr lang="en-US" sz="1900" dirty="0"/>
          </a:p>
        </p:txBody>
      </p:sp>
      <p:sp>
        <p:nvSpPr>
          <p:cNvPr id="26" name="Text 24"/>
          <p:cNvSpPr txBox="1"/>
          <p:nvPr/>
        </p:nvSpPr>
        <p:spPr>
          <a:xfrm>
            <a:off x="8759952" y="2478024"/>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89.73</a:t>
            </a:r>
            <a:endParaRPr lang="en-US" sz="1900" dirty="0"/>
          </a:p>
        </p:txBody>
      </p:sp>
      <p:sp>
        <p:nvSpPr>
          <p:cNvPr id="27" name="Text 25"/>
          <p:cNvSpPr txBox="1"/>
          <p:nvPr/>
        </p:nvSpPr>
        <p:spPr>
          <a:xfrm>
            <a:off x="10195560" y="2478024"/>
            <a:ext cx="1435608" cy="566928"/>
          </a:xfrm>
          <a:prstGeom prst="rect">
            <a:avLst/>
          </a:prstGeom>
          <a:noFill/>
          <a:ln/>
        </p:spPr>
        <p:txBody>
          <a:bodyPr wrap="square" lIns="0" tIns="0" rIns="0" bIns="0" rtlCol="0" anchor="ctr"/>
          <a:lstStyle/>
          <a:p>
            <a:pPr algn="ctr" indent="0" marL="0">
              <a:buNone/>
            </a:pPr>
            <a:r>
              <a:rPr lang="en-US" sz="1900" b="1" dirty="0">
                <a:solidFill>
                  <a:srgbClr val="F2F2F2"/>
                </a:solidFill>
                <a:latin typeface="Arial" pitchFamily="34" charset="0"/>
                <a:ea typeface="Arial" pitchFamily="34" charset="-122"/>
                <a:cs typeface="Arial" pitchFamily="34" charset="-120"/>
              </a:rPr>
              <a:t>67.6</a:t>
            </a:r>
            <a:endParaRPr lang="en-US" sz="1900" dirty="0"/>
          </a:p>
        </p:txBody>
      </p:sp>
      <p:sp>
        <p:nvSpPr>
          <p:cNvPr id="28" name="Shape 26"/>
          <p:cNvSpPr/>
          <p:nvPr/>
        </p:nvSpPr>
        <p:spPr>
          <a:xfrm>
            <a:off x="548640" y="3108960"/>
            <a:ext cx="11091672" cy="566928"/>
          </a:xfrm>
          <a:prstGeom prst="roundRect">
            <a:avLst>
              <a:gd name="adj" fmla="val 19355"/>
            </a:avLst>
          </a:prstGeom>
          <a:solidFill>
            <a:srgbClr val="22252B"/>
          </a:solidFill>
          <a:ln w="12700">
            <a:solidFill>
              <a:srgbClr val="22252B"/>
            </a:solidFill>
            <a:prstDash val="solid"/>
          </a:ln>
        </p:spPr>
      </p:sp>
      <p:sp>
        <p:nvSpPr>
          <p:cNvPr id="29" name="Shape 27"/>
          <p:cNvSpPr/>
          <p:nvPr/>
        </p:nvSpPr>
        <p:spPr>
          <a:xfrm>
            <a:off x="548640" y="3108960"/>
            <a:ext cx="91440" cy="566928"/>
          </a:xfrm>
          <a:prstGeom prst="rect">
            <a:avLst/>
          </a:prstGeom>
          <a:solidFill>
            <a:srgbClr val="9B6EE8"/>
          </a:solidFill>
          <a:ln w="12700">
            <a:solidFill>
              <a:srgbClr val="9B6EE8"/>
            </a:solidFill>
            <a:prstDash val="solid"/>
          </a:ln>
        </p:spPr>
      </p:sp>
      <p:sp>
        <p:nvSpPr>
          <p:cNvPr id="30" name="Text 28"/>
          <p:cNvSpPr txBox="1"/>
          <p:nvPr/>
        </p:nvSpPr>
        <p:spPr>
          <a:xfrm>
            <a:off x="822960" y="3108960"/>
            <a:ext cx="2194560" cy="566928"/>
          </a:xfrm>
          <a:prstGeom prst="rect">
            <a:avLst/>
          </a:prstGeom>
          <a:noFill/>
          <a:ln/>
        </p:spPr>
        <p:txBody>
          <a:bodyPr wrap="square" lIns="0" tIns="0" rIns="0" bIns="0" rtlCol="0" anchor="ctr"/>
          <a:lstStyle/>
          <a:p>
            <a:pPr indent="0" marL="0">
              <a:buNone/>
            </a:pPr>
            <a:r>
              <a:rPr lang="en-US" sz="1500" b="1" dirty="0">
                <a:solidFill>
                  <a:srgbClr val="9B6EE8"/>
                </a:solidFill>
                <a:latin typeface="Arial" pitchFamily="34" charset="0"/>
                <a:ea typeface="Arial" pitchFamily="34" charset="-122"/>
                <a:cs typeface="Arial" pitchFamily="34" charset="-120"/>
              </a:rPr>
              <a:t>full (M1–M5)</a:t>
            </a:r>
            <a:endParaRPr lang="en-US" sz="1500" dirty="0"/>
          </a:p>
        </p:txBody>
      </p:sp>
      <p:sp>
        <p:nvSpPr>
          <p:cNvPr id="31" name="Text 29"/>
          <p:cNvSpPr txBox="1"/>
          <p:nvPr/>
        </p:nvSpPr>
        <p:spPr>
          <a:xfrm>
            <a:off x="3017520" y="3108960"/>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70.51</a:t>
            </a:r>
            <a:endParaRPr lang="en-US" sz="1900" dirty="0"/>
          </a:p>
        </p:txBody>
      </p:sp>
      <p:sp>
        <p:nvSpPr>
          <p:cNvPr id="32" name="Text 30"/>
          <p:cNvSpPr txBox="1"/>
          <p:nvPr/>
        </p:nvSpPr>
        <p:spPr>
          <a:xfrm>
            <a:off x="4453128" y="3108960"/>
            <a:ext cx="1435608" cy="566928"/>
          </a:xfrm>
          <a:prstGeom prst="rect">
            <a:avLst/>
          </a:prstGeom>
          <a:noFill/>
          <a:ln/>
        </p:spPr>
        <p:txBody>
          <a:bodyPr wrap="square" lIns="0" tIns="0" rIns="0" bIns="0" rtlCol="0" anchor="ctr"/>
          <a:lstStyle/>
          <a:p>
            <a:pPr algn="ctr" indent="0" marL="0">
              <a:buNone/>
            </a:pPr>
            <a:r>
              <a:rPr lang="en-US" sz="1900" b="1" dirty="0">
                <a:solidFill>
                  <a:srgbClr val="19A35F"/>
                </a:solidFill>
                <a:latin typeface="Arial" pitchFamily="34" charset="0"/>
                <a:ea typeface="Arial" pitchFamily="34" charset="-122"/>
                <a:cs typeface="Arial" pitchFamily="34" charset="-120"/>
              </a:rPr>
              <a:t>86.60</a:t>
            </a:r>
            <a:endParaRPr lang="en-US" sz="1900" dirty="0"/>
          </a:p>
        </p:txBody>
      </p:sp>
      <p:sp>
        <p:nvSpPr>
          <p:cNvPr id="33" name="Text 31"/>
          <p:cNvSpPr txBox="1"/>
          <p:nvPr/>
        </p:nvSpPr>
        <p:spPr>
          <a:xfrm>
            <a:off x="5888736"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33</a:t>
            </a:r>
            <a:endParaRPr lang="en-US" sz="1900" dirty="0"/>
          </a:p>
        </p:txBody>
      </p:sp>
      <p:sp>
        <p:nvSpPr>
          <p:cNvPr id="34" name="Text 32"/>
          <p:cNvSpPr txBox="1"/>
          <p:nvPr/>
        </p:nvSpPr>
        <p:spPr>
          <a:xfrm>
            <a:off x="7324344"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73.70</a:t>
            </a:r>
            <a:endParaRPr lang="en-US" sz="1900" dirty="0"/>
          </a:p>
        </p:txBody>
      </p:sp>
      <p:sp>
        <p:nvSpPr>
          <p:cNvPr id="35" name="Text 33"/>
          <p:cNvSpPr txBox="1"/>
          <p:nvPr/>
        </p:nvSpPr>
        <p:spPr>
          <a:xfrm>
            <a:off x="8759952"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86.55</a:t>
            </a:r>
            <a:endParaRPr lang="en-US" sz="1900" dirty="0"/>
          </a:p>
        </p:txBody>
      </p:sp>
      <p:sp>
        <p:nvSpPr>
          <p:cNvPr id="36" name="Text 34"/>
          <p:cNvSpPr txBox="1"/>
          <p:nvPr/>
        </p:nvSpPr>
        <p:spPr>
          <a:xfrm>
            <a:off x="10195560" y="3108960"/>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37.7</a:t>
            </a:r>
            <a:endParaRPr lang="en-US" sz="1900" dirty="0"/>
          </a:p>
        </p:txBody>
      </p:sp>
      <p:sp>
        <p:nvSpPr>
          <p:cNvPr id="37" name="Shape 35"/>
          <p:cNvSpPr/>
          <p:nvPr/>
        </p:nvSpPr>
        <p:spPr>
          <a:xfrm>
            <a:off x="548640" y="3739896"/>
            <a:ext cx="11091672" cy="566928"/>
          </a:xfrm>
          <a:prstGeom prst="roundRect">
            <a:avLst>
              <a:gd name="adj" fmla="val 19355"/>
            </a:avLst>
          </a:prstGeom>
          <a:solidFill>
            <a:srgbClr val="22252B"/>
          </a:solidFill>
          <a:ln w="12700">
            <a:solidFill>
              <a:srgbClr val="22252B"/>
            </a:solidFill>
            <a:prstDash val="solid"/>
          </a:ln>
        </p:spPr>
      </p:sp>
      <p:sp>
        <p:nvSpPr>
          <p:cNvPr id="38" name="Shape 36"/>
          <p:cNvSpPr/>
          <p:nvPr/>
        </p:nvSpPr>
        <p:spPr>
          <a:xfrm>
            <a:off x="548640" y="3739896"/>
            <a:ext cx="91440" cy="566928"/>
          </a:xfrm>
          <a:prstGeom prst="rect">
            <a:avLst/>
          </a:prstGeom>
          <a:solidFill>
            <a:srgbClr val="CF8000"/>
          </a:solidFill>
          <a:ln w="12700">
            <a:solidFill>
              <a:srgbClr val="CF8000"/>
            </a:solidFill>
            <a:prstDash val="solid"/>
          </a:ln>
        </p:spPr>
      </p:sp>
      <p:sp>
        <p:nvSpPr>
          <p:cNvPr id="39" name="Text 37"/>
          <p:cNvSpPr txBox="1"/>
          <p:nvPr/>
        </p:nvSpPr>
        <p:spPr>
          <a:xfrm>
            <a:off x="822960" y="3739896"/>
            <a:ext cx="2194560" cy="566928"/>
          </a:xfrm>
          <a:prstGeom prst="rect">
            <a:avLst/>
          </a:prstGeom>
          <a:noFill/>
          <a:ln/>
        </p:spPr>
        <p:txBody>
          <a:bodyPr wrap="square" lIns="0" tIns="0" rIns="0" bIns="0" rtlCol="0" anchor="ctr"/>
          <a:lstStyle/>
          <a:p>
            <a:pPr indent="0" marL="0">
              <a:buNone/>
            </a:pPr>
            <a:r>
              <a:rPr lang="en-US" sz="1500" b="1" dirty="0">
                <a:solidFill>
                  <a:srgbClr val="CF8000"/>
                </a:solidFill>
                <a:latin typeface="Arial" pitchFamily="34" charset="0"/>
                <a:ea typeface="Arial" pitchFamily="34" charset="-122"/>
                <a:cs typeface="Arial" pitchFamily="34" charset="-120"/>
              </a:rPr>
              <a:t>full + M6</a:t>
            </a:r>
            <a:endParaRPr lang="en-US" sz="1500" dirty="0"/>
          </a:p>
        </p:txBody>
      </p:sp>
      <p:sp>
        <p:nvSpPr>
          <p:cNvPr id="40" name="Text 38"/>
          <p:cNvSpPr txBox="1"/>
          <p:nvPr/>
        </p:nvSpPr>
        <p:spPr>
          <a:xfrm>
            <a:off x="3017520"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69.85</a:t>
            </a:r>
            <a:endParaRPr lang="en-US" sz="1900" dirty="0"/>
          </a:p>
        </p:txBody>
      </p:sp>
      <p:sp>
        <p:nvSpPr>
          <p:cNvPr id="41" name="Text 39"/>
          <p:cNvSpPr txBox="1"/>
          <p:nvPr/>
        </p:nvSpPr>
        <p:spPr>
          <a:xfrm>
            <a:off x="4453128"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85.37</a:t>
            </a:r>
            <a:endParaRPr lang="en-US" sz="1900" dirty="0"/>
          </a:p>
        </p:txBody>
      </p:sp>
      <p:sp>
        <p:nvSpPr>
          <p:cNvPr id="42" name="Text 40"/>
          <p:cNvSpPr txBox="1"/>
          <p:nvPr/>
        </p:nvSpPr>
        <p:spPr>
          <a:xfrm>
            <a:off x="5888736"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48</a:t>
            </a:r>
            <a:endParaRPr lang="en-US" sz="1900" dirty="0"/>
          </a:p>
        </p:txBody>
      </p:sp>
      <p:sp>
        <p:nvSpPr>
          <p:cNvPr id="43" name="Text 41"/>
          <p:cNvSpPr txBox="1"/>
          <p:nvPr/>
        </p:nvSpPr>
        <p:spPr>
          <a:xfrm>
            <a:off x="7324344"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73.16</a:t>
            </a:r>
            <a:endParaRPr lang="en-US" sz="1900" dirty="0"/>
          </a:p>
        </p:txBody>
      </p:sp>
      <p:sp>
        <p:nvSpPr>
          <p:cNvPr id="44" name="Text 42"/>
          <p:cNvSpPr txBox="1"/>
          <p:nvPr/>
        </p:nvSpPr>
        <p:spPr>
          <a:xfrm>
            <a:off x="8759952"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86.62</a:t>
            </a:r>
            <a:endParaRPr lang="en-US" sz="1900" dirty="0"/>
          </a:p>
        </p:txBody>
      </p:sp>
      <p:sp>
        <p:nvSpPr>
          <p:cNvPr id="45" name="Text 43"/>
          <p:cNvSpPr txBox="1"/>
          <p:nvPr/>
        </p:nvSpPr>
        <p:spPr>
          <a:xfrm>
            <a:off x="10195560" y="3739896"/>
            <a:ext cx="1435608" cy="566928"/>
          </a:xfrm>
          <a:prstGeom prst="rect">
            <a:avLst/>
          </a:prstGeom>
          <a:noFill/>
          <a:ln/>
        </p:spPr>
        <p:txBody>
          <a:bodyPr wrap="square" lIns="0" tIns="0" rIns="0" bIns="0" rtlCol="0" anchor="ctr"/>
          <a:lstStyle/>
          <a:p>
            <a:pPr algn="ctr" indent="0" marL="0">
              <a:buNone/>
            </a:pPr>
            <a:r>
              <a:rPr lang="en-US" sz="1900" b="1" dirty="0">
                <a:solidFill>
                  <a:srgbClr val="E66767"/>
                </a:solidFill>
                <a:latin typeface="Arial" pitchFamily="34" charset="0"/>
                <a:ea typeface="Arial" pitchFamily="34" charset="-122"/>
                <a:cs typeface="Arial" pitchFamily="34" charset="-120"/>
              </a:rPr>
              <a:t>37.1</a:t>
            </a:r>
            <a:endParaRPr lang="en-US" sz="1900" dirty="0"/>
          </a:p>
        </p:txBody>
      </p:sp>
      <p:sp>
        <p:nvSpPr>
          <p:cNvPr id="46" name="Text 44"/>
          <p:cNvSpPr txBox="1"/>
          <p:nvPr/>
        </p:nvSpPr>
        <p:spPr>
          <a:xfrm>
            <a:off x="548640" y="4416552"/>
            <a:ext cx="10972800" cy="274320"/>
          </a:xfrm>
          <a:prstGeom prst="rect">
            <a:avLst/>
          </a:prstGeom>
          <a:noFill/>
          <a:ln/>
        </p:spPr>
        <p:txBody>
          <a:bodyPr wrap="square" lIns="0" tIns="0" rIns="0" bIns="0" rtlCol="0" anchor="t"/>
          <a:lstStyle/>
          <a:p>
            <a:pPr indent="0" marL="0">
              <a:buNone/>
            </a:pPr>
            <a:r>
              <a:rPr lang="en-US" sz="1200" dirty="0">
                <a:solidFill>
                  <a:srgbClr val="A3A8B0"/>
                </a:solidFill>
                <a:latin typeface="Arial" pitchFamily="34" charset="0"/>
                <a:ea typeface="Arial" pitchFamily="34" charset="-122"/>
                <a:cs typeface="Arial" pitchFamily="34" charset="-120"/>
              </a:rPr>
              <a:t>Xanh/đỏ = tốt/xấu hơn PEG (IDSW: ít hơn là tốt).</a:t>
            </a:r>
            <a:endParaRPr lang="en-US" sz="1200" dirty="0"/>
          </a:p>
        </p:txBody>
      </p:sp>
      <p:sp>
        <p:nvSpPr>
          <p:cNvPr id="47" name="Shape 45"/>
          <p:cNvSpPr/>
          <p:nvPr/>
        </p:nvSpPr>
        <p:spPr>
          <a:xfrm>
            <a:off x="548640" y="4782312"/>
            <a:ext cx="11091672" cy="1481328"/>
          </a:xfrm>
          <a:prstGeom prst="roundRect">
            <a:avLst>
              <a:gd name="adj" fmla="val 7407"/>
            </a:avLst>
          </a:prstGeom>
          <a:solidFill>
            <a:srgbClr val="2B2F36"/>
          </a:solidFill>
          <a:ln w="12700">
            <a:solidFill>
              <a:srgbClr val="2B2F36"/>
            </a:solidFill>
            <a:prstDash val="solid"/>
          </a:ln>
        </p:spPr>
      </p:sp>
      <p:sp>
        <p:nvSpPr>
          <p:cNvPr id="48" name="Text 46"/>
          <p:cNvSpPr txBox="1"/>
          <p:nvPr/>
        </p:nvSpPr>
        <p:spPr>
          <a:xfrm>
            <a:off x="822960" y="4828032"/>
            <a:ext cx="10607040" cy="1389888"/>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full+M6 so với PEG: T1 −0.39 HOTA (IDSW 15 → 48), T2 −3.09 HOTA, T3 Rcv 67.6 → 37.1.</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Mức tăng Table I trên test không lặp lại. Table III sụt như trên test, còn nặng hơn.</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Ngay cả base (có logic đổi-ID cũ) cũng kém PEG ở T1: 69.98 so với 70.24, IDSW 28 so với 15.</a:t>
            </a:r>
            <a:endParaRPr lang="en-US" sz="1500" dirty="0"/>
          </a:p>
        </p:txBody>
      </p:sp>
      <p:sp>
        <p:nvSpPr>
          <p:cNvPr id="49" name="Shape 47"/>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50" name="Text 48"/>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51" name="Text 49"/>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PEG-F v2 · CHỌN TRÊN VAL</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Luật chốt trước, chọn trên val: không method nào qua</a:t>
            </a:r>
            <a:endParaRPr lang="en-US" sz="3000" dirty="0"/>
          </a:p>
        </p:txBody>
      </p:sp>
      <p:sp>
        <p:nvSpPr>
          <p:cNvPr id="4" name="Text 2"/>
          <p:cNvSpPr txBox="1"/>
          <p:nvPr/>
        </p:nvSpPr>
        <p:spPr>
          <a:xfrm>
            <a:off x="548640" y="1371600"/>
            <a:ext cx="11064240" cy="320040"/>
          </a:xfrm>
          <a:prstGeom prst="rect">
            <a:avLst/>
          </a:prstGeom>
          <a:noFill/>
          <a:ln/>
        </p:spPr>
        <p:txBody>
          <a:bodyPr wrap="square" lIns="0" tIns="0" rIns="0" bIns="0" rtlCol="0" anchor="t"/>
          <a:lstStyle/>
          <a:p>
            <a:pPr indent="0" marL="0">
              <a:buNone/>
            </a:pPr>
            <a:r>
              <a:rPr lang="en-US" sz="1400" dirty="0">
                <a:solidFill>
                  <a:srgbClr val="A3A8B0"/>
                </a:solidFill>
                <a:latin typeface="Arial" pitchFamily="34" charset="0"/>
                <a:ea typeface="Arial" pitchFamily="34" charset="-122"/>
                <a:cs typeface="Arial" pitchFamily="34" charset="-120"/>
              </a:rPr>
              <a:t>Ứng viên = 13 cấu hình của Thạch so với base. Qua vòng 1 nếu không bảng nào giảm quá 0.5 và tổng tăng &gt; 0.5:</a:t>
            </a:r>
            <a:endParaRPr lang="en-US" sz="1400" dirty="0"/>
          </a:p>
        </p:txBody>
      </p:sp>
      <p:sp>
        <p:nvSpPr>
          <p:cNvPr id="5" name="Text 3"/>
          <p:cNvSpPr txBox="1"/>
          <p:nvPr/>
        </p:nvSpPr>
        <p:spPr>
          <a:xfrm>
            <a:off x="2926080" y="1737360"/>
            <a:ext cx="1280160"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ΔT1 HOTA</a:t>
            </a:r>
            <a:endParaRPr lang="en-US" sz="1200" dirty="0"/>
          </a:p>
        </p:txBody>
      </p:sp>
      <p:sp>
        <p:nvSpPr>
          <p:cNvPr id="6" name="Text 4"/>
          <p:cNvSpPr txBox="1"/>
          <p:nvPr/>
        </p:nvSpPr>
        <p:spPr>
          <a:xfrm>
            <a:off x="4251960" y="1737360"/>
            <a:ext cx="1280160"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ΔT2 HOTA</a:t>
            </a:r>
            <a:endParaRPr lang="en-US" sz="1200" dirty="0"/>
          </a:p>
        </p:txBody>
      </p:sp>
      <p:sp>
        <p:nvSpPr>
          <p:cNvPr id="7" name="Text 5"/>
          <p:cNvSpPr txBox="1"/>
          <p:nvPr/>
        </p:nvSpPr>
        <p:spPr>
          <a:xfrm>
            <a:off x="5577840" y="1737360"/>
            <a:ext cx="1188720"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ΔT3 Rcv</a:t>
            </a:r>
            <a:endParaRPr lang="en-US" sz="1200" dirty="0"/>
          </a:p>
        </p:txBody>
      </p:sp>
      <p:sp>
        <p:nvSpPr>
          <p:cNvPr id="8" name="Text 6"/>
          <p:cNvSpPr txBox="1"/>
          <p:nvPr/>
        </p:nvSpPr>
        <p:spPr>
          <a:xfrm>
            <a:off x="6766560" y="1737360"/>
            <a:ext cx="1005840"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tổng</a:t>
            </a:r>
            <a:endParaRPr lang="en-US" sz="1200" dirty="0"/>
          </a:p>
        </p:txBody>
      </p:sp>
      <p:sp>
        <p:nvSpPr>
          <p:cNvPr id="9" name="Text 7"/>
          <p:cNvSpPr txBox="1"/>
          <p:nvPr/>
        </p:nvSpPr>
        <p:spPr>
          <a:xfrm>
            <a:off x="7863840" y="1737360"/>
            <a:ext cx="2468880" cy="320040"/>
          </a:xfrm>
          <a:prstGeom prst="rect">
            <a:avLst/>
          </a:prstGeom>
          <a:noFill/>
          <a:ln/>
        </p:spPr>
        <p:txBody>
          <a:bodyPr wrap="square" lIns="0" tIns="0" rIns="0" bIns="0" rtlCol="0" anchor="t"/>
          <a:lstStyle/>
          <a:p>
            <a:pPr algn="ctr" indent="0" marL="0">
              <a:buNone/>
            </a:pPr>
            <a:r>
              <a:rPr lang="en-US" sz="1200" b="1" dirty="0">
                <a:solidFill>
                  <a:srgbClr val="A3A8B0"/>
                </a:solidFill>
                <a:latin typeface="Arial" pitchFamily="34" charset="0"/>
                <a:ea typeface="Arial" pitchFamily="34" charset="-122"/>
                <a:cs typeface="Arial" pitchFamily="34" charset="-120"/>
              </a:rPr>
              <a:t>bỏ 1 video / 1 lần chói có lợi nhất</a:t>
            </a:r>
            <a:endParaRPr lang="en-US" sz="1200" dirty="0"/>
          </a:p>
        </p:txBody>
      </p:sp>
      <p:sp>
        <p:nvSpPr>
          <p:cNvPr id="10" name="Text 8"/>
          <p:cNvSpPr txBox="1"/>
          <p:nvPr/>
        </p:nvSpPr>
        <p:spPr>
          <a:xfrm>
            <a:off x="10332720" y="1737360"/>
            <a:ext cx="1280160" cy="320040"/>
          </a:xfrm>
          <a:prstGeom prst="rect">
            <a:avLst/>
          </a:prstGeom>
          <a:noFill/>
          <a:ln/>
        </p:spPr>
        <p:txBody>
          <a:bodyPr wrap="square" lIns="0" tIns="0" rIns="0" bIns="0" rtlCol="0" anchor="t"/>
          <a:lstStyle/>
          <a:p>
            <a:pPr algn="ctr" indent="0" marL="0">
              <a:buNone/>
            </a:pPr>
            <a:endParaRPr lang="en-US" sz="1200" dirty="0"/>
          </a:p>
        </p:txBody>
      </p:sp>
      <p:sp>
        <p:nvSpPr>
          <p:cNvPr id="11" name="Shape 9"/>
          <p:cNvSpPr/>
          <p:nvPr/>
        </p:nvSpPr>
        <p:spPr>
          <a:xfrm>
            <a:off x="548640" y="2103120"/>
            <a:ext cx="11091672" cy="548640"/>
          </a:xfrm>
          <a:prstGeom prst="roundRect">
            <a:avLst>
              <a:gd name="adj" fmla="val 20000"/>
            </a:avLst>
          </a:prstGeom>
          <a:solidFill>
            <a:srgbClr val="22252B"/>
          </a:solidFill>
          <a:ln w="12700">
            <a:solidFill>
              <a:srgbClr val="22252B"/>
            </a:solidFill>
            <a:prstDash val="solid"/>
          </a:ln>
        </p:spPr>
      </p:sp>
      <p:sp>
        <p:nvSpPr>
          <p:cNvPr id="12" name="Text 10"/>
          <p:cNvSpPr txBox="1"/>
          <p:nvPr/>
        </p:nvSpPr>
        <p:spPr>
          <a:xfrm>
            <a:off x="777240" y="2103120"/>
            <a:ext cx="2103120" cy="548640"/>
          </a:xfrm>
          <a:prstGeom prst="rect">
            <a:avLst/>
          </a:prstGeom>
          <a:noFill/>
          <a:ln/>
        </p:spPr>
        <p:txBody>
          <a:bodyPr wrap="square" lIns="0" tIns="0" rIns="0" bIns="0" rtlCol="0" anchor="ctr"/>
          <a:lstStyle/>
          <a:p>
            <a:pPr indent="0" marL="0">
              <a:buNone/>
            </a:pPr>
            <a:r>
              <a:rPr lang="en-US" sz="1700" b="1" dirty="0">
                <a:solidFill>
                  <a:srgbClr val="9B6EE8"/>
                </a:solidFill>
                <a:latin typeface="Arial" pitchFamily="34" charset="0"/>
                <a:ea typeface="Arial" pitchFamily="34" charset="-122"/>
                <a:cs typeface="Arial" pitchFamily="34" charset="-120"/>
              </a:rPr>
              <a:t>full-M5</a:t>
            </a:r>
            <a:endParaRPr lang="en-US" sz="1700" dirty="0"/>
          </a:p>
        </p:txBody>
      </p:sp>
      <p:sp>
        <p:nvSpPr>
          <p:cNvPr id="13" name="Text 11"/>
          <p:cNvSpPr txBox="1"/>
          <p:nvPr/>
        </p:nvSpPr>
        <p:spPr>
          <a:xfrm>
            <a:off x="2926080" y="2103120"/>
            <a:ext cx="128016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+0.53</a:t>
            </a:r>
            <a:endParaRPr lang="en-US" sz="1600" dirty="0"/>
          </a:p>
        </p:txBody>
      </p:sp>
      <p:sp>
        <p:nvSpPr>
          <p:cNvPr id="14" name="Text 12"/>
          <p:cNvSpPr txBox="1"/>
          <p:nvPr/>
        </p:nvSpPr>
        <p:spPr>
          <a:xfrm>
            <a:off x="4251960" y="2103120"/>
            <a:ext cx="128016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+0.67</a:t>
            </a:r>
            <a:endParaRPr lang="en-US" sz="1600" dirty="0"/>
          </a:p>
        </p:txBody>
      </p:sp>
      <p:sp>
        <p:nvSpPr>
          <p:cNvPr id="15" name="Text 13"/>
          <p:cNvSpPr txBox="1"/>
          <p:nvPr/>
        </p:nvSpPr>
        <p:spPr>
          <a:xfrm>
            <a:off x="5577840" y="2103120"/>
            <a:ext cx="118872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+1.8</a:t>
            </a:r>
            <a:endParaRPr lang="en-US" sz="1600" dirty="0"/>
          </a:p>
        </p:txBody>
      </p:sp>
      <p:sp>
        <p:nvSpPr>
          <p:cNvPr id="16" name="Text 14"/>
          <p:cNvSpPr txBox="1"/>
          <p:nvPr/>
        </p:nvSpPr>
        <p:spPr>
          <a:xfrm>
            <a:off x="6766560" y="2103120"/>
            <a:ext cx="100584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+3.00</a:t>
            </a:r>
            <a:endParaRPr lang="en-US" sz="1600" dirty="0"/>
          </a:p>
        </p:txBody>
      </p:sp>
      <p:sp>
        <p:nvSpPr>
          <p:cNvPr id="17" name="Text 15"/>
          <p:cNvSpPr txBox="1"/>
          <p:nvPr/>
        </p:nvSpPr>
        <p:spPr>
          <a:xfrm>
            <a:off x="7863840" y="2103120"/>
            <a:ext cx="246888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còn −0.71</a:t>
            </a:r>
            <a:endParaRPr lang="en-US" sz="1600" dirty="0"/>
          </a:p>
        </p:txBody>
      </p:sp>
      <p:sp>
        <p:nvSpPr>
          <p:cNvPr id="18" name="Text 16"/>
          <p:cNvSpPr txBox="1"/>
          <p:nvPr/>
        </p:nvSpPr>
        <p:spPr>
          <a:xfrm>
            <a:off x="10332720" y="2103120"/>
            <a:ext cx="1280160" cy="548640"/>
          </a:xfrm>
          <a:prstGeom prst="rect">
            <a:avLst/>
          </a:prstGeom>
          <a:noFill/>
          <a:ln/>
        </p:spPr>
        <p:txBody>
          <a:bodyPr wrap="square" lIns="0" tIns="0" rIns="0" bIns="0" rtlCol="0" anchor="ctr"/>
          <a:lstStyle/>
          <a:p>
            <a:pPr algn="ctr" indent="0" marL="0">
              <a:buNone/>
            </a:pPr>
            <a:r>
              <a:rPr lang="en-US" sz="1600" b="1" dirty="0">
                <a:solidFill>
                  <a:srgbClr val="E66767"/>
                </a:solidFill>
                <a:latin typeface="Arial" pitchFamily="34" charset="0"/>
                <a:ea typeface="Arial" pitchFamily="34" charset="-122"/>
                <a:cs typeface="Arial" pitchFamily="34" charset="-120"/>
              </a:rPr>
              <a:t>TRƯỢT</a:t>
            </a:r>
            <a:endParaRPr lang="en-US" sz="1600" dirty="0"/>
          </a:p>
        </p:txBody>
      </p:sp>
      <p:sp>
        <p:nvSpPr>
          <p:cNvPr id="19" name="Shape 17"/>
          <p:cNvSpPr/>
          <p:nvPr/>
        </p:nvSpPr>
        <p:spPr>
          <a:xfrm>
            <a:off x="548640" y="2724912"/>
            <a:ext cx="11091672" cy="548640"/>
          </a:xfrm>
          <a:prstGeom prst="roundRect">
            <a:avLst>
              <a:gd name="adj" fmla="val 20000"/>
            </a:avLst>
          </a:prstGeom>
          <a:solidFill>
            <a:srgbClr val="22252B"/>
          </a:solidFill>
          <a:ln w="12700">
            <a:solidFill>
              <a:srgbClr val="22252B"/>
            </a:solidFill>
            <a:prstDash val="solid"/>
          </a:ln>
        </p:spPr>
      </p:sp>
      <p:sp>
        <p:nvSpPr>
          <p:cNvPr id="20" name="Text 18"/>
          <p:cNvSpPr txBox="1"/>
          <p:nvPr/>
        </p:nvSpPr>
        <p:spPr>
          <a:xfrm>
            <a:off x="777240" y="2724912"/>
            <a:ext cx="2103120" cy="548640"/>
          </a:xfrm>
          <a:prstGeom prst="rect">
            <a:avLst/>
          </a:prstGeom>
          <a:noFill/>
          <a:ln/>
        </p:spPr>
        <p:txBody>
          <a:bodyPr wrap="square" lIns="0" tIns="0" rIns="0" bIns="0" rtlCol="0" anchor="ctr"/>
          <a:lstStyle/>
          <a:p>
            <a:pPr indent="0" marL="0">
              <a:buNone/>
            </a:pPr>
            <a:r>
              <a:rPr lang="en-US" sz="1700" b="1" dirty="0">
                <a:solidFill>
                  <a:srgbClr val="9B6EE8"/>
                </a:solidFill>
                <a:latin typeface="Arial" pitchFamily="34" charset="0"/>
                <a:ea typeface="Arial" pitchFamily="34" charset="-122"/>
                <a:cs typeface="Arial" pitchFamily="34" charset="-120"/>
              </a:rPr>
              <a:t>base+M1</a:t>
            </a:r>
            <a:endParaRPr lang="en-US" sz="1700" dirty="0"/>
          </a:p>
        </p:txBody>
      </p:sp>
      <p:sp>
        <p:nvSpPr>
          <p:cNvPr id="21" name="Text 19"/>
          <p:cNvSpPr txBox="1"/>
          <p:nvPr/>
        </p:nvSpPr>
        <p:spPr>
          <a:xfrm>
            <a:off x="2926080" y="2724912"/>
            <a:ext cx="128016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+0.25</a:t>
            </a:r>
            <a:endParaRPr lang="en-US" sz="1600" dirty="0"/>
          </a:p>
        </p:txBody>
      </p:sp>
      <p:sp>
        <p:nvSpPr>
          <p:cNvPr id="22" name="Text 20"/>
          <p:cNvSpPr txBox="1"/>
          <p:nvPr/>
        </p:nvSpPr>
        <p:spPr>
          <a:xfrm>
            <a:off x="4251960" y="2724912"/>
            <a:ext cx="128016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+0.67</a:t>
            </a:r>
            <a:endParaRPr lang="en-US" sz="1600" dirty="0"/>
          </a:p>
        </p:txBody>
      </p:sp>
      <p:sp>
        <p:nvSpPr>
          <p:cNvPr id="23" name="Text 21"/>
          <p:cNvSpPr txBox="1"/>
          <p:nvPr/>
        </p:nvSpPr>
        <p:spPr>
          <a:xfrm>
            <a:off x="5577840" y="2724912"/>
            <a:ext cx="118872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+1.8</a:t>
            </a:r>
            <a:endParaRPr lang="en-US" sz="1600" dirty="0"/>
          </a:p>
        </p:txBody>
      </p:sp>
      <p:sp>
        <p:nvSpPr>
          <p:cNvPr id="24" name="Text 22"/>
          <p:cNvSpPr txBox="1"/>
          <p:nvPr/>
        </p:nvSpPr>
        <p:spPr>
          <a:xfrm>
            <a:off x="6766560" y="2724912"/>
            <a:ext cx="100584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+2.72</a:t>
            </a:r>
            <a:endParaRPr lang="en-US" sz="1600" dirty="0"/>
          </a:p>
        </p:txBody>
      </p:sp>
      <p:sp>
        <p:nvSpPr>
          <p:cNvPr id="25" name="Text 23"/>
          <p:cNvSpPr txBox="1"/>
          <p:nvPr/>
        </p:nvSpPr>
        <p:spPr>
          <a:xfrm>
            <a:off x="7863840" y="2724912"/>
            <a:ext cx="2468880" cy="548640"/>
          </a:xfrm>
          <a:prstGeom prst="rect">
            <a:avLst/>
          </a:prstGeom>
          <a:noFill/>
          <a:ln/>
        </p:spPr>
        <p:txBody>
          <a:bodyPr wrap="square" lIns="0" tIns="0" rIns="0" bIns="0" rtlCol="0" anchor="ctr"/>
          <a:lstStyle/>
          <a:p>
            <a:pPr algn="ctr" indent="0" marL="0">
              <a:buNone/>
            </a:pPr>
            <a:r>
              <a:rPr lang="en-US" sz="1600" b="1" dirty="0">
                <a:solidFill>
                  <a:srgbClr val="F2F2F2"/>
                </a:solidFill>
                <a:latin typeface="Arial" pitchFamily="34" charset="0"/>
                <a:ea typeface="Arial" pitchFamily="34" charset="-122"/>
                <a:cs typeface="Arial" pitchFamily="34" charset="-120"/>
              </a:rPr>
              <a:t>còn −0.89</a:t>
            </a:r>
            <a:endParaRPr lang="en-US" sz="1600" dirty="0"/>
          </a:p>
        </p:txBody>
      </p:sp>
      <p:sp>
        <p:nvSpPr>
          <p:cNvPr id="26" name="Text 24"/>
          <p:cNvSpPr txBox="1"/>
          <p:nvPr/>
        </p:nvSpPr>
        <p:spPr>
          <a:xfrm>
            <a:off x="10332720" y="2724912"/>
            <a:ext cx="1280160" cy="548640"/>
          </a:xfrm>
          <a:prstGeom prst="rect">
            <a:avLst/>
          </a:prstGeom>
          <a:noFill/>
          <a:ln/>
        </p:spPr>
        <p:txBody>
          <a:bodyPr wrap="square" lIns="0" tIns="0" rIns="0" bIns="0" rtlCol="0" anchor="ctr"/>
          <a:lstStyle/>
          <a:p>
            <a:pPr algn="ctr" indent="0" marL="0">
              <a:buNone/>
            </a:pPr>
            <a:r>
              <a:rPr lang="en-US" sz="1600" b="1" dirty="0">
                <a:solidFill>
                  <a:srgbClr val="E66767"/>
                </a:solidFill>
                <a:latin typeface="Arial" pitchFamily="34" charset="0"/>
                <a:ea typeface="Arial" pitchFamily="34" charset="-122"/>
                <a:cs typeface="Arial" pitchFamily="34" charset="-120"/>
              </a:rPr>
              <a:t>TRƯỢT</a:t>
            </a:r>
            <a:endParaRPr lang="en-US" sz="1600" dirty="0"/>
          </a:p>
        </p:txBody>
      </p:sp>
      <p:sp>
        <p:nvSpPr>
          <p:cNvPr id="27" name="Shape 25"/>
          <p:cNvSpPr/>
          <p:nvPr/>
        </p:nvSpPr>
        <p:spPr>
          <a:xfrm>
            <a:off x="548640" y="3438144"/>
            <a:ext cx="5440680" cy="2825496"/>
          </a:xfrm>
          <a:prstGeom prst="roundRect">
            <a:avLst>
              <a:gd name="adj" fmla="val 3883"/>
            </a:avLst>
          </a:prstGeom>
          <a:solidFill>
            <a:srgbClr val="2B2F36"/>
          </a:solidFill>
          <a:ln w="12700">
            <a:solidFill>
              <a:srgbClr val="2B2F36"/>
            </a:solidFill>
            <a:prstDash val="solid"/>
          </a:ln>
        </p:spPr>
      </p:sp>
      <p:sp>
        <p:nvSpPr>
          <p:cNvPr id="28" name="Text 26"/>
          <p:cNvSpPr txBox="1"/>
          <p:nvPr/>
        </p:nvSpPr>
        <p:spPr>
          <a:xfrm>
            <a:off x="777240" y="3483864"/>
            <a:ext cx="5074920" cy="2734056"/>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Mức tăng của cả hai đến từ 1 video T2 (147) và 1 lần chói T3 (video 332).</a:t>
            </a:r>
            <a:endParaRPr lang="en-US" sz="1400" dirty="0"/>
          </a:p>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Cấu hình có cả M1 và M5 bị loại ngay: T3 giảm ~30 điểm.</a:t>
            </a:r>
            <a:endParaRPr lang="en-US" sz="1400" dirty="0"/>
          </a:p>
          <a:p>
            <a:pPr marL="342900" indent="-342900">
              <a:spcAft>
                <a:spcPts val="800"/>
              </a:spcAft>
              <a:buSzPct val="100000"/>
              <a:buChar char="•"/>
            </a:pPr>
            <a:r>
              <a:rPr lang="en-US" sz="1400" dirty="0">
                <a:solidFill>
                  <a:srgbClr val="F2F2F2"/>
                </a:solidFill>
                <a:latin typeface="Arial" pitchFamily="34" charset="0"/>
                <a:ea typeface="Arial" pitchFamily="34" charset="-122"/>
                <a:cs typeface="Arial" pitchFamily="34" charset="-120"/>
              </a:rPr>
              <a:t>M6 bị loại: cả 3 bảng đều giảm trên val.</a:t>
            </a:r>
            <a:endParaRPr lang="en-US" sz="1400" dirty="0"/>
          </a:p>
        </p:txBody>
      </p:sp>
      <p:sp>
        <p:nvSpPr>
          <p:cNvPr id="29" name="Shape 27"/>
          <p:cNvSpPr/>
          <p:nvPr/>
        </p:nvSpPr>
        <p:spPr>
          <a:xfrm>
            <a:off x="6199632" y="3438144"/>
            <a:ext cx="5440680" cy="2825496"/>
          </a:xfrm>
          <a:prstGeom prst="roundRect">
            <a:avLst>
              <a:gd name="adj" fmla="val 3883"/>
            </a:avLst>
          </a:prstGeom>
          <a:solidFill>
            <a:srgbClr val="22252B"/>
          </a:solidFill>
          <a:ln w="12700">
            <a:solidFill>
              <a:srgbClr val="22252B"/>
            </a:solidFill>
            <a:prstDash val="solid"/>
          </a:ln>
        </p:spPr>
      </p:sp>
      <p:sp>
        <p:nvSpPr>
          <p:cNvPr id="30" name="Shape 28"/>
          <p:cNvSpPr/>
          <p:nvPr/>
        </p:nvSpPr>
        <p:spPr>
          <a:xfrm>
            <a:off x="6199632" y="3438144"/>
            <a:ext cx="91440" cy="2825496"/>
          </a:xfrm>
          <a:prstGeom prst="rect">
            <a:avLst/>
          </a:prstGeom>
          <a:solidFill>
            <a:srgbClr val="F2A900"/>
          </a:solidFill>
          <a:ln w="12700">
            <a:solidFill>
              <a:srgbClr val="F2A900"/>
            </a:solidFill>
            <a:prstDash val="solid"/>
          </a:ln>
        </p:spPr>
      </p:sp>
      <p:sp>
        <p:nvSpPr>
          <p:cNvPr id="31" name="Text 29"/>
          <p:cNvSpPr txBox="1"/>
          <p:nvPr/>
        </p:nvSpPr>
        <p:spPr>
          <a:xfrm>
            <a:off x="6446520" y="3483864"/>
            <a:ext cx="5029200" cy="2734056"/>
          </a:xfrm>
          <a:prstGeom prst="rect">
            <a:avLst/>
          </a:prstGeom>
          <a:noFill/>
          <a:ln/>
        </p:spPr>
        <p:txBody>
          <a:bodyPr wrap="square" lIns="0" tIns="0" rIns="0" bIns="0" rtlCol="0" anchor="ctr"/>
          <a:lstStyle/>
          <a:p>
            <a:pPr indent="0" marL="0">
              <a:buNone/>
            </a:pPr>
            <a:r>
              <a:rPr lang="en-US" sz="1700" b="1" dirty="0">
                <a:solidFill>
                  <a:srgbClr val="F2A900"/>
                </a:solidFill>
                <a:latin typeface="Arial" pitchFamily="34" charset="0"/>
                <a:ea typeface="Arial" pitchFamily="34" charset="-122"/>
                <a:cs typeface="Arial" pitchFamily="34" charset="-120"/>
              </a:rPr>
              <a:t>Báo test một lần: base</a:t>
            </a:r>
            <a:endParaRPr lang="en-US" sz="1600" dirty="0"/>
          </a:p>
          <a:p>
            <a:pPr indent="0" marL="0">
              <a:buNone/>
            </a:pPr>
            <a:r>
              <a:rPr lang="en-US" sz="1600" b="1" dirty="0">
                <a:solidFill>
                  <a:srgbClr val="F2F2F2"/>
                </a:solidFill>
                <a:latin typeface="Arial" pitchFamily="34" charset="0"/>
                <a:ea typeface="Arial" pitchFamily="34" charset="-122"/>
                <a:cs typeface="Arial" pitchFamily="34" charset="-120"/>
              </a:rPr>
              <a:t>T1 HOTA 68.84 · T2 HOTA 62.18 · T3 76.2</a:t>
            </a:r>
            <a:endParaRPr lang="en-US" sz="1600" dirty="0"/>
          </a:p>
          <a:p>
            <a:pPr indent="0" marL="0">
              <a:buNone/>
            </a:pPr>
            <a:r>
              <a:rPr lang="en-US" sz="1500" dirty="0">
                <a:solidFill>
                  <a:srgbClr val="A3A8B0"/>
                </a:solidFill>
                <a:latin typeface="Arial" pitchFamily="34" charset="0"/>
                <a:ea typeface="Arial" pitchFamily="34" charset="-122"/>
                <a:cs typeface="Arial" pitchFamily="34" charset="-120"/>
              </a:rPr>
              <a:t>PEG: 68.34 · 61.41 · 76.2</a:t>
            </a:r>
            <a:endParaRPr lang="en-US" sz="1600" dirty="0"/>
          </a:p>
          <a:p>
            <a:pPr indent="0" marL="0">
              <a:buNone/>
            </a:pPr>
            <a:r>
              <a:rPr lang="en-US" sz="1300" dirty="0">
                <a:solidFill>
                  <a:srgbClr val="A3A8B0"/>
                </a:solidFill>
                <a:latin typeface="Arial" pitchFamily="34" charset="0"/>
                <a:ea typeface="Arial" pitchFamily="34" charset="-122"/>
                <a:cs typeface="Arial" pitchFamily="34" charset="-120"/>
              </a:rPr>
              <a:t>Thạch báo (chọn trên test): full+M6 T1 70.03</a:t>
            </a:r>
            <a:endParaRPr lang="en-US" sz="1600" dirty="0"/>
          </a:p>
          <a:p>
            <a:pPr indent="0" marL="0">
              <a:buNone/>
            </a:pPr>
            <a:r>
              <a:rPr lang="en-US" sz="1300" dirty="0">
                <a:solidFill>
                  <a:srgbClr val="F2A900"/>
                </a:solidFill>
                <a:latin typeface="Arial" pitchFamily="34" charset="0"/>
                <a:ea typeface="Arial" pitchFamily="34" charset="-122"/>
                <a:cs typeface="Arial" pitchFamily="34" charset="-120"/>
              </a:rPr>
              <a:t>base trên val: T1 −0.26 so với PEG, T2/T3 bằng → thực chất là giữ PEG.</a:t>
            </a:r>
            <a:endParaRPr lang="en-US" sz="1600" dirty="0"/>
          </a:p>
        </p:txBody>
      </p:sp>
      <p:sp>
        <p:nvSpPr>
          <p:cNvPr id="32" name="Shape 30"/>
          <p:cNvSpPr/>
          <p:nvPr/>
        </p:nvSpPr>
        <p:spPr>
          <a:xfrm>
            <a:off x="9646920" y="274320"/>
            <a:ext cx="1993392" cy="329184"/>
          </a:xfrm>
          <a:prstGeom prst="roundRect">
            <a:avLst>
              <a:gd name="adj" fmla="val 50000"/>
            </a:avLst>
          </a:prstGeom>
          <a:solidFill>
            <a:srgbClr val="9B6EE8">
              <a:alpha val="22000"/>
            </a:srgbClr>
          </a:solidFill>
          <a:ln w="15875">
            <a:solidFill>
              <a:srgbClr val="9B6EE8"/>
            </a:solidFill>
            <a:prstDash val="solid"/>
          </a:ln>
        </p:spPr>
      </p:sp>
      <p:sp>
        <p:nvSpPr>
          <p:cNvPr id="33" name="Text 31"/>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1 · PEG-F</a:t>
            </a:r>
            <a:endParaRPr lang="en-US" sz="1100" dirty="0"/>
          </a:p>
        </p:txBody>
      </p:sp>
      <p:sp>
        <p:nvSpPr>
          <p:cNvPr id="34" name="Text 32"/>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5171B"/>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20040"/>
          </a:xfrm>
          <a:prstGeom prst="rect">
            <a:avLst/>
          </a:prstGeom>
          <a:noFill/>
          <a:ln/>
        </p:spPr>
        <p:txBody>
          <a:bodyPr wrap="square" lIns="0" tIns="0" rIns="0" bIns="0" rtlCol="0" anchor="ctr"/>
          <a:lstStyle/>
          <a:p>
            <a:pPr indent="0" marL="0">
              <a:buNone/>
            </a:pPr>
            <a:r>
              <a:rPr lang="en-US" sz="1300" b="1" spc="200" kern="0" dirty="0">
                <a:solidFill>
                  <a:srgbClr val="F2A900"/>
                </a:solidFill>
                <a:latin typeface="Arial" pitchFamily="34" charset="0"/>
                <a:ea typeface="Arial" pitchFamily="34" charset="-122"/>
                <a:cs typeface="Arial" pitchFamily="34" charset="-120"/>
              </a:rPr>
              <a:t>TỔNG KẾT</a:t>
            </a:r>
            <a:endParaRPr lang="en-US" sz="13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000" b="1" dirty="0">
                <a:solidFill>
                  <a:srgbClr val="F2F2F2"/>
                </a:solidFill>
                <a:latin typeface="Arial" pitchFamily="34" charset="0"/>
                <a:ea typeface="Arial" pitchFamily="34" charset="-122"/>
                <a:cs typeface="Arial" pitchFamily="34" charset="-120"/>
              </a:rPr>
              <a:t>Kết luận và bài học</a:t>
            </a:r>
            <a:endParaRPr lang="en-US" sz="3000" dirty="0"/>
          </a:p>
        </p:txBody>
      </p:sp>
      <p:sp>
        <p:nvSpPr>
          <p:cNvPr id="4" name="Shape 2"/>
          <p:cNvSpPr/>
          <p:nvPr/>
        </p:nvSpPr>
        <p:spPr>
          <a:xfrm>
            <a:off x="548640" y="1508760"/>
            <a:ext cx="5486400" cy="4480560"/>
          </a:xfrm>
          <a:prstGeom prst="roundRect">
            <a:avLst>
              <a:gd name="adj" fmla="val 2449"/>
            </a:avLst>
          </a:prstGeom>
          <a:solidFill>
            <a:srgbClr val="22252B"/>
          </a:solidFill>
          <a:ln w="12700">
            <a:solidFill>
              <a:srgbClr val="22252B"/>
            </a:solidFill>
            <a:prstDash val="solid"/>
          </a:ln>
        </p:spPr>
      </p:sp>
      <p:sp>
        <p:nvSpPr>
          <p:cNvPr id="5" name="Text 3"/>
          <p:cNvSpPr txBox="1"/>
          <p:nvPr/>
        </p:nvSpPr>
        <p:spPr>
          <a:xfrm>
            <a:off x="822960" y="1600200"/>
            <a:ext cx="4937760" cy="365760"/>
          </a:xfrm>
          <a:prstGeom prst="rect">
            <a:avLst/>
          </a:prstGeom>
          <a:noFill/>
          <a:ln/>
        </p:spPr>
        <p:txBody>
          <a:bodyPr wrap="square" lIns="0" tIns="0" rIns="0" bIns="0" rtlCol="0" anchor="t"/>
          <a:lstStyle/>
          <a:p>
            <a:pPr indent="0" marL="0">
              <a:buNone/>
            </a:pPr>
            <a:r>
              <a:rPr lang="en-US" sz="2000" b="1" dirty="0">
                <a:solidFill>
                  <a:srgbClr val="F2A900"/>
                </a:solidFill>
                <a:latin typeface="Arial" pitchFamily="34" charset="0"/>
                <a:ea typeface="Arial" pitchFamily="34" charset="-122"/>
                <a:cs typeface="Arial" pitchFamily="34" charset="-120"/>
              </a:rPr>
              <a:t>Kết quả</a:t>
            </a:r>
            <a:endParaRPr lang="en-US" sz="2000" dirty="0"/>
          </a:p>
        </p:txBody>
      </p:sp>
      <p:sp>
        <p:nvSpPr>
          <p:cNvPr id="6" name="Text 4"/>
          <p:cNvSpPr txBox="1"/>
          <p:nvPr/>
        </p:nvSpPr>
        <p:spPr>
          <a:xfrm>
            <a:off x="822960" y="2103120"/>
            <a:ext cx="498348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PEG-F v1: tái hiện được, nhưng cùng cấu hình chỉ +0.49 HOTA; 2 lần đổi ID quyết định bảng.</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PEG-F v2: Table I đúng 14/14 cấu hình, nhưng Thạch chỉnh và chọn trên test. Trên val không method nào qua luật.</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v2: M1 × M5 làm Table III sụt (76.2 → 53.6 test, 67.6 → 37.1 val): box trượt ngang.</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PEG+: Rcv test +5.6, val −0.4, gộp +3.2: chỉ giúp khi box co lại lúc coast.</a:t>
            </a:r>
            <a:endParaRPr lang="en-US" sz="1500" dirty="0"/>
          </a:p>
          <a:p>
            <a:pPr marL="342900" indent="-342900">
              <a:spcAft>
                <a:spcPts val="800"/>
              </a:spcAft>
              <a:buSzPct val="100000"/>
              <a:buChar char="•"/>
            </a:pPr>
            <a:r>
              <a:rPr lang="en-US" sz="1500" dirty="0">
                <a:solidFill>
                  <a:srgbClr val="F2F2F2"/>
                </a:solidFill>
                <a:latin typeface="Arial" pitchFamily="34" charset="0"/>
                <a:ea typeface="Arial" pitchFamily="34" charset="-122"/>
                <a:cs typeface="Arial" pitchFamily="34" charset="-120"/>
              </a:rPr>
              <a:t>Table I một mình dễ đánh lừa → luôn đo đủ 3 bảng, chọn trên val, báo test 1 lần.</a:t>
            </a:r>
            <a:endParaRPr lang="en-US" sz="1500" dirty="0"/>
          </a:p>
        </p:txBody>
      </p:sp>
      <p:sp>
        <p:nvSpPr>
          <p:cNvPr id="7" name="Shape 5"/>
          <p:cNvSpPr/>
          <p:nvPr/>
        </p:nvSpPr>
        <p:spPr>
          <a:xfrm>
            <a:off x="6199632" y="1508760"/>
            <a:ext cx="5440680" cy="4480560"/>
          </a:xfrm>
          <a:prstGeom prst="roundRect">
            <a:avLst>
              <a:gd name="adj" fmla="val 2449"/>
            </a:avLst>
          </a:prstGeom>
          <a:solidFill>
            <a:srgbClr val="2B2F36"/>
          </a:solidFill>
          <a:ln w="12700">
            <a:solidFill>
              <a:srgbClr val="2B2F36"/>
            </a:solidFill>
            <a:prstDash val="solid"/>
          </a:ln>
        </p:spPr>
      </p:sp>
      <p:sp>
        <p:nvSpPr>
          <p:cNvPr id="8" name="Text 6"/>
          <p:cNvSpPr txBox="1"/>
          <p:nvPr/>
        </p:nvSpPr>
        <p:spPr>
          <a:xfrm>
            <a:off x="6473952" y="1600200"/>
            <a:ext cx="4937760" cy="365760"/>
          </a:xfrm>
          <a:prstGeom prst="rect">
            <a:avLst/>
          </a:prstGeom>
          <a:noFill/>
          <a:ln/>
        </p:spPr>
        <p:txBody>
          <a:bodyPr wrap="square" lIns="0" tIns="0" rIns="0" bIns="0" rtlCol="0" anchor="t"/>
          <a:lstStyle/>
          <a:p>
            <a:pPr indent="0" marL="0">
              <a:buNone/>
            </a:pPr>
            <a:r>
              <a:rPr lang="en-US" sz="2000" b="1" dirty="0">
                <a:solidFill>
                  <a:srgbClr val="19A35F"/>
                </a:solidFill>
                <a:latin typeface="Arial" pitchFamily="34" charset="0"/>
                <a:ea typeface="Arial" pitchFamily="34" charset="-122"/>
                <a:cs typeface="Arial" pitchFamily="34" charset="-120"/>
              </a:rPr>
              <a:t>Hướng tiếp theo</a:t>
            </a:r>
            <a:endParaRPr lang="en-US" sz="2000" dirty="0"/>
          </a:p>
        </p:txBody>
      </p:sp>
      <p:sp>
        <p:nvSpPr>
          <p:cNvPr id="9" name="Text 7"/>
          <p:cNvSpPr txBox="1"/>
          <p:nvPr/>
        </p:nvSpPr>
        <p:spPr>
          <a:xfrm>
            <a:off x="6473952" y="2103120"/>
            <a:ext cx="4937760" cy="3749040"/>
          </a:xfrm>
          <a:prstGeom prst="rect">
            <a:avLst/>
          </a:prstGeom>
          <a:noFill/>
          <a:ln/>
        </p:spPr>
        <p:txBody>
          <a:bodyPr wrap="square" lIns="0" tIns="0" rIns="0" bIns="0" rtlCol="0" anchor="t"/>
          <a:lstStyle/>
          <a:p>
            <a:pPr marL="342900" indent="-342900">
              <a:spcAft>
                <a:spcPts val="1800"/>
              </a:spcAft>
              <a:buSzPct val="100000"/>
              <a:buFont typeface="+mj-lt"/>
              <a:buAutoNum type="arabicPeriod" startAt="1"/>
            </a:pPr>
            <a:r>
              <a:rPr lang="en-US" sz="1900" dirty="0">
                <a:solidFill>
                  <a:srgbClr val="F2F2F2"/>
                </a:solidFill>
                <a:latin typeface="Arial" pitchFamily="34" charset="0"/>
                <a:ea typeface="Arial" pitchFamily="34" charset="-122"/>
                <a:cs typeface="Arial" pitchFamily="34" charset="-120"/>
              </a:rPr>
              <a:t>Chọn bằng khoảng tin cậy hoặc cross-validation, không bằng ngưỡng cứng</a:t>
            </a:r>
            <a:endParaRPr lang="en-US" sz="1900" dirty="0"/>
          </a:p>
          <a:p>
            <a:pPr marL="342900" indent="-342900">
              <a:spcAft>
                <a:spcPts val="1800"/>
              </a:spcAft>
              <a:buSzPct val="100000"/>
              <a:buFont typeface="+mj-lt"/>
              <a:buAutoNum type="arabicPeriod" startAt="1"/>
            </a:pPr>
            <a:r>
              <a:rPr lang="en-US" sz="1900" dirty="0">
                <a:solidFill>
                  <a:srgbClr val="F2F2F2"/>
                </a:solidFill>
                <a:latin typeface="Arial" pitchFamily="34" charset="0"/>
                <a:ea typeface="Arial" pitchFamily="34" charset="-122"/>
                <a:cs typeface="Arial" pitchFamily="34" charset="-120"/>
              </a:rPr>
              <a:t>Tune tham số của method trên val, không trên test</a:t>
            </a:r>
            <a:endParaRPr lang="en-US" sz="1900" dirty="0"/>
          </a:p>
          <a:p>
            <a:pPr marL="342900" indent="-342900">
              <a:spcAft>
                <a:spcPts val="1800"/>
              </a:spcAft>
              <a:buSzPct val="100000"/>
              <a:buFont typeface="+mj-lt"/>
              <a:buAutoNum type="arabicPeriod" startAt="1"/>
            </a:pPr>
            <a:r>
              <a:rPr lang="en-US" sz="1900" dirty="0">
                <a:solidFill>
                  <a:srgbClr val="F2F2F2"/>
                </a:solidFill>
                <a:latin typeface="Arial" pitchFamily="34" charset="0"/>
                <a:ea typeface="Arial" pitchFamily="34" charset="-122"/>
                <a:cs typeface="Arial" pitchFamily="34" charset="-120"/>
              </a:rPr>
              <a:t>Neo đèn (M5) với độ tin không phụ thuộc độ bất định Kalman</a:t>
            </a:r>
            <a:endParaRPr lang="en-US" sz="1900" dirty="0"/>
          </a:p>
          <a:p>
            <a:pPr marL="342900" indent="-342900">
              <a:spcAft>
                <a:spcPts val="1800"/>
              </a:spcAft>
              <a:buSzPct val="100000"/>
              <a:buFont typeface="+mj-lt"/>
              <a:buAutoNum type="arabicPeriod" startAt="1"/>
            </a:pPr>
            <a:r>
              <a:rPr lang="en-US" sz="1900" dirty="0">
                <a:solidFill>
                  <a:srgbClr val="F2F2F2"/>
                </a:solidFill>
                <a:latin typeface="Arial" pitchFamily="34" charset="0"/>
                <a:ea typeface="Arial" pitchFamily="34" charset="-122"/>
                <a:cs typeface="Arial" pitchFamily="34" charset="-120"/>
              </a:rPr>
              <a:t>M6 (tone-map): thử lại khi val có nhiều ca chói quanh người hơn</a:t>
            </a:r>
            <a:endParaRPr lang="en-US" sz="1900" dirty="0"/>
          </a:p>
        </p:txBody>
      </p:sp>
      <p:sp>
        <p:nvSpPr>
          <p:cNvPr id="10" name="Shape 8"/>
          <p:cNvSpPr/>
          <p:nvPr/>
        </p:nvSpPr>
        <p:spPr>
          <a:xfrm>
            <a:off x="9646920" y="274320"/>
            <a:ext cx="1993392" cy="329184"/>
          </a:xfrm>
          <a:prstGeom prst="roundRect">
            <a:avLst>
              <a:gd name="adj" fmla="val 50000"/>
            </a:avLst>
          </a:prstGeom>
          <a:solidFill>
            <a:srgbClr val="19A35F">
              <a:alpha val="22000"/>
            </a:srgbClr>
          </a:solidFill>
          <a:ln w="15875">
            <a:solidFill>
              <a:srgbClr val="19A35F"/>
            </a:solidFill>
            <a:prstDash val="solid"/>
          </a:ln>
        </p:spPr>
      </p:sp>
      <p:sp>
        <p:nvSpPr>
          <p:cNvPr id="11" name="Text 9"/>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NGƯỜI 2 · PEG+</a:t>
            </a:r>
            <a:endParaRPr lang="en-US" sz="1100" dirty="0"/>
          </a:p>
        </p:txBody>
      </p:sp>
      <p:sp>
        <p:nvSpPr>
          <p:cNvPr id="12" name="Text 10"/>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5171B"/>
        </a:solidFill>
      </p:bgPr>
    </p:bg>
    <p:spTree>
      <p:nvGrpSpPr>
        <p:cNvPr id="1" name=""/>
        <p:cNvGrpSpPr/>
        <p:nvPr/>
      </p:nvGrpSpPr>
      <p:grpSpPr>
        <a:xfrm>
          <a:off x="0" y="0"/>
          <a:ext cx="0" cy="0"/>
          <a:chOff x="0" y="0"/>
          <a:chExt cx="0" cy="0"/>
        </a:xfrm>
      </p:grpSpPr>
      <p:sp>
        <p:nvSpPr>
          <p:cNvPr id="2" name="Shape 0"/>
          <p:cNvSpPr/>
          <p:nvPr/>
        </p:nvSpPr>
        <p:spPr>
          <a:xfrm>
            <a:off x="8595360" y="1188720"/>
            <a:ext cx="3108960" cy="3108960"/>
          </a:xfrm>
          <a:prstGeom prst="ellipse">
            <a:avLst/>
          </a:prstGeom>
          <a:solidFill>
            <a:srgbClr val="9B6EE8">
              <a:alpha val="16000"/>
            </a:srgbClr>
          </a:solidFill>
          <a:ln w="12700">
            <a:solidFill>
              <a:srgbClr val="15171B"/>
            </a:solidFill>
            <a:prstDash val="solid"/>
          </a:ln>
        </p:spPr>
      </p:sp>
      <p:sp>
        <p:nvSpPr>
          <p:cNvPr id="3" name="Shape 1"/>
          <p:cNvSpPr/>
          <p:nvPr/>
        </p:nvSpPr>
        <p:spPr>
          <a:xfrm>
            <a:off x="9418320" y="2011680"/>
            <a:ext cx="1463040" cy="1463040"/>
          </a:xfrm>
          <a:prstGeom prst="ellipse">
            <a:avLst/>
          </a:prstGeom>
          <a:solidFill>
            <a:srgbClr val="19A35F">
              <a:alpha val="38000"/>
            </a:srgbClr>
          </a:solidFill>
          <a:ln w="12700">
            <a:solidFill>
              <a:srgbClr val="15171B"/>
            </a:solidFill>
            <a:prstDash val="solid"/>
          </a:ln>
        </p:spPr>
      </p:sp>
      <p:sp>
        <p:nvSpPr>
          <p:cNvPr id="4" name="Text 2"/>
          <p:cNvSpPr txBox="1"/>
          <p:nvPr/>
        </p:nvSpPr>
        <p:spPr>
          <a:xfrm>
            <a:off x="731520" y="2103120"/>
            <a:ext cx="7680960" cy="914400"/>
          </a:xfrm>
          <a:prstGeom prst="rect">
            <a:avLst/>
          </a:prstGeom>
          <a:noFill/>
          <a:ln/>
        </p:spPr>
        <p:txBody>
          <a:bodyPr wrap="square" lIns="0" tIns="0" rIns="0" bIns="0" rtlCol="0" anchor="t"/>
          <a:lstStyle/>
          <a:p>
            <a:pPr indent="0" marL="0">
              <a:buNone/>
            </a:pPr>
            <a:r>
              <a:rPr lang="en-US" sz="4000" b="1" dirty="0">
                <a:solidFill>
                  <a:srgbClr val="F2F2F2"/>
                </a:solidFill>
                <a:latin typeface="Arial" pitchFamily="34" charset="0"/>
                <a:ea typeface="Arial" pitchFamily="34" charset="-122"/>
                <a:cs typeface="Arial" pitchFamily="34" charset="-120"/>
              </a:rPr>
              <a:t>Cảm ơn thầy cô và các bạn</a:t>
            </a:r>
            <a:endParaRPr lang="en-US" sz="4000" dirty="0"/>
          </a:p>
        </p:txBody>
      </p:sp>
      <p:sp>
        <p:nvSpPr>
          <p:cNvPr id="5" name="Text 3"/>
          <p:cNvSpPr txBox="1"/>
          <p:nvPr/>
        </p:nvSpPr>
        <p:spPr>
          <a:xfrm>
            <a:off x="731520" y="3200400"/>
            <a:ext cx="7680960" cy="548640"/>
          </a:xfrm>
          <a:prstGeom prst="rect">
            <a:avLst/>
          </a:prstGeom>
          <a:noFill/>
          <a:ln/>
        </p:spPr>
        <p:txBody>
          <a:bodyPr wrap="square" lIns="0" tIns="0" rIns="0" bIns="0" rtlCol="0" anchor="t"/>
          <a:lstStyle/>
          <a:p>
            <a:pPr indent="0" marL="0">
              <a:buNone/>
            </a:pPr>
            <a:r>
              <a:rPr lang="en-US" sz="2400" b="1" dirty="0">
                <a:solidFill>
                  <a:srgbClr val="F2A900"/>
                </a:solidFill>
                <a:latin typeface="Arial" pitchFamily="34" charset="0"/>
                <a:ea typeface="Arial" pitchFamily="34" charset="-122"/>
                <a:cs typeface="Arial" pitchFamily="34" charset="-120"/>
              </a:rPr>
              <a:t>Hỏi đáp (Q&amp;A)</a:t>
            </a:r>
            <a:endParaRPr lang="en-US" sz="2400" dirty="0"/>
          </a:p>
        </p:txBody>
      </p:sp>
      <p:sp>
        <p:nvSpPr>
          <p:cNvPr id="6" name="Text 4"/>
          <p:cNvSpPr txBox="1"/>
          <p:nvPr/>
        </p:nvSpPr>
        <p:spPr>
          <a:xfrm>
            <a:off x="731520" y="5120640"/>
            <a:ext cx="8229600" cy="365760"/>
          </a:xfrm>
          <a:prstGeom prst="rect">
            <a:avLst/>
          </a:prstGeom>
          <a:noFill/>
          <a:ln/>
        </p:spPr>
        <p:txBody>
          <a:bodyPr wrap="square" lIns="0" tIns="0" rIns="0" bIns="0" rtlCol="0" anchor="t"/>
          <a:lstStyle/>
          <a:p>
            <a:pPr indent="0" marL="0">
              <a:buNone/>
            </a:pPr>
            <a:r>
              <a:rPr lang="en-US" sz="1600" dirty="0">
                <a:solidFill>
                  <a:srgbClr val="A3A8B0"/>
                </a:solidFill>
                <a:latin typeface="Arial" pitchFamily="34" charset="0"/>
                <a:ea typeface="Arial" pitchFamily="34" charset="-122"/>
                <a:cs typeface="Arial" pitchFamily="34" charset="-120"/>
              </a:rPr>
              <a:t>Người 1 · PEG-F    |    Người 2 · PEG+</a:t>
            </a:r>
            <a:endParaRPr lang="en-US" sz="1600" dirty="0"/>
          </a:p>
        </p:txBody>
      </p:sp>
      <p:sp>
        <p:nvSpPr>
          <p:cNvPr id="7" name="Shape 5"/>
          <p:cNvSpPr/>
          <p:nvPr/>
        </p:nvSpPr>
        <p:spPr>
          <a:xfrm>
            <a:off x="9646920" y="274320"/>
            <a:ext cx="1993392" cy="329184"/>
          </a:xfrm>
          <a:prstGeom prst="roundRect">
            <a:avLst>
              <a:gd name="adj" fmla="val 50000"/>
            </a:avLst>
          </a:prstGeom>
          <a:solidFill>
            <a:srgbClr val="F2A900">
              <a:alpha val="22000"/>
            </a:srgbClr>
          </a:solidFill>
          <a:ln w="15875">
            <a:solidFill>
              <a:srgbClr val="F2A900"/>
            </a:solidFill>
            <a:prstDash val="solid"/>
          </a:ln>
        </p:spPr>
      </p:sp>
      <p:sp>
        <p:nvSpPr>
          <p:cNvPr id="8" name="Text 6"/>
          <p:cNvSpPr txBox="1"/>
          <p:nvPr/>
        </p:nvSpPr>
        <p:spPr>
          <a:xfrm>
            <a:off x="9646920" y="274320"/>
            <a:ext cx="1993392" cy="329184"/>
          </a:xfrm>
          <a:prstGeom prst="rect">
            <a:avLst/>
          </a:prstGeom>
          <a:noFill/>
          <a:ln/>
        </p:spPr>
        <p:txBody>
          <a:bodyPr wrap="square" lIns="0" tIns="0" rIns="0" bIns="0" rtlCol="0" anchor="ctr"/>
          <a:lstStyle/>
          <a:p>
            <a:pPr algn="ctr" indent="0" marL="0">
              <a:buNone/>
            </a:pPr>
            <a:r>
              <a:rPr lang="en-US" sz="1100" b="1" dirty="0">
                <a:solidFill>
                  <a:srgbClr val="F2F2F2"/>
                </a:solidFill>
                <a:latin typeface="Arial" pitchFamily="34" charset="0"/>
                <a:ea typeface="Arial" pitchFamily="34" charset="-122"/>
                <a:cs typeface="Arial" pitchFamily="34" charset="-120"/>
              </a:rPr>
              <a:t>CẢ HAI</a:t>
            </a:r>
            <a:endParaRPr lang="en-US" sz="1100" dirty="0"/>
          </a:p>
        </p:txBody>
      </p:sp>
      <p:sp>
        <p:nvSpPr>
          <p:cNvPr id="9" name="Text 7"/>
          <p:cNvSpPr txBox="1"/>
          <p:nvPr/>
        </p:nvSpPr>
        <p:spPr>
          <a:xfrm>
            <a:off x="11155680" y="6446520"/>
            <a:ext cx="502920" cy="274320"/>
          </a:xfrm>
          <a:prstGeom prst="rect">
            <a:avLst/>
          </a:prstGeom>
          <a:noFill/>
          <a:ln/>
        </p:spPr>
        <p:txBody>
          <a:bodyPr wrap="square" lIns="0" tIns="0" rIns="0" bIns="0" rtlCol="0" anchor="ctr"/>
          <a:lstStyle/>
          <a:p>
            <a:pPr algn="r" indent="0" marL="0">
              <a:buNone/>
            </a:pPr>
            <a:r>
              <a:rPr lang="en-US" sz="1100" dirty="0">
                <a:solidFill>
                  <a:srgbClr val="A3A8B0"/>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PEG-F và PEG+ — nâng cấp tracker khi đèn mũ làm chói camera</dc:title>
  <dc:subject>PptxGenJS Presentation</dc:subject>
  <dc:creator>PptxGenJS</dc:creator>
  <cp:lastModifiedBy>PptxGenJS</cp:lastModifiedBy>
  <cp:revision>1</cp:revision>
  <dcterms:created xsi:type="dcterms:W3CDTF">2026-10-19T02:04:08Z</dcterms:created>
  <dcterms:modified xsi:type="dcterms:W3CDTF">2026-10-19T02:04:08Z</dcterms:modified>
</cp:coreProperties>
</file>